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286000"/>
            <a:ext cx="7680960" cy="1828800"/>
          </a:xfrm>
          <a:prstGeom prst="rect">
            <a:avLst/>
          </a:prstGeom>
          <a:noFill/>
        </p:spPr>
        <p:txBody>
          <a:bodyPr wrap="none">
            <a:spAutoFit/>
          </a:bodyPr>
          <a:lstStyle/>
          <a:p>
            <a:pPr algn="ctr">
              <a:defRPr sz="7200" b="1">
                <a:solidFill>
                  <a:srgbClr val="FFFFFF"/>
                </a:solidFill>
                <a:latin typeface="Montserrat"/>
              </a:defRPr>
            </a:pPr>
            <a:r>
              <a:t>CHAIYOS</a:t>
            </a:r>
          </a:p>
        </p:txBody>
      </p:sp>
      <p:sp>
        <p:nvSpPr>
          <p:cNvPr id="4" name="TextBox 3"/>
          <p:cNvSpPr txBox="1"/>
          <p:nvPr/>
        </p:nvSpPr>
        <p:spPr>
          <a:xfrm>
            <a:off x="731520" y="4389120"/>
            <a:ext cx="7680960" cy="731520"/>
          </a:xfrm>
          <a:prstGeom prst="rect">
            <a:avLst/>
          </a:prstGeom>
          <a:noFill/>
        </p:spPr>
        <p:txBody>
          <a:bodyPr wrap="none">
            <a:spAutoFit/>
          </a:bodyPr>
          <a:lstStyle/>
          <a:p>
            <a:pPr algn="ctr">
              <a:defRPr sz="2400" b="1">
                <a:solidFill>
                  <a:srgbClr val="4D7C0F"/>
                </a:solidFill>
                <a:latin typeface="Montserrat"/>
              </a:defRPr>
            </a:pPr>
            <a:r>
              <a:t>BRAND IDENTITY SYSTEM</a:t>
            </a:r>
          </a:p>
        </p:txBody>
      </p:sp>
      <p:sp>
        <p:nvSpPr>
          <p:cNvPr id="5" name="Rectangle 4"/>
          <p:cNvSpPr/>
          <p:nvPr/>
        </p:nvSpPr>
        <p:spPr>
          <a:xfrm>
            <a:off x="731520" y="6217920"/>
            <a:ext cx="7680960" cy="45720"/>
          </a:xfrm>
          <a:prstGeom prst="rect">
            <a:avLst/>
          </a:prstGeom>
          <a:solidFill>
            <a:srgbClr val="4D7C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669280"/>
            <a:ext cx="7315200" cy="731520"/>
          </a:xfrm>
          <a:prstGeom prst="rect">
            <a:avLst/>
          </a:prstGeom>
          <a:noFill/>
        </p:spPr>
        <p:txBody>
          <a:bodyPr wrap="none">
            <a:spAutoFit/>
          </a:bodyPr>
          <a:lstStyle/>
          <a:p>
            <a:pPr algn="l">
              <a:defRPr sz="3600" b="1">
                <a:solidFill>
                  <a:srgbClr val="4D7C0F"/>
                </a:solidFill>
                <a:latin typeface="Montserrat"/>
              </a:defRPr>
            </a:pPr>
            <a:r>
              <a:t>INDEX</a:t>
            </a:r>
          </a:p>
        </p:txBody>
      </p:sp>
      <p:sp>
        <p:nvSpPr>
          <p:cNvPr id="4" name="TextBox 3"/>
          <p:cNvSpPr txBox="1"/>
          <p:nvPr/>
        </p:nvSpPr>
        <p:spPr>
          <a:xfrm>
            <a:off x="731520" y="1371600"/>
            <a:ext cx="3657600" cy="3657600"/>
          </a:xfrm>
          <a:prstGeom prst="rect">
            <a:avLst/>
          </a:prstGeom>
          <a:noFill/>
        </p:spPr>
        <p:txBody>
          <a:bodyPr wrap="none">
            <a:spAutoFit/>
          </a:bodyPr>
          <a:lstStyle/>
          <a:p>
            <a:pPr>
              <a:lnSpc>
                <a:spcPct val="160000"/>
              </a:lnSpc>
              <a:defRPr sz="1800">
                <a:solidFill>
                  <a:srgbClr val="FFFFFF"/>
                </a:solidFill>
                <a:latin typeface="Open Sans"/>
              </a:defRPr>
            </a:pPr>
            <a:r>
              <a:t>Introduction                   01</a:t>
            </a:r>
          </a:p>
          <a:p>
            <a:r>
              <a:t>Brand Story                    03</a:t>
            </a:r>
          </a:p>
          <a:p>
            <a:r>
              <a:t>Brand Colors                   05</a:t>
            </a:r>
          </a:p>
          <a:p>
            <a:r>
              <a:t>Visual Language                07</a:t>
            </a:r>
          </a:p>
          <a:p>
            <a:r>
              <a:t>Applications                   09</a:t>
            </a:r>
          </a:p>
        </p:txBody>
      </p:sp>
      <p:sp>
        <p:nvSpPr>
          <p:cNvPr id="5" name="TextBox 4"/>
          <p:cNvSpPr txBox="1"/>
          <p:nvPr/>
        </p:nvSpPr>
        <p:spPr>
          <a:xfrm>
            <a:off x="4754880" y="1371600"/>
            <a:ext cx="3657600" cy="3657600"/>
          </a:xfrm>
          <a:prstGeom prst="rect">
            <a:avLst/>
          </a:prstGeom>
          <a:noFill/>
        </p:spPr>
        <p:txBody>
          <a:bodyPr wrap="none">
            <a:spAutoFit/>
          </a:bodyPr>
          <a:lstStyle/>
          <a:p>
            <a:pPr>
              <a:lnSpc>
                <a:spcPct val="160000"/>
              </a:lnSpc>
              <a:defRPr sz="1800">
                <a:solidFill>
                  <a:srgbClr val="FFFFFF"/>
                </a:solidFill>
                <a:latin typeface="Open Sans"/>
              </a:defRPr>
            </a:pPr>
            <a:r>
              <a:t>Brand Purpose                  02</a:t>
            </a:r>
          </a:p>
          <a:p>
            <a:r>
              <a:t>Logo                           04</a:t>
            </a:r>
          </a:p>
          <a:p>
            <a:r>
              <a:t>Typography                     06</a:t>
            </a:r>
          </a:p>
          <a:p>
            <a:r>
              <a:t>Brand Voice                    08</a:t>
            </a:r>
          </a:p>
        </p:txBody>
      </p:sp>
      <p:sp>
        <p:nvSpPr>
          <p:cNvPr id="6" name="Rectangle 5"/>
          <p:cNvSpPr/>
          <p:nvPr/>
        </p:nvSpPr>
        <p:spPr>
          <a:xfrm>
            <a:off x="731520" y="6217920"/>
            <a:ext cx="7680960" cy="45720"/>
          </a:xfrm>
          <a:prstGeom prst="rect">
            <a:avLst/>
          </a:prstGeom>
          <a:solidFill>
            <a:srgbClr val="4D7C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0" y="6400800"/>
            <a:ext cx="914400" cy="274320"/>
          </a:xfrm>
          <a:prstGeom prst="rect">
            <a:avLst/>
          </a:prstGeom>
          <a:noFill/>
        </p:spPr>
        <p:txBody>
          <a:bodyPr wrap="none">
            <a:spAutoFit/>
          </a:bodyPr>
          <a:lstStyle/>
          <a:p>
            <a:pPr algn="r">
              <a:defRPr sz="1400" b="1">
                <a:solidFill>
                  <a:srgbClr val="4D7C0F"/>
                </a:solidFill>
                <a:latin typeface="Open Sans"/>
              </a:defRPr>
            </a:pPr>
            <a:r>
              <a:t>01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669280"/>
            <a:ext cx="7315200" cy="731520"/>
          </a:xfrm>
          <a:prstGeom prst="rect">
            <a:avLst/>
          </a:prstGeom>
          <a:noFill/>
        </p:spPr>
        <p:txBody>
          <a:bodyPr wrap="none">
            <a:spAutoFit/>
          </a:bodyPr>
          <a:lstStyle/>
          <a:p>
            <a:pPr algn="l">
              <a:defRPr sz="3600" b="1">
                <a:solidFill>
                  <a:srgbClr val="4D7C0F"/>
                </a:solidFill>
                <a:latin typeface="Montserrat"/>
              </a:defRPr>
            </a:pPr>
            <a:r>
              <a:t>INTRODUCTION</a:t>
            </a:r>
          </a:p>
        </p:txBody>
      </p:sp>
      <p:sp>
        <p:nvSpPr>
          <p:cNvPr id="4" name="TextBox 3"/>
          <p:cNvSpPr txBox="1"/>
          <p:nvPr/>
        </p:nvSpPr>
        <p:spPr>
          <a:xfrm>
            <a:off x="731520" y="1097280"/>
            <a:ext cx="7315200" cy="4114800"/>
          </a:xfrm>
          <a:prstGeom prst="rect">
            <a:avLst/>
          </a:prstGeom>
          <a:noFill/>
        </p:spPr>
        <p:txBody>
          <a:bodyPr wrap="square">
            <a:spAutoFit/>
          </a:bodyPr>
          <a:lstStyle/>
          <a:p>
            <a:pPr algn="l">
              <a:lnSpc>
                <a:spcPct val="140000"/>
              </a:lnSpc>
              <a:defRPr sz="2400">
                <a:solidFill>
                  <a:srgbClr val="FFFFFF"/>
                </a:solidFill>
                <a:latin typeface="Open Sans"/>
              </a:defRPr>
            </a:pPr>
            <a:r>
              <a:t>The following brand identity system for Chaiyos is thoughtfully crafted to present our brand in an international, engaging, consistent, recognisable and proprietary way. Unique in form, versatile in its application and unified by a fundamental principle.</a:t>
            </a:r>
          </a:p>
          <a:p/>
          <a:p>
            <a:r>
              <a:t>Industry: Food &amp; Beverage (F&amp;B), Quick Service Restaurants (QSR), Café/Tea Retail</a:t>
            </a:r>
          </a:p>
          <a:p>
            <a:r>
              <a:t>Target Audience: Urban millennials, Young professionals, Office-goers, Students, Tea enthusiasts, Digital-savvy consumers, Health-conscious individuals, People seeking a modern chai café experience.</a:t>
            </a:r>
          </a:p>
        </p:txBody>
      </p:sp>
      <p:sp>
        <p:nvSpPr>
          <p:cNvPr id="5" name="Rectangle 4"/>
          <p:cNvSpPr/>
          <p:nvPr/>
        </p:nvSpPr>
        <p:spPr>
          <a:xfrm>
            <a:off x="731520" y="6217920"/>
            <a:ext cx="7680960" cy="45720"/>
          </a:xfrm>
          <a:prstGeom prst="rect">
            <a:avLst/>
          </a:prstGeom>
          <a:solidFill>
            <a:srgbClr val="4D7C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0" y="6400800"/>
            <a:ext cx="914400" cy="274320"/>
          </a:xfrm>
          <a:prstGeom prst="rect">
            <a:avLst/>
          </a:prstGeom>
          <a:noFill/>
        </p:spPr>
        <p:txBody>
          <a:bodyPr wrap="none">
            <a:spAutoFit/>
          </a:bodyPr>
          <a:lstStyle/>
          <a:p>
            <a:pPr algn="r">
              <a:defRPr sz="1400" b="1">
                <a:solidFill>
                  <a:srgbClr val="4D7C0F"/>
                </a:solidFill>
                <a:latin typeface="Open Sans"/>
              </a:defRPr>
            </a:pPr>
            <a:r>
              <a:t>02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669280"/>
            <a:ext cx="7315200" cy="731520"/>
          </a:xfrm>
          <a:prstGeom prst="rect">
            <a:avLst/>
          </a:prstGeom>
          <a:noFill/>
        </p:spPr>
        <p:txBody>
          <a:bodyPr wrap="none">
            <a:spAutoFit/>
          </a:bodyPr>
          <a:lstStyle/>
          <a:p>
            <a:pPr algn="l">
              <a:defRPr sz="3600" b="1">
                <a:solidFill>
                  <a:srgbClr val="4D7C0F"/>
                </a:solidFill>
                <a:latin typeface="Montserrat"/>
              </a:defRPr>
            </a:pPr>
            <a:r>
              <a:t>BRAND PURPOSE</a:t>
            </a:r>
          </a:p>
        </p:txBody>
      </p:sp>
      <p:sp>
        <p:nvSpPr>
          <p:cNvPr id="4" name="TextBox 3"/>
          <p:cNvSpPr txBox="1"/>
          <p:nvPr/>
        </p:nvSpPr>
        <p:spPr>
          <a:xfrm>
            <a:off x="731520" y="1097280"/>
            <a:ext cx="7315200" cy="4114800"/>
          </a:xfrm>
          <a:prstGeom prst="rect">
            <a:avLst/>
          </a:prstGeom>
          <a:noFill/>
        </p:spPr>
        <p:txBody>
          <a:bodyPr wrap="square">
            <a:spAutoFit/>
          </a:bodyPr>
          <a:lstStyle/>
          <a:p>
            <a:pPr algn="l">
              <a:lnSpc>
                <a:spcPct val="140000"/>
              </a:lnSpc>
              <a:defRPr sz="2400">
                <a:solidFill>
                  <a:srgbClr val="FFFFFF"/>
                </a:solidFill>
                <a:latin typeface="Open Sans"/>
              </a:defRPr>
            </a:pPr>
            <a:r>
              <a:t>Distinctive Food &amp; Beverage (F&amp;B), Quick Service Restaurants (QSR), Café/Tea Retail solution focused on Urban millennials, Young professionals, Office-goers, Students, Tea enthusiasts, Digital-savvy consumers, Health-conscious individuals, People seeking a modern chai café experience.</a:t>
            </a:r>
          </a:p>
        </p:txBody>
      </p:sp>
      <p:sp>
        <p:nvSpPr>
          <p:cNvPr id="5" name="Rectangle 4"/>
          <p:cNvSpPr/>
          <p:nvPr/>
        </p:nvSpPr>
        <p:spPr>
          <a:xfrm>
            <a:off x="731520" y="6217920"/>
            <a:ext cx="7680960" cy="45720"/>
          </a:xfrm>
          <a:prstGeom prst="rect">
            <a:avLst/>
          </a:prstGeom>
          <a:solidFill>
            <a:srgbClr val="4D7C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0" y="6400800"/>
            <a:ext cx="914400" cy="274320"/>
          </a:xfrm>
          <a:prstGeom prst="rect">
            <a:avLst/>
          </a:prstGeom>
          <a:noFill/>
        </p:spPr>
        <p:txBody>
          <a:bodyPr wrap="none">
            <a:spAutoFit/>
          </a:bodyPr>
          <a:lstStyle/>
          <a:p>
            <a:pPr algn="r">
              <a:defRPr sz="1400" b="1">
                <a:solidFill>
                  <a:srgbClr val="4D7C0F"/>
                </a:solidFill>
                <a:latin typeface="Open Sans"/>
              </a:defRPr>
            </a:pPr>
            <a:r>
              <a:t>03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669280"/>
            <a:ext cx="7315200" cy="731520"/>
          </a:xfrm>
          <a:prstGeom prst="rect">
            <a:avLst/>
          </a:prstGeom>
          <a:noFill/>
        </p:spPr>
        <p:txBody>
          <a:bodyPr wrap="none">
            <a:spAutoFit/>
          </a:bodyPr>
          <a:lstStyle/>
          <a:p>
            <a:pPr algn="l">
              <a:defRPr sz="3600" b="1">
                <a:solidFill>
                  <a:srgbClr val="4D7C0F"/>
                </a:solidFill>
                <a:latin typeface="Montserrat"/>
              </a:defRPr>
            </a:pPr>
            <a:r>
              <a:t>LOGO</a:t>
            </a:r>
          </a:p>
        </p:txBody>
      </p:sp>
      <p:pic>
        <p:nvPicPr>
          <p:cNvPr id="4" name="Picture 3" descr="chaiyos_logo_1_20250826_225552_1f643b3c.png"/>
          <p:cNvPicPr>
            <a:picLocks noChangeAspect="1"/>
          </p:cNvPicPr>
          <p:nvPr/>
        </p:nvPicPr>
        <p:blipFill>
          <a:blip r:embed="rId2"/>
          <a:stretch>
            <a:fillRect/>
          </a:stretch>
        </p:blipFill>
        <p:spPr>
          <a:xfrm>
            <a:off x="1371600" y="2286000"/>
            <a:ext cx="1828800" cy="1828800"/>
          </a:xfrm>
          <a:prstGeom prst="rect">
            <a:avLst/>
          </a:prstGeom>
        </p:spPr>
      </p:pic>
      <p:pic>
        <p:nvPicPr>
          <p:cNvPr id="5" name="Picture 4" descr="chaiyos_logo_2_20250826_225611_959ebcc7.png"/>
          <p:cNvPicPr>
            <a:picLocks noChangeAspect="1"/>
          </p:cNvPicPr>
          <p:nvPr/>
        </p:nvPicPr>
        <p:blipFill>
          <a:blip r:embed="rId3"/>
          <a:stretch>
            <a:fillRect/>
          </a:stretch>
        </p:blipFill>
        <p:spPr>
          <a:xfrm>
            <a:off x="3657600" y="2286000"/>
            <a:ext cx="1828800" cy="1828800"/>
          </a:xfrm>
          <a:prstGeom prst="rect">
            <a:avLst/>
          </a:prstGeom>
        </p:spPr>
      </p:pic>
      <p:pic>
        <p:nvPicPr>
          <p:cNvPr id="6" name="Picture 5" descr="chaiyos_logo_3_20250826_225632_ba1f1f9e.png"/>
          <p:cNvPicPr>
            <a:picLocks noChangeAspect="1"/>
          </p:cNvPicPr>
          <p:nvPr/>
        </p:nvPicPr>
        <p:blipFill>
          <a:blip r:embed="rId4"/>
          <a:stretch>
            <a:fillRect/>
          </a:stretch>
        </p:blipFill>
        <p:spPr>
          <a:xfrm>
            <a:off x="5943600" y="2286000"/>
            <a:ext cx="1828800" cy="1828800"/>
          </a:xfrm>
          <a:prstGeom prst="rect">
            <a:avLst/>
          </a:prstGeom>
        </p:spPr>
      </p:pic>
      <p:sp>
        <p:nvSpPr>
          <p:cNvPr id="7" name="Rectangle 6"/>
          <p:cNvSpPr/>
          <p:nvPr/>
        </p:nvSpPr>
        <p:spPr>
          <a:xfrm>
            <a:off x="731520" y="6217920"/>
            <a:ext cx="7680960" cy="45720"/>
          </a:xfrm>
          <a:prstGeom prst="rect">
            <a:avLst/>
          </a:prstGeom>
          <a:solidFill>
            <a:srgbClr val="4D7C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0" y="6400800"/>
            <a:ext cx="914400" cy="274320"/>
          </a:xfrm>
          <a:prstGeom prst="rect">
            <a:avLst/>
          </a:prstGeom>
          <a:noFill/>
        </p:spPr>
        <p:txBody>
          <a:bodyPr wrap="none">
            <a:spAutoFit/>
          </a:bodyPr>
          <a:lstStyle/>
          <a:p>
            <a:pPr algn="r">
              <a:defRPr sz="1400" b="1">
                <a:solidFill>
                  <a:srgbClr val="4D7C0F"/>
                </a:solidFill>
                <a:latin typeface="Open Sans"/>
              </a:defRPr>
            </a:pPr>
            <a:r>
              <a:t>04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669280"/>
            <a:ext cx="7315200" cy="731520"/>
          </a:xfrm>
          <a:prstGeom prst="rect">
            <a:avLst/>
          </a:prstGeom>
          <a:noFill/>
        </p:spPr>
        <p:txBody>
          <a:bodyPr wrap="none">
            <a:spAutoFit/>
          </a:bodyPr>
          <a:lstStyle/>
          <a:p>
            <a:pPr algn="l">
              <a:defRPr sz="3600" b="1">
                <a:solidFill>
                  <a:srgbClr val="4D7C0F"/>
                </a:solidFill>
                <a:latin typeface="Montserrat"/>
              </a:defRPr>
            </a:pPr>
            <a:r>
              <a:t>BRAND COLORS</a:t>
            </a:r>
          </a:p>
        </p:txBody>
      </p:sp>
      <p:sp>
        <p:nvSpPr>
          <p:cNvPr id="4" name="Rectangle 3"/>
          <p:cNvSpPr/>
          <p:nvPr/>
        </p:nvSpPr>
        <p:spPr>
          <a:xfrm>
            <a:off x="914400" y="2286000"/>
            <a:ext cx="1645920" cy="164592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4023360"/>
            <a:ext cx="1645920" cy="548640"/>
          </a:xfrm>
          <a:prstGeom prst="rect">
            <a:avLst/>
          </a:prstGeom>
          <a:noFill/>
        </p:spPr>
        <p:txBody>
          <a:bodyPr wrap="none">
            <a:spAutoFit/>
          </a:bodyPr>
          <a:lstStyle/>
          <a:p>
            <a:pPr algn="ctr">
              <a:defRPr sz="1200" b="1">
                <a:solidFill>
                  <a:srgbClr val="FFFFFF"/>
                </a:solidFill>
                <a:latin typeface="Open Sans"/>
              </a:defRPr>
            </a:pPr>
            <a:r>
              <a:t>PRIMARY</a:t>
            </a:r>
          </a:p>
          <a:p>
            <a:r>
              <a:t>#059669</a:t>
            </a:r>
          </a:p>
        </p:txBody>
      </p:sp>
      <p:sp>
        <p:nvSpPr>
          <p:cNvPr id="6" name="Rectangle 5"/>
          <p:cNvSpPr/>
          <p:nvPr/>
        </p:nvSpPr>
        <p:spPr>
          <a:xfrm>
            <a:off x="2834640" y="2286000"/>
            <a:ext cx="1645920" cy="1645920"/>
          </a:xfrm>
          <a:prstGeom prst="rect">
            <a:avLst/>
          </a:prstGeom>
          <a:solidFill>
            <a:srgbClr val="F87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834640" y="4023360"/>
            <a:ext cx="1645920" cy="548640"/>
          </a:xfrm>
          <a:prstGeom prst="rect">
            <a:avLst/>
          </a:prstGeom>
          <a:noFill/>
        </p:spPr>
        <p:txBody>
          <a:bodyPr wrap="none">
            <a:spAutoFit/>
          </a:bodyPr>
          <a:lstStyle/>
          <a:p>
            <a:pPr algn="ctr">
              <a:defRPr sz="1200" b="1">
                <a:solidFill>
                  <a:srgbClr val="FFFFFF"/>
                </a:solidFill>
                <a:latin typeface="Open Sans"/>
              </a:defRPr>
            </a:pPr>
            <a:r>
              <a:t>SECONDARY</a:t>
            </a:r>
          </a:p>
          <a:p>
            <a:r>
              <a:t>#F87171</a:t>
            </a:r>
          </a:p>
        </p:txBody>
      </p:sp>
      <p:sp>
        <p:nvSpPr>
          <p:cNvPr id="8" name="Rectangle 7"/>
          <p:cNvSpPr/>
          <p:nvPr/>
        </p:nvSpPr>
        <p:spPr>
          <a:xfrm>
            <a:off x="4754880" y="2286000"/>
            <a:ext cx="1645920" cy="1645920"/>
          </a:xfrm>
          <a:prstGeom prst="rect">
            <a:avLst/>
          </a:prstGeom>
          <a:solidFill>
            <a:srgbClr val="4D7C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754880" y="4023360"/>
            <a:ext cx="1645920" cy="548640"/>
          </a:xfrm>
          <a:prstGeom prst="rect">
            <a:avLst/>
          </a:prstGeom>
          <a:noFill/>
        </p:spPr>
        <p:txBody>
          <a:bodyPr wrap="none">
            <a:spAutoFit/>
          </a:bodyPr>
          <a:lstStyle/>
          <a:p>
            <a:pPr algn="ctr">
              <a:defRPr sz="1200" b="1">
                <a:solidFill>
                  <a:srgbClr val="FFFFFF"/>
                </a:solidFill>
                <a:latin typeface="Open Sans"/>
              </a:defRPr>
            </a:pPr>
            <a:r>
              <a:t>ACCENT</a:t>
            </a:r>
          </a:p>
          <a:p>
            <a:r>
              <a:t>#4D7C0F</a:t>
            </a:r>
          </a:p>
        </p:txBody>
      </p:sp>
      <p:sp>
        <p:nvSpPr>
          <p:cNvPr id="10" name="Rectangle 9"/>
          <p:cNvSpPr/>
          <p:nvPr/>
        </p:nvSpPr>
        <p:spPr>
          <a:xfrm>
            <a:off x="731520" y="6217920"/>
            <a:ext cx="7680960" cy="45720"/>
          </a:xfrm>
          <a:prstGeom prst="rect">
            <a:avLst/>
          </a:prstGeom>
          <a:solidFill>
            <a:srgbClr val="4D7C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0" y="6400800"/>
            <a:ext cx="914400" cy="274320"/>
          </a:xfrm>
          <a:prstGeom prst="rect">
            <a:avLst/>
          </a:prstGeom>
          <a:noFill/>
        </p:spPr>
        <p:txBody>
          <a:bodyPr wrap="none">
            <a:spAutoFit/>
          </a:bodyPr>
          <a:lstStyle/>
          <a:p>
            <a:pPr algn="r">
              <a:defRPr sz="1400" b="1">
                <a:solidFill>
                  <a:srgbClr val="4D7C0F"/>
                </a:solidFill>
                <a:latin typeface="Open Sans"/>
              </a:defRPr>
            </a:pPr>
            <a:r>
              <a:t>05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669280"/>
            <a:ext cx="7315200" cy="731520"/>
          </a:xfrm>
          <a:prstGeom prst="rect">
            <a:avLst/>
          </a:prstGeom>
          <a:noFill/>
        </p:spPr>
        <p:txBody>
          <a:bodyPr wrap="none">
            <a:spAutoFit/>
          </a:bodyPr>
          <a:lstStyle/>
          <a:p>
            <a:pPr algn="l">
              <a:defRPr sz="3600" b="1">
                <a:solidFill>
                  <a:srgbClr val="4D7C0F"/>
                </a:solidFill>
                <a:latin typeface="Montserrat"/>
              </a:defRPr>
            </a:pPr>
            <a:r>
              <a:t>TYPOGRAPHY</a:t>
            </a:r>
          </a:p>
        </p:txBody>
      </p:sp>
      <p:sp>
        <p:nvSpPr>
          <p:cNvPr id="4" name="TextBox 3"/>
          <p:cNvSpPr txBox="1"/>
          <p:nvPr/>
        </p:nvSpPr>
        <p:spPr>
          <a:xfrm>
            <a:off x="731520" y="1097280"/>
            <a:ext cx="7315200" cy="4114800"/>
          </a:xfrm>
          <a:prstGeom prst="rect">
            <a:avLst/>
          </a:prstGeom>
          <a:noFill/>
        </p:spPr>
        <p:txBody>
          <a:bodyPr wrap="square">
            <a:spAutoFit/>
          </a:bodyPr>
          <a:lstStyle/>
          <a:p>
            <a:pPr algn="l">
              <a:lnSpc>
                <a:spcPct val="140000"/>
              </a:lnSpc>
              <a:defRPr sz="2400">
                <a:solidFill>
                  <a:srgbClr val="FFFFFF"/>
                </a:solidFill>
                <a:latin typeface="Open Sans"/>
              </a:defRPr>
            </a:pPr>
            <a:r>
              <a:t>Primary Font: Space Grotesk</a:t>
            </a:r>
          </a:p>
          <a:p>
            <a:r>
              <a:t>Secondary Font: Inter</a:t>
            </a:r>
          </a:p>
          <a:p/>
          <a:p>
            <a:r>
              <a:t>Research-driven modern selection</a:t>
            </a:r>
          </a:p>
        </p:txBody>
      </p:sp>
      <p:sp>
        <p:nvSpPr>
          <p:cNvPr id="5" name="Rectangle 4"/>
          <p:cNvSpPr/>
          <p:nvPr/>
        </p:nvSpPr>
        <p:spPr>
          <a:xfrm>
            <a:off x="731520" y="6217920"/>
            <a:ext cx="7680960" cy="45720"/>
          </a:xfrm>
          <a:prstGeom prst="rect">
            <a:avLst/>
          </a:prstGeom>
          <a:solidFill>
            <a:srgbClr val="4D7C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0" y="6400800"/>
            <a:ext cx="914400" cy="274320"/>
          </a:xfrm>
          <a:prstGeom prst="rect">
            <a:avLst/>
          </a:prstGeom>
          <a:noFill/>
        </p:spPr>
        <p:txBody>
          <a:bodyPr wrap="none">
            <a:spAutoFit/>
          </a:bodyPr>
          <a:lstStyle/>
          <a:p>
            <a:pPr algn="r">
              <a:defRPr sz="1400" b="1">
                <a:solidFill>
                  <a:srgbClr val="4D7C0F"/>
                </a:solidFill>
                <a:latin typeface="Open Sans"/>
              </a:defRPr>
            </a:pPr>
            <a:r>
              <a:t>06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669280"/>
            <a:ext cx="7315200" cy="731520"/>
          </a:xfrm>
          <a:prstGeom prst="rect">
            <a:avLst/>
          </a:prstGeom>
          <a:noFill/>
        </p:spPr>
        <p:txBody>
          <a:bodyPr wrap="none">
            <a:spAutoFit/>
          </a:bodyPr>
          <a:lstStyle/>
          <a:p>
            <a:pPr algn="l">
              <a:defRPr sz="3600" b="1">
                <a:solidFill>
                  <a:srgbClr val="4D7C0F"/>
                </a:solidFill>
                <a:latin typeface="Montserrat"/>
              </a:defRPr>
            </a:pPr>
            <a:r>
              <a:t>BRAND VOICE</a:t>
            </a:r>
          </a:p>
        </p:txBody>
      </p:sp>
      <p:sp>
        <p:nvSpPr>
          <p:cNvPr id="4" name="TextBox 3"/>
          <p:cNvSpPr txBox="1"/>
          <p:nvPr/>
        </p:nvSpPr>
        <p:spPr>
          <a:xfrm>
            <a:off x="731520" y="1097280"/>
            <a:ext cx="7315200" cy="4114800"/>
          </a:xfrm>
          <a:prstGeom prst="rect">
            <a:avLst/>
          </a:prstGeom>
          <a:noFill/>
        </p:spPr>
        <p:txBody>
          <a:bodyPr wrap="square">
            <a:spAutoFit/>
          </a:bodyPr>
          <a:lstStyle/>
          <a:p>
            <a:pPr algn="l">
              <a:lnSpc>
                <a:spcPct val="140000"/>
              </a:lnSpc>
              <a:defRPr sz="2400">
                <a:solidFill>
                  <a:srgbClr val="FFFFFF"/>
                </a:solidFill>
                <a:latin typeface="Open Sans"/>
              </a:defRPr>
            </a:pPr>
            <a:r>
              <a:t>Chaiyos' brand voice is warm, friendly, and inviting, with a touch of modern sophistication. It exudes a sense of innovation and authenticity, appealing to urban millennials, young professionals, office-goers, students, tea enthusiasts, digital-savvy consumers, and health-conscious individuals seeking a modern chai café experience. The tone is personal and engaging, focusing on customer delight, quality, convenience, and community. Chaiyos aims to create a welcoming environment where tradition meets modernity, ensuring consistency in delivering exceptional chai experiences. The brand communicates with a blend of warmth, approachability</a:t>
            </a:r>
          </a:p>
        </p:txBody>
      </p:sp>
      <p:sp>
        <p:nvSpPr>
          <p:cNvPr id="5" name="Rectangle 4"/>
          <p:cNvSpPr/>
          <p:nvPr/>
        </p:nvSpPr>
        <p:spPr>
          <a:xfrm>
            <a:off x="731520" y="6217920"/>
            <a:ext cx="7680960" cy="45720"/>
          </a:xfrm>
          <a:prstGeom prst="rect">
            <a:avLst/>
          </a:prstGeom>
          <a:solidFill>
            <a:srgbClr val="4D7C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0" y="6400800"/>
            <a:ext cx="914400" cy="274320"/>
          </a:xfrm>
          <a:prstGeom prst="rect">
            <a:avLst/>
          </a:prstGeom>
          <a:noFill/>
        </p:spPr>
        <p:txBody>
          <a:bodyPr wrap="none">
            <a:spAutoFit/>
          </a:bodyPr>
          <a:lstStyle/>
          <a:p>
            <a:pPr algn="r">
              <a:defRPr sz="1400" b="1">
                <a:solidFill>
                  <a:srgbClr val="4D7C0F"/>
                </a:solidFill>
                <a:latin typeface="Open Sans"/>
              </a:defRPr>
            </a:pPr>
            <a:r>
              <a:t>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