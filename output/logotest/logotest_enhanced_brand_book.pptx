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pic>
        <p:nvPicPr>
          <p:cNvPr id="2" name="Picture 1" descr="zeta_logo_1_20250828_235333_3e1fde11.png"/>
          <p:cNvPicPr>
            <a:picLocks noChangeAspect="1"/>
          </p:cNvPicPr>
          <p:nvPr/>
        </p:nvPicPr>
        <p:blipFill>
          <a:blip r:embed="rId2"/>
          <a:stretch>
            <a:fillRect/>
          </a:stretch>
        </p:blipFill>
        <p:spPr>
          <a:xfrm>
            <a:off x="0" y="0"/>
            <a:ext cx="9144000" cy="6858000"/>
          </a:xfrm>
          <a:prstGeom prst="rect">
            <a:avLst/>
          </a:prstGeom>
        </p:spPr>
      </p:pic>
      <p:cxnSp>
        <p:nvCxnSpPr>
          <p:cNvPr id="3" name="Connector 2"/>
          <p:cNvCxnSpPr/>
          <p:nvPr/>
        </p:nvCxnSpPr>
        <p:spPr>
          <a:xfrm>
            <a:off x="6629400.0" y="5657850.0"/>
            <a:ext cx="2057400.0" cy="0.0"/>
          </a:xfrm>
          <a:prstGeom prst="line">
            <a:avLst/>
          </a:prstGeom>
          <a:ln>
            <a:solidFill>
              <a:srgbClr val="2E86AB"/>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6629400" y="5657850"/>
            <a:ext cx="2057400" cy="1485900"/>
          </a:xfrm>
          <a:prstGeom prst="rect">
            <a:avLst/>
          </a:prstGeom>
          <a:noFill/>
        </p:spPr>
        <p:txBody>
          <a:bodyPr wrap="none" anchor="ctr">
            <a:spAutoFit/>
          </a:bodyPr>
          <a:lstStyle/>
          <a:p>
            <a:pPr algn="ctr">
              <a:defRPr sz="1800" b="0">
                <a:solidFill>
                  <a:srgbClr val="2E86AB"/>
                </a:solidFill>
                <a:latin typeface="Source Sans Pro"/>
              </a:defRPr>
            </a:pPr>
            <a:r>
              <a:t>Brand Identity System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2743200" cy="731520"/>
          </a:xfrm>
          <a:prstGeom prst="rect">
            <a:avLst/>
          </a:prstGeom>
          <a:noFill/>
        </p:spPr>
        <p:txBody>
          <a:bodyPr wrap="none">
            <a:spAutoFit/>
          </a:bodyPr>
          <a:lstStyle/>
          <a:p>
            <a:pPr>
              <a:defRPr sz="2800" b="1">
                <a:solidFill>
                  <a:srgbClr val="2E86AB"/>
                </a:solidFill>
                <a:latin typeface="Inter"/>
              </a:defRPr>
            </a:pPr>
            <a:r>
              <a:t>INDEX</a:t>
            </a:r>
          </a:p>
        </p:txBody>
      </p:sp>
      <p:cxnSp>
        <p:nvCxnSpPr>
          <p:cNvPr id="3" name="Connector 2"/>
          <p:cNvCxnSpPr/>
          <p:nvPr/>
        </p:nvCxnSpPr>
        <p:spPr>
          <a:xfrm>
            <a:off x="457200" y="1097280"/>
            <a:ext cx="8229600" cy="0"/>
          </a:xfrm>
          <a:prstGeom prst="line">
            <a:avLst/>
          </a:prstGeom>
          <a:ln w="25400">
            <a:solidFill>
              <a:srgbClr val="2E86AB"/>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57200" y="1554480"/>
            <a:ext cx="1828800" cy="274320"/>
          </a:xfrm>
          <a:prstGeom prst="rect">
            <a:avLst/>
          </a:prstGeom>
          <a:noFill/>
        </p:spPr>
        <p:txBody>
          <a:bodyPr wrap="none" lIns="0" rIns="0" tIns="0" bIns="0">
            <a:spAutoFit/>
          </a:bodyPr>
          <a:lstStyle/>
          <a:p>
            <a:pPr>
              <a:defRPr sz="1200" b="1">
                <a:solidFill>
                  <a:srgbClr val="FFFFFF"/>
                </a:solidFill>
                <a:latin typeface="Source Sans Pro"/>
              </a:defRPr>
            </a:pPr>
            <a:r>
              <a:t>Introduction</a:t>
            </a:r>
          </a:p>
        </p:txBody>
      </p:sp>
      <p:cxnSp>
        <p:nvCxnSpPr>
          <p:cNvPr id="5" name="Connector 4"/>
          <p:cNvCxnSpPr/>
          <p:nvPr/>
        </p:nvCxnSpPr>
        <p:spPr>
          <a:xfrm>
            <a:off x="2331719" y="1664208"/>
            <a:ext cx="365760" cy="0"/>
          </a:xfrm>
          <a:prstGeom prst="line">
            <a:avLst/>
          </a:prstGeom>
          <a:ln w="19050">
            <a:solidFill>
              <a:srgbClr val="2E86AB"/>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2743200" y="1554480"/>
            <a:ext cx="274320" cy="274320"/>
          </a:xfrm>
          <a:prstGeom prst="rect">
            <a:avLst/>
          </a:prstGeom>
          <a:noFill/>
        </p:spPr>
        <p:txBody>
          <a:bodyPr wrap="none" lIns="0" tIns="0" bIns="0">
            <a:spAutoFit/>
          </a:bodyPr>
          <a:lstStyle/>
          <a:p>
            <a:pPr>
              <a:defRPr sz="1200" b="1">
                <a:solidFill>
                  <a:srgbClr val="2E86AB"/>
                </a:solidFill>
                <a:latin typeface="Source Sans Pro"/>
              </a:defRPr>
            </a:pPr>
            <a:r>
              <a:t>01</a:t>
            </a:r>
          </a:p>
        </p:txBody>
      </p:sp>
      <p:sp>
        <p:nvSpPr>
          <p:cNvPr id="7" name="TextBox 6"/>
          <p:cNvSpPr txBox="1"/>
          <p:nvPr/>
        </p:nvSpPr>
        <p:spPr>
          <a:xfrm>
            <a:off x="457200" y="2057400"/>
            <a:ext cx="1828800" cy="274320"/>
          </a:xfrm>
          <a:prstGeom prst="rect">
            <a:avLst/>
          </a:prstGeom>
          <a:noFill/>
        </p:spPr>
        <p:txBody>
          <a:bodyPr wrap="none" lIns="0" rIns="0" tIns="0" bIns="0">
            <a:spAutoFit/>
          </a:bodyPr>
          <a:lstStyle/>
          <a:p>
            <a:pPr>
              <a:defRPr sz="1200" b="1">
                <a:solidFill>
                  <a:srgbClr val="FFFFFF"/>
                </a:solidFill>
                <a:latin typeface="Source Sans Pro"/>
              </a:defRPr>
            </a:pPr>
            <a:r>
              <a:t>Brand Purpose (Vision)</a:t>
            </a:r>
          </a:p>
        </p:txBody>
      </p:sp>
      <p:cxnSp>
        <p:nvCxnSpPr>
          <p:cNvPr id="8" name="Connector 7"/>
          <p:cNvCxnSpPr/>
          <p:nvPr/>
        </p:nvCxnSpPr>
        <p:spPr>
          <a:xfrm>
            <a:off x="2331719" y="2167128"/>
            <a:ext cx="365760" cy="0"/>
          </a:xfrm>
          <a:prstGeom prst="line">
            <a:avLst/>
          </a:prstGeom>
          <a:ln w="19050">
            <a:solidFill>
              <a:srgbClr val="2E86AB"/>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2743200" y="2057400"/>
            <a:ext cx="274320" cy="274320"/>
          </a:xfrm>
          <a:prstGeom prst="rect">
            <a:avLst/>
          </a:prstGeom>
          <a:noFill/>
        </p:spPr>
        <p:txBody>
          <a:bodyPr wrap="none" lIns="0" tIns="0" bIns="0">
            <a:spAutoFit/>
          </a:bodyPr>
          <a:lstStyle/>
          <a:p>
            <a:pPr>
              <a:defRPr sz="1200" b="1">
                <a:solidFill>
                  <a:srgbClr val="2E86AB"/>
                </a:solidFill>
                <a:latin typeface="Source Sans Pro"/>
              </a:defRPr>
            </a:pPr>
            <a:r>
              <a:t>02</a:t>
            </a:r>
          </a:p>
        </p:txBody>
      </p:sp>
      <p:sp>
        <p:nvSpPr>
          <p:cNvPr id="10" name="TextBox 9"/>
          <p:cNvSpPr txBox="1"/>
          <p:nvPr/>
        </p:nvSpPr>
        <p:spPr>
          <a:xfrm>
            <a:off x="457200" y="2560320"/>
            <a:ext cx="1828800" cy="274320"/>
          </a:xfrm>
          <a:prstGeom prst="rect">
            <a:avLst/>
          </a:prstGeom>
          <a:noFill/>
        </p:spPr>
        <p:txBody>
          <a:bodyPr wrap="none" lIns="0" rIns="0" tIns="0" bIns="0">
            <a:spAutoFit/>
          </a:bodyPr>
          <a:lstStyle/>
          <a:p>
            <a:pPr>
              <a:defRPr sz="1200" b="1">
                <a:solidFill>
                  <a:srgbClr val="FFFFFF"/>
                </a:solidFill>
                <a:latin typeface="Source Sans Pro"/>
              </a:defRPr>
            </a:pPr>
            <a:r>
              <a:t>Brand Purpose (Mission)</a:t>
            </a:r>
          </a:p>
        </p:txBody>
      </p:sp>
      <p:cxnSp>
        <p:nvCxnSpPr>
          <p:cNvPr id="11" name="Connector 10"/>
          <p:cNvCxnSpPr/>
          <p:nvPr/>
        </p:nvCxnSpPr>
        <p:spPr>
          <a:xfrm>
            <a:off x="2331719" y="2670048"/>
            <a:ext cx="365760" cy="0"/>
          </a:xfrm>
          <a:prstGeom prst="line">
            <a:avLst/>
          </a:prstGeom>
          <a:ln w="19050">
            <a:solidFill>
              <a:srgbClr val="2E86AB"/>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2743200" y="2560320"/>
            <a:ext cx="274320" cy="274320"/>
          </a:xfrm>
          <a:prstGeom prst="rect">
            <a:avLst/>
          </a:prstGeom>
          <a:noFill/>
        </p:spPr>
        <p:txBody>
          <a:bodyPr wrap="none" lIns="0" tIns="0" bIns="0">
            <a:spAutoFit/>
          </a:bodyPr>
          <a:lstStyle/>
          <a:p>
            <a:pPr>
              <a:defRPr sz="1200" b="1">
                <a:solidFill>
                  <a:srgbClr val="2E86AB"/>
                </a:solidFill>
                <a:latin typeface="Source Sans Pro"/>
              </a:defRPr>
            </a:pPr>
            <a:r>
              <a:t>03</a:t>
            </a:r>
          </a:p>
        </p:txBody>
      </p:sp>
      <p:sp>
        <p:nvSpPr>
          <p:cNvPr id="13" name="TextBox 12"/>
          <p:cNvSpPr txBox="1"/>
          <p:nvPr/>
        </p:nvSpPr>
        <p:spPr>
          <a:xfrm>
            <a:off x="3474720" y="1554480"/>
            <a:ext cx="1828800" cy="274320"/>
          </a:xfrm>
          <a:prstGeom prst="rect">
            <a:avLst/>
          </a:prstGeom>
          <a:noFill/>
        </p:spPr>
        <p:txBody>
          <a:bodyPr wrap="none" lIns="0" rIns="0" tIns="0" bIns="0">
            <a:spAutoFit/>
          </a:bodyPr>
          <a:lstStyle/>
          <a:p>
            <a:pPr>
              <a:defRPr sz="1200" b="1">
                <a:solidFill>
                  <a:srgbClr val="FFFFFF"/>
                </a:solidFill>
                <a:latin typeface="Source Sans Pro"/>
              </a:defRPr>
            </a:pPr>
            <a:r>
              <a:t>Brand Purpose (Values)</a:t>
            </a:r>
          </a:p>
        </p:txBody>
      </p:sp>
      <p:cxnSp>
        <p:nvCxnSpPr>
          <p:cNvPr id="14" name="Connector 13"/>
          <p:cNvCxnSpPr/>
          <p:nvPr/>
        </p:nvCxnSpPr>
        <p:spPr>
          <a:xfrm>
            <a:off x="5349239" y="1664208"/>
            <a:ext cx="365760" cy="0"/>
          </a:xfrm>
          <a:prstGeom prst="line">
            <a:avLst/>
          </a:prstGeom>
          <a:ln w="19050">
            <a:solidFill>
              <a:srgbClr val="2E86AB"/>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5760720" y="1554480"/>
            <a:ext cx="274320" cy="274320"/>
          </a:xfrm>
          <a:prstGeom prst="rect">
            <a:avLst/>
          </a:prstGeom>
          <a:noFill/>
        </p:spPr>
        <p:txBody>
          <a:bodyPr wrap="none" lIns="0" tIns="0" bIns="0">
            <a:spAutoFit/>
          </a:bodyPr>
          <a:lstStyle/>
          <a:p>
            <a:pPr>
              <a:defRPr sz="1200" b="1">
                <a:solidFill>
                  <a:srgbClr val="2E86AB"/>
                </a:solidFill>
                <a:latin typeface="Source Sans Pro"/>
              </a:defRPr>
            </a:pPr>
            <a:r>
              <a:t>04</a:t>
            </a:r>
          </a:p>
        </p:txBody>
      </p:sp>
      <p:sp>
        <p:nvSpPr>
          <p:cNvPr id="16" name="TextBox 15"/>
          <p:cNvSpPr txBox="1"/>
          <p:nvPr/>
        </p:nvSpPr>
        <p:spPr>
          <a:xfrm>
            <a:off x="3474720" y="2057400"/>
            <a:ext cx="1828800" cy="274320"/>
          </a:xfrm>
          <a:prstGeom prst="rect">
            <a:avLst/>
          </a:prstGeom>
          <a:noFill/>
        </p:spPr>
        <p:txBody>
          <a:bodyPr wrap="none" lIns="0" rIns="0" tIns="0" bIns="0">
            <a:spAutoFit/>
          </a:bodyPr>
          <a:lstStyle/>
          <a:p>
            <a:pPr>
              <a:defRPr sz="1200" b="1">
                <a:solidFill>
                  <a:srgbClr val="FFFFFF"/>
                </a:solidFill>
                <a:latin typeface="Source Sans Pro"/>
              </a:defRPr>
            </a:pPr>
            <a:r>
              <a:t>Brand Story</a:t>
            </a:r>
          </a:p>
        </p:txBody>
      </p:sp>
      <p:cxnSp>
        <p:nvCxnSpPr>
          <p:cNvPr id="17" name="Connector 16"/>
          <p:cNvCxnSpPr/>
          <p:nvPr/>
        </p:nvCxnSpPr>
        <p:spPr>
          <a:xfrm>
            <a:off x="5349239" y="2167128"/>
            <a:ext cx="365760" cy="0"/>
          </a:xfrm>
          <a:prstGeom prst="line">
            <a:avLst/>
          </a:prstGeom>
          <a:ln w="19050">
            <a:solidFill>
              <a:srgbClr val="2E86AB"/>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5760720" y="2057400"/>
            <a:ext cx="274320" cy="274320"/>
          </a:xfrm>
          <a:prstGeom prst="rect">
            <a:avLst/>
          </a:prstGeom>
          <a:noFill/>
        </p:spPr>
        <p:txBody>
          <a:bodyPr wrap="none" lIns="0" tIns="0" bIns="0">
            <a:spAutoFit/>
          </a:bodyPr>
          <a:lstStyle/>
          <a:p>
            <a:pPr>
              <a:defRPr sz="1200" b="1">
                <a:solidFill>
                  <a:srgbClr val="2E86AB"/>
                </a:solidFill>
                <a:latin typeface="Source Sans Pro"/>
              </a:defRPr>
            </a:pPr>
            <a:r>
              <a:t>05</a:t>
            </a:r>
          </a:p>
        </p:txBody>
      </p:sp>
      <p:sp>
        <p:nvSpPr>
          <p:cNvPr id="19" name="TextBox 18"/>
          <p:cNvSpPr txBox="1"/>
          <p:nvPr/>
        </p:nvSpPr>
        <p:spPr>
          <a:xfrm>
            <a:off x="3474720" y="2560320"/>
            <a:ext cx="1828800" cy="274320"/>
          </a:xfrm>
          <a:prstGeom prst="rect">
            <a:avLst/>
          </a:prstGeom>
          <a:noFill/>
        </p:spPr>
        <p:txBody>
          <a:bodyPr wrap="none" lIns="0" rIns="0" tIns="0" bIns="0">
            <a:spAutoFit/>
          </a:bodyPr>
          <a:lstStyle/>
          <a:p>
            <a:pPr>
              <a:defRPr sz="1200" b="1">
                <a:solidFill>
                  <a:srgbClr val="FFFFFF"/>
                </a:solidFill>
                <a:latin typeface="Source Sans Pro"/>
              </a:defRPr>
            </a:pPr>
            <a:r>
              <a:t>Logo Variations</a:t>
            </a:r>
          </a:p>
        </p:txBody>
      </p:sp>
      <p:cxnSp>
        <p:nvCxnSpPr>
          <p:cNvPr id="20" name="Connector 19"/>
          <p:cNvCxnSpPr/>
          <p:nvPr/>
        </p:nvCxnSpPr>
        <p:spPr>
          <a:xfrm>
            <a:off x="5349239" y="2670048"/>
            <a:ext cx="365760" cy="0"/>
          </a:xfrm>
          <a:prstGeom prst="line">
            <a:avLst/>
          </a:prstGeom>
          <a:ln w="19050">
            <a:solidFill>
              <a:srgbClr val="2E86AB"/>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5760720" y="2560320"/>
            <a:ext cx="274320" cy="274320"/>
          </a:xfrm>
          <a:prstGeom prst="rect">
            <a:avLst/>
          </a:prstGeom>
          <a:noFill/>
        </p:spPr>
        <p:txBody>
          <a:bodyPr wrap="none" lIns="0" tIns="0" bIns="0">
            <a:spAutoFit/>
          </a:bodyPr>
          <a:lstStyle/>
          <a:p>
            <a:pPr>
              <a:defRPr sz="1200" b="1">
                <a:solidFill>
                  <a:srgbClr val="2E86AB"/>
                </a:solidFill>
                <a:latin typeface="Source Sans Pro"/>
              </a:defRPr>
            </a:pPr>
            <a:r>
              <a:t>06</a:t>
            </a:r>
          </a:p>
        </p:txBody>
      </p:sp>
      <p:sp>
        <p:nvSpPr>
          <p:cNvPr id="22" name="TextBox 21"/>
          <p:cNvSpPr txBox="1"/>
          <p:nvPr/>
        </p:nvSpPr>
        <p:spPr>
          <a:xfrm>
            <a:off x="3657600" y="2926079"/>
            <a:ext cx="1828800" cy="228600"/>
          </a:xfrm>
          <a:prstGeom prst="rect">
            <a:avLst/>
          </a:prstGeom>
          <a:noFill/>
        </p:spPr>
        <p:txBody>
          <a:bodyPr wrap="none" lIns="0" tIns="0" bIns="0">
            <a:spAutoFit/>
          </a:bodyPr>
          <a:lstStyle/>
          <a:p>
            <a:pPr>
              <a:defRPr sz="900" b="0">
                <a:solidFill>
                  <a:srgbClr val="CCCCCC"/>
                </a:solidFill>
                <a:latin typeface="Source Sans Pro"/>
              </a:defRPr>
            </a:pPr>
            <a:r>
              <a:t>Logo Mark</a:t>
            </a:r>
          </a:p>
        </p:txBody>
      </p:sp>
      <p:sp>
        <p:nvSpPr>
          <p:cNvPr id="23" name="TextBox 22"/>
          <p:cNvSpPr txBox="1"/>
          <p:nvPr/>
        </p:nvSpPr>
        <p:spPr>
          <a:xfrm>
            <a:off x="3657600" y="3154679"/>
            <a:ext cx="1828800" cy="228600"/>
          </a:xfrm>
          <a:prstGeom prst="rect">
            <a:avLst/>
          </a:prstGeom>
          <a:noFill/>
        </p:spPr>
        <p:txBody>
          <a:bodyPr wrap="none" lIns="0" tIns="0" bIns="0">
            <a:spAutoFit/>
          </a:bodyPr>
          <a:lstStyle/>
          <a:p>
            <a:pPr>
              <a:defRPr sz="900" b="0">
                <a:solidFill>
                  <a:srgbClr val="CCCCCC"/>
                </a:solidFill>
                <a:latin typeface="Source Sans Pro"/>
              </a:defRPr>
            </a:pPr>
            <a:r>
              <a:t>Clear Space</a:t>
            </a:r>
          </a:p>
        </p:txBody>
      </p:sp>
      <p:sp>
        <p:nvSpPr>
          <p:cNvPr id="24" name="TextBox 23"/>
          <p:cNvSpPr txBox="1"/>
          <p:nvPr/>
        </p:nvSpPr>
        <p:spPr>
          <a:xfrm>
            <a:off x="3657600" y="3383279"/>
            <a:ext cx="1828800" cy="228600"/>
          </a:xfrm>
          <a:prstGeom prst="rect">
            <a:avLst/>
          </a:prstGeom>
          <a:noFill/>
        </p:spPr>
        <p:txBody>
          <a:bodyPr wrap="none" lIns="0" tIns="0" bIns="0">
            <a:spAutoFit/>
          </a:bodyPr>
          <a:lstStyle/>
          <a:p>
            <a:pPr>
              <a:defRPr sz="900" b="0">
                <a:solidFill>
                  <a:srgbClr val="CCCCCC"/>
                </a:solidFill>
                <a:latin typeface="Source Sans Pro"/>
              </a:defRPr>
            </a:pPr>
            <a:r>
              <a:t>Usage Guidelines</a:t>
            </a:r>
          </a:p>
        </p:txBody>
      </p:sp>
      <p:sp>
        <p:nvSpPr>
          <p:cNvPr id="25" name="TextBox 24"/>
          <p:cNvSpPr txBox="1"/>
          <p:nvPr/>
        </p:nvSpPr>
        <p:spPr>
          <a:xfrm>
            <a:off x="6492240" y="1554480"/>
            <a:ext cx="1828800" cy="274320"/>
          </a:xfrm>
          <a:prstGeom prst="rect">
            <a:avLst/>
          </a:prstGeom>
          <a:noFill/>
        </p:spPr>
        <p:txBody>
          <a:bodyPr wrap="none" lIns="0" rIns="0" tIns="0" bIns="0">
            <a:spAutoFit/>
          </a:bodyPr>
          <a:lstStyle/>
          <a:p>
            <a:pPr>
              <a:defRPr sz="1200" b="1">
                <a:solidFill>
                  <a:srgbClr val="FFFFFF"/>
                </a:solidFill>
                <a:latin typeface="Source Sans Pro"/>
              </a:defRPr>
            </a:pPr>
            <a:r>
              <a:t>Brand Colors</a:t>
            </a:r>
          </a:p>
        </p:txBody>
      </p:sp>
      <p:cxnSp>
        <p:nvCxnSpPr>
          <p:cNvPr id="26" name="Connector 25"/>
          <p:cNvCxnSpPr/>
          <p:nvPr/>
        </p:nvCxnSpPr>
        <p:spPr>
          <a:xfrm>
            <a:off x="8366759" y="1664208"/>
            <a:ext cx="365760" cy="0"/>
          </a:xfrm>
          <a:prstGeom prst="line">
            <a:avLst/>
          </a:prstGeom>
          <a:ln w="19050">
            <a:solidFill>
              <a:srgbClr val="2E86AB"/>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8778240" y="1554480"/>
            <a:ext cx="274320" cy="274320"/>
          </a:xfrm>
          <a:prstGeom prst="rect">
            <a:avLst/>
          </a:prstGeom>
          <a:noFill/>
        </p:spPr>
        <p:txBody>
          <a:bodyPr wrap="none" lIns="0" tIns="0" bIns="0">
            <a:spAutoFit/>
          </a:bodyPr>
          <a:lstStyle/>
          <a:p>
            <a:pPr>
              <a:defRPr sz="1200" b="1">
                <a:solidFill>
                  <a:srgbClr val="2E86AB"/>
                </a:solidFill>
                <a:latin typeface="Source Sans Pro"/>
              </a:defRPr>
            </a:pPr>
            <a:r>
              <a:t>07</a:t>
            </a:r>
          </a:p>
        </p:txBody>
      </p:sp>
      <p:sp>
        <p:nvSpPr>
          <p:cNvPr id="28" name="TextBox 27"/>
          <p:cNvSpPr txBox="1"/>
          <p:nvPr/>
        </p:nvSpPr>
        <p:spPr>
          <a:xfrm>
            <a:off x="6675120" y="1920240"/>
            <a:ext cx="1828800" cy="228600"/>
          </a:xfrm>
          <a:prstGeom prst="rect">
            <a:avLst/>
          </a:prstGeom>
          <a:noFill/>
        </p:spPr>
        <p:txBody>
          <a:bodyPr wrap="none" lIns="0" tIns="0" bIns="0">
            <a:spAutoFit/>
          </a:bodyPr>
          <a:lstStyle/>
          <a:p>
            <a:pPr>
              <a:defRPr sz="900" b="0">
                <a:solidFill>
                  <a:srgbClr val="CCCCCC"/>
                </a:solidFill>
                <a:latin typeface="Source Sans Pro"/>
              </a:defRPr>
            </a:pPr>
            <a:r>
              <a:t>Primary Colors</a:t>
            </a:r>
          </a:p>
        </p:txBody>
      </p:sp>
      <p:sp>
        <p:nvSpPr>
          <p:cNvPr id="29" name="TextBox 28"/>
          <p:cNvSpPr txBox="1"/>
          <p:nvPr/>
        </p:nvSpPr>
        <p:spPr>
          <a:xfrm>
            <a:off x="6675120" y="2148840"/>
            <a:ext cx="1828800" cy="228600"/>
          </a:xfrm>
          <a:prstGeom prst="rect">
            <a:avLst/>
          </a:prstGeom>
          <a:noFill/>
        </p:spPr>
        <p:txBody>
          <a:bodyPr wrap="none" lIns="0" tIns="0" bIns="0">
            <a:spAutoFit/>
          </a:bodyPr>
          <a:lstStyle/>
          <a:p>
            <a:pPr>
              <a:defRPr sz="900" b="0">
                <a:solidFill>
                  <a:srgbClr val="CCCCCC"/>
                </a:solidFill>
                <a:latin typeface="Source Sans Pro"/>
              </a:defRPr>
            </a:pPr>
            <a:r>
              <a:t>Secondary Colors</a:t>
            </a:r>
          </a:p>
        </p:txBody>
      </p:sp>
      <p:sp>
        <p:nvSpPr>
          <p:cNvPr id="30" name="TextBox 29"/>
          <p:cNvSpPr txBox="1"/>
          <p:nvPr/>
        </p:nvSpPr>
        <p:spPr>
          <a:xfrm>
            <a:off x="6675120" y="2377440"/>
            <a:ext cx="1828800" cy="228600"/>
          </a:xfrm>
          <a:prstGeom prst="rect">
            <a:avLst/>
          </a:prstGeom>
          <a:noFill/>
        </p:spPr>
        <p:txBody>
          <a:bodyPr wrap="none" lIns="0" tIns="0" bIns="0">
            <a:spAutoFit/>
          </a:bodyPr>
          <a:lstStyle/>
          <a:p>
            <a:pPr>
              <a:defRPr sz="900" b="0">
                <a:solidFill>
                  <a:srgbClr val="CCCCCC"/>
                </a:solidFill>
                <a:latin typeface="Source Sans Pro"/>
              </a:defRPr>
            </a:pPr>
            <a:r>
              <a:t>Color Usage</a:t>
            </a:r>
          </a:p>
        </p:txBody>
      </p:sp>
      <p:sp>
        <p:nvSpPr>
          <p:cNvPr id="31" name="TextBox 30"/>
          <p:cNvSpPr txBox="1"/>
          <p:nvPr/>
        </p:nvSpPr>
        <p:spPr>
          <a:xfrm>
            <a:off x="6492240" y="2743200"/>
            <a:ext cx="1828800" cy="274320"/>
          </a:xfrm>
          <a:prstGeom prst="rect">
            <a:avLst/>
          </a:prstGeom>
          <a:noFill/>
        </p:spPr>
        <p:txBody>
          <a:bodyPr wrap="none" lIns="0" rIns="0" tIns="0" bIns="0">
            <a:spAutoFit/>
          </a:bodyPr>
          <a:lstStyle/>
          <a:p>
            <a:pPr>
              <a:defRPr sz="1200" b="1">
                <a:solidFill>
                  <a:srgbClr val="FFFFFF"/>
                </a:solidFill>
                <a:latin typeface="Source Sans Pro"/>
              </a:defRPr>
            </a:pPr>
            <a:r>
              <a:t>Typography</a:t>
            </a:r>
          </a:p>
        </p:txBody>
      </p:sp>
      <p:cxnSp>
        <p:nvCxnSpPr>
          <p:cNvPr id="32" name="Connector 31"/>
          <p:cNvCxnSpPr/>
          <p:nvPr/>
        </p:nvCxnSpPr>
        <p:spPr>
          <a:xfrm>
            <a:off x="8366759" y="2852928"/>
            <a:ext cx="365760" cy="0"/>
          </a:xfrm>
          <a:prstGeom prst="line">
            <a:avLst/>
          </a:prstGeom>
          <a:ln w="19050">
            <a:solidFill>
              <a:srgbClr val="2E86AB"/>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8778240" y="2743200"/>
            <a:ext cx="274320" cy="274320"/>
          </a:xfrm>
          <a:prstGeom prst="rect">
            <a:avLst/>
          </a:prstGeom>
          <a:noFill/>
        </p:spPr>
        <p:txBody>
          <a:bodyPr wrap="none" lIns="0" tIns="0" bIns="0">
            <a:spAutoFit/>
          </a:bodyPr>
          <a:lstStyle/>
          <a:p>
            <a:pPr>
              <a:defRPr sz="1200" b="1">
                <a:solidFill>
                  <a:srgbClr val="2E86AB"/>
                </a:solidFill>
                <a:latin typeface="Source Sans Pro"/>
              </a:defRPr>
            </a:pPr>
            <a:r>
              <a:t>08</a:t>
            </a:r>
          </a:p>
        </p:txBody>
      </p:sp>
      <p:sp>
        <p:nvSpPr>
          <p:cNvPr id="34" name="TextBox 33"/>
          <p:cNvSpPr txBox="1"/>
          <p:nvPr/>
        </p:nvSpPr>
        <p:spPr>
          <a:xfrm>
            <a:off x="6675120" y="3108960"/>
            <a:ext cx="1828800" cy="228600"/>
          </a:xfrm>
          <a:prstGeom prst="rect">
            <a:avLst/>
          </a:prstGeom>
          <a:noFill/>
        </p:spPr>
        <p:txBody>
          <a:bodyPr wrap="none" lIns="0" tIns="0" bIns="0">
            <a:spAutoFit/>
          </a:bodyPr>
          <a:lstStyle/>
          <a:p>
            <a:pPr>
              <a:defRPr sz="900" b="0">
                <a:solidFill>
                  <a:srgbClr val="CCCCCC"/>
                </a:solidFill>
                <a:latin typeface="Source Sans Pro"/>
              </a:defRPr>
            </a:pPr>
            <a:r>
              <a:t>Brand Font</a:t>
            </a:r>
          </a:p>
        </p:txBody>
      </p:sp>
      <p:sp>
        <p:nvSpPr>
          <p:cNvPr id="35" name="TextBox 34"/>
          <p:cNvSpPr txBox="1"/>
          <p:nvPr/>
        </p:nvSpPr>
        <p:spPr>
          <a:xfrm>
            <a:off x="6675120" y="3337560"/>
            <a:ext cx="1828800" cy="228600"/>
          </a:xfrm>
          <a:prstGeom prst="rect">
            <a:avLst/>
          </a:prstGeom>
          <a:noFill/>
        </p:spPr>
        <p:txBody>
          <a:bodyPr wrap="none" lIns="0" tIns="0" bIns="0">
            <a:spAutoFit/>
          </a:bodyPr>
          <a:lstStyle/>
          <a:p>
            <a:pPr>
              <a:defRPr sz="900" b="0">
                <a:solidFill>
                  <a:srgbClr val="CCCCCC"/>
                </a:solidFill>
                <a:latin typeface="Source Sans Pro"/>
              </a:defRPr>
            </a:pPr>
            <a:r>
              <a:t>Font Usage</a:t>
            </a:r>
          </a:p>
        </p:txBody>
      </p:sp>
      <p:sp>
        <p:nvSpPr>
          <p:cNvPr id="36" name="TextBox 35"/>
          <p:cNvSpPr txBox="1"/>
          <p:nvPr/>
        </p:nvSpPr>
        <p:spPr>
          <a:xfrm>
            <a:off x="6675120" y="3566160"/>
            <a:ext cx="1828800" cy="228600"/>
          </a:xfrm>
          <a:prstGeom prst="rect">
            <a:avLst/>
          </a:prstGeom>
          <a:noFill/>
        </p:spPr>
        <p:txBody>
          <a:bodyPr wrap="none" lIns="0" tIns="0" bIns="0">
            <a:spAutoFit/>
          </a:bodyPr>
          <a:lstStyle/>
          <a:p>
            <a:pPr>
              <a:defRPr sz="900" b="0">
                <a:solidFill>
                  <a:srgbClr val="CCCCCC"/>
                </a:solidFill>
                <a:latin typeface="Source Sans Pro"/>
              </a:defRPr>
            </a:pPr>
            <a:r>
              <a:t>Text Hierarchy</a:t>
            </a:r>
          </a:p>
        </p:txBody>
      </p:sp>
      <p:sp>
        <p:nvSpPr>
          <p:cNvPr id="37" name="TextBox 36"/>
          <p:cNvSpPr txBox="1"/>
          <p:nvPr/>
        </p:nvSpPr>
        <p:spPr>
          <a:xfrm>
            <a:off x="6492240" y="3931920"/>
            <a:ext cx="1828800" cy="274320"/>
          </a:xfrm>
          <a:prstGeom prst="rect">
            <a:avLst/>
          </a:prstGeom>
          <a:noFill/>
        </p:spPr>
        <p:txBody>
          <a:bodyPr wrap="none" lIns="0" rIns="0" tIns="0" bIns="0">
            <a:spAutoFit/>
          </a:bodyPr>
          <a:lstStyle/>
          <a:p>
            <a:pPr>
              <a:defRPr sz="1200" b="1">
                <a:solidFill>
                  <a:srgbClr val="FFFFFF"/>
                </a:solidFill>
                <a:latin typeface="Source Sans Pro"/>
              </a:defRPr>
            </a:pPr>
            <a:r>
              <a:t>Visual Guidelines</a:t>
            </a:r>
          </a:p>
        </p:txBody>
      </p:sp>
      <p:cxnSp>
        <p:nvCxnSpPr>
          <p:cNvPr id="38" name="Connector 37"/>
          <p:cNvCxnSpPr/>
          <p:nvPr/>
        </p:nvCxnSpPr>
        <p:spPr>
          <a:xfrm>
            <a:off x="8366759" y="4041648"/>
            <a:ext cx="365760" cy="0"/>
          </a:xfrm>
          <a:prstGeom prst="line">
            <a:avLst/>
          </a:prstGeom>
          <a:ln w="19050">
            <a:solidFill>
              <a:srgbClr val="2E86AB"/>
            </a:solidFill>
          </a:ln>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8778240" y="3931920"/>
            <a:ext cx="274320" cy="274320"/>
          </a:xfrm>
          <a:prstGeom prst="rect">
            <a:avLst/>
          </a:prstGeom>
          <a:noFill/>
        </p:spPr>
        <p:txBody>
          <a:bodyPr wrap="none" lIns="0" tIns="0" bIns="0">
            <a:spAutoFit/>
          </a:bodyPr>
          <a:lstStyle/>
          <a:p>
            <a:pPr>
              <a:defRPr sz="1200" b="1">
                <a:solidFill>
                  <a:srgbClr val="2E86AB"/>
                </a:solidFill>
                <a:latin typeface="Source Sans Pro"/>
              </a:defRPr>
            </a:pPr>
            <a:r>
              <a:t>09</a:t>
            </a:r>
          </a:p>
        </p:txBody>
      </p:sp>
      <p:sp>
        <p:nvSpPr>
          <p:cNvPr id="40" name="TextBox 39"/>
          <p:cNvSpPr txBox="1"/>
          <p:nvPr/>
        </p:nvSpPr>
        <p:spPr>
          <a:xfrm>
            <a:off x="6675120" y="4297680"/>
            <a:ext cx="1828800" cy="228600"/>
          </a:xfrm>
          <a:prstGeom prst="rect">
            <a:avLst/>
          </a:prstGeom>
          <a:noFill/>
        </p:spPr>
        <p:txBody>
          <a:bodyPr wrap="none" lIns="0" tIns="0" bIns="0">
            <a:spAutoFit/>
          </a:bodyPr>
          <a:lstStyle/>
          <a:p>
            <a:pPr>
              <a:defRPr sz="900" b="0">
                <a:solidFill>
                  <a:srgbClr val="CCCCCC"/>
                </a:solidFill>
                <a:latin typeface="Source Sans Pro"/>
              </a:defRPr>
            </a:pPr>
            <a:r>
              <a:t>Visual Style</a:t>
            </a:r>
          </a:p>
        </p:txBody>
      </p:sp>
      <p:sp>
        <p:nvSpPr>
          <p:cNvPr id="41" name="TextBox 40"/>
          <p:cNvSpPr txBox="1"/>
          <p:nvPr/>
        </p:nvSpPr>
        <p:spPr>
          <a:xfrm>
            <a:off x="6675120" y="4526280"/>
            <a:ext cx="1828800" cy="228600"/>
          </a:xfrm>
          <a:prstGeom prst="rect">
            <a:avLst/>
          </a:prstGeom>
          <a:noFill/>
        </p:spPr>
        <p:txBody>
          <a:bodyPr wrap="none" lIns="0" tIns="0" bIns="0">
            <a:spAutoFit/>
          </a:bodyPr>
          <a:lstStyle/>
          <a:p>
            <a:pPr>
              <a:defRPr sz="900" b="0">
                <a:solidFill>
                  <a:srgbClr val="CCCCCC"/>
                </a:solidFill>
                <a:latin typeface="Source Sans Pro"/>
              </a:defRPr>
            </a:pPr>
            <a:r>
              <a:t>Photography</a:t>
            </a:r>
          </a:p>
        </p:txBody>
      </p:sp>
      <p:sp>
        <p:nvSpPr>
          <p:cNvPr id="42" name="TextBox 41"/>
          <p:cNvSpPr txBox="1"/>
          <p:nvPr/>
        </p:nvSpPr>
        <p:spPr>
          <a:xfrm>
            <a:off x="6675120" y="4754880"/>
            <a:ext cx="1828800" cy="228600"/>
          </a:xfrm>
          <a:prstGeom prst="rect">
            <a:avLst/>
          </a:prstGeom>
          <a:noFill/>
        </p:spPr>
        <p:txBody>
          <a:bodyPr wrap="none" lIns="0" tIns="0" bIns="0">
            <a:spAutoFit/>
          </a:bodyPr>
          <a:lstStyle/>
          <a:p>
            <a:pPr>
              <a:defRPr sz="900" b="0">
                <a:solidFill>
                  <a:srgbClr val="CCCCCC"/>
                </a:solidFill>
                <a:latin typeface="Source Sans Pro"/>
              </a:defRPr>
            </a:pPr>
            <a:r>
              <a:t>Imagery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800100" y="1051560"/>
            <a:ext cx="6858000" cy="2971800"/>
          </a:xfrm>
          <a:prstGeom prst="rect">
            <a:avLst/>
          </a:prstGeom>
          <a:noFill/>
        </p:spPr>
        <p:txBody>
          <a:bodyPr wrap="square" lIns="0" rIns="0" tIns="0" bIns="0">
            <a:spAutoFit/>
          </a:bodyPr>
          <a:lstStyle/>
          <a:p>
            <a:pPr algn="l">
              <a:spcAft>
                <a:spcPts val="800"/>
              </a:spcAft>
              <a:defRPr sz="2000" b="0">
                <a:solidFill>
                  <a:srgbClr val="FFFFFF"/>
                </a:solidFill>
                <a:latin typeface="Source Sans Pro"/>
              </a:defRPr>
            </a:pPr>
            <a:r>
              <a:t>The following brand identity system for LogoTest</a:t>
            </a:r>
          </a:p>
          <a:p>
            <a:pPr algn="l">
              <a:spcAft>
                <a:spcPts val="800"/>
              </a:spcAft>
              <a:defRPr sz="2000" b="0">
                <a:solidFill>
                  <a:srgbClr val="FFFFFF"/>
                </a:solidFill>
                <a:latin typeface="Source Sans Pro"/>
              </a:defRPr>
            </a:pPr>
            <a:r>
              <a:t>is thoughtfully crafted to present our brand in</a:t>
            </a:r>
          </a:p>
          <a:p>
            <a:pPr algn="l">
              <a:spcAft>
                <a:spcPts val="800"/>
              </a:spcAft>
              <a:defRPr sz="2000" b="0">
                <a:solidFill>
                  <a:srgbClr val="FFFFFF"/>
                </a:solidFill>
                <a:latin typeface="Source Sans Pro"/>
              </a:defRPr>
            </a:pPr>
            <a:r>
              <a:t>an international, engaging, consistent, recognizable</a:t>
            </a:r>
          </a:p>
          <a:p>
            <a:pPr algn="l">
              <a:spcAft>
                <a:spcPts val="800"/>
              </a:spcAft>
              <a:defRPr sz="2000" b="0">
                <a:solidFill>
                  <a:srgbClr val="FFFFFF"/>
                </a:solidFill>
                <a:latin typeface="Source Sans Pro"/>
              </a:defRPr>
            </a:pPr>
            <a:r>
              <a:t>and proprietary way. Rooted in innovation and driven by</a:t>
            </a:r>
          </a:p>
          <a:p>
            <a:pPr algn="l">
              <a:spcAft>
                <a:spcPts val="800"/>
              </a:spcAft>
              <a:defRPr sz="2000" b="0">
                <a:solidFill>
                  <a:srgbClr val="FFFFFF"/>
                </a:solidFill>
                <a:latin typeface="Source Sans Pro"/>
              </a:defRPr>
            </a:pPr>
            <a:r>
              <a:t>innovation, our system reflects our commitment to excellence.</a:t>
            </a:r>
          </a:p>
        </p:txBody>
      </p:sp>
      <p:cxnSp>
        <p:nvCxnSpPr>
          <p:cNvPr id="3" name="Connector 2"/>
          <p:cNvCxnSpPr/>
          <p:nvPr/>
        </p:nvCxnSpPr>
        <p:spPr>
          <a:xfrm>
            <a:off x="457200" y="4914900.0"/>
            <a:ext cx="8229600" cy="0.0"/>
          </a:xfrm>
          <a:prstGeom prst="line">
            <a:avLst/>
          </a:prstGeom>
          <a:ln w="25400">
            <a:solidFill>
              <a:srgbClr val="2E86AB"/>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800100" y="5189220"/>
            <a:ext cx="3657600" cy="731520"/>
          </a:xfrm>
          <a:prstGeom prst="rect">
            <a:avLst/>
          </a:prstGeom>
          <a:noFill/>
        </p:spPr>
        <p:txBody>
          <a:bodyPr wrap="none">
            <a:spAutoFit/>
          </a:bodyPr>
          <a:lstStyle/>
          <a:p>
            <a:pPr algn="l">
              <a:defRPr sz="2800" b="1">
                <a:solidFill>
                  <a:srgbClr val="2E86AB"/>
                </a:solidFill>
                <a:latin typeface="Inter"/>
              </a:defRPr>
            </a:pPr>
            <a:r>
              <a:t>INTRODUCTION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800100" y="1051560"/>
            <a:ext cx="6858000" cy="2971800"/>
          </a:xfrm>
          <a:prstGeom prst="rect">
            <a:avLst/>
          </a:prstGeom>
          <a:noFill/>
        </p:spPr>
        <p:txBody>
          <a:bodyPr wrap="square" lIns="0" rIns="0" tIns="0" bIns="0">
            <a:spAutoFit/>
          </a:bodyPr>
          <a:lstStyle/>
          <a:p>
            <a:pPr algn="l">
              <a:spcAft>
                <a:spcPts val="800"/>
              </a:spcAft>
              <a:defRPr sz="2000" b="0">
                <a:solidFill>
                  <a:srgbClr val="FFFFFF"/>
                </a:solidFill>
                <a:latin typeface="Source Sans Pro"/>
              </a:defRPr>
            </a:pPr>
            <a:r>
              <a:t>To be the leading force in technological innovation that empowers businesses and individuals to achieve their full potential.</a:t>
            </a:r>
          </a:p>
        </p:txBody>
      </p:sp>
      <p:cxnSp>
        <p:nvCxnSpPr>
          <p:cNvPr id="3" name="Connector 2"/>
          <p:cNvCxnSpPr/>
          <p:nvPr/>
        </p:nvCxnSpPr>
        <p:spPr>
          <a:xfrm>
            <a:off x="457200" y="4914900.0"/>
            <a:ext cx="8229600" cy="0.0"/>
          </a:xfrm>
          <a:prstGeom prst="line">
            <a:avLst/>
          </a:prstGeom>
          <a:ln w="25400">
            <a:solidFill>
              <a:srgbClr val="2E86AB"/>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800100" y="5189220"/>
            <a:ext cx="5486400" cy="731520"/>
          </a:xfrm>
          <a:prstGeom prst="rect">
            <a:avLst/>
          </a:prstGeom>
          <a:noFill/>
        </p:spPr>
        <p:txBody>
          <a:bodyPr wrap="none">
            <a:spAutoFit/>
          </a:bodyPr>
          <a:lstStyle/>
          <a:p>
            <a:pPr algn="l">
              <a:defRPr sz="2800" b="1">
                <a:solidFill>
                  <a:srgbClr val="2E86AB"/>
                </a:solidFill>
                <a:latin typeface="Inter"/>
              </a:defRPr>
            </a:pPr>
            <a:r>
              <a:t>BRAND PURPOSE (VISION)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800100" y="1051560"/>
            <a:ext cx="6858000" cy="2971800"/>
          </a:xfrm>
          <a:prstGeom prst="rect">
            <a:avLst/>
          </a:prstGeom>
          <a:noFill/>
        </p:spPr>
        <p:txBody>
          <a:bodyPr wrap="square" lIns="0" rIns="0" tIns="0" bIns="0">
            <a:spAutoFit/>
          </a:bodyPr>
          <a:lstStyle/>
          <a:p>
            <a:pPr algn="l">
              <a:spcAft>
                <a:spcPts val="800"/>
              </a:spcAft>
              <a:defRPr sz="2000" b="0">
                <a:solidFill>
                  <a:srgbClr val="FFFFFF"/>
                </a:solidFill>
                <a:latin typeface="Source Sans Pro"/>
              </a:defRPr>
            </a:pPr>
            <a:r>
              <a:t>We create cutting-edge technology solutions that simplify complex challenges and drive meaningful progress for our clients.</a:t>
            </a:r>
          </a:p>
        </p:txBody>
      </p:sp>
      <p:cxnSp>
        <p:nvCxnSpPr>
          <p:cNvPr id="3" name="Connector 2"/>
          <p:cNvCxnSpPr/>
          <p:nvPr/>
        </p:nvCxnSpPr>
        <p:spPr>
          <a:xfrm>
            <a:off x="457200" y="4914900.0"/>
            <a:ext cx="8229600" cy="0.0"/>
          </a:xfrm>
          <a:prstGeom prst="line">
            <a:avLst/>
          </a:prstGeom>
          <a:ln w="25400">
            <a:solidFill>
              <a:srgbClr val="2E86AB"/>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800100" y="5189220"/>
            <a:ext cx="5486400" cy="731520"/>
          </a:xfrm>
          <a:prstGeom prst="rect">
            <a:avLst/>
          </a:prstGeom>
          <a:noFill/>
        </p:spPr>
        <p:txBody>
          <a:bodyPr wrap="none">
            <a:spAutoFit/>
          </a:bodyPr>
          <a:lstStyle/>
          <a:p>
            <a:pPr algn="l">
              <a:defRPr sz="2800" b="1">
                <a:solidFill>
                  <a:srgbClr val="2E86AB"/>
                </a:solidFill>
                <a:latin typeface="Inter"/>
              </a:defRPr>
            </a:pPr>
            <a:r>
              <a:t>BRAND PURPOSE (MISSION)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800100" y="1051560"/>
            <a:ext cx="6858000" cy="2971800"/>
          </a:xfrm>
          <a:prstGeom prst="rect">
            <a:avLst/>
          </a:prstGeom>
          <a:noFill/>
        </p:spPr>
        <p:txBody>
          <a:bodyPr wrap="square" lIns="0" rIns="0" tIns="0" bIns="0">
            <a:spAutoFit/>
          </a:bodyPr>
          <a:lstStyle/>
          <a:p>
            <a:pPr algn="l">
              <a:spcAft>
                <a:spcPts val="800"/>
              </a:spcAft>
              <a:defRPr sz="2000" b="0">
                <a:solidFill>
                  <a:srgbClr val="FFFFFF"/>
                </a:solidFill>
                <a:latin typeface="Source Sans Pro"/>
              </a:defRPr>
            </a:pPr>
            <a:r>
              <a:t>Core Values: Through innovation and quality, we build lasting relationships and deliver exceptional value to all our stakeholders.</a:t>
            </a:r>
          </a:p>
        </p:txBody>
      </p:sp>
      <p:cxnSp>
        <p:nvCxnSpPr>
          <p:cNvPr id="3" name="Connector 2"/>
          <p:cNvCxnSpPr/>
          <p:nvPr/>
        </p:nvCxnSpPr>
        <p:spPr>
          <a:xfrm>
            <a:off x="457200" y="4914900.0"/>
            <a:ext cx="8229600" cy="0.0"/>
          </a:xfrm>
          <a:prstGeom prst="line">
            <a:avLst/>
          </a:prstGeom>
          <a:ln w="25400">
            <a:solidFill>
              <a:srgbClr val="2E86AB"/>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800100" y="5189220"/>
            <a:ext cx="5486400" cy="731520"/>
          </a:xfrm>
          <a:prstGeom prst="rect">
            <a:avLst/>
          </a:prstGeom>
          <a:noFill/>
        </p:spPr>
        <p:txBody>
          <a:bodyPr wrap="none">
            <a:spAutoFit/>
          </a:bodyPr>
          <a:lstStyle/>
          <a:p>
            <a:pPr algn="l">
              <a:defRPr sz="2800" b="1">
                <a:solidFill>
                  <a:srgbClr val="2E86AB"/>
                </a:solidFill>
                <a:latin typeface="Inter"/>
              </a:defRPr>
            </a:pPr>
            <a:r>
              <a:t>BRAND PURPOSE (VALUES)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800100" y="1051560"/>
            <a:ext cx="6858000" cy="2971800"/>
          </a:xfrm>
          <a:prstGeom prst="rect">
            <a:avLst/>
          </a:prstGeom>
          <a:noFill/>
        </p:spPr>
        <p:txBody>
          <a:bodyPr wrap="square" lIns="0" rIns="0" tIns="0" bIns="0">
            <a:spAutoFit/>
          </a:bodyPr>
          <a:lstStyle/>
          <a:p>
            <a:pPr algn="l">
              <a:spcAft>
                <a:spcPts val="800"/>
              </a:spcAft>
              <a:defRPr sz="2000" b="0">
                <a:solidFill>
                  <a:srgbClr val="FFFFFF"/>
                </a:solidFill>
                <a:latin typeface="Source Sans Pro"/>
              </a:defRPr>
            </a:pPr>
            <a:r>
              <a:t>Founded on the belief that technology should enhance human potential, LogoTest emerged from a simple yet powerful vision: to bridge the gap between complex innovation and everyday usability.</a:t>
            </a:r>
          </a:p>
          <a:p>
            <a:pPr algn="l">
              <a:spcAft>
                <a:spcPts val="800"/>
              </a:spcAft>
              <a:defRPr sz="2000" b="0">
                <a:solidFill>
                  <a:srgbClr val="FFFFFF"/>
                </a:solidFill>
                <a:latin typeface="Source Sans Pro"/>
              </a:defRPr>
            </a:pPr>
          </a:p>
          <a:p>
            <a:pPr algn="l">
              <a:spcAft>
                <a:spcPts val="800"/>
              </a:spcAft>
              <a:defRPr sz="2000" b="0">
                <a:solidFill>
                  <a:srgbClr val="FFFFFF"/>
                </a:solidFill>
                <a:latin typeface="Source Sans Pro"/>
              </a:defRPr>
            </a:pPr>
            <a:r>
              <a:t>Our journey began when we recognized that the Technology landscape was filled with solutions that prioritized features over user experience. Driven by innovation and guided by our core values, we set out to create technology that truly serves its users.</a:t>
            </a:r>
          </a:p>
          <a:p>
            <a:pPr algn="l">
              <a:spcAft>
                <a:spcPts val="800"/>
              </a:spcAft>
              <a:defRPr sz="2000" b="0">
                <a:solidFill>
                  <a:srgbClr val="FFFFFF"/>
                </a:solidFill>
                <a:latin typeface="Source Sans Pro"/>
              </a:defRPr>
            </a:pPr>
          </a:p>
          <a:p>
            <a:pPr algn="l">
              <a:spcAft>
                <a:spcPts val="800"/>
              </a:spcAft>
              <a:defRPr sz="2000" b="0">
                <a:solidFill>
                  <a:srgbClr val="FFFFFF"/>
                </a:solidFill>
                <a:latin typeface="Source Sans Pro"/>
              </a:defRPr>
            </a:pPr>
            <a:r>
              <a:t>Today, LogoTest stands as a testament to what happens when cutting-edge innovation meets human-centered design. We don't just build products; we craft experiences that empower our clients to achieve their goals more effectively. Our commitment to Innovation, Quality continues to drive every decision we make, ensuring that our solutions not only meet today's needs but anticipate tomorrow's challenges.</a:t>
            </a:r>
          </a:p>
        </p:txBody>
      </p:sp>
      <p:cxnSp>
        <p:nvCxnSpPr>
          <p:cNvPr id="3" name="Connector 2"/>
          <p:cNvCxnSpPr/>
          <p:nvPr/>
        </p:nvCxnSpPr>
        <p:spPr>
          <a:xfrm>
            <a:off x="457200" y="4914900.0"/>
            <a:ext cx="8229600" cy="0.0"/>
          </a:xfrm>
          <a:prstGeom prst="line">
            <a:avLst/>
          </a:prstGeom>
          <a:ln w="25400">
            <a:solidFill>
              <a:srgbClr val="2E86AB"/>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800100" y="5189220"/>
            <a:ext cx="5486400" cy="731520"/>
          </a:xfrm>
          <a:prstGeom prst="rect">
            <a:avLst/>
          </a:prstGeom>
          <a:noFill/>
        </p:spPr>
        <p:txBody>
          <a:bodyPr wrap="none">
            <a:spAutoFit/>
          </a:bodyPr>
          <a:lstStyle/>
          <a:p>
            <a:pPr algn="l">
              <a:defRPr sz="2800" b="1">
                <a:solidFill>
                  <a:srgbClr val="2E86AB"/>
                </a:solidFill>
                <a:latin typeface="Inter"/>
              </a:defRPr>
            </a:pPr>
            <a:r>
              <a:t>BRAND STORY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sp>
        <p:nvSpPr>
          <p:cNvPr id="2" name="Rectangle 1"/>
          <p:cNvSpPr/>
          <p:nvPr/>
        </p:nvSpPr>
        <p:spPr>
          <a:xfrm>
            <a:off x="0" y="0"/>
            <a:ext cx="9144000" cy="685800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Pr/>
      <p:sp>
        <p:nvSpPr>
          <p:cNvPr id="3" name="TextBox 2"/>
          <p:cNvSpPr txBox="1"/>
          <p:nvPr/>
        </p:nvSpPr>
        <p:spPr>
          <a:xfrm>
            <a:off x="1143000" y="457200"/>
            <a:ext cx="6858000" cy="742950"/>
          </a:xfrm>
          <a:prstGeom prst="rect">
            <a:avLst/>
          </a:prstGeom>
          <a:noFill/>
        </p:spPr>
        <p:txBody>
          <a:bodyPr wrap="none">
            <a:spAutoFit/>
          </a:bodyPr>
          <a:lstStyle/>
          <a:p>
            <a:pPr>
              <a:defRPr sz="3200" b="1">
                <a:solidFill>
                  <a:srgbClr val="2E86AB"/>
                </a:solidFill>
                <a:latin typeface="Inter"/>
              </a:defRPr>
            </a:pPr>
            <a:r>
              <a:t>Logo Variations (3 designs)</a:t>
            </a:r>
          </a:p>
        </p:txBody>
      </p:sp>
      <p:sp>
        <p:nvSpPr>
          <p:cNvPr id="4" name="Rectangle 3"/>
          <p:cNvSpPr/>
          <p:nvPr/>
        </p:nvSpPr>
        <p:spPr>
          <a:xfrm>
            <a:off x="1051560" y="1851660"/>
            <a:ext cx="1554480" cy="16687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zeta_logo_1_20250828_235333_3e1fde11.png"/>
          <p:cNvPicPr>
            <a:picLocks noChangeAspect="1"/>
          </p:cNvPicPr>
          <p:nvPr/>
        </p:nvPicPr>
        <p:blipFill>
          <a:blip r:embed="rId2"/>
          <a:stretch>
            <a:fillRect/>
          </a:stretch>
        </p:blipFill>
        <p:spPr>
          <a:xfrm>
            <a:off x="1143000" y="1943100"/>
            <a:ext cx="1371600" cy="1485900"/>
          </a:xfrm>
          <a:prstGeom prst="rect">
            <a:avLst/>
          </a:prstGeom>
        </p:spPr>
      </p:pic>
      <p:sp>
        <p:nvSpPr>
          <p:cNvPr id="6" name="TextBox 5"/>
          <p:cNvSpPr txBox="1"/>
          <p:nvPr/>
        </p:nvSpPr>
        <p:spPr>
          <a:xfrm>
            <a:off x="1143000" y="3429000"/>
            <a:ext cx="1371600" cy="742950"/>
          </a:xfrm>
          <a:prstGeom prst="rect">
            <a:avLst/>
          </a:prstGeom>
          <a:noFill/>
        </p:spPr>
        <p:txBody>
          <a:bodyPr wrap="none">
            <a:spAutoFit/>
          </a:bodyPr>
          <a:lstStyle/>
          <a:p>
            <a:pPr algn="ctr">
              <a:defRPr sz="1200" b="0">
                <a:solidFill>
                  <a:srgbClr val="2E86AB"/>
                </a:solidFill>
                <a:latin typeface="Source Sans Pro"/>
              </a:defRPr>
            </a:pPr>
            <a:r>
              <a:t>Version 1</a:t>
            </a:r>
          </a:p>
        </p:txBody>
      </p:sp>
      <p:sp>
        <p:nvSpPr>
          <p:cNvPr id="7" name="Rectangle 6"/>
          <p:cNvSpPr/>
          <p:nvPr/>
        </p:nvSpPr>
        <p:spPr>
          <a:xfrm>
            <a:off x="3108960" y="1851660"/>
            <a:ext cx="1554480" cy="16687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zeta_logo_2_20250828_235352_a3259202.png"/>
          <p:cNvPicPr>
            <a:picLocks noChangeAspect="1"/>
          </p:cNvPicPr>
          <p:nvPr/>
        </p:nvPicPr>
        <p:blipFill>
          <a:blip r:embed="rId3"/>
          <a:stretch>
            <a:fillRect/>
          </a:stretch>
        </p:blipFill>
        <p:spPr>
          <a:xfrm>
            <a:off x="3200400" y="1943100"/>
            <a:ext cx="1371600" cy="1485900"/>
          </a:xfrm>
          <a:prstGeom prst="rect">
            <a:avLst/>
          </a:prstGeom>
        </p:spPr>
      </p:pic>
      <p:sp>
        <p:nvSpPr>
          <p:cNvPr id="9" name="TextBox 8"/>
          <p:cNvSpPr txBox="1"/>
          <p:nvPr/>
        </p:nvSpPr>
        <p:spPr>
          <a:xfrm>
            <a:off x="3200400" y="3429000"/>
            <a:ext cx="1371600" cy="742950"/>
          </a:xfrm>
          <a:prstGeom prst="rect">
            <a:avLst/>
          </a:prstGeom>
          <a:noFill/>
        </p:spPr>
        <p:txBody>
          <a:bodyPr wrap="none">
            <a:spAutoFit/>
          </a:bodyPr>
          <a:lstStyle/>
          <a:p>
            <a:pPr algn="ctr">
              <a:defRPr sz="1200" b="0">
                <a:solidFill>
                  <a:srgbClr val="2E86AB"/>
                </a:solidFill>
                <a:latin typeface="Source Sans Pro"/>
              </a:defRPr>
            </a:pPr>
            <a:r>
              <a:t>Version 2</a:t>
            </a:r>
          </a:p>
        </p:txBody>
      </p:sp>
      <p:sp>
        <p:nvSpPr>
          <p:cNvPr id="10" name="Rectangle 9"/>
          <p:cNvSpPr/>
          <p:nvPr/>
        </p:nvSpPr>
        <p:spPr>
          <a:xfrm>
            <a:off x="5166360" y="1851660"/>
            <a:ext cx="1554480" cy="16687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zeta_logo_3_20250828_235415_054bae29.png"/>
          <p:cNvPicPr>
            <a:picLocks noChangeAspect="1"/>
          </p:cNvPicPr>
          <p:nvPr/>
        </p:nvPicPr>
        <p:blipFill>
          <a:blip r:embed="rId4"/>
          <a:stretch>
            <a:fillRect/>
          </a:stretch>
        </p:blipFill>
        <p:spPr>
          <a:xfrm>
            <a:off x="5257800" y="1943100"/>
            <a:ext cx="1371600" cy="1485900"/>
          </a:xfrm>
          <a:prstGeom prst="rect">
            <a:avLst/>
          </a:prstGeom>
        </p:spPr>
      </p:pic>
      <p:sp>
        <p:nvSpPr>
          <p:cNvPr id="12" name="TextBox 11"/>
          <p:cNvSpPr txBox="1"/>
          <p:nvPr/>
        </p:nvSpPr>
        <p:spPr>
          <a:xfrm>
            <a:off x="5257800" y="3429000"/>
            <a:ext cx="1371600" cy="742950"/>
          </a:xfrm>
          <a:prstGeom prst="rect">
            <a:avLst/>
          </a:prstGeom>
          <a:noFill/>
        </p:spPr>
        <p:txBody>
          <a:bodyPr wrap="none">
            <a:spAutoFit/>
          </a:bodyPr>
          <a:lstStyle/>
          <a:p>
            <a:pPr algn="ctr">
              <a:defRPr sz="1200" b="0">
                <a:solidFill>
                  <a:srgbClr val="2E86AB"/>
                </a:solidFill>
                <a:latin typeface="Source Sans Pro"/>
              </a:defRPr>
            </a:pPr>
            <a:r>
              <a:t>Version 3</a:t>
            </a:r>
          </a:p>
        </p:txBody>
      </p:sp>
      <p:sp>
        <p:nvSpPr>
          <p:cNvPr id="13" name="TextBox 12"/>
          <p:cNvSpPr txBox="1"/>
          <p:nvPr/>
        </p:nvSpPr>
        <p:spPr>
          <a:xfrm>
            <a:off x="1143000" y="4914900"/>
            <a:ext cx="7543800" cy="742950"/>
          </a:xfrm>
          <a:prstGeom prst="rect">
            <a:avLst/>
          </a:prstGeom>
          <a:noFill/>
        </p:spPr>
        <p:txBody>
          <a:bodyPr wrap="none">
            <a:spAutoFit/>
          </a:bodyPr>
          <a:lstStyle/>
          <a:p>
            <a:pPr algn="ctr">
              <a:defRPr sz="1200" b="0">
                <a:solidFill>
                  <a:srgbClr val="2E86AB"/>
                </a:solidFill>
                <a:latin typeface="Source Sans Pro"/>
              </a:defRPr>
            </a:pPr>
            <a:r>
              <a:t>Minimum size: 0.5 inches • Clearspace: 0.25 inches on all sides</a:t>
            </a:r>
          </a:p>
        </p:txBody>
      </p:sp>
      <p:sp>
        <p:nvSpPr>
          <p:cNvPr id="14" name="TextBox 13"/>
          <p:cNvSpPr txBox="1"/>
          <p:nvPr/>
        </p:nvSpPr>
        <p:spPr>
          <a:xfrm>
            <a:off x="457200" y="5657850"/>
            <a:ext cx="4114800" cy="742950"/>
          </a:xfrm>
          <a:prstGeom prst="rect">
            <a:avLst/>
          </a:prstGeom>
          <a:noFill/>
        </p:spPr>
        <p:txBody>
          <a:bodyPr wrap="none">
            <a:spAutoFit/>
          </a:bodyPr>
          <a:lstStyle/>
          <a:p>
            <a:pPr algn="l">
              <a:defRPr sz="1000" b="0">
                <a:solidFill>
                  <a:srgbClr val="2E86AB"/>
                </a:solidFill>
                <a:latin typeface="Source Sans Pro"/>
              </a:defRPr>
            </a:pPr>
            <a:r>
              <a:t>LogoTest</a:t>
            </a:r>
          </a:p>
        </p:txBody>
      </p:sp>
      <p:sp>
        <p:nvSpPr>
          <p:cNvPr id="15" name="TextBox 14"/>
          <p:cNvSpPr txBox="1"/>
          <p:nvPr/>
        </p:nvSpPr>
        <p:spPr>
          <a:xfrm>
            <a:off x="4572000" y="5657850"/>
            <a:ext cx="4114800" cy="742950"/>
          </a:xfrm>
          <a:prstGeom prst="rect">
            <a:avLst/>
          </a:prstGeom>
          <a:noFill/>
        </p:spPr>
        <p:txBody>
          <a:bodyPr wrap="none">
            <a:spAutoFit/>
          </a:bodyPr>
          <a:lstStyle/>
          <a:p>
            <a:pPr algn="r">
              <a:defRPr sz="1000" b="0">
                <a:solidFill>
                  <a:srgbClr val="2E86AB"/>
                </a:solidFill>
                <a:latin typeface="Source Sans Pro"/>
              </a:defRPr>
            </a:pPr>
            <a: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sp>
        <p:nvSpPr>
          <p:cNvPr id="2" name="Rectangle 1"/>
          <p:cNvSpPr/>
          <p:nvPr/>
        </p:nvSpPr>
        <p:spPr>
          <a:xfrm>
            <a:off x="0" y="0"/>
            <a:ext cx="9144000" cy="685800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Pr/>
      <p:sp>
        <p:nvSpPr>
          <p:cNvPr id="3" name="TextBox 2"/>
          <p:cNvSpPr txBox="1"/>
          <p:nvPr/>
        </p:nvSpPr>
        <p:spPr>
          <a:xfrm>
            <a:off x="1143000" y="457200"/>
            <a:ext cx="6858000" cy="742950"/>
          </a:xfrm>
          <a:prstGeom prst="rect">
            <a:avLst/>
          </a:prstGeom>
          <a:noFill/>
        </p:spPr>
        <p:txBody>
          <a:bodyPr wrap="none">
            <a:spAutoFit/>
          </a:bodyPr>
          <a:lstStyle/>
          <a:p>
            <a:pPr>
              <a:defRPr sz="3200" b="1">
                <a:solidFill>
                  <a:srgbClr val="2E86AB"/>
                </a:solidFill>
                <a:latin typeface="Inter"/>
              </a:defRPr>
            </a:pPr>
            <a:r>
              <a:t>Color Palette</a:t>
            </a:r>
          </a:p>
        </p:txBody>
      </p:sp>
      <p:sp>
        <p:nvSpPr>
          <p:cNvPr id="4" name="Rectangle 3"/>
          <p:cNvSpPr/>
          <p:nvPr/>
        </p:nvSpPr>
        <p:spPr>
          <a:xfrm>
            <a:off x="1143000" y="1943100"/>
            <a:ext cx="2057400" cy="1485900"/>
          </a:xfrm>
          <a:prstGeom prst="rect">
            <a:avLst/>
          </a:prstGeom>
          <a:solidFill>
            <a:srgbClr val="2E86AB"/>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3429000"/>
            <a:ext cx="2057400" cy="1485900"/>
          </a:xfrm>
          <a:prstGeom prst="rect">
            <a:avLst/>
          </a:prstGeom>
          <a:noFill/>
        </p:spPr>
        <p:txBody>
          <a:bodyPr wrap="square">
            <a:spAutoFit/>
          </a:bodyPr>
          <a:lstStyle/>
          <a:p>
            <a:pPr>
              <a:defRPr sz="1000" b="0">
                <a:solidFill>
                  <a:srgbClr val="2E86AB"/>
                </a:solidFill>
                <a:latin typeface="Source Sans Pro"/>
              </a:defRPr>
            </a:pPr>
            <a:r>
              <a:t>Primary</a:t>
            </a:r>
          </a:p>
          <a:p>
            <a:pPr>
              <a:defRPr sz="1000" b="0">
                <a:solidFill>
                  <a:srgbClr val="2E86AB"/>
                </a:solidFill>
                <a:latin typeface="Source Sans Pro"/>
              </a:defRPr>
            </a:pPr>
            <a:r>
              <a:t>#2E86AB</a:t>
            </a:r>
          </a:p>
          <a:p>
            <a:pPr>
              <a:defRPr sz="1000" b="0">
                <a:solidFill>
                  <a:srgbClr val="2E86AB"/>
                </a:solidFill>
                <a:latin typeface="Source Sans Pro"/>
              </a:defRPr>
            </a:pPr>
            <a:r>
              <a:t>RGB(46, 134, 171)</a:t>
            </a:r>
          </a:p>
          <a:p>
            <a:pPr>
              <a:defRPr sz="1000" b="0">
                <a:solidFill>
                  <a:srgbClr val="2E86AB"/>
                </a:solidFill>
                <a:latin typeface="Source Sans Pro"/>
              </a:defRPr>
            </a:pPr>
            <a:r>
              <a:t>CMYK(73, 21, 0, 32)</a:t>
            </a:r>
          </a:p>
          <a:p>
            <a:pPr>
              <a:defRPr sz="1000" b="0">
                <a:solidFill>
                  <a:srgbClr val="2E86AB"/>
                </a:solidFill>
                <a:latin typeface="Source Sans Pro"/>
              </a:defRPr>
            </a:pPr>
            <a:r>
              <a:t>Use Light Text</a:t>
            </a:r>
          </a:p>
        </p:txBody>
      </p:sp>
      <p:sp>
        <p:nvSpPr>
          <p:cNvPr id="6" name="Rectangle 5"/>
          <p:cNvSpPr/>
          <p:nvPr/>
        </p:nvSpPr>
        <p:spPr>
          <a:xfrm>
            <a:off x="3886200" y="1943100"/>
            <a:ext cx="2057400" cy="1485900"/>
          </a:xfrm>
          <a:prstGeom prst="rect">
            <a:avLst/>
          </a:prstGeom>
          <a:solidFill>
            <a:srgbClr val="A23B72"/>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886200" y="3429000"/>
            <a:ext cx="2057400" cy="1485900"/>
          </a:xfrm>
          <a:prstGeom prst="rect">
            <a:avLst/>
          </a:prstGeom>
          <a:noFill/>
        </p:spPr>
        <p:txBody>
          <a:bodyPr wrap="square">
            <a:spAutoFit/>
          </a:bodyPr>
          <a:lstStyle/>
          <a:p>
            <a:pPr>
              <a:defRPr sz="1000" b="0">
                <a:solidFill>
                  <a:srgbClr val="2E86AB"/>
                </a:solidFill>
                <a:latin typeface="Source Sans Pro"/>
              </a:defRPr>
            </a:pPr>
            <a:r>
              <a:t>Secondary</a:t>
            </a:r>
          </a:p>
          <a:p>
            <a:pPr>
              <a:defRPr sz="1000" b="0">
                <a:solidFill>
                  <a:srgbClr val="2E86AB"/>
                </a:solidFill>
                <a:latin typeface="Source Sans Pro"/>
              </a:defRPr>
            </a:pPr>
            <a:r>
              <a:t>#A23B72</a:t>
            </a:r>
          </a:p>
          <a:p>
            <a:pPr>
              <a:defRPr sz="1000" b="0">
                <a:solidFill>
                  <a:srgbClr val="2E86AB"/>
                </a:solidFill>
                <a:latin typeface="Source Sans Pro"/>
              </a:defRPr>
            </a:pPr>
            <a:r>
              <a:t>RGB(162, 59, 114)</a:t>
            </a:r>
          </a:p>
          <a:p>
            <a:pPr>
              <a:defRPr sz="1000" b="0">
                <a:solidFill>
                  <a:srgbClr val="2E86AB"/>
                </a:solidFill>
                <a:latin typeface="Source Sans Pro"/>
              </a:defRPr>
            </a:pPr>
            <a:r>
              <a:t>CMYK(0, 63, 29, 36)</a:t>
            </a:r>
          </a:p>
          <a:p>
            <a:pPr>
              <a:defRPr sz="1000" b="0">
                <a:solidFill>
                  <a:srgbClr val="2E86AB"/>
                </a:solidFill>
                <a:latin typeface="Source Sans Pro"/>
              </a:defRPr>
            </a:pPr>
            <a:r>
              <a:t>Use Light Text</a:t>
            </a:r>
          </a:p>
        </p:txBody>
      </p:sp>
      <p:sp>
        <p:nvSpPr>
          <p:cNvPr id="8" name="Rectangle 7"/>
          <p:cNvSpPr/>
          <p:nvPr/>
        </p:nvSpPr>
        <p:spPr>
          <a:xfrm>
            <a:off x="6629400" y="1943100"/>
            <a:ext cx="2057400" cy="1485900"/>
          </a:xfrm>
          <a:prstGeom prst="rect">
            <a:avLst/>
          </a:prstGeom>
          <a:solidFill>
            <a:srgbClr val="F18F01"/>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629400" y="3429000"/>
            <a:ext cx="2057400" cy="1485900"/>
          </a:xfrm>
          <a:prstGeom prst="rect">
            <a:avLst/>
          </a:prstGeom>
          <a:noFill/>
        </p:spPr>
        <p:txBody>
          <a:bodyPr wrap="square">
            <a:spAutoFit/>
          </a:bodyPr>
          <a:lstStyle/>
          <a:p>
            <a:pPr>
              <a:defRPr sz="1000" b="0">
                <a:solidFill>
                  <a:srgbClr val="2E86AB"/>
                </a:solidFill>
                <a:latin typeface="Source Sans Pro"/>
              </a:defRPr>
            </a:pPr>
            <a:r>
              <a:t>Accent</a:t>
            </a:r>
          </a:p>
          <a:p>
            <a:pPr>
              <a:defRPr sz="1000" b="0">
                <a:solidFill>
                  <a:srgbClr val="2E86AB"/>
                </a:solidFill>
                <a:latin typeface="Source Sans Pro"/>
              </a:defRPr>
            </a:pPr>
            <a:r>
              <a:t>#F18F01</a:t>
            </a:r>
          </a:p>
          <a:p>
            <a:pPr>
              <a:defRPr sz="1000" b="0">
                <a:solidFill>
                  <a:srgbClr val="2E86AB"/>
                </a:solidFill>
                <a:latin typeface="Source Sans Pro"/>
              </a:defRPr>
            </a:pPr>
            <a:r>
              <a:t>RGB(241, 143, 1)</a:t>
            </a:r>
          </a:p>
          <a:p>
            <a:pPr>
              <a:defRPr sz="1000" b="0">
                <a:solidFill>
                  <a:srgbClr val="2E86AB"/>
                </a:solidFill>
                <a:latin typeface="Source Sans Pro"/>
              </a:defRPr>
            </a:pPr>
            <a:r>
              <a:t>CMYK(0, 40, 99, 5)</a:t>
            </a:r>
          </a:p>
          <a:p>
            <a:pPr>
              <a:defRPr sz="1000" b="0">
                <a:solidFill>
                  <a:srgbClr val="2E86AB"/>
                </a:solidFill>
                <a:latin typeface="Source Sans Pro"/>
              </a:defRPr>
            </a:pPr>
            <a:r>
              <a:t>Use Dark Text</a:t>
            </a:r>
          </a:p>
        </p:txBody>
      </p:sp>
      <p:sp>
        <p:nvSpPr>
          <p:cNvPr id="10" name="TextBox 9"/>
          <p:cNvSpPr txBox="1"/>
          <p:nvPr/>
        </p:nvSpPr>
        <p:spPr>
          <a:xfrm>
            <a:off x="457200" y="5657850"/>
            <a:ext cx="4114800" cy="742950"/>
          </a:xfrm>
          <a:prstGeom prst="rect">
            <a:avLst/>
          </a:prstGeom>
          <a:noFill/>
        </p:spPr>
        <p:txBody>
          <a:bodyPr wrap="none">
            <a:spAutoFit/>
          </a:bodyPr>
          <a:lstStyle/>
          <a:p>
            <a:pPr algn="l">
              <a:defRPr sz="1000" b="0">
                <a:solidFill>
                  <a:srgbClr val="2E86AB"/>
                </a:solidFill>
                <a:latin typeface="Source Sans Pro"/>
              </a:defRPr>
            </a:pPr>
            <a:r>
              <a:t>LogoTest</a:t>
            </a:r>
          </a:p>
        </p:txBody>
      </p:sp>
      <p:sp>
        <p:nvSpPr>
          <p:cNvPr id="11" name="TextBox 10"/>
          <p:cNvSpPr txBox="1"/>
          <p:nvPr/>
        </p:nvSpPr>
        <p:spPr>
          <a:xfrm>
            <a:off x="4572000" y="5657850"/>
            <a:ext cx="4114800" cy="742950"/>
          </a:xfrm>
          <a:prstGeom prst="rect">
            <a:avLst/>
          </a:prstGeom>
          <a:noFill/>
        </p:spPr>
        <p:txBody>
          <a:bodyPr wrap="none">
            <a:spAutoFit/>
          </a:bodyPr>
          <a:lstStyle/>
          <a:p>
            <a:pPr algn="r">
              <a:defRPr sz="1000" b="0">
                <a:solidFill>
                  <a:srgbClr val="2E86AB"/>
                </a:solidFill>
                <a:latin typeface="Source Sans Pro"/>
              </a:defRPr>
            </a:pPr>
            <a: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sp>
        <p:nvSpPr>
          <p:cNvPr id="2" name="Rectangle 1"/>
          <p:cNvSpPr/>
          <p:nvPr/>
        </p:nvSpPr>
        <p:spPr>
          <a:xfrm>
            <a:off x="0" y="0"/>
            <a:ext cx="9144000" cy="685800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Pr/>
      <p:sp>
        <p:nvSpPr>
          <p:cNvPr id="3" name="TextBox 2"/>
          <p:cNvSpPr txBox="1"/>
          <p:nvPr/>
        </p:nvSpPr>
        <p:spPr>
          <a:xfrm>
            <a:off x="1143000" y="457200"/>
            <a:ext cx="6858000" cy="742950"/>
          </a:xfrm>
          <a:prstGeom prst="rect">
            <a:avLst/>
          </a:prstGeom>
          <a:noFill/>
        </p:spPr>
        <p:txBody>
          <a:bodyPr wrap="none">
            <a:spAutoFit/>
          </a:bodyPr>
          <a:lstStyle/>
          <a:p>
            <a:pPr>
              <a:defRPr sz="3200" b="1">
                <a:solidFill>
                  <a:srgbClr val="2E86AB"/>
                </a:solidFill>
                <a:latin typeface="Inter"/>
              </a:defRPr>
            </a:pPr>
            <a:r>
              <a:t>Typography</a:t>
            </a:r>
          </a:p>
        </p:txBody>
      </p:sp>
      <p:sp>
        <p:nvSpPr>
          <p:cNvPr id="4" name="TextBox 3"/>
          <p:cNvSpPr txBox="1"/>
          <p:nvPr/>
        </p:nvSpPr>
        <p:spPr>
          <a:xfrm>
            <a:off x="1143000" y="1943100"/>
            <a:ext cx="3429000" cy="742950"/>
          </a:xfrm>
          <a:prstGeom prst="rect">
            <a:avLst/>
          </a:prstGeom>
          <a:noFill/>
        </p:spPr>
        <p:txBody>
          <a:bodyPr wrap="none">
            <a:spAutoFit/>
          </a:bodyPr>
          <a:lstStyle/>
          <a:p>
            <a:pPr>
              <a:defRPr sz="2000" b="0">
                <a:solidFill>
                  <a:srgbClr val="2E86AB"/>
                </a:solidFill>
                <a:latin typeface="Source Sans Pro"/>
              </a:defRPr>
            </a:pPr>
            <a:r>
              <a:t>Primary Font: Inter</a:t>
            </a:r>
          </a:p>
        </p:txBody>
      </p:sp>
      <p:sp>
        <p:nvSpPr>
          <p:cNvPr id="5" name="TextBox 4"/>
          <p:cNvSpPr txBox="1"/>
          <p:nvPr/>
        </p:nvSpPr>
        <p:spPr>
          <a:xfrm>
            <a:off x="1143000" y="2686050"/>
            <a:ext cx="3429000" cy="742950"/>
          </a:xfrm>
          <a:prstGeom prst="rect">
            <a:avLst/>
          </a:prstGeom>
          <a:noFill/>
        </p:spPr>
        <p:txBody>
          <a:bodyPr wrap="none">
            <a:spAutoFit/>
          </a:bodyPr>
          <a:lstStyle/>
          <a:p>
            <a:pPr>
              <a:defRPr sz="3200" b="1">
                <a:solidFill>
                  <a:srgbClr val="2E86AB"/>
                </a:solidFill>
                <a:latin typeface="Inter"/>
              </a:defRPr>
            </a:pPr>
            <a:r>
              <a:t>H1 Heading</a:t>
            </a:r>
          </a:p>
        </p:txBody>
      </p:sp>
      <p:sp>
        <p:nvSpPr>
          <p:cNvPr id="6" name="TextBox 5"/>
          <p:cNvSpPr txBox="1"/>
          <p:nvPr/>
        </p:nvSpPr>
        <p:spPr>
          <a:xfrm>
            <a:off x="1143000" y="3429000"/>
            <a:ext cx="3429000" cy="742950"/>
          </a:xfrm>
          <a:prstGeom prst="rect">
            <a:avLst/>
          </a:prstGeom>
          <a:noFill/>
        </p:spPr>
        <p:txBody>
          <a:bodyPr wrap="none">
            <a:spAutoFit/>
          </a:bodyPr>
          <a:lstStyle/>
          <a:p>
            <a:pPr>
              <a:defRPr sz="2400" b="1">
                <a:solidFill>
                  <a:srgbClr val="2E86AB"/>
                </a:solidFill>
                <a:latin typeface="Inter"/>
              </a:defRPr>
            </a:pPr>
            <a:r>
              <a:t>H2 Heading</a:t>
            </a:r>
          </a:p>
        </p:txBody>
      </p:sp>
      <p:sp>
        <p:nvSpPr>
          <p:cNvPr id="7" name="TextBox 6"/>
          <p:cNvSpPr txBox="1"/>
          <p:nvPr/>
        </p:nvSpPr>
        <p:spPr>
          <a:xfrm>
            <a:off x="1143000" y="4171950"/>
            <a:ext cx="3429000" cy="742950"/>
          </a:xfrm>
          <a:prstGeom prst="rect">
            <a:avLst/>
          </a:prstGeom>
          <a:noFill/>
        </p:spPr>
        <p:txBody>
          <a:bodyPr wrap="none">
            <a:spAutoFit/>
          </a:bodyPr>
          <a:lstStyle/>
          <a:p>
            <a:pPr>
              <a:defRPr sz="2000" b="0">
                <a:solidFill>
                  <a:srgbClr val="2E86AB"/>
                </a:solidFill>
                <a:latin typeface="Inter"/>
              </a:defRPr>
            </a:pPr>
            <a:r>
              <a:t>H3 Heading</a:t>
            </a:r>
          </a:p>
        </p:txBody>
      </p:sp>
      <p:sp>
        <p:nvSpPr>
          <p:cNvPr id="8" name="TextBox 7"/>
          <p:cNvSpPr txBox="1"/>
          <p:nvPr/>
        </p:nvSpPr>
        <p:spPr>
          <a:xfrm>
            <a:off x="5257800" y="1943100"/>
            <a:ext cx="3429000" cy="742950"/>
          </a:xfrm>
          <a:prstGeom prst="rect">
            <a:avLst/>
          </a:prstGeom>
          <a:noFill/>
        </p:spPr>
        <p:txBody>
          <a:bodyPr wrap="none">
            <a:spAutoFit/>
          </a:bodyPr>
          <a:lstStyle/>
          <a:p>
            <a:pPr>
              <a:defRPr sz="2000" b="0">
                <a:solidFill>
                  <a:srgbClr val="2E86AB"/>
                </a:solidFill>
                <a:latin typeface="Source Sans Pro"/>
              </a:defRPr>
            </a:pPr>
            <a:r>
              <a:t>Secondary Font: Source Sans Pro</a:t>
            </a:r>
          </a:p>
        </p:txBody>
      </p:sp>
      <p:sp>
        <p:nvSpPr>
          <p:cNvPr id="9" name="TextBox 8"/>
          <p:cNvSpPr txBox="1"/>
          <p:nvPr/>
        </p:nvSpPr>
        <p:spPr>
          <a:xfrm>
            <a:off x="5257800" y="2686050"/>
            <a:ext cx="3429000" cy="742950"/>
          </a:xfrm>
          <a:prstGeom prst="rect">
            <a:avLst/>
          </a:prstGeom>
          <a:noFill/>
        </p:spPr>
        <p:txBody>
          <a:bodyPr wrap="none">
            <a:spAutoFit/>
          </a:bodyPr>
          <a:lstStyle/>
          <a:p>
            <a:pPr>
              <a:defRPr sz="1600" b="0">
                <a:solidFill>
                  <a:srgbClr val="2E86AB"/>
                </a:solidFill>
                <a:latin typeface="Source Sans Pro"/>
              </a:defRPr>
            </a:pPr>
            <a:r>
              <a:t>Body Text</a:t>
            </a:r>
          </a:p>
        </p:txBody>
      </p:sp>
      <p:sp>
        <p:nvSpPr>
          <p:cNvPr id="10" name="TextBox 9"/>
          <p:cNvSpPr txBox="1"/>
          <p:nvPr/>
        </p:nvSpPr>
        <p:spPr>
          <a:xfrm>
            <a:off x="5257800" y="3429000"/>
            <a:ext cx="3429000" cy="742950"/>
          </a:xfrm>
          <a:prstGeom prst="rect">
            <a:avLst/>
          </a:prstGeom>
          <a:noFill/>
        </p:spPr>
        <p:txBody>
          <a:bodyPr wrap="none">
            <a:spAutoFit/>
          </a:bodyPr>
          <a:lstStyle/>
          <a:p>
            <a:pPr>
              <a:defRPr sz="1600" b="1">
                <a:solidFill>
                  <a:srgbClr val="2E86AB"/>
                </a:solidFill>
                <a:latin typeface="Source Sans Pro"/>
              </a:defRPr>
            </a:pPr>
            <a:r>
              <a:t>Body Bold</a:t>
            </a:r>
          </a:p>
        </p:txBody>
      </p:sp>
      <p:sp>
        <p:nvSpPr>
          <p:cNvPr id="11" name="TextBox 10"/>
          <p:cNvSpPr txBox="1"/>
          <p:nvPr/>
        </p:nvSpPr>
        <p:spPr>
          <a:xfrm>
            <a:off x="5257800" y="4171950"/>
            <a:ext cx="3429000" cy="742950"/>
          </a:xfrm>
          <a:prstGeom prst="rect">
            <a:avLst/>
          </a:prstGeom>
          <a:noFill/>
        </p:spPr>
        <p:txBody>
          <a:bodyPr wrap="none">
            <a:spAutoFit/>
          </a:bodyPr>
          <a:lstStyle/>
          <a:p>
            <a:pPr>
              <a:defRPr sz="1200" b="0">
                <a:solidFill>
                  <a:srgbClr val="2E86AB"/>
                </a:solidFill>
                <a:latin typeface="Source Sans Pro"/>
              </a:defRPr>
            </a:pPr>
            <a:r>
              <a:t>Caption Text</a:t>
            </a:r>
          </a:p>
        </p:txBody>
      </p:sp>
      <p:sp>
        <p:nvSpPr>
          <p:cNvPr id="12" name="TextBox 11"/>
          <p:cNvSpPr txBox="1"/>
          <p:nvPr/>
        </p:nvSpPr>
        <p:spPr>
          <a:xfrm>
            <a:off x="457200" y="5657850"/>
            <a:ext cx="4114800" cy="742950"/>
          </a:xfrm>
          <a:prstGeom prst="rect">
            <a:avLst/>
          </a:prstGeom>
          <a:noFill/>
        </p:spPr>
        <p:txBody>
          <a:bodyPr wrap="none">
            <a:spAutoFit/>
          </a:bodyPr>
          <a:lstStyle/>
          <a:p>
            <a:pPr algn="l">
              <a:defRPr sz="1000" b="0">
                <a:solidFill>
                  <a:srgbClr val="2E86AB"/>
                </a:solidFill>
                <a:latin typeface="Source Sans Pro"/>
              </a:defRPr>
            </a:pPr>
            <a:r>
              <a:t>LogoTest</a:t>
            </a:r>
          </a:p>
        </p:txBody>
      </p:sp>
      <p:sp>
        <p:nvSpPr>
          <p:cNvPr id="13" name="TextBox 12"/>
          <p:cNvSpPr txBox="1"/>
          <p:nvPr/>
        </p:nvSpPr>
        <p:spPr>
          <a:xfrm>
            <a:off x="4572000" y="5657850"/>
            <a:ext cx="4114800" cy="742950"/>
          </a:xfrm>
          <a:prstGeom prst="rect">
            <a:avLst/>
          </a:prstGeom>
          <a:noFill/>
        </p:spPr>
        <p:txBody>
          <a:bodyPr wrap="none">
            <a:spAutoFit/>
          </a:bodyPr>
          <a:lstStyle/>
          <a:p>
            <a:pPr algn="r">
              <a:defRPr sz="1000" b="0">
                <a:solidFill>
                  <a:srgbClr val="2E86AB"/>
                </a:solidFill>
                <a:latin typeface="Source Sans Pro"/>
              </a:defRPr>
            </a:pPr>
            <a: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sp>
        <p:nvSpPr>
          <p:cNvPr id="2" name="Rectangle 1"/>
          <p:cNvSpPr/>
          <p:nvPr/>
        </p:nvSpPr>
        <p:spPr>
          <a:xfrm>
            <a:off x="0" y="0"/>
            <a:ext cx="9144000" cy="685800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Pr/>
      <p:sp>
        <p:nvSpPr>
          <p:cNvPr id="3" name="TextBox 2"/>
          <p:cNvSpPr txBox="1"/>
          <p:nvPr/>
        </p:nvSpPr>
        <p:spPr>
          <a:xfrm>
            <a:off x="1143000" y="457200"/>
            <a:ext cx="6858000" cy="742950"/>
          </a:xfrm>
          <a:prstGeom prst="rect">
            <a:avLst/>
          </a:prstGeom>
          <a:noFill/>
        </p:spPr>
        <p:txBody>
          <a:bodyPr wrap="none">
            <a:spAutoFit/>
          </a:bodyPr>
          <a:lstStyle/>
          <a:p>
            <a:pPr>
              <a:defRPr sz="3200" b="1">
                <a:solidFill>
                  <a:srgbClr val="2E86AB"/>
                </a:solidFill>
                <a:latin typeface="Inter"/>
              </a:defRPr>
            </a:pPr>
            <a:r>
              <a:t>Visual &amp; Photography Guidelines</a:t>
            </a:r>
          </a:p>
        </p:txBody>
      </p:sp>
      <p:sp>
        <p:nvSpPr>
          <p:cNvPr id="4" name="TextBox 3"/>
          <p:cNvSpPr txBox="1"/>
          <p:nvPr/>
        </p:nvSpPr>
        <p:spPr>
          <a:xfrm>
            <a:off x="1143000" y="1943100"/>
            <a:ext cx="3429000" cy="2971800"/>
          </a:xfrm>
          <a:prstGeom prst="rect">
            <a:avLst/>
          </a:prstGeom>
          <a:noFill/>
        </p:spPr>
        <p:txBody>
          <a:bodyPr wrap="square">
            <a:spAutoFit/>
          </a:bodyPr>
          <a:lstStyle/>
          <a:p>
            <a:pPr>
              <a:defRPr sz="1800" b="0">
                <a:solidFill>
                  <a:srgbClr val="2E86AB"/>
                </a:solidFill>
                <a:latin typeface="Source Sans Pro"/>
              </a:defRPr>
            </a:pPr>
            <a:r>
              <a:t>Visual Style Guidelines:</a:t>
            </a:r>
          </a:p>
          <a:p>
            <a:pPr>
              <a:defRPr sz="1400" b="0">
                <a:solidFill>
                  <a:srgbClr val="2E86AB"/>
                </a:solidFill>
                <a:latin typeface="Source Sans Pro"/>
              </a:defRPr>
            </a:pPr>
            <a:r>
              <a:t>• Modern</a:t>
            </a:r>
          </a:p>
          <a:p>
            <a:pPr>
              <a:defRPr sz="1400" b="0">
                <a:solidFill>
                  <a:srgbClr val="2E86AB"/>
                </a:solidFill>
                <a:latin typeface="Source Sans Pro"/>
              </a:defRPr>
            </a:pPr>
            <a:r>
              <a:t>• clean</a:t>
            </a:r>
          </a:p>
        </p:txBody>
      </p:sp>
      <p:sp>
        <p:nvSpPr>
          <p:cNvPr id="5" name="TextBox 4"/>
          <p:cNvSpPr txBox="1"/>
          <p:nvPr/>
        </p:nvSpPr>
        <p:spPr>
          <a:xfrm>
            <a:off x="5257800" y="1943100"/>
            <a:ext cx="3429000" cy="2971800"/>
          </a:xfrm>
          <a:prstGeom prst="rect">
            <a:avLst/>
          </a:prstGeom>
          <a:noFill/>
        </p:spPr>
        <p:txBody>
          <a:bodyPr wrap="square">
            <a:spAutoFit/>
          </a:bodyPr>
          <a:lstStyle/>
          <a:p>
            <a:pPr>
              <a:defRPr sz="1800" b="0">
                <a:solidFill>
                  <a:srgbClr val="2E86AB"/>
                </a:solidFill>
                <a:latin typeface="Source Sans Pro"/>
              </a:defRPr>
            </a:pPr>
            <a:r>
              <a:t>Photography Guidelines:</a:t>
            </a:r>
          </a:p>
          <a:p>
            <a:pPr>
              <a:defRPr sz="1400" b="0">
                <a:solidFill>
                  <a:srgbClr val="2E86AB"/>
                </a:solidFill>
                <a:latin typeface="Source Sans Pro"/>
              </a:defRPr>
            </a:pPr>
            <a:r>
              <a:t>• High contrast</a:t>
            </a:r>
          </a:p>
        </p:txBody>
      </p:sp>
      <p:sp>
        <p:nvSpPr>
          <p:cNvPr id="6" name="Rectangle 5"/>
          <p:cNvSpPr/>
          <p:nvPr/>
        </p:nvSpPr>
        <p:spPr>
          <a:xfrm>
            <a:off x="5257800" y="4914900"/>
            <a:ext cx="685800" cy="742950"/>
          </a:xfrm>
          <a:prstGeom prst="rect">
            <a:avLst/>
          </a:prstGeom>
          <a:solidFill>
            <a:srgbClr val="404040"/>
          </a:solidFill>
          <a:ln w="12700">
            <a:solidFill>
              <a:srgbClr val="80808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257800" y="5162550"/>
            <a:ext cx="685800" cy="247650"/>
          </a:xfrm>
          <a:prstGeom prst="rect">
            <a:avLst/>
          </a:prstGeom>
          <a:noFill/>
        </p:spPr>
        <p:txBody>
          <a:bodyPr wrap="none">
            <a:spAutoFit/>
          </a:bodyPr>
          <a:lstStyle/>
          <a:p>
            <a:pPr algn="ctr">
              <a:defRPr sz="800" b="0">
                <a:solidFill>
                  <a:srgbClr val="2E86AB"/>
                </a:solidFill>
                <a:latin typeface="Source Sans Pro"/>
              </a:defRPr>
            </a:pPr>
            <a:r>
              <a:t>Example</a:t>
            </a:r>
          </a:p>
        </p:txBody>
      </p:sp>
      <p:sp>
        <p:nvSpPr>
          <p:cNvPr id="8" name="Rectangle 7"/>
          <p:cNvSpPr/>
          <p:nvPr/>
        </p:nvSpPr>
        <p:spPr>
          <a:xfrm>
            <a:off x="6629400" y="4914900"/>
            <a:ext cx="685800" cy="742950"/>
          </a:xfrm>
          <a:prstGeom prst="rect">
            <a:avLst/>
          </a:prstGeom>
          <a:solidFill>
            <a:srgbClr val="404040"/>
          </a:solidFill>
          <a:ln w="12700">
            <a:solidFill>
              <a:srgbClr val="80808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629400" y="5162550"/>
            <a:ext cx="685800" cy="247650"/>
          </a:xfrm>
          <a:prstGeom prst="rect">
            <a:avLst/>
          </a:prstGeom>
          <a:noFill/>
        </p:spPr>
        <p:txBody>
          <a:bodyPr wrap="none">
            <a:spAutoFit/>
          </a:bodyPr>
          <a:lstStyle/>
          <a:p>
            <a:pPr algn="ctr">
              <a:defRPr sz="800" b="0">
                <a:solidFill>
                  <a:srgbClr val="2E86AB"/>
                </a:solidFill>
                <a:latin typeface="Source Sans Pro"/>
              </a:defRPr>
            </a:pPr>
            <a:r>
              <a:t>Example</a:t>
            </a:r>
          </a:p>
        </p:txBody>
      </p:sp>
      <p:sp>
        <p:nvSpPr>
          <p:cNvPr id="10" name="Rectangle 9"/>
          <p:cNvSpPr/>
          <p:nvPr/>
        </p:nvSpPr>
        <p:spPr>
          <a:xfrm>
            <a:off x="8001000" y="4914900"/>
            <a:ext cx="685800" cy="742950"/>
          </a:xfrm>
          <a:prstGeom prst="rect">
            <a:avLst/>
          </a:prstGeom>
          <a:solidFill>
            <a:srgbClr val="404040"/>
          </a:solidFill>
          <a:ln w="12700">
            <a:solidFill>
              <a:srgbClr val="80808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01000" y="5162550"/>
            <a:ext cx="685800" cy="247650"/>
          </a:xfrm>
          <a:prstGeom prst="rect">
            <a:avLst/>
          </a:prstGeom>
          <a:noFill/>
        </p:spPr>
        <p:txBody>
          <a:bodyPr wrap="none">
            <a:spAutoFit/>
          </a:bodyPr>
          <a:lstStyle/>
          <a:p>
            <a:pPr algn="ctr">
              <a:defRPr sz="800" b="0">
                <a:solidFill>
                  <a:srgbClr val="2E86AB"/>
                </a:solidFill>
                <a:latin typeface="Source Sans Pro"/>
              </a:defRPr>
            </a:pPr>
            <a:r>
              <a:t>Example</a:t>
            </a:r>
          </a:p>
        </p:txBody>
      </p:sp>
      <p:sp>
        <p:nvSpPr>
          <p:cNvPr id="12" name="TextBox 11"/>
          <p:cNvSpPr txBox="1"/>
          <p:nvPr/>
        </p:nvSpPr>
        <p:spPr>
          <a:xfrm>
            <a:off x="457200" y="5657850"/>
            <a:ext cx="4114800" cy="742950"/>
          </a:xfrm>
          <a:prstGeom prst="rect">
            <a:avLst/>
          </a:prstGeom>
          <a:noFill/>
        </p:spPr>
        <p:txBody>
          <a:bodyPr wrap="none">
            <a:spAutoFit/>
          </a:bodyPr>
          <a:lstStyle/>
          <a:p>
            <a:pPr algn="l">
              <a:defRPr sz="1000" b="0">
                <a:solidFill>
                  <a:srgbClr val="2E86AB"/>
                </a:solidFill>
                <a:latin typeface="Source Sans Pro"/>
              </a:defRPr>
            </a:pPr>
            <a:r>
              <a:t>LogoTest</a:t>
            </a:r>
          </a:p>
        </p:txBody>
      </p:sp>
      <p:sp>
        <p:nvSpPr>
          <p:cNvPr id="13" name="TextBox 12"/>
          <p:cNvSpPr txBox="1"/>
          <p:nvPr/>
        </p:nvSpPr>
        <p:spPr>
          <a:xfrm>
            <a:off x="4572000" y="5657850"/>
            <a:ext cx="4114800" cy="742950"/>
          </a:xfrm>
          <a:prstGeom prst="rect">
            <a:avLst/>
          </a:prstGeom>
          <a:noFill/>
        </p:spPr>
        <p:txBody>
          <a:bodyPr wrap="none">
            <a:spAutoFit/>
          </a:bodyPr>
          <a:lstStyle/>
          <a:p>
            <a:pPr algn="r">
              <a:defRPr sz="1000" b="0">
                <a:solidFill>
                  <a:srgbClr val="2E86AB"/>
                </a:solidFill>
                <a:latin typeface="Source Sans Pro"/>
              </a:defRPr>
            </a:pPr>
            <a:r>
              <a:t>11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