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2286000"/>
            <a:ext cx="7315200" cy="1371600"/>
          </a:xfrm>
          <a:prstGeom prst="rect">
            <a:avLst/>
          </a:prstGeom>
          <a:noFill/>
        </p:spPr>
        <p:txBody>
          <a:bodyPr wrap="none">
            <a:spAutoFit/>
          </a:bodyPr>
          <a:lstStyle/>
          <a:p>
            <a:pPr algn="l">
              <a:defRPr sz="5600" b="1">
                <a:solidFill>
                  <a:srgbClr val="DC2626"/>
                </a:solidFill>
                <a:latin typeface="Inter"/>
              </a:defRPr>
            </a:pPr>
            <a:r>
              <a:t>Google</a:t>
            </a:r>
          </a:p>
        </p:txBody>
      </p:sp>
      <p:sp>
        <p:nvSpPr>
          <p:cNvPr id="4" name="TextBox 3"/>
          <p:cNvSpPr txBox="1"/>
          <p:nvPr/>
        </p:nvSpPr>
        <p:spPr>
          <a:xfrm>
            <a:off x="914400" y="3840480"/>
            <a:ext cx="7315200" cy="731520"/>
          </a:xfrm>
          <a:prstGeom prst="rect">
            <a:avLst/>
          </a:prstGeom>
          <a:noFill/>
        </p:spPr>
        <p:txBody>
          <a:bodyPr wrap="none">
            <a:spAutoFit/>
          </a:bodyPr>
          <a:lstStyle/>
          <a:p>
            <a:pPr algn="l">
              <a:defRPr sz="2400">
                <a:solidFill>
                  <a:srgbClr val="DC2626"/>
                </a:solidFill>
                <a:latin typeface="Source Sans Pro"/>
              </a:defRPr>
            </a:pPr>
            <a:r>
              <a:t>Brand Book</a:t>
            </a:r>
          </a:p>
        </p:txBody>
      </p:sp>
      <p:pic>
        <p:nvPicPr>
          <p:cNvPr id="5" name="Picture 4" descr="google_logo_1_20250827_120310_662bdcf0.png"/>
          <p:cNvPicPr>
            <a:picLocks noChangeAspect="1"/>
          </p:cNvPicPr>
          <p:nvPr/>
        </p:nvPicPr>
        <p:blipFill>
          <a:blip r:embed="rId2"/>
          <a:stretch>
            <a:fillRect/>
          </a:stretch>
        </p:blipFill>
        <p:spPr>
          <a:xfrm>
            <a:off x="3657600" y="914400"/>
            <a:ext cx="1828800" cy="1097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lgn="l">
              <a:defRPr sz="3200" b="1">
                <a:solidFill>
                  <a:srgbClr val="DC2626"/>
                </a:solidFill>
                <a:latin typeface="Inter"/>
              </a:defRPr>
            </a:pPr>
            <a:r>
              <a:t>Table of Contents</a:t>
            </a:r>
          </a:p>
        </p:txBody>
      </p:sp>
      <p:sp>
        <p:nvSpPr>
          <p:cNvPr id="4" name="TextBox 3"/>
          <p:cNvSpPr txBox="1"/>
          <p:nvPr/>
        </p:nvSpPr>
        <p:spPr>
          <a:xfrm>
            <a:off x="1371600" y="1828800"/>
            <a:ext cx="6400800" cy="4114800"/>
          </a:xfrm>
          <a:prstGeom prst="rect">
            <a:avLst/>
          </a:prstGeom>
          <a:noFill/>
        </p:spPr>
        <p:txBody>
          <a:bodyPr wrap="square">
            <a:spAutoFit/>
          </a:bodyPr>
          <a:lstStyle/>
          <a:p>
            <a:pPr>
              <a:defRPr sz="1600">
                <a:solidFill>
                  <a:srgbClr val="DC2626"/>
                </a:solidFill>
                <a:latin typeface="Source Sans Pro"/>
              </a:defRPr>
            </a:pPr>
            <a:r>
              <a:t>1. Company Profile</a:t>
            </a:r>
          </a:p>
          <a:p>
            <a:pPr>
              <a:defRPr sz="1600">
                <a:solidFill>
                  <a:srgbClr val="DC2626"/>
                </a:solidFill>
                <a:latin typeface="Source Sans Pro"/>
              </a:defRPr>
            </a:pPr>
            <a:r>
              <a:t>2. Market Analysis &amp; Insights</a:t>
            </a:r>
          </a:p>
          <a:p>
            <a:pPr>
              <a:defRPr sz="1600">
                <a:solidFill>
                  <a:srgbClr val="DC2626"/>
                </a:solidFill>
                <a:latin typeface="Source Sans Pro"/>
              </a:defRPr>
            </a:pPr>
            <a:r>
              <a:t>3. Brand Positioning</a:t>
            </a:r>
          </a:p>
          <a:p>
            <a:pPr>
              <a:defRPr sz="1600">
                <a:solidFill>
                  <a:srgbClr val="DC2626"/>
                </a:solidFill>
                <a:latin typeface="Source Sans Pro"/>
              </a:defRPr>
            </a:pPr>
            <a:r>
              <a:t>4. Logo Variations</a:t>
            </a:r>
          </a:p>
          <a:p>
            <a:pPr>
              <a:defRPr sz="1600">
                <a:solidFill>
                  <a:srgbClr val="DC2626"/>
                </a:solidFill>
                <a:latin typeface="Source Sans Pro"/>
              </a:defRPr>
            </a:pPr>
            <a:r>
              <a:t>5. Color Palette</a:t>
            </a:r>
          </a:p>
          <a:p>
            <a:pPr>
              <a:defRPr sz="1600">
                <a:solidFill>
                  <a:srgbClr val="DC2626"/>
                </a:solidFill>
                <a:latin typeface="Source Sans Pro"/>
              </a:defRPr>
            </a:pPr>
            <a:r>
              <a:t>6. Typography</a:t>
            </a:r>
          </a:p>
          <a:p>
            <a:pPr>
              <a:defRPr sz="1600">
                <a:solidFill>
                  <a:srgbClr val="DC2626"/>
                </a:solidFill>
                <a:latin typeface="Source Sans Pro"/>
              </a:defRPr>
            </a:pPr>
            <a:r>
              <a:t>7. Visual &amp; Photography Guidelines</a:t>
            </a:r>
          </a:p>
          <a:p>
            <a:pPr>
              <a:defRPr sz="1600">
                <a:solidFill>
                  <a:srgbClr val="DC2626"/>
                </a:solidFill>
                <a:latin typeface="Source Sans Pro"/>
              </a:defRPr>
            </a:pPr>
            <a:r>
              <a:t>8. Brand Story &amp; Mission</a:t>
            </a:r>
          </a:p>
          <a:p>
            <a:pPr>
              <a:defRPr sz="1600">
                <a:solidFill>
                  <a:srgbClr val="DC2626"/>
                </a:solidFill>
                <a:latin typeface="Source Sans Pro"/>
              </a:defRPr>
            </a:pPr>
            <a:r>
              <a:t>9. Brand Voice &amp; Tone</a:t>
            </a:r>
          </a:p>
          <a:p>
            <a:pPr>
              <a:defRPr sz="1600">
                <a:solidFill>
                  <a:srgbClr val="DC2626"/>
                </a:solidFill>
                <a:latin typeface="Source Sans Pro"/>
              </a:defRPr>
            </a:pPr>
            <a:r>
              <a:t>10. Messaging &amp; Value Propositions</a:t>
            </a:r>
          </a:p>
          <a:p>
            <a:pPr>
              <a:defRPr sz="1600">
                <a:solidFill>
                  <a:srgbClr val="DC2626"/>
                </a:solidFill>
                <a:latin typeface="Source Sans Pro"/>
              </a:defRPr>
            </a:pPr>
            <a:r>
              <a:t>11. Marketing Copy</a:t>
            </a:r>
          </a:p>
          <a:p>
            <a:pPr>
              <a:defRPr sz="1600">
                <a:solidFill>
                  <a:srgbClr val="DC2626"/>
                </a:solidFill>
                <a:latin typeface="Source Sans Pro"/>
              </a:defRPr>
            </a:pPr>
            <a:r>
              <a:t>12. Brand Collateral Templates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Company Profile</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DC2626"/>
                </a:solidFill>
              </a:defRPr>
            </a:pPr>
            <a:r>
              <a:rPr>
                <a:solidFill>
                  <a:srgbClr val="DC2626"/>
                </a:solidFill>
              </a:rPr>
              <a:t>Company: Google</a:t>
            </a:r>
          </a:p>
          <a:p>
            <a:pPr>
              <a:defRPr sz="1400">
                <a:solidFill>
                  <a:srgbClr val="DC2626"/>
                </a:solidFill>
              </a:defRPr>
            </a:pPr>
            <a:r>
              <a:rPr>
                <a:solidFill>
                  <a:srgbClr val="DC2626"/>
                </a:solidFill>
              </a:rPr>
              <a:t>Industry: Technology, Internet Services, Software, Advertising, Cloud Computing, AI &amp; Data Solutions</a:t>
            </a:r>
          </a:p>
          <a:p>
            <a:pPr>
              <a:defRPr sz="1400">
                <a:solidFill>
                  <a:srgbClr val="DC2626"/>
                </a:solidFill>
              </a:defRPr>
            </a:pPr>
            <a:r>
              <a:rPr>
                <a:solidFill>
                  <a:srgbClr val="DC2626"/>
                </a:solidFill>
              </a:rPr>
              <a:t>Target Audience: Global internet users, Students, Professionals, Businesses of all sizes, Developers, Advertisers, Content creators, Enterprises seeking cloud solutions, Digital-first consumers.</a:t>
            </a:r>
          </a:p>
          <a:p>
            <a:pPr>
              <a:defRPr sz="1400">
                <a:solidFill>
                  <a:srgbClr val="DC2626"/>
                </a:solidFill>
              </a:defRPr>
            </a:pPr>
          </a:p>
          <a:p>
            <a:pPr>
              <a:defRPr sz="1400">
                <a:solidFill>
                  <a:srgbClr val="DC2626"/>
                </a:solidFill>
              </a:defRPr>
            </a:pPr>
            <a:r>
              <a:rPr>
                <a:solidFill>
                  <a:srgbClr val="DC2626"/>
                </a:solidFill>
              </a:rPr>
              <a:t>Core Values:</a:t>
            </a:r>
          </a:p>
          <a:p>
            <a:pPr>
              <a:defRPr sz="1400">
                <a:solidFill>
                  <a:srgbClr val="DC2626"/>
                </a:solidFill>
              </a:defRPr>
            </a:pPr>
            <a:r>
              <a:rPr>
                <a:solidFill>
                  <a:srgbClr val="DC2626"/>
                </a:solidFill>
              </a:rPr>
              <a:t>• Innovation</a:t>
            </a:r>
          </a:p>
          <a:p>
            <a:pPr>
              <a:defRPr sz="1400">
                <a:solidFill>
                  <a:srgbClr val="DC2626"/>
                </a:solidFill>
              </a:defRPr>
            </a:pPr>
            <a:r>
              <a:rPr>
                <a:solidFill>
                  <a:srgbClr val="DC2626"/>
                </a:solidFill>
              </a:rPr>
              <a:t>• Accessibility</a:t>
            </a:r>
          </a:p>
          <a:p>
            <a:pPr>
              <a:defRPr sz="1400">
                <a:solidFill>
                  <a:srgbClr val="DC2626"/>
                </a:solidFill>
              </a:defRPr>
            </a:pPr>
            <a:r>
              <a:rPr>
                <a:solidFill>
                  <a:srgbClr val="DC2626"/>
                </a:solidFill>
              </a:rPr>
              <a:t>• User-Centricity</a:t>
            </a:r>
          </a:p>
          <a:p>
            <a:pPr>
              <a:defRPr sz="1400">
                <a:solidFill>
                  <a:srgbClr val="DC2626"/>
                </a:solidFill>
              </a:defRPr>
            </a:pPr>
            <a:r>
              <a:rPr>
                <a:solidFill>
                  <a:srgbClr val="DC2626"/>
                </a:solidFill>
              </a:rPr>
              <a:t>• Transparency</a:t>
            </a:r>
          </a:p>
          <a:p>
            <a:pPr>
              <a:defRPr sz="1400">
                <a:solidFill>
                  <a:srgbClr val="DC2626"/>
                </a:solidFill>
              </a:defRPr>
            </a:pPr>
            <a:r>
              <a:rPr>
                <a:solidFill>
                  <a:srgbClr val="DC2626"/>
                </a:solidFill>
              </a:rPr>
              <a:t>• Integrity</a:t>
            </a:r>
          </a:p>
          <a:p>
            <a:pPr>
              <a:defRPr sz="1400">
                <a:solidFill>
                  <a:srgbClr val="DC2626"/>
                </a:solidFill>
              </a:defRPr>
            </a:pPr>
            <a:r>
              <a:rPr>
                <a:solidFill>
                  <a:srgbClr val="DC2626"/>
                </a:solidFill>
              </a:rPr>
              <a:t>• Collaboration</a:t>
            </a:r>
          </a:p>
          <a:p>
            <a:pPr>
              <a:defRPr sz="1400">
                <a:solidFill>
                  <a:srgbClr val="DC2626"/>
                </a:solidFill>
              </a:defRPr>
            </a:pPr>
            <a:r>
              <a:rPr>
                <a:solidFill>
                  <a:srgbClr val="DC2626"/>
                </a:solidFill>
              </a:rPr>
              <a:t>• Inclusivity</a:t>
            </a:r>
          </a:p>
          <a:p>
            <a:pPr>
              <a:defRPr sz="1400">
                <a:solidFill>
                  <a:srgbClr val="DC2626"/>
                </a:solidFill>
              </a:defRPr>
            </a:pPr>
            <a:r>
              <a:rPr>
                <a:solidFill>
                  <a:srgbClr val="DC2626"/>
                </a:solidFill>
              </a:rPr>
              <a:t>• Sustainability</a:t>
            </a:r>
          </a:p>
          <a:p>
            <a:pPr>
              <a:defRPr sz="1400">
                <a:solidFill>
                  <a:srgbClr val="DC2626"/>
                </a:solidFill>
              </a:defRPr>
            </a:pPr>
            <a:r>
              <a:rPr>
                <a:solidFill>
                  <a:srgbClr val="DC2626"/>
                </a:solidFill>
              </a:rPr>
              <a:t>• Curiosity</a:t>
            </a:r>
          </a:p>
          <a:p>
            <a:pPr>
              <a:defRPr sz="1400">
                <a:solidFill>
                  <a:srgbClr val="DC2626"/>
                </a:solidFill>
              </a:defRPr>
            </a:pPr>
            <a:r>
              <a:rPr>
                <a:solidFill>
                  <a:srgbClr val="DC2626"/>
                </a:solidFill>
              </a:rPr>
              <a:t>• Excellence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Market Analysis &amp; Insights</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DC2626"/>
                </a:solidFill>
              </a:defRPr>
            </a:pPr>
            <a:r>
              <a:rPr>
                <a:solidFill>
                  <a:srgbClr val="DC2626"/>
                </a:solidFill>
              </a:rPr>
              <a:t>Industry Trends:</a:t>
            </a:r>
          </a:p>
          <a:p>
            <a:pPr>
              <a:defRPr sz="1400">
                <a:solidFill>
                  <a:srgbClr val="DC2626"/>
                </a:solidFill>
              </a:defRPr>
            </a:pPr>
            <a:r>
              <a:rPr>
                <a:solidFill>
                  <a:srgbClr val="DC2626"/>
                </a:solidFill>
              </a:rPr>
              <a:t>• increasing demand for digital content, design</a:t>
            </a:r>
          </a:p>
          <a:p>
            <a:pPr>
              <a:defRPr sz="1400">
                <a:solidFill>
                  <a:srgbClr val="DC2626"/>
                </a:solidFill>
              </a:defRPr>
            </a:pPr>
            <a:r>
              <a:rPr>
                <a:solidFill>
                  <a:srgbClr val="DC2626"/>
                </a:solidFill>
              </a:rPr>
              <a:t>• trends and expert insights into web design.</a:t>
            </a:r>
          </a:p>
          <a:p>
            <a:pPr>
              <a:defRPr sz="1400">
                <a:solidFill>
                  <a:srgbClr val="DC2626"/>
                </a:solidFill>
              </a:defRPr>
            </a:pPr>
            <a:r>
              <a:rPr>
                <a:solidFill>
                  <a:srgbClr val="DC2626"/>
                </a:solidFill>
              </a:rPr>
              <a:t>• trends and expert insights into web design.</a:t>
            </a:r>
          </a:p>
          <a:p>
            <a:pPr>
              <a:defRPr sz="1400">
                <a:solidFill>
                  <a:srgbClr val="DC2626"/>
                </a:solidFill>
              </a:defRPr>
            </a:pPr>
            <a:r>
              <a:rPr>
                <a:solidFill>
                  <a:srgbClr val="DC2626"/>
                </a:solidFill>
              </a:rPr>
              <a:t>• emerging tech trends and expert insights into web design.</a:t>
            </a:r>
          </a:p>
          <a:p>
            <a:pPr>
              <a:defRPr sz="1400">
                <a:solidFill>
                  <a:srgbClr val="DC2626"/>
                </a:solidFill>
              </a:defRPr>
            </a:pPr>
            <a:r>
              <a:rPr>
                <a:solidFill>
                  <a:srgbClr val="DC2626"/>
                </a:solidFill>
              </a:rPr>
              <a:t>• emerging tech trends and expert insights into web design.</a:t>
            </a:r>
          </a:p>
          <a:p>
            <a:pPr>
              <a:defRPr sz="1400">
                <a:solidFill>
                  <a:srgbClr val="DC2626"/>
                </a:solidFill>
              </a:defRPr>
            </a:pPr>
          </a:p>
          <a:p>
            <a:pPr>
              <a:defRPr sz="1400">
                <a:solidFill>
                  <a:srgbClr val="DC2626"/>
                </a:solidFill>
              </a:defRPr>
            </a:pPr>
            <a:r>
              <a:rPr>
                <a:solidFill>
                  <a:srgbClr val="DC2626"/>
                </a:solidFill>
              </a:rPr>
              <a:t>Key Competitors:</a:t>
            </a:r>
          </a:p>
          <a:p>
            <a:pPr>
              <a:defRPr sz="1400">
                <a:solidFill>
                  <a:srgbClr val="DC2626"/>
                </a:solidFill>
              </a:defRPr>
            </a:pPr>
            <a:r>
              <a:rPr>
                <a:solidFill>
                  <a:srgbClr val="DC2626"/>
                </a:solidFill>
              </a:rPr>
              <a:t>Tech Color, Globally In, EOF, Royalty, AI Color, Get Cloud</a:t>
            </a:r>
          </a:p>
          <a:p>
            <a:pPr>
              <a:defRPr sz="1400">
                <a:solidFill>
                  <a:srgbClr val="DC2626"/>
                </a:solidFill>
              </a:defRPr>
            </a:pPr>
          </a:p>
          <a:p>
            <a:pPr>
              <a:defRPr sz="1400">
                <a:solidFill>
                  <a:srgbClr val="DC2626"/>
                </a:solidFill>
              </a:defRPr>
            </a:pPr>
            <a:r>
              <a:rPr>
                <a:solidFill>
                  <a:srgbClr val="DC2626"/>
                </a:solidFill>
              </a:rPr>
              <a:t>Popular Design Styles: modern, creative, vintage, minimalist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Positioning</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DC2626"/>
                </a:solidFill>
              </a:defRPr>
            </a:pPr>
            <a:r>
              <a:rPr>
                <a:solidFill>
                  <a:srgbClr val="DC2626"/>
                </a:solidFill>
              </a:rPr>
              <a:t>Unique Value Proposition:</a:t>
            </a:r>
          </a:p>
          <a:p>
            <a:pPr>
              <a:defRPr sz="1400">
                <a:solidFill>
                  <a:srgbClr val="DC2626"/>
                </a:solidFill>
              </a:defRPr>
            </a:pPr>
            <a:r>
              <a:rPr>
                <a:solidFill>
                  <a:srgbClr val="DC2626"/>
                </a:solidFill>
              </a:rPr>
              <a:t>Distinctive Technology, Internet Services, Software, Advertising, Cloud Computing, AI &amp; Data Solutions solution focused on Global internet users, Students, Professionals, Businesses of all sizes, Developers, Advertisers, Content creators, Enterprises seeking cloud solutions, Digital-first consumers.</a:t>
            </a:r>
          </a:p>
          <a:p>
            <a:pPr>
              <a:defRPr sz="1400">
                <a:solidFill>
                  <a:srgbClr val="DC2626"/>
                </a:solidFill>
              </a:defRPr>
            </a:pPr>
          </a:p>
          <a:p>
            <a:pPr>
              <a:defRPr sz="1400">
                <a:solidFill>
                  <a:srgbClr val="DC2626"/>
                </a:solidFill>
              </a:defRPr>
            </a:pPr>
            <a:r>
              <a:rPr>
                <a:solidFill>
                  <a:srgbClr val="DC2626"/>
                </a:solidFill>
              </a:rPr>
              <a:t>Brand Promise:</a:t>
            </a:r>
          </a:p>
          <a:p>
            <a:pPr>
              <a:defRPr sz="1400">
                <a:solidFill>
                  <a:srgbClr val="DC2626"/>
                </a:solidFill>
              </a:defRPr>
            </a:pPr>
            <a:r>
              <a:rPr>
                <a:solidFill>
                  <a:srgbClr val="DC2626"/>
                </a:solidFill>
              </a:rPr>
              <a:t>Empowering Global internet users, Students, Professionals, Businesses of all sizes, Developers, Advertisers, Content creators, Enterprises seeking cloud solutions, Digital-first consumers. through innovative Technology, Internet Services, Software, Advertising, Cloud Computing, AI &amp; Data Solutions solutions</a:t>
            </a:r>
          </a:p>
          <a:p>
            <a:pPr>
              <a:defRPr sz="1400">
                <a:solidFill>
                  <a:srgbClr val="DC2626"/>
                </a:solidFill>
              </a:defRPr>
            </a:pPr>
          </a:p>
          <a:p>
            <a:pPr>
              <a:defRPr sz="1400">
                <a:solidFill>
                  <a:srgbClr val="DC2626"/>
                </a:solidFill>
              </a:defRPr>
            </a:pPr>
            <a:r>
              <a:rPr>
                <a:solidFill>
                  <a:srgbClr val="DC2626"/>
                </a:solidFill>
              </a:rPr>
              <a:t>Brand Personality:</a:t>
            </a:r>
          </a:p>
          <a:p>
            <a:pPr>
              <a:defRPr sz="1400">
                <a:solidFill>
                  <a:srgbClr val="DC2626"/>
                </a:solidFill>
              </a:defRPr>
            </a:pPr>
            <a:r>
              <a:rPr>
                <a:solidFill>
                  <a:srgbClr val="DC2626"/>
                </a:solidFill>
              </a:rPr>
              <a:t>innovative, forward-thinking, creative, responsible, eco-friendly</a:t>
            </a:r>
          </a:p>
          <a:p>
            <a:pPr>
              <a:defRPr sz="1400">
                <a:solidFill>
                  <a:srgbClr val="DC2626"/>
                </a:solidFill>
              </a:defRPr>
            </a:pPr>
          </a:p>
          <a:p>
            <a:pPr>
              <a:defRPr sz="1400">
                <a:solidFill>
                  <a:srgbClr val="DC2626"/>
                </a:solidFill>
              </a:defRPr>
            </a:pPr>
            <a:r>
              <a:rPr>
                <a:solidFill>
                  <a:srgbClr val="DC2626"/>
                </a:solidFill>
              </a:rPr>
              <a:t>Competitive Advantage:</a:t>
            </a:r>
          </a:p>
          <a:p>
            <a:pPr>
              <a:defRPr sz="1400">
                <a:solidFill>
                  <a:srgbClr val="DC2626"/>
                </a:solidFill>
              </a:defRPr>
            </a:pPr>
            <a:r>
              <a:rPr>
                <a:solidFill>
                  <a:srgbClr val="DC2626"/>
                </a:solidFill>
              </a:rPr>
              <a:t>User-centric design approach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latin typeface="Inter"/>
              </a:defRPr>
            </a:pPr>
            <a:r>
              <a:t>Logo Variations (3 designs)</a:t>
            </a:r>
          </a:p>
        </p:txBody>
      </p:sp>
      <p:sp>
        <p:nvSpPr>
          <p:cNvPr id="4" name="Rectangle 3"/>
          <p:cNvSpPr/>
          <p:nvPr/>
        </p:nvSpPr>
        <p:spPr>
          <a:xfrm>
            <a:off x="77724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oogle_logo_1_20250827_120310_662bdcf0.png"/>
          <p:cNvPicPr>
            <a:picLocks noChangeAspect="1"/>
          </p:cNvPicPr>
          <p:nvPr/>
        </p:nvPicPr>
        <p:blipFill>
          <a:blip r:embed="rId2"/>
          <a:stretch>
            <a:fillRect/>
          </a:stretch>
        </p:blipFill>
        <p:spPr>
          <a:xfrm>
            <a:off x="914400" y="2286000"/>
            <a:ext cx="2011680" cy="2011680"/>
          </a:xfrm>
          <a:prstGeom prst="rect">
            <a:avLst/>
          </a:prstGeom>
        </p:spPr>
      </p:pic>
      <p:sp>
        <p:nvSpPr>
          <p:cNvPr id="6" name="Rectangle 5"/>
          <p:cNvSpPr/>
          <p:nvPr/>
        </p:nvSpPr>
        <p:spPr>
          <a:xfrm>
            <a:off x="315468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oogle_logo_2_20250827_120327_d695db8d.png"/>
          <p:cNvPicPr>
            <a:picLocks noChangeAspect="1"/>
          </p:cNvPicPr>
          <p:nvPr/>
        </p:nvPicPr>
        <p:blipFill>
          <a:blip r:embed="rId3"/>
          <a:stretch>
            <a:fillRect/>
          </a:stretch>
        </p:blipFill>
        <p:spPr>
          <a:xfrm>
            <a:off x="3291840" y="2286000"/>
            <a:ext cx="2011680" cy="2011680"/>
          </a:xfrm>
          <a:prstGeom prst="rect">
            <a:avLst/>
          </a:prstGeom>
        </p:spPr>
      </p:pic>
      <p:sp>
        <p:nvSpPr>
          <p:cNvPr id="8" name="Rectangle 7"/>
          <p:cNvSpPr/>
          <p:nvPr/>
        </p:nvSpPr>
        <p:spPr>
          <a:xfrm>
            <a:off x="553212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oogle_logo_3_20250827_120345_34aef952.png"/>
          <p:cNvPicPr>
            <a:picLocks noChangeAspect="1"/>
          </p:cNvPicPr>
          <p:nvPr/>
        </p:nvPicPr>
        <p:blipFill>
          <a:blip r:embed="rId4"/>
          <a:stretch>
            <a:fillRect/>
          </a:stretch>
        </p:blipFill>
        <p:spPr>
          <a:xfrm>
            <a:off x="5669280" y="2286000"/>
            <a:ext cx="2011680" cy="2011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latin typeface="Inter"/>
              </a:defRPr>
            </a:pPr>
            <a:r>
              <a:t>Color Palette</a:t>
            </a:r>
          </a:p>
        </p:txBody>
      </p:sp>
      <p:sp>
        <p:nvSpPr>
          <p:cNvPr id="4" name="Rectangle 3"/>
          <p:cNvSpPr/>
          <p:nvPr/>
        </p:nvSpPr>
        <p:spPr>
          <a:xfrm>
            <a:off x="914400" y="1371600"/>
            <a:ext cx="1371600" cy="914400"/>
          </a:xfrm>
          <a:prstGeom prst="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Primary</a:t>
            </a:r>
          </a:p>
          <a:p>
            <a:pPr>
              <a:defRPr sz="1200" b="1">
                <a:solidFill>
                  <a:srgbClr val="FFFFFF"/>
                </a:solidFill>
              </a:defRPr>
            </a:pPr>
            <a:r>
              <a:t>#DC2626</a:t>
            </a:r>
          </a:p>
        </p:txBody>
      </p:sp>
      <p:sp>
        <p:nvSpPr>
          <p:cNvPr id="5" name="Rectangle 4"/>
          <p:cNvSpPr/>
          <p:nvPr/>
        </p:nvSpPr>
        <p:spPr>
          <a:xfrm>
            <a:off x="2560320" y="1371600"/>
            <a:ext cx="1371600" cy="914400"/>
          </a:xfrm>
          <a:prstGeom prst="rect">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Secondary</a:t>
            </a:r>
          </a:p>
          <a:p>
            <a:pPr>
              <a:defRPr sz="1200" b="1">
                <a:solidFill>
                  <a:srgbClr val="FFFFFF"/>
                </a:solidFill>
              </a:defRPr>
            </a:pPr>
            <a:r>
              <a:t>#34D399</a:t>
            </a:r>
          </a:p>
        </p:txBody>
      </p:sp>
      <p:sp>
        <p:nvSpPr>
          <p:cNvPr id="6" name="Rectangle 5"/>
          <p:cNvSpPr/>
          <p:nvPr/>
        </p:nvSpPr>
        <p:spPr>
          <a:xfrm>
            <a:off x="4206240" y="1371600"/>
            <a:ext cx="1371600" cy="914400"/>
          </a:xfrm>
          <a:prstGeom prst="rect">
            <a:avLst/>
          </a:prstGeom>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Accent</a:t>
            </a:r>
          </a:p>
          <a:p>
            <a:pPr>
              <a:defRPr sz="1200" b="1">
                <a:solidFill>
                  <a:srgbClr val="FFFFFF"/>
                </a:solidFill>
              </a:defRPr>
            </a:pPr>
            <a:r>
              <a:t>#2563EB</a:t>
            </a:r>
          </a:p>
        </p:txBody>
      </p:sp>
      <p:sp>
        <p:nvSpPr>
          <p:cNvPr id="7" name="Rectangle 6"/>
          <p:cNvSpPr/>
          <p:nvPr/>
        </p:nvSpPr>
        <p:spPr>
          <a:xfrm>
            <a:off x="5852160" y="1371600"/>
            <a:ext cx="1371600" cy="914400"/>
          </a:xfrm>
          <a:prstGeom prst="rect">
            <a:avLst/>
          </a:prstGeom>
          <a:solidFill>
            <a:srgbClr val="0EA5E9"/>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Supporting</a:t>
            </a:r>
          </a:p>
          <a:p>
            <a:pPr>
              <a:defRPr sz="1200" b="1">
                <a:solidFill>
                  <a:srgbClr val="FFFFFF"/>
                </a:solidFill>
              </a:defRPr>
            </a:pPr>
            <a:r>
              <a:t>#0EA5E9</a:t>
            </a:r>
          </a:p>
        </p:txBody>
      </p:sp>
      <p:sp>
        <p:nvSpPr>
          <p:cNvPr id="8" name="Rectangle 7"/>
          <p:cNvSpPr/>
          <p:nvPr/>
        </p:nvSpPr>
        <p:spPr>
          <a:xfrm>
            <a:off x="7498080" y="1371600"/>
            <a:ext cx="1371600" cy="914400"/>
          </a:xfrm>
          <a:prstGeom prst="rect">
            <a:avLst/>
          </a:prstGeom>
          <a:solidFill>
            <a:srgbClr val="DC2626"/>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Hex_codes</a:t>
            </a:r>
          </a:p>
          <a:p>
            <a:pPr>
              <a:defRPr sz="1200" b="1">
                <a:solidFill>
                  <a:srgbClr val="FFFFFF"/>
                </a:solidFill>
              </a:defRPr>
            </a:pPr>
            <a:r>
              <a:t>#DC2626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latin typeface="Inter"/>
              </a:defRPr>
            </a:pPr>
            <a:r>
              <a:t>Typography</a:t>
            </a:r>
          </a:p>
        </p:txBody>
      </p:sp>
      <p:sp>
        <p:nvSpPr>
          <p:cNvPr id="4" name="TextBox 3"/>
          <p:cNvSpPr txBox="1"/>
          <p:nvPr/>
        </p:nvSpPr>
        <p:spPr>
          <a:xfrm>
            <a:off x="914400" y="1371600"/>
            <a:ext cx="5486400" cy="1828800"/>
          </a:xfrm>
          <a:prstGeom prst="rect">
            <a:avLst/>
          </a:prstGeom>
          <a:noFill/>
        </p:spPr>
        <p:txBody>
          <a:bodyPr wrap="square">
            <a:spAutoFit/>
          </a:bodyPr>
          <a:lstStyle/>
          <a:p>
            <a:pPr>
              <a:defRPr sz="1800">
                <a:solidFill>
                  <a:srgbClr val="DC2626"/>
                </a:solidFill>
                <a:latin typeface="Source Sans Pro"/>
              </a:defRPr>
            </a:pPr>
            <a:r>
              <a:t>Primary Font: Inter</a:t>
            </a:r>
          </a:p>
          <a:p>
            <a:pPr>
              <a:defRPr sz="1800">
                <a:solidFill>
                  <a:srgbClr val="DC2626"/>
                </a:solidFill>
                <a:latin typeface="Source Sans Pro"/>
              </a:defRPr>
            </a:pPr>
            <a:r>
              <a:t>Secondary Font: Source Sans Pro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latin typeface="Inter"/>
              </a:defRPr>
            </a:pPr>
            <a:r>
              <a:t>Visual &amp; Photography Guidelines</a:t>
            </a:r>
          </a:p>
        </p:txBody>
      </p:sp>
      <p:sp>
        <p:nvSpPr>
          <p:cNvPr id="4" name="TextBox 3"/>
          <p:cNvSpPr txBox="1"/>
          <p:nvPr/>
        </p:nvSpPr>
        <p:spPr>
          <a:xfrm>
            <a:off x="914400" y="1371600"/>
            <a:ext cx="6400800" cy="2286000"/>
          </a:xfrm>
          <a:prstGeom prst="rect">
            <a:avLst/>
          </a:prstGeom>
          <a:noFill/>
        </p:spPr>
        <p:txBody>
          <a:bodyPr wrap="square">
            <a:spAutoFit/>
          </a:bodyPr>
          <a:lstStyle/>
          <a:p>
            <a:pPr>
              <a:defRPr sz="1600">
                <a:solidFill>
                  <a:srgbClr val="DC2626"/>
                </a:solidFill>
                <a:latin typeface="Source Sans Pro"/>
              </a:defRPr>
            </a:pPr>
            <a:r>
              <a:t>Visual Style:</a:t>
            </a:r>
          </a:p>
          <a:p>
            <a:pPr>
              <a:defRPr sz="1600">
                <a:solidFill>
                  <a:srgbClr val="DC2626"/>
                </a:solidFill>
                <a:latin typeface="Source Sans Pro"/>
              </a:defRPr>
            </a:pPr>
            <a:r>
              <a:t>Visual style for Google in Technology, Internet Services, Software, Advertising, Cloud Computing, AI &amp; Data Solutions: Modern aesthetic, values: Innovation, Accessibility, User-Centricity, Transparency, Integrity, Collaboration, Inclusivity, Sustainability, Curiosity, Excellence, audience: Global internet users, Students, Professionals, Businesses of all sizes, Developers, Advertisers, Content creators, Enterprises seeking cloud solutions, Digital-first consumers.. Use whitespace, on-brand accent color, modern design cues.</a:t>
            </a:r>
          </a:p>
          <a:p>
            <a:pPr>
              <a:defRPr sz="1600">
                <a:solidFill>
                  <a:srgbClr val="DC2626"/>
                </a:solidFill>
                <a:latin typeface="Source Sans Pro"/>
              </a:defRPr>
            </a:pPr>
          </a:p>
          <a:p>
            <a:pPr>
              <a:defRPr sz="1600">
                <a:solidFill>
                  <a:srgbClr val="DC2626"/>
                </a:solidFill>
                <a:latin typeface="Source Sans Pro"/>
              </a:defRPr>
            </a:pPr>
            <a:r>
              <a:t>Photography Style:</a:t>
            </a:r>
          </a:p>
          <a:p>
            <a:pPr>
              <a:defRPr sz="1600">
                <a:solidFill>
                  <a:srgbClr val="DC2626"/>
                </a:solidFill>
                <a:latin typeface="Source Sans Pro"/>
              </a:defRPr>
            </a:pPr>
            <a:r>
              <a:t>Photography style for Google: Modern and Technology, Internet Services, Software, Advertising, Cloud Computing, AI &amp; Data Solutions feel. Show diversity, authenticity, and lighting that supports brand values: Innovation, Accessibility, User-Centricity, Transparency, Integrity, Collaboration, Inclusivity, Sustainability, Curiosity, Excellence. Images should resonate with Global internet users, Students, Professionals, Businesses of all sizes, Developers, Advertisers, Content creators, Enterprises seeking cloud solutions, Digital-first consumers..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Once upon a time, in the vast digital landscape of the internet, there existed a company that would forever change the way we connect, learn, create, and do business. This company was Google - a beacon of innovation, accessibility, and user-centricity in the world of Technology, Internet Services, Software, Advertising, Cloud Computing, AI &amp; Data Solutions.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Google was built on a foundation of core values that defined its every action and decision. From the very beginning, Google believed in the power of innovation to drive progress and improve the lives of billions of people around the globe. With a relentless commitment to accessibility, Google aimed to make its cutting-edge technologies available to everyone, regardless of their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(3)</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background or location. Transparency and integrity were at the heart of Google's operations, ensuring that users could trust the company with their data and privacy. Collaboration and inclusivity were key principles that guided Google's interactions with its diverse community of global internet users, students, professionals, businesses of all sizes, developers, advertisers, content creators, and enterprises seeking cloud solutions.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(4)</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Google's brand promise was simple yet powerful - to empower individuals and organizations through innovative Technology, Internet Services, Software, Advertising, Cloud Computing, AI &amp; Data Solutions solutions. From search engines to cloud storage, from AI-powered algorithms to advertising platforms, Google's products and services were designed to meet the evolving needs of a digital-first world.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(5)</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What set Google apart was its unique value proposition - a distinctive blend of technology, creativity, and sustainability that resonated with a global audience. Whether you were a student looking to learn, a professional seeking new opportunities, a business aiming to grow, or a developer dreaming of the next big thing, Google had something for you.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Story &amp; Mission (6)</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The brand personality of Google was one of innovation, forward-thinking, creativity, responsibility, and eco-friendliness. Google was not just a company; it was a force for good in the world, driving positive change and making a difference in the lives of millions. And so, Google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Voice &amp; Tone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Google's brand voice is friendly, approachable, and inclusive, reflecting the values of Innovation, Accessibility, User-Centricity, Transparency, Integrity, Collaboration, Inclusivity, Sustainability, Curiosity, and Excellence. The tone is informative, engaging, and empowering, aiming to inspire and educate global internet users, students, professionals, businesses of all sizes, developers, advertisers, content creators, and enterprises seeking cloud solutions.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Brand Voice &amp; Tone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It balances being authoritative with a touch of playfulness to make complex technology concepts easily understandable and relatable. Google's voice communicates a commitment to making the digital world more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Messaging &amp; Value Propositions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**Global Internet Users:** 1. Access information instantly with Google's lightning-fast search engine. 2. Stay connected with loved ones through Gmail, Hangouts, and Google Meet. 3. Explore the world with Google Maps and Street View. **Students:** 1. Enhance your learning with Google Classroom, Docs, Sheets, and Drive for seamless collaboration.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Messaging &amp; Value Propositions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Improve productivity with Google Calendar and Keep to stay organized. 3. Access a wealth of knowledge through Google Scholar and Google Books for research. **Professionals:** 1. Boost efficiency with G Suite's tools like Gmail, Drive, and Calendar for seamless communication. 2. Analyze data effectively with Google Analytics and Data Studio for informed decision-making.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Messaging &amp; Value Propositions (3)</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3. Collaborate effortlessly with colleagues using Google Docs, Sheets, and Slides. **Businesses of all Sizes:** 1. Reach your target audience with Google Ads and Google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Marketing Copy: Website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Empowering Innovation and Inclusivity Across the Globe</a:t>
            </a:r>
          </a:p>
          <a:p>
            <a:pPr>
              <a:defRPr sz="1800">
                <a:solidFill>
                  <a:srgbClr val="DC2626"/>
                </a:solidFill>
                <a:latin typeface="Source Sans Pro"/>
              </a:defRPr>
            </a:pPr>
            <a:r>
              <a:rPr>
                <a:solidFill>
                  <a:srgbClr val="DC2626"/>
                </a:solidFill>
              </a:rPr>
              <a:t>Join Google in revolutionizing technology with user-centric solutions and transparent practices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Marketing Copy: Email</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Subject: Discover the Power of Google: Innovate, Collaborate, and Succeed! Preview: Join Google's world of innovation, accessibility, and user-centricity to drive excellence in a transparent, inclusive, and sustainable manner. Whether you're a student, professional, or business of any size, Google offers solutions for all, promoting integrity, collaboration, and curiosity to fuel your success.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Marketing Copy: Social Media</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DC2626"/>
                </a:solidFill>
                <a:latin typeface="Source Sans Pro"/>
              </a:defRPr>
            </a:pPr>
            <a:r>
              <a:rPr>
                <a:solidFill>
                  <a:srgbClr val="DC2626"/>
                </a:solidFill>
              </a:rPr>
              <a:t>🌟 Dive into a world of endless possibilities with Google! 🌍💻 From cutting-edge technology to user-centric solutions, we're here to innovate, collaborate, and empower you every step of the way. Join us on a journey of curiosity, excellence, and inclusivity. Let's shape the future together! #Google #Innovation #Accessibility #Transparency #Collaboration #Sustainability #Empowerment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Marketing Copy: Ad Copy</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"Unlock limitless possibilities with Google - the ultimate tool for global internet users, students, professionals, and businesses of all sizes! From cloud computing to AI solutions, Google has it all. Stay ahead in the digital world, join Google today!"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Collateral: Business Card</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Simple, clean business card layout for Google in Technology, Internet Services, Software, Advertising, Cloud Computing, AI &amp; Data Solutions. Emphasize clarity, logo, and minimal info.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Collateral: Letterhead</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Letterhead with Google branding, address, and subtle color accent from brand palette.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Collateral: Email Signature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Professional email signature for Google with logo, name, title, and key contact details.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Collateral: Presentation Template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PPT cover slide and content slide layouts using Google palette and fonts.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DC2626"/>
                </a:solidFill>
              </a:defRPr>
            </a:pPr>
            <a:r>
              <a:t>Collateral: Social Templates</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DC2626"/>
                </a:solidFill>
                <a:latin typeface="Source Sans Pro"/>
              </a:defRPr>
            </a:pPr>
            <a:r>
              <a:rPr>
                <a:solidFill>
                  <a:srgbClr val="DC2626"/>
                </a:solidFill>
              </a:rPr>
              <a:t>Instagram/Facebook post and story templates reflecting Google's style and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