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foforbes_media_logo_1_20250901_011406_939e7895.png"/>
          <p:cNvPicPr>
            <a:picLocks noChangeAspect="1"/>
          </p:cNvPicPr>
          <p:nvPr/>
        </p:nvPicPr>
        <p:blipFill>
          <a:blip r:embed="rId2"/>
          <a:stretch>
            <a:fillRect/>
          </a:stretch>
        </p:blipFill>
        <p:spPr>
          <a:xfrm>
            <a:off x="0" y="0"/>
            <a:ext cx="9144000" cy="6858000"/>
          </a:xfrm>
          <a:prstGeom prst="rect">
            <a:avLst/>
          </a:prstGeom>
        </p:spPr>
      </p:pic>
      <p:cxnSp>
        <p:nvCxnSpPr>
          <p:cNvPr id="3" name="Connector 2"/>
          <p:cNvCxnSpPr/>
          <p:nvPr/>
        </p:nvCxnSpPr>
        <p:spPr>
          <a:xfrm>
            <a:off x="6629400.0" y="5657850.0"/>
            <a:ext cx="2057400.0" cy="0.0"/>
          </a:xfrm>
          <a:prstGeom prst="line">
            <a:avLst/>
          </a:prstGeom>
          <a:ln>
            <a:solidFill>
              <a:srgbClr val="F3F4F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29400" y="5657850"/>
            <a:ext cx="2057400" cy="1485900"/>
          </a:xfrm>
          <a:prstGeom prst="rect">
            <a:avLst/>
          </a:prstGeom>
          <a:noFill/>
        </p:spPr>
        <p:txBody>
          <a:bodyPr wrap="none" anchor="ctr">
            <a:spAutoFit/>
          </a:bodyPr>
          <a:lstStyle/>
          <a:p>
            <a:pPr algn="ctr">
              <a:defRPr sz="1800" b="0">
                <a:solidFill>
                  <a:srgbClr val="F3F4F6"/>
                </a:solidFill>
                <a:latin typeface="Inter"/>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3F51B5"/>
                </a:solidFill>
                <a:latin typeface="Source Sans Pro"/>
              </a:defRPr>
            </a:pPr>
            <a:r>
              <a:t>INDEX</a:t>
            </a:r>
          </a:p>
        </p:txBody>
      </p:sp>
      <p:cxnSp>
        <p:nvCxnSpPr>
          <p:cNvPr id="3" name="Connector 2"/>
          <p:cNvCxnSpPr/>
          <p:nvPr/>
        </p:nvCxnSpPr>
        <p:spPr>
          <a:xfrm>
            <a:off x="457200" y="1097280"/>
            <a:ext cx="8229600" cy="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FFFFFF"/>
                </a:solidFill>
                <a:latin typeface="Inter"/>
              </a:defRPr>
            </a:pPr>
            <a:r>
              <a:t>Introduction</a:t>
            </a:r>
          </a:p>
        </p:txBody>
      </p:sp>
      <p:cxnSp>
        <p:nvCxnSpPr>
          <p:cNvPr id="5" name="Connector 4"/>
          <p:cNvCxnSpPr/>
          <p:nvPr/>
        </p:nvCxnSpPr>
        <p:spPr>
          <a:xfrm>
            <a:off x="2331719" y="166420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3F51B5"/>
                </a:solidFill>
                <a:latin typeface="Inter"/>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FFFFFF"/>
                </a:solidFill>
                <a:latin typeface="Inter"/>
              </a:defRPr>
            </a:pPr>
            <a:r>
              <a:t>Brand Purpose (Vision)</a:t>
            </a:r>
          </a:p>
        </p:txBody>
      </p:sp>
      <p:cxnSp>
        <p:nvCxnSpPr>
          <p:cNvPr id="8" name="Connector 7"/>
          <p:cNvCxnSpPr/>
          <p:nvPr/>
        </p:nvCxnSpPr>
        <p:spPr>
          <a:xfrm>
            <a:off x="2331719" y="216712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3F51B5"/>
                </a:solidFill>
                <a:latin typeface="Inter"/>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FFFFFF"/>
                </a:solidFill>
                <a:latin typeface="Inter"/>
              </a:defRPr>
            </a:pPr>
            <a:r>
              <a:t>Brand Purpose (Mission)</a:t>
            </a:r>
          </a:p>
        </p:txBody>
      </p:sp>
      <p:cxnSp>
        <p:nvCxnSpPr>
          <p:cNvPr id="11" name="Connector 10"/>
          <p:cNvCxnSpPr/>
          <p:nvPr/>
        </p:nvCxnSpPr>
        <p:spPr>
          <a:xfrm>
            <a:off x="2331719" y="267004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3F51B5"/>
                </a:solidFill>
                <a:latin typeface="Inter"/>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FFFFFF"/>
                </a:solidFill>
                <a:latin typeface="Inter"/>
              </a:defRPr>
            </a:pPr>
            <a:r>
              <a:t>Brand Purpose (Values)</a:t>
            </a:r>
          </a:p>
        </p:txBody>
      </p:sp>
      <p:cxnSp>
        <p:nvCxnSpPr>
          <p:cNvPr id="14" name="Connector 13"/>
          <p:cNvCxnSpPr/>
          <p:nvPr/>
        </p:nvCxnSpPr>
        <p:spPr>
          <a:xfrm>
            <a:off x="5349239" y="166420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3F51B5"/>
                </a:solidFill>
                <a:latin typeface="Inter"/>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FFFFFF"/>
                </a:solidFill>
                <a:latin typeface="Inter"/>
              </a:defRPr>
            </a:pPr>
            <a:r>
              <a:t>Brand Story</a:t>
            </a:r>
          </a:p>
        </p:txBody>
      </p:sp>
      <p:cxnSp>
        <p:nvCxnSpPr>
          <p:cNvPr id="17" name="Connector 16"/>
          <p:cNvCxnSpPr/>
          <p:nvPr/>
        </p:nvCxnSpPr>
        <p:spPr>
          <a:xfrm>
            <a:off x="5349239" y="216712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3F51B5"/>
                </a:solidFill>
                <a:latin typeface="Inter"/>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FFFFFF"/>
                </a:solidFill>
                <a:latin typeface="Inter"/>
              </a:defRPr>
            </a:pPr>
            <a:r>
              <a:t>Logo Variations</a:t>
            </a:r>
          </a:p>
        </p:txBody>
      </p:sp>
      <p:cxnSp>
        <p:nvCxnSpPr>
          <p:cNvPr id="20" name="Connector 19"/>
          <p:cNvCxnSpPr/>
          <p:nvPr/>
        </p:nvCxnSpPr>
        <p:spPr>
          <a:xfrm>
            <a:off x="5349239" y="267004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3F51B5"/>
                </a:solidFill>
                <a:latin typeface="Inter"/>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CCCCCC"/>
                </a:solidFill>
                <a:latin typeface="Inter"/>
              </a:defRPr>
            </a:pPr>
            <a:r>
              <a:t>Variation 1</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CCCCCC"/>
                </a:solidFill>
                <a:latin typeface="Inter"/>
              </a:defRPr>
            </a:pPr>
            <a:r>
              <a:t>Variation 2</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CCCCCC"/>
                </a:solidFill>
                <a:latin typeface="Inter"/>
              </a:defRPr>
            </a:pPr>
            <a:r>
              <a:t>Variation 3</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FFFFFF"/>
                </a:solidFill>
                <a:latin typeface="Inter"/>
              </a:defRPr>
            </a:pPr>
            <a:r>
              <a:t>Brand Colors</a:t>
            </a:r>
          </a:p>
        </p:txBody>
      </p:sp>
      <p:cxnSp>
        <p:nvCxnSpPr>
          <p:cNvPr id="26" name="Connector 25"/>
          <p:cNvCxnSpPr/>
          <p:nvPr/>
        </p:nvCxnSpPr>
        <p:spPr>
          <a:xfrm>
            <a:off x="8366759" y="166420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3F51B5"/>
                </a:solidFill>
                <a:latin typeface="Inter"/>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CCCCCC"/>
                </a:solidFill>
                <a:latin typeface="Inter"/>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CCCCCC"/>
                </a:solidFill>
                <a:latin typeface="Inter"/>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CCCCCC"/>
                </a:solidFill>
                <a:latin typeface="Inter"/>
              </a:defRPr>
            </a:pPr>
            <a:r>
              <a:t>Color Usage 1/2</a:t>
            </a:r>
          </a:p>
        </p:txBody>
      </p:sp>
      <p:sp>
        <p:nvSpPr>
          <p:cNvPr id="31" name="TextBox 30"/>
          <p:cNvSpPr txBox="1"/>
          <p:nvPr/>
        </p:nvSpPr>
        <p:spPr>
          <a:xfrm>
            <a:off x="6675120" y="2606040"/>
            <a:ext cx="1828800" cy="228600"/>
          </a:xfrm>
          <a:prstGeom prst="rect">
            <a:avLst/>
          </a:prstGeom>
          <a:noFill/>
        </p:spPr>
        <p:txBody>
          <a:bodyPr wrap="none" lIns="0" tIns="0" bIns="0">
            <a:spAutoFit/>
          </a:bodyPr>
          <a:lstStyle/>
          <a:p>
            <a:pPr>
              <a:defRPr sz="900" b="0">
                <a:solidFill>
                  <a:srgbClr val="CCCCCC"/>
                </a:solidFill>
                <a:latin typeface="Inter"/>
              </a:defRPr>
            </a:pPr>
            <a:r>
              <a:t>Color Usage 2/2</a:t>
            </a:r>
          </a:p>
        </p:txBody>
      </p:sp>
      <p:sp>
        <p:nvSpPr>
          <p:cNvPr id="32" name="TextBox 31"/>
          <p:cNvSpPr txBox="1"/>
          <p:nvPr/>
        </p:nvSpPr>
        <p:spPr>
          <a:xfrm>
            <a:off x="6492240" y="2971800"/>
            <a:ext cx="1828800" cy="274320"/>
          </a:xfrm>
          <a:prstGeom prst="rect">
            <a:avLst/>
          </a:prstGeom>
          <a:noFill/>
        </p:spPr>
        <p:txBody>
          <a:bodyPr wrap="none" lIns="0" rIns="0" tIns="0" bIns="0">
            <a:spAutoFit/>
          </a:bodyPr>
          <a:lstStyle/>
          <a:p>
            <a:pPr>
              <a:defRPr sz="1200" b="1">
                <a:solidFill>
                  <a:srgbClr val="FFFFFF"/>
                </a:solidFill>
                <a:latin typeface="Inter"/>
              </a:defRPr>
            </a:pPr>
            <a:r>
              <a:t>Typography</a:t>
            </a:r>
          </a:p>
        </p:txBody>
      </p:sp>
      <p:cxnSp>
        <p:nvCxnSpPr>
          <p:cNvPr id="33" name="Connector 32"/>
          <p:cNvCxnSpPr/>
          <p:nvPr/>
        </p:nvCxnSpPr>
        <p:spPr>
          <a:xfrm>
            <a:off x="8366759" y="308152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78240" y="2971800"/>
            <a:ext cx="274320" cy="274320"/>
          </a:xfrm>
          <a:prstGeom prst="rect">
            <a:avLst/>
          </a:prstGeom>
          <a:noFill/>
        </p:spPr>
        <p:txBody>
          <a:bodyPr wrap="none" lIns="0" tIns="0" bIns="0">
            <a:spAutoFit/>
          </a:bodyPr>
          <a:lstStyle/>
          <a:p>
            <a:pPr>
              <a:defRPr sz="1200" b="1">
                <a:solidFill>
                  <a:srgbClr val="3F51B5"/>
                </a:solidFill>
                <a:latin typeface="Inter"/>
              </a:defRPr>
            </a:pPr>
            <a:r>
              <a:t>08</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CCCCCC"/>
                </a:solidFill>
                <a:latin typeface="Inter"/>
              </a:defRPr>
            </a:pPr>
            <a:r>
              <a:t>Brand Font</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CCCCCC"/>
                </a:solidFill>
                <a:latin typeface="Inter"/>
              </a:defRPr>
            </a:pPr>
            <a:r>
              <a:t>Font Usage</a:t>
            </a:r>
          </a:p>
        </p:txBody>
      </p:sp>
      <p:sp>
        <p:nvSpPr>
          <p:cNvPr id="37" name="TextBox 36"/>
          <p:cNvSpPr txBox="1"/>
          <p:nvPr/>
        </p:nvSpPr>
        <p:spPr>
          <a:xfrm>
            <a:off x="6675120" y="3794760"/>
            <a:ext cx="1828800" cy="228600"/>
          </a:xfrm>
          <a:prstGeom prst="rect">
            <a:avLst/>
          </a:prstGeom>
          <a:noFill/>
        </p:spPr>
        <p:txBody>
          <a:bodyPr wrap="none" lIns="0" tIns="0" bIns="0">
            <a:spAutoFit/>
          </a:bodyPr>
          <a:lstStyle/>
          <a:p>
            <a:pPr>
              <a:defRPr sz="900" b="0">
                <a:solidFill>
                  <a:srgbClr val="CCCCCC"/>
                </a:solidFill>
                <a:latin typeface="Inter"/>
              </a:defRPr>
            </a:pPr>
            <a:r>
              <a:t>Text Hierarchy</a:t>
            </a:r>
          </a:p>
        </p:txBody>
      </p:sp>
      <p:sp>
        <p:nvSpPr>
          <p:cNvPr id="38" name="TextBox 37"/>
          <p:cNvSpPr txBox="1"/>
          <p:nvPr/>
        </p:nvSpPr>
        <p:spPr>
          <a:xfrm>
            <a:off x="6492240" y="4160520"/>
            <a:ext cx="1828800" cy="274320"/>
          </a:xfrm>
          <a:prstGeom prst="rect">
            <a:avLst/>
          </a:prstGeom>
          <a:noFill/>
        </p:spPr>
        <p:txBody>
          <a:bodyPr wrap="none" lIns="0" rIns="0" tIns="0" bIns="0">
            <a:spAutoFit/>
          </a:bodyPr>
          <a:lstStyle/>
          <a:p>
            <a:pPr>
              <a:defRPr sz="1200" b="1">
                <a:solidFill>
                  <a:srgbClr val="FFFFFF"/>
                </a:solidFill>
                <a:latin typeface="Inter"/>
              </a:defRPr>
            </a:pPr>
            <a:r>
              <a:t>Visual Guidelines</a:t>
            </a:r>
          </a:p>
        </p:txBody>
      </p:sp>
      <p:cxnSp>
        <p:nvCxnSpPr>
          <p:cNvPr id="39" name="Connector 38"/>
          <p:cNvCxnSpPr/>
          <p:nvPr/>
        </p:nvCxnSpPr>
        <p:spPr>
          <a:xfrm>
            <a:off x="8366759" y="4270248"/>
            <a:ext cx="365760" cy="0"/>
          </a:xfrm>
          <a:prstGeom prst="line">
            <a:avLst/>
          </a:prstGeom>
          <a:ln w="19050">
            <a:solidFill>
              <a:srgbClr val="3F51B5"/>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78240" y="4160520"/>
            <a:ext cx="274320" cy="274320"/>
          </a:xfrm>
          <a:prstGeom prst="rect">
            <a:avLst/>
          </a:prstGeom>
          <a:noFill/>
        </p:spPr>
        <p:txBody>
          <a:bodyPr wrap="none" lIns="0" tIns="0" bIns="0">
            <a:spAutoFit/>
          </a:bodyPr>
          <a:lstStyle/>
          <a:p>
            <a:pPr>
              <a:defRPr sz="1200" b="1">
                <a:solidFill>
                  <a:srgbClr val="3F51B5"/>
                </a:solidFill>
                <a:latin typeface="Inter"/>
              </a:defRPr>
            </a:pPr>
            <a:r>
              <a:t>09</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CCCCCC"/>
                </a:solidFill>
                <a:latin typeface="Inter"/>
              </a:defRPr>
            </a:pPr>
            <a:r>
              <a:t>Visual Style</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CCCCCC"/>
                </a:solidFill>
                <a:latin typeface="Inter"/>
              </a:defRPr>
            </a:pPr>
            <a:r>
              <a:t>Photography</a:t>
            </a:r>
          </a:p>
        </p:txBody>
      </p:sp>
      <p:sp>
        <p:nvSpPr>
          <p:cNvPr id="43" name="TextBox 42"/>
          <p:cNvSpPr txBox="1"/>
          <p:nvPr/>
        </p:nvSpPr>
        <p:spPr>
          <a:xfrm>
            <a:off x="6675120" y="4983480"/>
            <a:ext cx="1828800" cy="228600"/>
          </a:xfrm>
          <a:prstGeom prst="rect">
            <a:avLst/>
          </a:prstGeom>
          <a:noFill/>
        </p:spPr>
        <p:txBody>
          <a:bodyPr wrap="none" lIns="0" tIns="0" bIns="0">
            <a:spAutoFit/>
          </a:bodyPr>
          <a:lstStyle/>
          <a:p>
            <a:pPr>
              <a:defRPr sz="900" b="0">
                <a:solidFill>
                  <a:srgbClr val="CCCCCC"/>
                </a:solidFill>
                <a:latin typeface="Inter"/>
              </a:defRPr>
            </a:pPr>
            <a:r>
              <a:t>Imagery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Welcome to FoForbes Media's comprehensive brand identity system. As a global leader in business journalism and digital media, we deliver authoritative insights that shape industry conversations and inspire tomorrow's leaders. Our strategic framework ensures a distinct, unified brand presence that reflects our unwavering commitment to journalistic excellence, digital innovation, and thought leadership. Through carefully crafted guidelines, we maintain our position as the trusted voice for business professionals, entrepreneurs, and decision-makers worldwide, while preserving the signature elements that have made FoForbes Media an internationally recognized authority in business media for generations.</a:t>
            </a:r>
          </a:p>
        </p:txBody>
      </p:sp>
      <p:cxnSp>
        <p:nvCxnSpPr>
          <p:cNvPr id="3" name="Connector 2"/>
          <p:cNvCxnSpPr/>
          <p:nvPr/>
        </p:nvCxnSpPr>
        <p:spPr>
          <a:xfrm>
            <a:off x="457200" y="4914900.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3F51B5"/>
                </a:solidFill>
                <a:latin typeface="Source Sans Pro"/>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FoForbes Media envisions a world where every business leader, entrepreneur, investor, professional, high-net-worth individual, and aspiring youth is empowered with knowledge and insights to drive meaningful change and innovation in the global business landscape. Our ultimate goal is to inspire and motivate individuals to reach their full potential and make a lasting impact on the world through our innovative Media &amp; Publishing solutions.</a:t>
            </a:r>
          </a:p>
        </p:txBody>
      </p:sp>
      <p:cxnSp>
        <p:nvCxnSpPr>
          <p:cNvPr id="3" name="Connector 2"/>
          <p:cNvCxnSpPr/>
          <p:nvPr/>
        </p:nvCxnSpPr>
        <p:spPr>
          <a:xfrm>
            <a:off x="457200" y="4914900.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3F51B5"/>
                </a:solidFill>
                <a:latin typeface="Source Sans Pro"/>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FoForbes Media is dedicated to delivering cutting-edge Media &amp; Publishing (Business Journalism &amp; Digital Media) solutions that provide unparalleled value to business leaders, entrepreneurs, investors, professionals, high-net-worth individuals, and aspiring youth. We strive to be the leading source of trusted information, insights, and inspiration, empowering our audience to make informed decisions and drive success in their endeavors.</a:t>
            </a:r>
          </a:p>
        </p:txBody>
      </p:sp>
      <p:cxnSp>
        <p:nvCxnSpPr>
          <p:cNvPr id="3" name="Connector 2"/>
          <p:cNvCxnSpPr/>
          <p:nvPr/>
        </p:nvCxnSpPr>
        <p:spPr>
          <a:xfrm>
            <a:off x="457200" y="4914900.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3F51B5"/>
                </a:solidFill>
                <a:latin typeface="Source Sans Pro"/>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At FoForbes Media, our core values of innovation, integrity, entrepreneurship, excellence, global perspective, influence, and credibility form the foundation of everything we do. We are committed to fostering a culture of continuous innovation and creativity, maintaining the highest standards of integrity and credibility in our work, and embracing entrepreneurship to drive positive change in the Media &amp; Publishing industry. With a global perspective and the ability to influence and inspire, we aim to uphold excellence in all aspects of our business, serving as a beacon of knowledge and trust for our diverse audience of business leaders, entrepreneurs, investors, professionals, high-net-worth individuals, and aspiring youth.</a:t>
            </a:r>
          </a:p>
        </p:txBody>
      </p:sp>
      <p:cxnSp>
        <p:nvCxnSpPr>
          <p:cNvPr id="3" name="Connector 2"/>
          <p:cNvCxnSpPr/>
          <p:nvPr/>
        </p:nvCxnSpPr>
        <p:spPr>
          <a:xfrm>
            <a:off x="457200" y="4914900.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3F51B5"/>
                </a:solidFill>
                <a:latin typeface="Source Sans Pro"/>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In the bustling world of business, where every decision counts and every opportunity holds the promise of success, there exists a beacon of knowledge, a guiding light illuminating the path to excellence. This beacon is none other than Forbes Media. Forbes Media stands at the forefront of innovation, shaping the landscape of business journalism and digital media with its unwavering commitment to integrity and entrepreneurship. Our core values of excellence and global perspective drive us to deliver cutting-edge insights and thought-provoking analysis that empower business leaders, entrepreneurs, investors, professionals, high-net-worth individuals, and aspiring youth alike.</a:t>
            </a:r>
          </a:p>
        </p:txBody>
      </p:sp>
      <p:cxnSp>
        <p:nvCxnSpPr>
          <p:cNvPr id="3" name="Connector 2"/>
          <p:cNvCxnSpPr/>
          <p:nvPr/>
        </p:nvCxnSpPr>
        <p:spPr>
          <a:xfrm>
            <a:off x="457200" y="4914900.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3F51B5"/>
                </a:solidFill>
                <a:latin typeface="Source Sans Pro"/>
              </a:defRPr>
            </a:pPr>
            <a:r>
              <a:t>BRAND STORY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Inter"/>
              </a:defRPr>
            </a:pPr>
            <a:r>
              <a:t>At Forbes Media, we understand the power of influence, and we wield it responsibly to provide our audience with the most credible and impactful information available. Our brand promise is simple yet profound: to empower individuals to reach their full potential by arming them with the knowledge and tools they need to succeed in today's dynamic business world. What sets Forbes Media apart is our unique value proposition - a distinctive approach to media and publishing that is tailored specifically to the needs of our target audience. Through a combination of expert analysis, in-depth reporting, and innovative storytelling, we strive to deliver a comprehensive and...</a:t>
            </a:r>
          </a:p>
        </p:txBody>
      </p:sp>
      <p:cxnSp>
        <p:nvCxnSpPr>
          <p:cNvPr id="3" name="Connector 2"/>
          <p:cNvCxnSpPr/>
          <p:nvPr/>
        </p:nvCxnSpPr>
        <p:spPr>
          <a:xfrm>
            <a:off x="457200" y="4914900.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3F51B5"/>
                </a:solidFill>
                <a:latin typeface="Source Sans Pro"/>
              </a:defRPr>
            </a:pPr>
            <a:r>
              <a:t>BRAND STORY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foforbes_media_logo_1_20250901_011406_939e7895.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Inter"/>
              </a:defRPr>
            </a:pPr>
            <a:r>
              <a:t>Choose for maximum impact and brand recognition in primary applications.</a:t>
            </a:r>
          </a:p>
        </p:txBody>
      </p:sp>
      <p:cxnSp>
        <p:nvCxnSpPr>
          <p:cNvPr id="4" name="Connector 3"/>
          <p:cNvCxnSpPr/>
          <p:nvPr/>
        </p:nvCxnSpPr>
        <p:spPr>
          <a:xfrm>
            <a:off x="457200" y="5286375.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3F51B5"/>
                </a:solidFill>
                <a:latin typeface="Source Sans Pro"/>
              </a:defRPr>
            </a:pPr>
            <a:r>
              <a:t>Logo Variation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foforbes_media_logo_2_20250901_011424_d199b116.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Inter"/>
              </a:defRPr>
            </a:pPr>
            <a:r>
              <a:t>Perfect for constrained spaces while maintaining professional brand presence and clarity.</a:t>
            </a:r>
          </a:p>
        </p:txBody>
      </p:sp>
      <p:cxnSp>
        <p:nvCxnSpPr>
          <p:cNvPr id="4" name="Connector 3"/>
          <p:cNvCxnSpPr/>
          <p:nvPr/>
        </p:nvCxnSpPr>
        <p:spPr>
          <a:xfrm>
            <a:off x="457200" y="5286375.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3F51B5"/>
                </a:solidFill>
                <a:latin typeface="Source Sans Pro"/>
              </a:defRPr>
            </a:pPr>
            <a:r>
              <a:t>Logo Variation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foforbes_media_logo_3_20250901_011442_07e736d6.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Inter"/>
              </a:defRPr>
            </a:pPr>
            <a:r>
              <a:t>Ideal for small sizes, watermarks, and applications requiring simplified brand representation.</a:t>
            </a:r>
          </a:p>
        </p:txBody>
      </p:sp>
      <p:cxnSp>
        <p:nvCxnSpPr>
          <p:cNvPr id="4" name="Connector 3"/>
          <p:cNvCxnSpPr/>
          <p:nvPr/>
        </p:nvCxnSpPr>
        <p:spPr>
          <a:xfrm>
            <a:off x="457200" y="5286375.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3F51B5"/>
                </a:solidFill>
                <a:latin typeface="Source Sans Pro"/>
              </a:defRPr>
            </a:pPr>
            <a:r>
              <a:t>Logo Variation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1143000" y="1645920"/>
            <a:ext cx="1828800" cy="1371600"/>
          </a:xfrm>
          <a:prstGeom prst="rect">
            <a:avLst/>
          </a:prstGeom>
          <a:solidFill>
            <a:srgbClr val="3F51B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54680" y="164592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Inter"/>
              </a:defRPr>
            </a:pPr>
            <a:r>
              <a:t>Innovation Indigo</a:t>
            </a:r>
          </a:p>
          <a:p>
            <a:pPr algn="l">
              <a:spcAft>
                <a:spcPts val="300"/>
              </a:spcAft>
              <a:defRPr sz="1000" b="0">
                <a:solidFill>
                  <a:srgbClr val="FFFFFF"/>
                </a:solidFill>
                <a:latin typeface="Inter"/>
              </a:defRPr>
            </a:pPr>
            <a:r>
              <a:t>#3F51B5</a:t>
            </a:r>
          </a:p>
          <a:p>
            <a:pPr algn="l">
              <a:spcAft>
                <a:spcPts val="300"/>
              </a:spcAft>
              <a:defRPr sz="1000" b="0">
                <a:solidFill>
                  <a:srgbClr val="FFFFFF"/>
                </a:solidFill>
                <a:latin typeface="Inter"/>
              </a:defRPr>
            </a:pPr>
            <a:r>
              <a:t>RGB(63, 81, 181)</a:t>
            </a:r>
          </a:p>
          <a:p>
            <a:pPr algn="l">
              <a:spcAft>
                <a:spcPts val="300"/>
              </a:spcAft>
              <a:defRPr sz="1000" b="0">
                <a:solidFill>
                  <a:srgbClr val="FFFFFF"/>
                </a:solidFill>
                <a:latin typeface="Inter"/>
              </a:defRPr>
            </a:pPr>
            <a:r>
              <a:t>CMYK(65, 55, 0, 29)</a:t>
            </a:r>
          </a:p>
          <a:p>
            <a:pPr algn="l">
              <a:spcAft>
                <a:spcPts val="300"/>
              </a:spcAft>
              <a:defRPr sz="1000" b="0">
                <a:solidFill>
                  <a:srgbClr val="FFFFFF"/>
                </a:solidFill>
                <a:latin typeface="Inter"/>
              </a:defRPr>
            </a:pPr>
            <a:r>
              <a:t>Use Light Text</a:t>
            </a:r>
          </a:p>
        </p:txBody>
      </p:sp>
      <p:sp>
        <p:nvSpPr>
          <p:cNvPr id="4" name="Rectangle 3"/>
          <p:cNvSpPr/>
          <p:nvPr/>
        </p:nvSpPr>
        <p:spPr>
          <a:xfrm>
            <a:off x="4572000" y="1645920"/>
            <a:ext cx="1828800" cy="1371600"/>
          </a:xfrm>
          <a:prstGeom prst="rect">
            <a:avLst/>
          </a:prstGeom>
          <a:solidFill>
            <a:srgbClr val="5C6BC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64592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Inter"/>
              </a:defRPr>
            </a:pPr>
            <a:r>
              <a:t>Integrity Slate</a:t>
            </a:r>
          </a:p>
          <a:p>
            <a:pPr algn="l">
              <a:spcAft>
                <a:spcPts val="300"/>
              </a:spcAft>
              <a:defRPr sz="1000" b="0">
                <a:solidFill>
                  <a:srgbClr val="FFFFFF"/>
                </a:solidFill>
                <a:latin typeface="Inter"/>
              </a:defRPr>
            </a:pPr>
            <a:r>
              <a:t>#5C6BC0</a:t>
            </a:r>
          </a:p>
          <a:p>
            <a:pPr algn="l">
              <a:spcAft>
                <a:spcPts val="300"/>
              </a:spcAft>
              <a:defRPr sz="1000" b="0">
                <a:solidFill>
                  <a:srgbClr val="FFFFFF"/>
                </a:solidFill>
                <a:latin typeface="Inter"/>
              </a:defRPr>
            </a:pPr>
            <a:r>
              <a:t>RGB(92, 107, 192)</a:t>
            </a:r>
          </a:p>
          <a:p>
            <a:pPr algn="l">
              <a:spcAft>
                <a:spcPts val="300"/>
              </a:spcAft>
              <a:defRPr sz="1000" b="0">
                <a:solidFill>
                  <a:srgbClr val="FFFFFF"/>
                </a:solidFill>
                <a:latin typeface="Inter"/>
              </a:defRPr>
            </a:pPr>
            <a:r>
              <a:t>CMYK(52, 44, 0, 24)</a:t>
            </a:r>
          </a:p>
          <a:p>
            <a:pPr algn="l">
              <a:spcAft>
                <a:spcPts val="300"/>
              </a:spcAft>
              <a:defRPr sz="1000" b="0">
                <a:solidFill>
                  <a:srgbClr val="FFFFFF"/>
                </a:solidFill>
                <a:latin typeface="Inter"/>
              </a:defRPr>
            </a:pPr>
            <a:r>
              <a:t>Use Light Text</a:t>
            </a:r>
          </a:p>
        </p:txBody>
      </p:sp>
      <p:sp>
        <p:nvSpPr>
          <p:cNvPr id="6" name="Rectangle 5"/>
          <p:cNvSpPr/>
          <p:nvPr/>
        </p:nvSpPr>
        <p:spPr>
          <a:xfrm>
            <a:off x="1143000" y="3726180"/>
            <a:ext cx="1828800" cy="1371600"/>
          </a:xfrm>
          <a:prstGeom prst="rect">
            <a:avLst/>
          </a:prstGeom>
          <a:solidFill>
            <a:srgbClr val="4CAF5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54680" y="372618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Inter"/>
              </a:defRPr>
            </a:pPr>
            <a:r>
              <a:t>Entrepreneurial Emerald</a:t>
            </a:r>
          </a:p>
          <a:p>
            <a:pPr algn="l">
              <a:spcAft>
                <a:spcPts val="300"/>
              </a:spcAft>
              <a:defRPr sz="1000" b="0">
                <a:solidFill>
                  <a:srgbClr val="FFFFFF"/>
                </a:solidFill>
                <a:latin typeface="Inter"/>
              </a:defRPr>
            </a:pPr>
            <a:r>
              <a:t>#4CAF50</a:t>
            </a:r>
          </a:p>
          <a:p>
            <a:pPr algn="l">
              <a:spcAft>
                <a:spcPts val="300"/>
              </a:spcAft>
              <a:defRPr sz="1000" b="0">
                <a:solidFill>
                  <a:srgbClr val="FFFFFF"/>
                </a:solidFill>
                <a:latin typeface="Inter"/>
              </a:defRPr>
            </a:pPr>
            <a:r>
              <a:t>RGB(76, 175, 80)</a:t>
            </a:r>
          </a:p>
          <a:p>
            <a:pPr algn="l">
              <a:spcAft>
                <a:spcPts val="300"/>
              </a:spcAft>
              <a:defRPr sz="1000" b="0">
                <a:solidFill>
                  <a:srgbClr val="FFFFFF"/>
                </a:solidFill>
                <a:latin typeface="Inter"/>
              </a:defRPr>
            </a:pPr>
            <a:r>
              <a:t>CMYK(56, 0, 54, 31)</a:t>
            </a:r>
          </a:p>
          <a:p>
            <a:pPr algn="l">
              <a:spcAft>
                <a:spcPts val="300"/>
              </a:spcAft>
              <a:defRPr sz="1000" b="0">
                <a:solidFill>
                  <a:srgbClr val="FFFFFF"/>
                </a:solidFill>
                <a:latin typeface="Inter"/>
              </a:defRPr>
            </a:pPr>
            <a:r>
              <a:t>Use Dark Text</a:t>
            </a:r>
          </a:p>
        </p:txBody>
      </p:sp>
      <p:sp>
        <p:nvSpPr>
          <p:cNvPr id="8" name="Rectangle 7"/>
          <p:cNvSpPr/>
          <p:nvPr/>
        </p:nvSpPr>
        <p:spPr>
          <a:xfrm>
            <a:off x="4572000" y="3726180"/>
            <a:ext cx="1828800" cy="1371600"/>
          </a:xfrm>
          <a:prstGeom prst="rect">
            <a:avLst/>
          </a:prstGeom>
          <a:solidFill>
            <a:srgbClr val="0096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72618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Inter"/>
              </a:defRPr>
            </a:pPr>
            <a:r>
              <a:t>Global Perspective Teal</a:t>
            </a:r>
          </a:p>
          <a:p>
            <a:pPr algn="l">
              <a:spcAft>
                <a:spcPts val="300"/>
              </a:spcAft>
              <a:defRPr sz="1000" b="0">
                <a:solidFill>
                  <a:srgbClr val="FFFFFF"/>
                </a:solidFill>
                <a:latin typeface="Inter"/>
              </a:defRPr>
            </a:pPr>
            <a:r>
              <a:t>#009688</a:t>
            </a:r>
          </a:p>
          <a:p>
            <a:pPr algn="l">
              <a:spcAft>
                <a:spcPts val="300"/>
              </a:spcAft>
              <a:defRPr sz="1000" b="0">
                <a:solidFill>
                  <a:srgbClr val="FFFFFF"/>
                </a:solidFill>
                <a:latin typeface="Inter"/>
              </a:defRPr>
            </a:pPr>
            <a:r>
              <a:t>RGB(0, 150, 136)</a:t>
            </a:r>
          </a:p>
          <a:p>
            <a:pPr algn="l">
              <a:spcAft>
                <a:spcPts val="300"/>
              </a:spcAft>
              <a:defRPr sz="1000" b="0">
                <a:solidFill>
                  <a:srgbClr val="FFFFFF"/>
                </a:solidFill>
                <a:latin typeface="Inter"/>
              </a:defRPr>
            </a:pPr>
            <a:r>
              <a:t>CMYK(100, 0, 9, 41)</a:t>
            </a:r>
          </a:p>
          <a:p>
            <a:pPr algn="l">
              <a:spcAft>
                <a:spcPts val="300"/>
              </a:spcAft>
              <a:defRPr sz="1000" b="0">
                <a:solidFill>
                  <a:srgbClr val="FFFFFF"/>
                </a:solidFill>
                <a:latin typeface="Inter"/>
              </a:defRPr>
            </a:pPr>
            <a:r>
              <a:t>Use Dark Text</a:t>
            </a:r>
          </a:p>
        </p:txBody>
      </p:sp>
      <p:cxnSp>
        <p:nvCxnSpPr>
          <p:cNvPr id="10" name="Connector 9"/>
          <p:cNvCxnSpPr/>
          <p:nvPr/>
        </p:nvCxnSpPr>
        <p:spPr>
          <a:xfrm>
            <a:off x="457200" y="5286375.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5560695"/>
            <a:ext cx="5486400" cy="731520"/>
          </a:xfrm>
          <a:prstGeom prst="rect">
            <a:avLst/>
          </a:prstGeom>
          <a:noFill/>
        </p:spPr>
        <p:txBody>
          <a:bodyPr wrap="none">
            <a:spAutoFit/>
          </a:bodyPr>
          <a:lstStyle/>
          <a:p>
            <a:pPr algn="l">
              <a:defRPr sz="2800" b="1">
                <a:solidFill>
                  <a:srgbClr val="3F51B5"/>
                </a:solidFill>
                <a:latin typeface="Source Sans Pro"/>
              </a:defRPr>
            </a:pPr>
            <a:r>
              <a:t>Primary Colors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1143000" y="1571625"/>
            <a:ext cx="1828800" cy="914400"/>
          </a:xfrm>
          <a:prstGeom prst="rect">
            <a:avLst/>
          </a:prstGeom>
          <a:solidFill>
            <a:srgbClr val="F8F9F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Light Gray</a:t>
            </a:r>
          </a:p>
          <a:p>
            <a:pPr algn="ctr">
              <a:spcAft>
                <a:spcPts val="300"/>
              </a:spcAft>
              <a:defRPr sz="1000" b="0">
                <a:solidFill>
                  <a:srgbClr val="FFFFFF"/>
                </a:solidFill>
                <a:latin typeface="Inter"/>
              </a:defRPr>
            </a:pPr>
            <a:r>
              <a:t>#F8F9FA</a:t>
            </a:r>
          </a:p>
          <a:p>
            <a:pPr algn="ctr">
              <a:spcAft>
                <a:spcPts val="300"/>
              </a:spcAft>
              <a:defRPr sz="1000" b="0">
                <a:solidFill>
                  <a:srgbClr val="FFFFFF"/>
                </a:solidFill>
                <a:latin typeface="Inter"/>
              </a:defRPr>
            </a:pPr>
            <a:r>
              <a:t>Use Dark Text</a:t>
            </a:r>
          </a:p>
        </p:txBody>
      </p:sp>
      <p:sp>
        <p:nvSpPr>
          <p:cNvPr id="4" name="Rectangle 3"/>
          <p:cNvSpPr/>
          <p:nvPr/>
        </p:nvSpPr>
        <p:spPr>
          <a:xfrm>
            <a:off x="3200400" y="1571625"/>
            <a:ext cx="1828800" cy="914400"/>
          </a:xfrm>
          <a:prstGeom prst="rect">
            <a:avLst/>
          </a:prstGeom>
          <a:solidFill>
            <a:srgbClr val="9FA8D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Lavender</a:t>
            </a:r>
          </a:p>
          <a:p>
            <a:pPr algn="ctr">
              <a:spcAft>
                <a:spcPts val="300"/>
              </a:spcAft>
              <a:defRPr sz="1000" b="0">
                <a:solidFill>
                  <a:srgbClr val="FFFFFF"/>
                </a:solidFill>
                <a:latin typeface="Inter"/>
              </a:defRPr>
            </a:pPr>
            <a:r>
              <a:t>#9FA8DA</a:t>
            </a:r>
          </a:p>
          <a:p>
            <a:pPr algn="ctr">
              <a:spcAft>
                <a:spcPts val="300"/>
              </a:spcAft>
              <a:defRPr sz="1000" b="0">
                <a:solidFill>
                  <a:srgbClr val="FFFFFF"/>
                </a:solidFill>
                <a:latin typeface="Inter"/>
              </a:defRPr>
            </a:pPr>
            <a:r>
              <a:t>Use Dark Text</a:t>
            </a:r>
          </a:p>
        </p:txBody>
      </p:sp>
      <p:sp>
        <p:nvSpPr>
          <p:cNvPr id="6" name="Rectangle 5"/>
          <p:cNvSpPr/>
          <p:nvPr/>
        </p:nvSpPr>
        <p:spPr>
          <a:xfrm>
            <a:off x="5257800" y="1571625"/>
            <a:ext cx="1828800" cy="914400"/>
          </a:xfrm>
          <a:prstGeom prst="rect">
            <a:avLst/>
          </a:prstGeom>
          <a:solidFill>
            <a:srgbClr val="80CBC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Mint Green</a:t>
            </a:r>
          </a:p>
          <a:p>
            <a:pPr algn="ctr">
              <a:spcAft>
                <a:spcPts val="300"/>
              </a:spcAft>
              <a:defRPr sz="1000" b="0">
                <a:solidFill>
                  <a:srgbClr val="FFFFFF"/>
                </a:solidFill>
                <a:latin typeface="Inter"/>
              </a:defRPr>
            </a:pPr>
            <a:r>
              <a:t>#80CBC4</a:t>
            </a:r>
          </a:p>
          <a:p>
            <a:pPr algn="ctr">
              <a:spcAft>
                <a:spcPts val="300"/>
              </a:spcAft>
              <a:defRPr sz="1000" b="0">
                <a:solidFill>
                  <a:srgbClr val="FFFFFF"/>
                </a:solidFill>
                <a:latin typeface="Inter"/>
              </a:defRPr>
            </a:pPr>
            <a:r>
              <a:t>Use Dark Text</a:t>
            </a:r>
          </a:p>
        </p:txBody>
      </p:sp>
      <p:sp>
        <p:nvSpPr>
          <p:cNvPr id="8" name="Rectangle 7"/>
          <p:cNvSpPr/>
          <p:nvPr/>
        </p:nvSpPr>
        <p:spPr>
          <a:xfrm>
            <a:off x="2171700" y="3429000"/>
            <a:ext cx="1828800" cy="914400"/>
          </a:xfrm>
          <a:prstGeom prst="rect">
            <a:avLst/>
          </a:prstGeom>
          <a:solidFill>
            <a:srgbClr val="FFD54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71700" y="4526280"/>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Amber</a:t>
            </a:r>
          </a:p>
          <a:p>
            <a:pPr algn="ctr">
              <a:spcAft>
                <a:spcPts val="300"/>
              </a:spcAft>
              <a:defRPr sz="1000" b="0">
                <a:solidFill>
                  <a:srgbClr val="FFFFFF"/>
                </a:solidFill>
                <a:latin typeface="Inter"/>
              </a:defRPr>
            </a:pPr>
            <a:r>
              <a:t>#FFD54F</a:t>
            </a:r>
          </a:p>
          <a:p>
            <a:pPr algn="ctr">
              <a:spcAft>
                <a:spcPts val="300"/>
              </a:spcAft>
              <a:defRPr sz="1000" b="0">
                <a:solidFill>
                  <a:srgbClr val="FFFFFF"/>
                </a:solidFill>
                <a:latin typeface="Inter"/>
              </a:defRPr>
            </a:pPr>
            <a:r>
              <a:t>Use Dark Text</a:t>
            </a:r>
          </a:p>
        </p:txBody>
      </p:sp>
      <p:sp>
        <p:nvSpPr>
          <p:cNvPr id="10" name="Rectangle 9"/>
          <p:cNvSpPr/>
          <p:nvPr/>
        </p:nvSpPr>
        <p:spPr>
          <a:xfrm>
            <a:off x="4229100" y="3429000"/>
            <a:ext cx="1828800" cy="914400"/>
          </a:xfrm>
          <a:prstGeom prst="rect">
            <a:avLst/>
          </a:prstGeom>
          <a:solidFill>
            <a:srgbClr val="607D8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29100" y="4526280"/>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Inter"/>
              </a:defRPr>
            </a:pPr>
            <a:r>
              <a:t>Slate Blue</a:t>
            </a:r>
          </a:p>
          <a:p>
            <a:pPr algn="ctr">
              <a:spcAft>
                <a:spcPts val="300"/>
              </a:spcAft>
              <a:defRPr sz="1000" b="0">
                <a:solidFill>
                  <a:srgbClr val="FFFFFF"/>
                </a:solidFill>
                <a:latin typeface="Inter"/>
              </a:defRPr>
            </a:pPr>
            <a:r>
              <a:t>#607D8B</a:t>
            </a:r>
          </a:p>
          <a:p>
            <a:pPr algn="ctr">
              <a:spcAft>
                <a:spcPts val="300"/>
              </a:spcAft>
              <a:defRPr sz="1000" b="0">
                <a:solidFill>
                  <a:srgbClr val="FFFFFF"/>
                </a:solidFill>
                <a:latin typeface="Inter"/>
              </a:defRPr>
            </a:pPr>
            <a:r>
              <a:t>Use Dark Text</a:t>
            </a:r>
          </a:p>
        </p:txBody>
      </p:sp>
      <p:cxnSp>
        <p:nvCxnSpPr>
          <p:cNvPr id="12" name="Connector 11"/>
          <p:cNvCxnSpPr/>
          <p:nvPr/>
        </p:nvCxnSpPr>
        <p:spPr>
          <a:xfrm>
            <a:off x="457200" y="5286375.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5560695"/>
            <a:ext cx="5486400" cy="731520"/>
          </a:xfrm>
          <a:prstGeom prst="rect">
            <a:avLst/>
          </a:prstGeom>
          <a:noFill/>
        </p:spPr>
        <p:txBody>
          <a:bodyPr wrap="none">
            <a:spAutoFit/>
          </a:bodyPr>
          <a:lstStyle/>
          <a:p>
            <a:pPr algn="l">
              <a:defRPr sz="2800" b="1">
                <a:solidFill>
                  <a:srgbClr val="3F51B5"/>
                </a:solidFill>
                <a:latin typeface="Source Sans Pro"/>
              </a:defRPr>
            </a:pPr>
            <a:r>
              <a:t>Secondary Colors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FFFFFF"/>
                </a:solidFill>
                <a:latin typeface="Inter"/>
              </a:defRPr>
            </a:pPr>
            <a:r>
              <a:t>Primary Color Usage</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Use for brand-critical elements:</a:t>
            </a:r>
          </a:p>
          <a:p>
            <a:pPr algn="l">
              <a:spcAft>
                <a:spcPts val="600"/>
              </a:spcAft>
              <a:defRPr sz="1400" b="0">
                <a:solidFill>
                  <a:srgbClr val="FFFFFF"/>
                </a:solidFill>
                <a:latin typeface="Inter"/>
              </a:defRPr>
            </a:pPr>
            <a:r>
              <a:t>• Logos and main brand marks</a:t>
            </a:r>
          </a:p>
          <a:p>
            <a:pPr algn="l">
              <a:spcAft>
                <a:spcPts val="600"/>
              </a:spcAft>
              <a:defRPr sz="1400" b="0">
                <a:solidFill>
                  <a:srgbClr val="FFFFFF"/>
                </a:solidFill>
                <a:latin typeface="Inter"/>
              </a:defRPr>
            </a:pPr>
            <a:r>
              <a:t>• Headlines and key text</a:t>
            </a:r>
          </a:p>
          <a:p>
            <a:pPr algn="l">
              <a:spcAft>
                <a:spcPts val="600"/>
              </a:spcAft>
              <a:defRPr sz="1400" b="0">
                <a:solidFill>
                  <a:srgbClr val="FFFFFF"/>
                </a:solidFill>
                <a:latin typeface="Inter"/>
              </a:defRPr>
            </a:pPr>
            <a:r>
              <a:t>• CTA buttons and navigation</a:t>
            </a:r>
          </a:p>
          <a:p>
            <a:pPr algn="l">
              <a:spcAft>
                <a:spcPts val="600"/>
              </a:spcAft>
              <a:defRPr sz="1400" b="0">
                <a:solidFill>
                  <a:srgbClr val="FFFFFF"/>
                </a:solidFill>
                <a:latin typeface="Inter"/>
              </a:defRPr>
            </a:pPr>
            <a:r>
              <a:t>• Hero sections</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Colors: Innovation Indigo, Integrity Slate, Entrepreneurial Emerald, Global Perspective Teal</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Best Practices:</a:t>
            </a:r>
          </a:p>
          <a:p>
            <a:pPr algn="l">
              <a:spcAft>
                <a:spcPts val="600"/>
              </a:spcAft>
              <a:defRPr sz="1400" b="0">
                <a:solidFill>
                  <a:srgbClr val="FFFFFF"/>
                </a:solidFill>
                <a:latin typeface="Inter"/>
              </a:defRPr>
            </a:pPr>
            <a:r>
              <a:t>- Maximum brand recognition</a:t>
            </a:r>
          </a:p>
          <a:p>
            <a:pPr algn="l">
              <a:spcAft>
                <a:spcPts val="600"/>
              </a:spcAft>
              <a:defRPr sz="1400" b="0">
                <a:solidFill>
                  <a:srgbClr val="FFFFFF"/>
                </a:solidFill>
                <a:latin typeface="Inter"/>
              </a:defRPr>
            </a:pPr>
            <a:r>
              <a:t>- Consistent application</a:t>
            </a:r>
          </a:p>
          <a:p>
            <a:pPr algn="l">
              <a:spcAft>
                <a:spcPts val="600"/>
              </a:spcAft>
              <a:defRPr sz="1400" b="0">
                <a:solidFill>
                  <a:srgbClr val="FFFFFF"/>
                </a:solidFill>
                <a:latin typeface="Inter"/>
              </a:defRPr>
            </a:pPr>
            <a:r>
              <a:t>- Sufficient contrast</a:t>
            </a:r>
          </a:p>
          <a:p>
            <a:pPr algn="l">
              <a:spcAft>
                <a:spcPts val="600"/>
              </a:spcAft>
              <a:defRPr sz="1400" b="0">
                <a:solidFill>
                  <a:srgbClr val="FFFFFF"/>
                </a:solidFill>
                <a:latin typeface="Inter"/>
              </a:defRPr>
            </a:pPr>
            <a:r>
              <a:t>- Accessibility compliance</a:t>
            </a:r>
          </a:p>
        </p:txBody>
      </p:sp>
      <p:cxnSp>
        <p:nvCxnSpPr>
          <p:cNvPr id="3" name="Connector 2"/>
          <p:cNvCxnSpPr/>
          <p:nvPr/>
        </p:nvCxnSpPr>
        <p:spPr>
          <a:xfrm>
            <a:off x="457200" y="5286375.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3F51B5"/>
                </a:solidFill>
                <a:latin typeface="Source Sans Pro"/>
              </a:defRPr>
            </a:pPr>
            <a:r>
              <a:t>Color Usage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FFFFFF"/>
                </a:solidFill>
                <a:latin typeface="Inter"/>
              </a:defRPr>
            </a:pPr>
            <a:r>
              <a:t>Secondary Color Usage</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Use for supporting elements:</a:t>
            </a:r>
          </a:p>
          <a:p>
            <a:pPr algn="l">
              <a:spcAft>
                <a:spcPts val="600"/>
              </a:spcAft>
              <a:defRPr sz="1400" b="0">
                <a:solidFill>
                  <a:srgbClr val="FFFFFF"/>
                </a:solidFill>
                <a:latin typeface="Inter"/>
              </a:defRPr>
            </a:pPr>
            <a:r>
              <a:t>• Backgrounds and subtle accents</a:t>
            </a:r>
          </a:p>
          <a:p>
            <a:pPr algn="l">
              <a:spcAft>
                <a:spcPts val="600"/>
              </a:spcAft>
              <a:defRPr sz="1400" b="0">
                <a:solidFill>
                  <a:srgbClr val="FFFFFF"/>
                </a:solidFill>
                <a:latin typeface="Inter"/>
              </a:defRPr>
            </a:pPr>
            <a:r>
              <a:t>• Secondary text</a:t>
            </a:r>
          </a:p>
          <a:p>
            <a:pPr algn="l">
              <a:spcAft>
                <a:spcPts val="600"/>
              </a:spcAft>
              <a:defRPr sz="1400" b="0">
                <a:solidFill>
                  <a:srgbClr val="FFFFFF"/>
                </a:solidFill>
                <a:latin typeface="Inter"/>
              </a:defRPr>
            </a:pPr>
            <a:r>
              <a:t>• Borders and dividers</a:t>
            </a:r>
          </a:p>
          <a:p>
            <a:pPr algn="l">
              <a:spcAft>
                <a:spcPts val="600"/>
              </a:spcAft>
              <a:defRPr sz="1400" b="0">
                <a:solidFill>
                  <a:srgbClr val="FFFFFF"/>
                </a:solidFill>
                <a:latin typeface="Inter"/>
              </a:defRPr>
            </a:pPr>
            <a:r>
              <a:t>• Hover states and icons</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Colors: Light Gray, Lavender, Mint Green, Amber, Slate Blue</a:t>
            </a:r>
          </a:p>
          <a:p>
            <a:pPr algn="l">
              <a:spcAft>
                <a:spcPts val="600"/>
              </a:spcAft>
              <a:defRPr sz="1400" b="0">
                <a:solidFill>
                  <a:srgbClr val="FFFFFF"/>
                </a:solidFill>
                <a:latin typeface="Inter"/>
              </a:defRPr>
            </a:pPr>
          </a:p>
          <a:p>
            <a:pPr algn="l">
              <a:spcAft>
                <a:spcPts val="600"/>
              </a:spcAft>
              <a:defRPr sz="1400" b="0">
                <a:solidFill>
                  <a:srgbClr val="FFFFFF"/>
                </a:solidFill>
                <a:latin typeface="Inter"/>
              </a:defRPr>
            </a:pPr>
            <a:r>
              <a:t>Best Practices:</a:t>
            </a:r>
          </a:p>
          <a:p>
            <a:pPr algn="l">
              <a:spcAft>
                <a:spcPts val="600"/>
              </a:spcAft>
              <a:defRPr sz="1400" b="0">
                <a:solidFill>
                  <a:srgbClr val="FFFFFF"/>
                </a:solidFill>
                <a:latin typeface="Inter"/>
              </a:defRPr>
            </a:pPr>
            <a:r>
              <a:t>- Create visual hierarchy</a:t>
            </a:r>
          </a:p>
          <a:p>
            <a:pPr algn="l">
              <a:spcAft>
                <a:spcPts val="600"/>
              </a:spcAft>
              <a:defRPr sz="1400" b="0">
                <a:solidFill>
                  <a:srgbClr val="FFFFFF"/>
                </a:solidFill>
                <a:latin typeface="Inter"/>
              </a:defRPr>
            </a:pPr>
            <a:r>
              <a:t>- Support, don't compete</a:t>
            </a:r>
          </a:p>
          <a:p>
            <a:pPr algn="l">
              <a:spcAft>
                <a:spcPts val="600"/>
              </a:spcAft>
              <a:defRPr sz="1400" b="0">
                <a:solidFill>
                  <a:srgbClr val="FFFFFF"/>
                </a:solidFill>
                <a:latin typeface="Inter"/>
              </a:defRPr>
            </a:pPr>
            <a:r>
              <a:t>- Maintain readability</a:t>
            </a:r>
          </a:p>
          <a:p>
            <a:pPr algn="l">
              <a:spcAft>
                <a:spcPts val="600"/>
              </a:spcAft>
              <a:defRPr sz="1400" b="0">
                <a:solidFill>
                  <a:srgbClr val="FFFFFF"/>
                </a:solidFill>
                <a:latin typeface="Inter"/>
              </a:defRPr>
            </a:pPr>
            <a:r>
              <a:t>- Use sparingly</a:t>
            </a:r>
          </a:p>
        </p:txBody>
      </p:sp>
      <p:cxnSp>
        <p:nvCxnSpPr>
          <p:cNvPr id="3" name="Connector 2"/>
          <p:cNvCxnSpPr/>
          <p:nvPr/>
        </p:nvCxnSpPr>
        <p:spPr>
          <a:xfrm>
            <a:off x="457200" y="5286375.0"/>
            <a:ext cx="8229600" cy="0.0"/>
          </a:xfrm>
          <a:prstGeom prst="line">
            <a:avLst/>
          </a:prstGeom>
          <a:ln w="25400">
            <a:solidFill>
              <a:srgbClr val="3F51B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3F51B5"/>
                </a:solidFill>
                <a:latin typeface="Source Sans Pro"/>
              </a:defRPr>
            </a:pPr>
            <a:r>
              <a:t>Color Usage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Source Sans Pro"/>
              </a:defRPr>
            </a:pPr>
            <a:r>
              <a:t>Typography</a:t>
            </a:r>
          </a:p>
        </p:txBody>
      </p:sp>
      <p:sp>
        <p:nvSpPr>
          <p:cNvPr id="4" name="TextBox 3"/>
          <p:cNvSpPr txBox="1"/>
          <p:nvPr/>
        </p:nvSpPr>
        <p:spPr>
          <a:xfrm>
            <a:off x="1143000" y="1943100"/>
            <a:ext cx="3429000" cy="742950"/>
          </a:xfrm>
          <a:prstGeom prst="rect">
            <a:avLst/>
          </a:prstGeom>
          <a:noFill/>
        </p:spPr>
        <p:txBody>
          <a:bodyPr wrap="none">
            <a:spAutoFit/>
          </a:bodyPr>
          <a:lstStyle/>
          <a:p>
            <a:pPr>
              <a:defRPr sz="2000" b="0">
                <a:solidFill>
                  <a:srgbClr val="FFFFFF"/>
                </a:solidFill>
                <a:latin typeface="Inter"/>
              </a:defRPr>
            </a:pPr>
            <a:r>
              <a:t>Primary Font: Source Sans Pro</a:t>
            </a:r>
          </a:p>
        </p:txBody>
      </p:sp>
      <p:sp>
        <p:nvSpPr>
          <p:cNvPr id="5" name="TextBox 4"/>
          <p:cNvSpPr txBox="1"/>
          <p:nvPr/>
        </p:nvSpPr>
        <p:spPr>
          <a:xfrm>
            <a:off x="1143000" y="2686050"/>
            <a:ext cx="3429000" cy="742950"/>
          </a:xfrm>
          <a:prstGeom prst="rect">
            <a:avLst/>
          </a:prstGeom>
          <a:noFill/>
        </p:spPr>
        <p:txBody>
          <a:bodyPr wrap="none">
            <a:spAutoFit/>
          </a:bodyPr>
          <a:lstStyle/>
          <a:p>
            <a:pPr>
              <a:defRPr sz="3200" b="1">
                <a:solidFill>
                  <a:srgbClr val="FFFFFF"/>
                </a:solidFill>
                <a:latin typeface="Source Sans Pro"/>
              </a:defRPr>
            </a:pPr>
            <a:r>
              <a:t>H1 Heading</a:t>
            </a:r>
          </a:p>
        </p:txBody>
      </p:sp>
      <p:sp>
        <p:nvSpPr>
          <p:cNvPr id="6" name="TextBox 5"/>
          <p:cNvSpPr txBox="1"/>
          <p:nvPr/>
        </p:nvSpPr>
        <p:spPr>
          <a:xfrm>
            <a:off x="1143000" y="3429000"/>
            <a:ext cx="3429000" cy="742950"/>
          </a:xfrm>
          <a:prstGeom prst="rect">
            <a:avLst/>
          </a:prstGeom>
          <a:noFill/>
        </p:spPr>
        <p:txBody>
          <a:bodyPr wrap="none">
            <a:spAutoFit/>
          </a:bodyPr>
          <a:lstStyle/>
          <a:p>
            <a:pPr>
              <a:defRPr sz="2400" b="1">
                <a:solidFill>
                  <a:srgbClr val="FFFFFF"/>
                </a:solidFill>
                <a:latin typeface="Source Sans Pro"/>
              </a:defRPr>
            </a:pPr>
            <a:r>
              <a:t>H2 Heading</a:t>
            </a:r>
          </a:p>
        </p:txBody>
      </p:sp>
      <p:sp>
        <p:nvSpPr>
          <p:cNvPr id="7" name="TextBox 6"/>
          <p:cNvSpPr txBox="1"/>
          <p:nvPr/>
        </p:nvSpPr>
        <p:spPr>
          <a:xfrm>
            <a:off x="1143000" y="4171950"/>
            <a:ext cx="3429000" cy="742950"/>
          </a:xfrm>
          <a:prstGeom prst="rect">
            <a:avLst/>
          </a:prstGeom>
          <a:noFill/>
        </p:spPr>
        <p:txBody>
          <a:bodyPr wrap="none">
            <a:spAutoFit/>
          </a:bodyPr>
          <a:lstStyle/>
          <a:p>
            <a:pPr>
              <a:defRPr sz="2000" b="0">
                <a:solidFill>
                  <a:srgbClr val="FFFFFF"/>
                </a:solidFill>
                <a:latin typeface="Source Sans Pro"/>
              </a:defRPr>
            </a:pPr>
            <a:r>
              <a:t>H3 Heading</a:t>
            </a:r>
          </a:p>
        </p:txBody>
      </p:sp>
      <p:sp>
        <p:nvSpPr>
          <p:cNvPr id="8" name="TextBox 7"/>
          <p:cNvSpPr txBox="1"/>
          <p:nvPr/>
        </p:nvSpPr>
        <p:spPr>
          <a:xfrm>
            <a:off x="5257800" y="1943100"/>
            <a:ext cx="3429000" cy="742950"/>
          </a:xfrm>
          <a:prstGeom prst="rect">
            <a:avLst/>
          </a:prstGeom>
          <a:noFill/>
        </p:spPr>
        <p:txBody>
          <a:bodyPr wrap="none">
            <a:spAutoFit/>
          </a:bodyPr>
          <a:lstStyle/>
          <a:p>
            <a:pPr>
              <a:defRPr sz="2000" b="0">
                <a:solidFill>
                  <a:srgbClr val="FFFFFF"/>
                </a:solidFill>
                <a:latin typeface="Inter"/>
              </a:defRPr>
            </a:pPr>
            <a:r>
              <a:t>Secondary Font: Inter</a:t>
            </a:r>
          </a:p>
        </p:txBody>
      </p:sp>
      <p:sp>
        <p:nvSpPr>
          <p:cNvPr id="9" name="TextBox 8"/>
          <p:cNvSpPr txBox="1"/>
          <p:nvPr/>
        </p:nvSpPr>
        <p:spPr>
          <a:xfrm>
            <a:off x="5257800" y="2686050"/>
            <a:ext cx="3429000" cy="742950"/>
          </a:xfrm>
          <a:prstGeom prst="rect">
            <a:avLst/>
          </a:prstGeom>
          <a:noFill/>
        </p:spPr>
        <p:txBody>
          <a:bodyPr wrap="none">
            <a:spAutoFit/>
          </a:bodyPr>
          <a:lstStyle/>
          <a:p>
            <a:pPr>
              <a:defRPr sz="1600" b="0">
                <a:solidFill>
                  <a:srgbClr val="FFFFFF"/>
                </a:solidFill>
                <a:latin typeface="Inter"/>
              </a:defRPr>
            </a:pPr>
            <a:r>
              <a:t>Body Text</a:t>
            </a:r>
          </a:p>
        </p:txBody>
      </p:sp>
      <p:sp>
        <p:nvSpPr>
          <p:cNvPr id="10" name="TextBox 9"/>
          <p:cNvSpPr txBox="1"/>
          <p:nvPr/>
        </p:nvSpPr>
        <p:spPr>
          <a:xfrm>
            <a:off x="5257800" y="3429000"/>
            <a:ext cx="3429000" cy="742950"/>
          </a:xfrm>
          <a:prstGeom prst="rect">
            <a:avLst/>
          </a:prstGeom>
          <a:noFill/>
        </p:spPr>
        <p:txBody>
          <a:bodyPr wrap="none">
            <a:spAutoFit/>
          </a:bodyPr>
          <a:lstStyle/>
          <a:p>
            <a:pPr>
              <a:defRPr sz="1600" b="1">
                <a:solidFill>
                  <a:srgbClr val="FFFFFF"/>
                </a:solidFill>
                <a:latin typeface="Inter"/>
              </a:defRPr>
            </a:pPr>
            <a:r>
              <a:t>Body Bold</a:t>
            </a:r>
          </a:p>
        </p:txBody>
      </p:sp>
      <p:sp>
        <p:nvSpPr>
          <p:cNvPr id="11" name="TextBox 10"/>
          <p:cNvSpPr txBox="1"/>
          <p:nvPr/>
        </p:nvSpPr>
        <p:spPr>
          <a:xfrm>
            <a:off x="5257800" y="4171950"/>
            <a:ext cx="3429000" cy="742950"/>
          </a:xfrm>
          <a:prstGeom prst="rect">
            <a:avLst/>
          </a:prstGeom>
          <a:noFill/>
        </p:spPr>
        <p:txBody>
          <a:bodyPr wrap="none">
            <a:spAutoFit/>
          </a:bodyPr>
          <a:lstStyle/>
          <a:p>
            <a:pPr>
              <a:defRPr sz="1200" b="0">
                <a:solidFill>
                  <a:srgbClr val="FFFFFF"/>
                </a:solidFill>
                <a:latin typeface="Inter"/>
              </a:defRPr>
            </a:pPr>
            <a:r>
              <a:t>Caption Text</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Inter"/>
              </a:defRPr>
            </a:pPr>
            <a:r>
              <a:t>FoForbes Media</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Inter"/>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Source Sans Pro"/>
              </a:defRPr>
            </a:pPr>
            <a:r>
              <a:t>Visual &amp; Photography Guidelines</a:t>
            </a:r>
          </a:p>
        </p:txBody>
      </p:sp>
      <p:sp>
        <p:nvSpPr>
          <p:cNvPr id="4" name="TextBox 3"/>
          <p:cNvSpPr txBox="1"/>
          <p:nvPr/>
        </p:nvSpPr>
        <p:spPr>
          <a:xfrm>
            <a:off x="1143000" y="1943100"/>
            <a:ext cx="3429000" cy="2971800"/>
          </a:xfrm>
          <a:prstGeom prst="rect">
            <a:avLst/>
          </a:prstGeom>
          <a:noFill/>
        </p:spPr>
        <p:txBody>
          <a:bodyPr wrap="square">
            <a:spAutoFit/>
          </a:bodyPr>
          <a:lstStyle/>
          <a:p>
            <a:pPr>
              <a:defRPr sz="1800" b="0">
                <a:solidFill>
                  <a:srgbClr val="FFFFFF"/>
                </a:solidFill>
                <a:latin typeface="Inter"/>
              </a:defRPr>
            </a:pPr>
            <a:r>
              <a:t>Visual Style Guidelines:</a:t>
            </a:r>
          </a:p>
          <a:p>
            <a:pPr>
              <a:defRPr sz="1400" b="0">
                <a:solidFill>
                  <a:srgbClr val="FFFFFF"/>
                </a:solidFill>
                <a:latin typeface="Inter"/>
              </a:defRPr>
            </a:pPr>
            <a:r>
              <a:t>• Visual style for FoForbes Media in Media &amp; Publishing (Business Journalism &amp; Digital Media).: Modern aesthetic</a:t>
            </a:r>
          </a:p>
          <a:p>
            <a:pPr>
              <a:defRPr sz="1400" b="0">
                <a:solidFill>
                  <a:srgbClr val="FFFFFF"/>
                </a:solidFill>
                <a:latin typeface="Inter"/>
              </a:defRPr>
            </a:pPr>
            <a:r>
              <a:t>• values: Innovation</a:t>
            </a:r>
          </a:p>
          <a:p>
            <a:pPr>
              <a:defRPr sz="1400" b="0">
                <a:solidFill>
                  <a:srgbClr val="FFFFFF"/>
                </a:solidFill>
                <a:latin typeface="Inter"/>
              </a:defRPr>
            </a:pPr>
            <a:r>
              <a:t>• Integrity</a:t>
            </a:r>
          </a:p>
          <a:p>
            <a:pPr>
              <a:defRPr sz="1400" b="0">
                <a:solidFill>
                  <a:srgbClr val="FFFFFF"/>
                </a:solidFill>
                <a:latin typeface="Inter"/>
              </a:defRPr>
            </a:pPr>
            <a:r>
              <a:t>• Entrepreneurship</a:t>
            </a:r>
          </a:p>
          <a:p>
            <a:pPr>
              <a:defRPr sz="1400" b="0">
                <a:solidFill>
                  <a:srgbClr val="FFFFFF"/>
                </a:solidFill>
                <a:latin typeface="Inter"/>
              </a:defRPr>
            </a:pPr>
            <a:r>
              <a:t>• Excellence</a:t>
            </a:r>
          </a:p>
        </p:txBody>
      </p:sp>
      <p:sp>
        <p:nvSpPr>
          <p:cNvPr id="5" name="TextBox 4"/>
          <p:cNvSpPr txBox="1"/>
          <p:nvPr/>
        </p:nvSpPr>
        <p:spPr>
          <a:xfrm>
            <a:off x="5257800" y="1943100"/>
            <a:ext cx="3429000" cy="2971800"/>
          </a:xfrm>
          <a:prstGeom prst="rect">
            <a:avLst/>
          </a:prstGeom>
          <a:noFill/>
        </p:spPr>
        <p:txBody>
          <a:bodyPr wrap="square">
            <a:spAutoFit/>
          </a:bodyPr>
          <a:lstStyle/>
          <a:p>
            <a:pPr>
              <a:defRPr sz="1800" b="0">
                <a:solidFill>
                  <a:srgbClr val="FFFFFF"/>
                </a:solidFill>
                <a:latin typeface="Inter"/>
              </a:defRPr>
            </a:pPr>
            <a:r>
              <a:t>Photography Guidelines:</a:t>
            </a:r>
          </a:p>
          <a:p>
            <a:pPr>
              <a:defRPr sz="1400" b="0">
                <a:solidFill>
                  <a:srgbClr val="FFFFFF"/>
                </a:solidFill>
                <a:latin typeface="Inter"/>
              </a:defRPr>
            </a:pPr>
            <a:r>
              <a:t>• Photography style for FoForbes Media: Modern and Media &amp; Publishing (Business Journalism &amp; Digital Media). feel. Show diversity</a:t>
            </a:r>
          </a:p>
          <a:p>
            <a:pPr>
              <a:defRPr sz="1400" b="0">
                <a:solidFill>
                  <a:srgbClr val="FFFFFF"/>
                </a:solidFill>
                <a:latin typeface="Inter"/>
              </a:defRPr>
            </a:pPr>
            <a:r>
              <a:t>• authenticity</a:t>
            </a:r>
          </a:p>
          <a:p>
            <a:pPr>
              <a:defRPr sz="1400" b="0">
                <a:solidFill>
                  <a:srgbClr val="FFFFFF"/>
                </a:solidFill>
                <a:latin typeface="Inter"/>
              </a:defRPr>
            </a:pPr>
            <a:r>
              <a:t>• and lighting that supports brand values: Innovation</a:t>
            </a:r>
          </a:p>
          <a:p>
            <a:pPr>
              <a:defRPr sz="1400" b="0">
                <a:solidFill>
                  <a:srgbClr val="FFFFFF"/>
                </a:solidFill>
                <a:latin typeface="Inter"/>
              </a:defRPr>
            </a:pPr>
            <a:r>
              <a:t>• Integrity</a:t>
            </a:r>
          </a:p>
          <a:p>
            <a:pPr>
              <a:defRPr sz="1400" b="0">
                <a:solidFill>
                  <a:srgbClr val="FFFFFF"/>
                </a:solidFill>
                <a:latin typeface="Inter"/>
              </a:defRPr>
            </a:pPr>
            <a:r>
              <a:t>• Entrepreneurship</a:t>
            </a:r>
          </a:p>
        </p:txBody>
      </p:sp>
      <p:sp>
        <p:nvSpPr>
          <p:cNvPr id="6" name="Rectangle 5"/>
          <p:cNvSpPr/>
          <p:nvPr/>
        </p:nvSpPr>
        <p:spPr>
          <a:xfrm>
            <a:off x="52578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5162550"/>
            <a:ext cx="685800" cy="247650"/>
          </a:xfrm>
          <a:prstGeom prst="rect">
            <a:avLst/>
          </a:prstGeom>
          <a:noFill/>
        </p:spPr>
        <p:txBody>
          <a:bodyPr wrap="none">
            <a:spAutoFit/>
          </a:bodyPr>
          <a:lstStyle/>
          <a:p>
            <a:pPr algn="ctr">
              <a:defRPr sz="800" b="0">
                <a:solidFill>
                  <a:srgbClr val="FFFFFF"/>
                </a:solidFill>
                <a:latin typeface="Inter"/>
              </a:defRPr>
            </a:pPr>
            <a:r>
              <a:t>Example</a:t>
            </a:r>
          </a:p>
        </p:txBody>
      </p:sp>
      <p:sp>
        <p:nvSpPr>
          <p:cNvPr id="8" name="Rectangle 7"/>
          <p:cNvSpPr/>
          <p:nvPr/>
        </p:nvSpPr>
        <p:spPr>
          <a:xfrm>
            <a:off x="66294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5162550"/>
            <a:ext cx="685800" cy="247650"/>
          </a:xfrm>
          <a:prstGeom prst="rect">
            <a:avLst/>
          </a:prstGeom>
          <a:noFill/>
        </p:spPr>
        <p:txBody>
          <a:bodyPr wrap="none">
            <a:spAutoFit/>
          </a:bodyPr>
          <a:lstStyle/>
          <a:p>
            <a:pPr algn="ctr">
              <a:defRPr sz="800" b="0">
                <a:solidFill>
                  <a:srgbClr val="FFFFFF"/>
                </a:solidFill>
                <a:latin typeface="Inter"/>
              </a:defRPr>
            </a:pPr>
            <a:r>
              <a:t>Example</a:t>
            </a:r>
          </a:p>
        </p:txBody>
      </p:sp>
      <p:sp>
        <p:nvSpPr>
          <p:cNvPr id="10" name="Rectangle 9"/>
          <p:cNvSpPr/>
          <p:nvPr/>
        </p:nvSpPr>
        <p:spPr>
          <a:xfrm>
            <a:off x="80010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5162550"/>
            <a:ext cx="685800" cy="247650"/>
          </a:xfrm>
          <a:prstGeom prst="rect">
            <a:avLst/>
          </a:prstGeom>
          <a:noFill/>
        </p:spPr>
        <p:txBody>
          <a:bodyPr wrap="none">
            <a:spAutoFit/>
          </a:bodyPr>
          <a:lstStyle/>
          <a:p>
            <a:pPr algn="ctr">
              <a:defRPr sz="800" b="0">
                <a:solidFill>
                  <a:srgbClr val="FFFFFF"/>
                </a:solidFill>
                <a:latin typeface="Inter"/>
              </a:defRPr>
            </a:pPr>
            <a:r>
              <a:t>Example</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Inter"/>
              </a:defRPr>
            </a:pPr>
            <a:r>
              <a:t>FoForbes Media</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Inter"/>
              </a:defRPr>
            </a:pPr>
            <a: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