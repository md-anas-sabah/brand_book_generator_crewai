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marqait_logo_1_20250901_175124_99e2982e.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6C5B7B"/>
                </a:solidFill>
                <a:latin typeface="Inter"/>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6C5B7B"/>
                </a:solidFill>
                <a:latin typeface="Source Sans Pro"/>
              </a:defRPr>
            </a:pPr>
            <a:r>
              <a:t>INDEX</a:t>
            </a:r>
          </a:p>
        </p:txBody>
      </p:sp>
      <p:cxnSp>
        <p:nvCxnSpPr>
          <p:cNvPr id="3" name="Connector 2"/>
          <p:cNvCxnSpPr/>
          <p:nvPr/>
        </p:nvCxnSpPr>
        <p:spPr>
          <a:xfrm>
            <a:off x="457200" y="1097280"/>
            <a:ext cx="8229600" cy="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000000"/>
                </a:solidFill>
                <a:latin typeface="Inter"/>
              </a:defRPr>
            </a:pPr>
            <a:r>
              <a:t>Introduction</a:t>
            </a:r>
          </a:p>
        </p:txBody>
      </p:sp>
      <p:cxnSp>
        <p:nvCxnSpPr>
          <p:cNvPr id="5" name="Connector 4"/>
          <p:cNvCxnSpPr/>
          <p:nvPr/>
        </p:nvCxnSpPr>
        <p:spPr>
          <a:xfrm>
            <a:off x="2331719" y="166420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6C5B7B"/>
                </a:solidFill>
                <a:latin typeface="Inter"/>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000000"/>
                </a:solidFill>
                <a:latin typeface="Inter"/>
              </a:defRPr>
            </a:pPr>
            <a:r>
              <a:t>Brand Purpose (Vision)</a:t>
            </a:r>
          </a:p>
        </p:txBody>
      </p:sp>
      <p:cxnSp>
        <p:nvCxnSpPr>
          <p:cNvPr id="8" name="Connector 7"/>
          <p:cNvCxnSpPr/>
          <p:nvPr/>
        </p:nvCxnSpPr>
        <p:spPr>
          <a:xfrm>
            <a:off x="2331719" y="216712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6C5B7B"/>
                </a:solidFill>
                <a:latin typeface="Inter"/>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000000"/>
                </a:solidFill>
                <a:latin typeface="Inter"/>
              </a:defRPr>
            </a:pPr>
            <a:r>
              <a:t>Brand Purpose (Mission)</a:t>
            </a:r>
          </a:p>
        </p:txBody>
      </p:sp>
      <p:cxnSp>
        <p:nvCxnSpPr>
          <p:cNvPr id="11" name="Connector 10"/>
          <p:cNvCxnSpPr/>
          <p:nvPr/>
        </p:nvCxnSpPr>
        <p:spPr>
          <a:xfrm>
            <a:off x="2331719" y="267004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6C5B7B"/>
                </a:solidFill>
                <a:latin typeface="Inter"/>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000000"/>
                </a:solidFill>
                <a:latin typeface="Inter"/>
              </a:defRPr>
            </a:pPr>
            <a:r>
              <a:t>Brand Purpose (Values)</a:t>
            </a:r>
          </a:p>
        </p:txBody>
      </p:sp>
      <p:cxnSp>
        <p:nvCxnSpPr>
          <p:cNvPr id="14" name="Connector 13"/>
          <p:cNvCxnSpPr/>
          <p:nvPr/>
        </p:nvCxnSpPr>
        <p:spPr>
          <a:xfrm>
            <a:off x="5349239" y="166420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6C5B7B"/>
                </a:solidFill>
                <a:latin typeface="Inter"/>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000000"/>
                </a:solidFill>
                <a:latin typeface="Inter"/>
              </a:defRPr>
            </a:pPr>
            <a:r>
              <a:t>Brand Story</a:t>
            </a:r>
          </a:p>
        </p:txBody>
      </p:sp>
      <p:cxnSp>
        <p:nvCxnSpPr>
          <p:cNvPr id="17" name="Connector 16"/>
          <p:cNvCxnSpPr/>
          <p:nvPr/>
        </p:nvCxnSpPr>
        <p:spPr>
          <a:xfrm>
            <a:off x="5349239" y="216712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6C5B7B"/>
                </a:solidFill>
                <a:latin typeface="Inter"/>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000000"/>
                </a:solidFill>
                <a:latin typeface="Inter"/>
              </a:defRPr>
            </a:pPr>
            <a:r>
              <a:t>Logo Variations</a:t>
            </a:r>
          </a:p>
        </p:txBody>
      </p:sp>
      <p:cxnSp>
        <p:nvCxnSpPr>
          <p:cNvPr id="20" name="Connector 19"/>
          <p:cNvCxnSpPr/>
          <p:nvPr/>
        </p:nvCxnSpPr>
        <p:spPr>
          <a:xfrm>
            <a:off x="5349239" y="267004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6C5B7B"/>
                </a:solidFill>
                <a:latin typeface="Inter"/>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Inter"/>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Inter"/>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Inter"/>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000000"/>
                </a:solidFill>
                <a:latin typeface="Inter"/>
              </a:defRPr>
            </a:pPr>
            <a:r>
              <a:t>Brand Colors</a:t>
            </a:r>
          </a:p>
        </p:txBody>
      </p:sp>
      <p:cxnSp>
        <p:nvCxnSpPr>
          <p:cNvPr id="26" name="Connector 25"/>
          <p:cNvCxnSpPr/>
          <p:nvPr/>
        </p:nvCxnSpPr>
        <p:spPr>
          <a:xfrm>
            <a:off x="8366759" y="166420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6C5B7B"/>
                </a:solidFill>
                <a:latin typeface="Inter"/>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Inter"/>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Inter"/>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Inter"/>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CCCCCC"/>
                </a:solidFill>
                <a:latin typeface="Inter"/>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000000"/>
                </a:solidFill>
                <a:latin typeface="Inter"/>
              </a:defRPr>
            </a:pPr>
            <a:r>
              <a:t>Typography</a:t>
            </a:r>
          </a:p>
        </p:txBody>
      </p:sp>
      <p:cxnSp>
        <p:nvCxnSpPr>
          <p:cNvPr id="33" name="Connector 32"/>
          <p:cNvCxnSpPr/>
          <p:nvPr/>
        </p:nvCxnSpPr>
        <p:spPr>
          <a:xfrm>
            <a:off x="8366759" y="308152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6C5B7B"/>
                </a:solidFill>
                <a:latin typeface="Inter"/>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Inter"/>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Inter"/>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CCCCCC"/>
                </a:solidFill>
                <a:latin typeface="Inter"/>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000000"/>
                </a:solidFill>
                <a:latin typeface="Inter"/>
              </a:defRPr>
            </a:pPr>
            <a:r>
              <a:t>Imagery &amp; Visuals</a:t>
            </a:r>
          </a:p>
        </p:txBody>
      </p:sp>
      <p:cxnSp>
        <p:nvCxnSpPr>
          <p:cNvPr id="39" name="Connector 38"/>
          <p:cNvCxnSpPr/>
          <p:nvPr/>
        </p:nvCxnSpPr>
        <p:spPr>
          <a:xfrm>
            <a:off x="8366759" y="4270248"/>
            <a:ext cx="365760" cy="0"/>
          </a:xfrm>
          <a:prstGeom prst="line">
            <a:avLst/>
          </a:prstGeom>
          <a:ln w="19050">
            <a:solidFill>
              <a:srgbClr val="6C5B7B"/>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6C5B7B"/>
                </a:solidFill>
                <a:latin typeface="Inter"/>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CCCCCC"/>
                </a:solidFill>
                <a:latin typeface="Inter"/>
              </a:defRPr>
            </a:pPr>
            <a:r>
              <a:t>Iconography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CCCCCC"/>
                </a:solidFill>
                <a:latin typeface="Inter"/>
              </a:defRPr>
            </a:pPr>
            <a:r>
              <a:t>Illustrations</a:t>
            </a:r>
          </a:p>
        </p:txBody>
      </p:sp>
      <p:sp>
        <p:nvSpPr>
          <p:cNvPr id="43" name="TextBox 42"/>
          <p:cNvSpPr txBox="1"/>
          <p:nvPr/>
        </p:nvSpPr>
        <p:spPr>
          <a:xfrm>
            <a:off x="6675120" y="4983480"/>
            <a:ext cx="1828800" cy="228600"/>
          </a:xfrm>
          <a:prstGeom prst="rect">
            <a:avLst/>
          </a:prstGeom>
          <a:noFill/>
        </p:spPr>
        <p:txBody>
          <a:bodyPr wrap="none" lIns="0" tIns="0" bIns="0">
            <a:spAutoFit/>
          </a:bodyPr>
          <a:lstStyle/>
          <a:p>
            <a:pPr>
              <a:defRPr sz="900" b="0">
                <a:solidFill>
                  <a:srgbClr val="CCCCCC"/>
                </a:solidFill>
                <a:latin typeface="Inter"/>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Discover MARQAIT, where cutting-edge AI marketing automation meets intuitive simplicity. Our comprehensive brand identity system delivers a powerful, internationally recognized presence that resonates across digital landscapes. Built on the pillars of accessibility, empowerment, agility, and measurable results, MARQAIT transforms how startups, growing businesses, and marketing teams harness AI-powered technology. We've crafted a distinctive and consistent brand experience that stands out in the MarTech ecosystem, empowering modern businesses to achieve their marketing goals with unprecedented efficiency and precision.</a:t>
            </a:r>
          </a:p>
        </p:txBody>
      </p:sp>
      <p:cxnSp>
        <p:nvCxnSpPr>
          <p:cNvPr id="3" name="Connector 2"/>
          <p:cNvCxnSpPr/>
          <p:nvPr/>
        </p:nvCxnSpPr>
        <p:spPr>
          <a:xfrm>
            <a:off x="457200" y="4914900.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6C5B7B"/>
                </a:solidFill>
                <a:latin typeface="Source Sans Pro"/>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MARQAIT's vision is to revolutionize the marketing landscape by empowering Startups, Small-to-mid-sized businesses, Marketing teams, Entrepreneurs, and Digital brands with cutting-edge AI-Powered Marketing Automation solutions. Our ultimate goal is to drive unparalleled success and growth for our clients, setting new benchmarks in the industry through innovation and forward-thinking strategies.</a:t>
            </a:r>
          </a:p>
        </p:txBody>
      </p:sp>
      <p:cxnSp>
        <p:nvCxnSpPr>
          <p:cNvPr id="3" name="Connector 2"/>
          <p:cNvCxnSpPr/>
          <p:nvPr/>
        </p:nvCxnSpPr>
        <p:spPr>
          <a:xfrm>
            <a:off x="457200" y="4914900.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6C5B7B"/>
                </a:solidFill>
                <a:latin typeface="Source Sans Pro"/>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At MARQAIT, we are dedicated to providing tailored AI-Powered Marketing Automation Platform solutions that simplify complex marketing processes, enhance user experiences, and deliver measurable results. Our mission is to enable Startups, Small-to-mid-sized businesses, Marketing teams, Entrepreneurs, and Digital brands to harness the power of AI-driven strategies to achieve their marketing goals effectively and efficiently.</a:t>
            </a:r>
          </a:p>
        </p:txBody>
      </p:sp>
      <p:cxnSp>
        <p:nvCxnSpPr>
          <p:cNvPr id="3" name="Connector 2"/>
          <p:cNvCxnSpPr/>
          <p:nvPr/>
        </p:nvCxnSpPr>
        <p:spPr>
          <a:xfrm>
            <a:off x="457200" y="4914900.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6C5B7B"/>
                </a:solidFill>
                <a:latin typeface="Source Sans Pro"/>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In every aspect of our work, we embody the core values of Innovation, Simplicity, AI-Driven Strategy, Accessibility, Empowerment, Agility, and Results. We innovate relentlessly to stay at the forefront of technology, simplify intricate processes for seamless user experiences, and empower our clients with accessible tools that drive tangible results. Our AI-driven strategies reflect our commitment to agility and delivering measurable outcomes, ensuring that every interaction with MARQAIT is a step towards success.</a:t>
            </a:r>
          </a:p>
        </p:txBody>
      </p:sp>
      <p:cxnSp>
        <p:nvCxnSpPr>
          <p:cNvPr id="3" name="Connector 2"/>
          <p:cNvCxnSpPr/>
          <p:nvPr/>
        </p:nvCxnSpPr>
        <p:spPr>
          <a:xfrm>
            <a:off x="457200" y="4914900.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6C5B7B"/>
                </a:solidFill>
                <a:latin typeface="Source Sans Pro"/>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In a world where digital marketing is the heartbeat of success, there exists a beacon of innovation and empowerment – MARQAIT. Born from the minds of visionary entrepreneurs and seasoned marketing experts, MARQAIT stands as a testament to the power of AI-driven strategy in transforming the way businesses connect with their audiences. Imagine a world where startups, small-to-mid-sized businesses, and ambitious entrepreneurs could harness the power of cutting-edge technology to elevate their marketing efforts. This is where MARQAIT steps in, offering a revolutionary AI-Powered Marketing Automation Platform that redefines the rules of engagement in the digital landscape.</a:t>
            </a:r>
          </a:p>
        </p:txBody>
      </p:sp>
      <p:cxnSp>
        <p:nvCxnSpPr>
          <p:cNvPr id="3" name="Connector 2"/>
          <p:cNvCxnSpPr/>
          <p:nvPr/>
        </p:nvCxnSpPr>
        <p:spPr>
          <a:xfrm>
            <a:off x="457200" y="4914900.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6C5B7B"/>
                </a:solidFill>
                <a:latin typeface="Source Sans Pro"/>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At the core of MARQAIT's mission lies a commitment to simplicity and accessibility. We believe that every business, regardless of size or budget, deserves the opportunity to thrive in the digital sphere. Our platform is designed to empower marketing teams and digital brands with the tools they need to succeed, without the complexity and exorbitant costs often associated with traditional marketing solutions. MARQAIT is more than just a platform – it's a partner in your journey towards success. Our team of AI experts and industry veterans are dedicated to providing unparalleled support and guidance, ensuring that our clients achieve tangible results and unlock...</a:t>
            </a:r>
          </a:p>
        </p:txBody>
      </p:sp>
      <p:cxnSp>
        <p:nvCxnSpPr>
          <p:cNvPr id="3" name="Connector 2"/>
          <p:cNvCxnSpPr/>
          <p:nvPr/>
        </p:nvCxnSpPr>
        <p:spPr>
          <a:xfrm>
            <a:off x="457200" y="4914900.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6C5B7B"/>
                </a:solidFill>
                <a:latin typeface="Source Sans Pro"/>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marqait_logo_1_20250901_175124_99e2982e.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Inter"/>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6C5B7B"/>
                </a:solidFill>
                <a:latin typeface="Source Sans Pro"/>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marqait_logo_2_20250901_175142_9467e435.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Inter"/>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6C5B7B"/>
                </a:solidFill>
                <a:latin typeface="Source Sans Pro"/>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marqait_logo_3_20250901_175156_b1bec7f6.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Inter"/>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6C5B7B"/>
                </a:solidFill>
                <a:latin typeface="Source Sans Pro"/>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6C5B7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Inter"/>
              </a:defRPr>
            </a:pPr>
            <a:r>
              <a:t>Innovation Purple</a:t>
            </a:r>
          </a:p>
          <a:p>
            <a:pPr algn="l">
              <a:spcAft>
                <a:spcPts val="300"/>
              </a:spcAft>
              <a:defRPr sz="1000" b="0">
                <a:solidFill>
                  <a:srgbClr val="000000"/>
                </a:solidFill>
                <a:latin typeface="Inter"/>
              </a:defRPr>
            </a:pPr>
            <a:r>
              <a:t>#6C5B7B</a:t>
            </a:r>
          </a:p>
          <a:p>
            <a:pPr algn="l">
              <a:spcAft>
                <a:spcPts val="300"/>
              </a:spcAft>
              <a:defRPr sz="1000" b="0">
                <a:solidFill>
                  <a:srgbClr val="000000"/>
                </a:solidFill>
                <a:latin typeface="Inter"/>
              </a:defRPr>
            </a:pPr>
            <a:r>
              <a:t>RGB(108, 91, 123)</a:t>
            </a:r>
          </a:p>
          <a:p>
            <a:pPr algn="l">
              <a:spcAft>
                <a:spcPts val="300"/>
              </a:spcAft>
              <a:defRPr sz="1000" b="0">
                <a:solidFill>
                  <a:srgbClr val="000000"/>
                </a:solidFill>
                <a:latin typeface="Inter"/>
              </a:defRPr>
            </a:pPr>
            <a:r>
              <a:t>CMYK(12, 26, 0, 51)</a:t>
            </a:r>
          </a:p>
          <a:p>
            <a:pPr algn="l">
              <a:spcAft>
                <a:spcPts val="300"/>
              </a:spcAft>
              <a:defRPr sz="1000" b="0">
                <a:solidFill>
                  <a:srgbClr val="000000"/>
                </a:solidFill>
                <a:latin typeface="Inter"/>
              </a:defRPr>
            </a:pPr>
            <a:r>
              <a:t>Use Light Text</a:t>
            </a:r>
          </a:p>
        </p:txBody>
      </p:sp>
      <p:sp>
        <p:nvSpPr>
          <p:cNvPr id="4" name="Rectangle 3"/>
          <p:cNvSpPr/>
          <p:nvPr/>
        </p:nvSpPr>
        <p:spPr>
          <a:xfrm>
            <a:off x="4572000" y="1645920"/>
            <a:ext cx="1828800" cy="1371600"/>
          </a:xfrm>
          <a:prstGeom prst="rect">
            <a:avLst/>
          </a:prstGeom>
          <a:solidFill>
            <a:srgbClr val="4A9363"/>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Inter"/>
              </a:defRPr>
            </a:pPr>
            <a:r>
              <a:t>Empowerment Green</a:t>
            </a:r>
          </a:p>
          <a:p>
            <a:pPr algn="l">
              <a:spcAft>
                <a:spcPts val="300"/>
              </a:spcAft>
              <a:defRPr sz="1000" b="0">
                <a:solidFill>
                  <a:srgbClr val="000000"/>
                </a:solidFill>
                <a:latin typeface="Inter"/>
              </a:defRPr>
            </a:pPr>
            <a:r>
              <a:t>#4A9363</a:t>
            </a:r>
          </a:p>
          <a:p>
            <a:pPr algn="l">
              <a:spcAft>
                <a:spcPts val="300"/>
              </a:spcAft>
              <a:defRPr sz="1000" b="0">
                <a:solidFill>
                  <a:srgbClr val="000000"/>
                </a:solidFill>
                <a:latin typeface="Inter"/>
              </a:defRPr>
            </a:pPr>
            <a:r>
              <a:t>RGB(74, 147, 99)</a:t>
            </a:r>
          </a:p>
          <a:p>
            <a:pPr algn="l">
              <a:spcAft>
                <a:spcPts val="300"/>
              </a:spcAft>
              <a:defRPr sz="1000" b="0">
                <a:solidFill>
                  <a:srgbClr val="000000"/>
                </a:solidFill>
                <a:latin typeface="Inter"/>
              </a:defRPr>
            </a:pPr>
            <a:r>
              <a:t>CMYK(49, 0, 32, 42)</a:t>
            </a:r>
          </a:p>
          <a:p>
            <a:pPr algn="l">
              <a:spcAft>
                <a:spcPts val="300"/>
              </a:spcAft>
              <a:defRPr sz="1000" b="0">
                <a:solidFill>
                  <a:srgbClr val="000000"/>
                </a:solidFill>
                <a:latin typeface="Inter"/>
              </a:defRPr>
            </a:pPr>
            <a:r>
              <a:t>Use Dark Text</a:t>
            </a:r>
          </a:p>
        </p:txBody>
      </p:sp>
      <p:sp>
        <p:nvSpPr>
          <p:cNvPr id="6" name="Rectangle 5"/>
          <p:cNvSpPr/>
          <p:nvPr/>
        </p:nvSpPr>
        <p:spPr>
          <a:xfrm>
            <a:off x="1143000" y="3726180"/>
            <a:ext cx="1828800" cy="1371600"/>
          </a:xfrm>
          <a:prstGeom prst="rect">
            <a:avLst/>
          </a:prstGeom>
          <a:solidFill>
            <a:srgbClr val="FFD16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Inter"/>
              </a:defRPr>
            </a:pPr>
            <a:r>
              <a:t>Agility Yellow</a:t>
            </a:r>
          </a:p>
          <a:p>
            <a:pPr algn="l">
              <a:spcAft>
                <a:spcPts val="300"/>
              </a:spcAft>
              <a:defRPr sz="1000" b="0">
                <a:solidFill>
                  <a:srgbClr val="000000"/>
                </a:solidFill>
                <a:latin typeface="Inter"/>
              </a:defRPr>
            </a:pPr>
            <a:r>
              <a:t>#FFD166</a:t>
            </a:r>
          </a:p>
          <a:p>
            <a:pPr algn="l">
              <a:spcAft>
                <a:spcPts val="300"/>
              </a:spcAft>
              <a:defRPr sz="1000" b="0">
                <a:solidFill>
                  <a:srgbClr val="000000"/>
                </a:solidFill>
                <a:latin typeface="Inter"/>
              </a:defRPr>
            </a:pPr>
            <a:r>
              <a:t>RGB(255, 209, 102)</a:t>
            </a:r>
          </a:p>
          <a:p>
            <a:pPr algn="l">
              <a:spcAft>
                <a:spcPts val="300"/>
              </a:spcAft>
              <a:defRPr sz="1000" b="0">
                <a:solidFill>
                  <a:srgbClr val="000000"/>
                </a:solidFill>
                <a:latin typeface="Inter"/>
              </a:defRPr>
            </a:pPr>
            <a:r>
              <a:t>CMYK(0, 18, 60, 0)</a:t>
            </a:r>
          </a:p>
          <a:p>
            <a:pPr algn="l">
              <a:spcAft>
                <a:spcPts val="300"/>
              </a:spcAft>
              <a:defRPr sz="1000" b="0">
                <a:solidFill>
                  <a:srgbClr val="000000"/>
                </a:solidFill>
                <a:latin typeface="Inter"/>
              </a:defRPr>
            </a:pPr>
            <a:r>
              <a:t>Use Dark Text</a:t>
            </a:r>
          </a:p>
        </p:txBody>
      </p:sp>
      <p:sp>
        <p:nvSpPr>
          <p:cNvPr id="8" name="Rectangle 7"/>
          <p:cNvSpPr/>
          <p:nvPr/>
        </p:nvSpPr>
        <p:spPr>
          <a:xfrm>
            <a:off x="4572000" y="3726180"/>
            <a:ext cx="1828800" cy="1371600"/>
          </a:xfrm>
          <a:prstGeom prst="rect">
            <a:avLst/>
          </a:prstGeom>
          <a:solidFill>
            <a:srgbClr val="A5A58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Inter"/>
              </a:defRPr>
            </a:pPr>
            <a:r>
              <a:t>Simplicity Gray</a:t>
            </a:r>
          </a:p>
          <a:p>
            <a:pPr algn="l">
              <a:spcAft>
                <a:spcPts val="300"/>
              </a:spcAft>
              <a:defRPr sz="1000" b="0">
                <a:solidFill>
                  <a:srgbClr val="000000"/>
                </a:solidFill>
                <a:latin typeface="Inter"/>
              </a:defRPr>
            </a:pPr>
            <a:r>
              <a:t>#A5A58D</a:t>
            </a:r>
          </a:p>
          <a:p>
            <a:pPr algn="l">
              <a:spcAft>
                <a:spcPts val="300"/>
              </a:spcAft>
              <a:defRPr sz="1000" b="0">
                <a:solidFill>
                  <a:srgbClr val="000000"/>
                </a:solidFill>
                <a:latin typeface="Inter"/>
              </a:defRPr>
            </a:pPr>
            <a:r>
              <a:t>RGB(165, 165, 141)</a:t>
            </a:r>
          </a:p>
          <a:p>
            <a:pPr algn="l">
              <a:spcAft>
                <a:spcPts val="300"/>
              </a:spcAft>
              <a:defRPr sz="1000" b="0">
                <a:solidFill>
                  <a:srgbClr val="000000"/>
                </a:solidFill>
                <a:latin typeface="Inter"/>
              </a:defRPr>
            </a:pPr>
            <a:r>
              <a:t>CMYK(0, 0, 14, 35)</a:t>
            </a:r>
          </a:p>
          <a:p>
            <a:pPr algn="l">
              <a:spcAft>
                <a:spcPts val="300"/>
              </a:spcAft>
              <a:defRPr sz="1000" b="0">
                <a:solidFill>
                  <a:srgbClr val="000000"/>
                </a:solidFill>
                <a:latin typeface="Inter"/>
              </a:defRPr>
            </a:pPr>
            <a:r>
              <a:t>Use Dark Text</a:t>
            </a:r>
          </a:p>
        </p:txBody>
      </p:sp>
      <p:cxnSp>
        <p:nvCxnSpPr>
          <p:cNvPr id="10" name="Connector 9"/>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5560695"/>
            <a:ext cx="5486400" cy="731520"/>
          </a:xfrm>
          <a:prstGeom prst="rect">
            <a:avLst/>
          </a:prstGeom>
          <a:noFill/>
        </p:spPr>
        <p:txBody>
          <a:bodyPr wrap="none">
            <a:spAutoFit/>
          </a:bodyPr>
          <a:lstStyle/>
          <a:p>
            <a:pPr algn="l">
              <a:defRPr sz="2800" b="1">
                <a:solidFill>
                  <a:srgbClr val="6C5B7B"/>
                </a:solidFill>
                <a:latin typeface="Source Sans Pro"/>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A992B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Soft Lilac</a:t>
            </a:r>
          </a:p>
          <a:p>
            <a:pPr algn="ctr">
              <a:spcAft>
                <a:spcPts val="300"/>
              </a:spcAft>
              <a:defRPr sz="1000" b="0">
                <a:solidFill>
                  <a:srgbClr val="000000"/>
                </a:solidFill>
                <a:latin typeface="Inter"/>
              </a:defRPr>
            </a:pPr>
            <a:r>
              <a:t>#A992B9</a:t>
            </a:r>
          </a:p>
          <a:p>
            <a:pPr algn="ctr">
              <a:spcAft>
                <a:spcPts val="300"/>
              </a:spcAft>
              <a:defRPr sz="1000" b="0">
                <a:solidFill>
                  <a:srgbClr val="000000"/>
                </a:solidFill>
                <a:latin typeface="Inter"/>
              </a:defRPr>
            </a:pPr>
            <a:r>
              <a:t>Use Dark Text</a:t>
            </a:r>
          </a:p>
        </p:txBody>
      </p:sp>
      <p:sp>
        <p:nvSpPr>
          <p:cNvPr id="4" name="Rectangle 3"/>
          <p:cNvSpPr/>
          <p:nvPr/>
        </p:nvSpPr>
        <p:spPr>
          <a:xfrm>
            <a:off x="3200400" y="1571625"/>
            <a:ext cx="1828800" cy="914400"/>
          </a:xfrm>
          <a:prstGeom prst="rect">
            <a:avLst/>
          </a:prstGeom>
          <a:solidFill>
            <a:srgbClr val="6E985E"/>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Moss Green</a:t>
            </a:r>
          </a:p>
          <a:p>
            <a:pPr algn="ctr">
              <a:spcAft>
                <a:spcPts val="300"/>
              </a:spcAft>
              <a:defRPr sz="1000" b="0">
                <a:solidFill>
                  <a:srgbClr val="000000"/>
                </a:solidFill>
                <a:latin typeface="Inter"/>
              </a:defRPr>
            </a:pPr>
            <a:r>
              <a:t>#6E985E</a:t>
            </a:r>
          </a:p>
          <a:p>
            <a:pPr algn="ctr">
              <a:spcAft>
                <a:spcPts val="300"/>
              </a:spcAft>
              <a:defRPr sz="1000" b="0">
                <a:solidFill>
                  <a:srgbClr val="000000"/>
                </a:solidFill>
                <a:latin typeface="Inter"/>
              </a:defRPr>
            </a:pPr>
            <a:r>
              <a:t>Use Dark Text</a:t>
            </a:r>
          </a:p>
        </p:txBody>
      </p:sp>
      <p:sp>
        <p:nvSpPr>
          <p:cNvPr id="6" name="Rectangle 5"/>
          <p:cNvSpPr/>
          <p:nvPr/>
        </p:nvSpPr>
        <p:spPr>
          <a:xfrm>
            <a:off x="5257800" y="1571625"/>
            <a:ext cx="1828800" cy="914400"/>
          </a:xfrm>
          <a:prstGeom prst="rect">
            <a:avLst/>
          </a:prstGeom>
          <a:solidFill>
            <a:srgbClr val="FFC857"/>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Sunflower Yellow</a:t>
            </a:r>
          </a:p>
          <a:p>
            <a:pPr algn="ctr">
              <a:spcAft>
                <a:spcPts val="300"/>
              </a:spcAft>
              <a:defRPr sz="1000" b="0">
                <a:solidFill>
                  <a:srgbClr val="000000"/>
                </a:solidFill>
                <a:latin typeface="Inter"/>
              </a:defRPr>
            </a:pPr>
            <a:r>
              <a:t>#FFC857</a:t>
            </a:r>
          </a:p>
          <a:p>
            <a:pPr algn="ctr">
              <a:spcAft>
                <a:spcPts val="300"/>
              </a:spcAft>
              <a:defRPr sz="1000" b="0">
                <a:solidFill>
                  <a:srgbClr val="000000"/>
                </a:solidFill>
                <a:latin typeface="Inter"/>
              </a:defRPr>
            </a:pPr>
            <a:r>
              <a:t>Use Dark Text</a:t>
            </a:r>
          </a:p>
        </p:txBody>
      </p:sp>
      <p:sp>
        <p:nvSpPr>
          <p:cNvPr id="8" name="Rectangle 7"/>
          <p:cNvSpPr/>
          <p:nvPr/>
        </p:nvSpPr>
        <p:spPr>
          <a:xfrm>
            <a:off x="2171700" y="3429000"/>
            <a:ext cx="1828800" cy="914400"/>
          </a:xfrm>
          <a:prstGeom prst="rect">
            <a:avLst/>
          </a:prstGeom>
          <a:solidFill>
            <a:srgbClr val="5A6D8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Slate Blue</a:t>
            </a:r>
          </a:p>
          <a:p>
            <a:pPr algn="ctr">
              <a:spcAft>
                <a:spcPts val="300"/>
              </a:spcAft>
              <a:defRPr sz="1000" b="0">
                <a:solidFill>
                  <a:srgbClr val="000000"/>
                </a:solidFill>
                <a:latin typeface="Inter"/>
              </a:defRPr>
            </a:pPr>
            <a:r>
              <a:t>#5A6D8D</a:t>
            </a:r>
          </a:p>
          <a:p>
            <a:pPr algn="ctr">
              <a:spcAft>
                <a:spcPts val="300"/>
              </a:spcAft>
              <a:defRPr sz="1000" b="0">
                <a:solidFill>
                  <a:srgbClr val="000000"/>
                </a:solidFill>
                <a:latin typeface="Inter"/>
              </a:defRPr>
            </a:pPr>
            <a:r>
              <a:t>Use Light Text</a:t>
            </a:r>
          </a:p>
        </p:txBody>
      </p:sp>
      <p:sp>
        <p:nvSpPr>
          <p:cNvPr id="10" name="Rectangle 9"/>
          <p:cNvSpPr/>
          <p:nvPr/>
        </p:nvSpPr>
        <p:spPr>
          <a:xfrm>
            <a:off x="4229100" y="3429000"/>
            <a:ext cx="1828800" cy="914400"/>
          </a:xfrm>
          <a:prstGeom prst="rect">
            <a:avLst/>
          </a:prstGeom>
          <a:solidFill>
            <a:srgbClr val="B07B85"/>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Inter"/>
              </a:defRPr>
            </a:pPr>
            <a:r>
              <a:t>Dusty Rose</a:t>
            </a:r>
          </a:p>
          <a:p>
            <a:pPr algn="ctr">
              <a:spcAft>
                <a:spcPts val="300"/>
              </a:spcAft>
              <a:defRPr sz="1000" b="0">
                <a:solidFill>
                  <a:srgbClr val="000000"/>
                </a:solidFill>
                <a:latin typeface="Inter"/>
              </a:defRPr>
            </a:pPr>
            <a:r>
              <a:t>#B07B85</a:t>
            </a:r>
          </a:p>
          <a:p>
            <a:pPr algn="ctr">
              <a:spcAft>
                <a:spcPts val="300"/>
              </a:spcAft>
              <a:defRPr sz="1000" b="0">
                <a:solidFill>
                  <a:srgbClr val="000000"/>
                </a:solidFill>
                <a:latin typeface="Inter"/>
              </a:defRPr>
            </a:pPr>
            <a:r>
              <a:t>Use Dark Text</a:t>
            </a:r>
          </a:p>
        </p:txBody>
      </p:sp>
      <p:cxnSp>
        <p:nvCxnSpPr>
          <p:cNvPr id="12" name="Connector 11"/>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6C5B7B"/>
                </a:solidFill>
                <a:latin typeface="Source Sans Pro"/>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Inter"/>
              </a:defRPr>
            </a:pPr>
            <a:r>
              <a:t>Primary Color Usage</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Use for brand-critical elements:</a:t>
            </a:r>
          </a:p>
          <a:p>
            <a:pPr algn="l">
              <a:spcAft>
                <a:spcPts val="600"/>
              </a:spcAft>
              <a:defRPr sz="1400" b="0">
                <a:solidFill>
                  <a:srgbClr val="000000"/>
                </a:solidFill>
                <a:latin typeface="Inter"/>
              </a:defRPr>
            </a:pPr>
            <a:r>
              <a:t>• Logos and main brand marks</a:t>
            </a:r>
          </a:p>
          <a:p>
            <a:pPr algn="l">
              <a:spcAft>
                <a:spcPts val="600"/>
              </a:spcAft>
              <a:defRPr sz="1400" b="0">
                <a:solidFill>
                  <a:srgbClr val="000000"/>
                </a:solidFill>
                <a:latin typeface="Inter"/>
              </a:defRPr>
            </a:pPr>
            <a:r>
              <a:t>• Headlines and key text</a:t>
            </a:r>
          </a:p>
          <a:p>
            <a:pPr algn="l">
              <a:spcAft>
                <a:spcPts val="600"/>
              </a:spcAft>
              <a:defRPr sz="1400" b="0">
                <a:solidFill>
                  <a:srgbClr val="000000"/>
                </a:solidFill>
                <a:latin typeface="Inter"/>
              </a:defRPr>
            </a:pPr>
            <a:r>
              <a:t>• CTA buttons and navigation</a:t>
            </a:r>
          </a:p>
          <a:p>
            <a:pPr algn="l">
              <a:spcAft>
                <a:spcPts val="600"/>
              </a:spcAft>
              <a:defRPr sz="1400" b="0">
                <a:solidFill>
                  <a:srgbClr val="000000"/>
                </a:solidFill>
                <a:latin typeface="Inter"/>
              </a:defRPr>
            </a:pPr>
            <a:r>
              <a:t>• Hero sections</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Colors: Innovation Purple, Empowerment Green, Agility Yellow, Simplicity Gray</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Best Practices:</a:t>
            </a:r>
          </a:p>
          <a:p>
            <a:pPr algn="l">
              <a:spcAft>
                <a:spcPts val="600"/>
              </a:spcAft>
              <a:defRPr sz="1400" b="0">
                <a:solidFill>
                  <a:srgbClr val="000000"/>
                </a:solidFill>
                <a:latin typeface="Inter"/>
              </a:defRPr>
            </a:pPr>
            <a:r>
              <a:t>- Maximum brand recognition</a:t>
            </a:r>
          </a:p>
          <a:p>
            <a:pPr algn="l">
              <a:spcAft>
                <a:spcPts val="600"/>
              </a:spcAft>
              <a:defRPr sz="1400" b="0">
                <a:solidFill>
                  <a:srgbClr val="000000"/>
                </a:solidFill>
                <a:latin typeface="Inter"/>
              </a:defRPr>
            </a:pPr>
            <a:r>
              <a:t>- Consistent application</a:t>
            </a:r>
          </a:p>
          <a:p>
            <a:pPr algn="l">
              <a:spcAft>
                <a:spcPts val="600"/>
              </a:spcAft>
              <a:defRPr sz="1400" b="0">
                <a:solidFill>
                  <a:srgbClr val="000000"/>
                </a:solidFill>
                <a:latin typeface="Inter"/>
              </a:defRPr>
            </a:pPr>
            <a:r>
              <a:t>- Sufficient contrast</a:t>
            </a:r>
          </a:p>
          <a:p>
            <a:pPr algn="l">
              <a:spcAft>
                <a:spcPts val="600"/>
              </a:spcAft>
              <a:defRPr sz="1400" b="0">
                <a:solidFill>
                  <a:srgbClr val="000000"/>
                </a:solidFill>
                <a:latin typeface="Inter"/>
              </a:defRPr>
            </a:pPr>
            <a:r>
              <a:t>- Accessibility compliance</a:t>
            </a:r>
          </a:p>
        </p:txBody>
      </p:sp>
      <p:cxnSp>
        <p:nvCxnSpPr>
          <p:cNvPr id="3" name="Connector 2"/>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6C5B7B"/>
                </a:solidFill>
                <a:latin typeface="Source Sans Pro"/>
              </a:defRPr>
            </a:pPr>
            <a:r>
              <a:t>Color Usage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Inter"/>
              </a:defRPr>
            </a:pPr>
            <a:r>
              <a:t>Secondary Color Usage</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Use for supporting elements:</a:t>
            </a:r>
          </a:p>
          <a:p>
            <a:pPr algn="l">
              <a:spcAft>
                <a:spcPts val="600"/>
              </a:spcAft>
              <a:defRPr sz="1400" b="0">
                <a:solidFill>
                  <a:srgbClr val="000000"/>
                </a:solidFill>
                <a:latin typeface="Inter"/>
              </a:defRPr>
            </a:pPr>
            <a:r>
              <a:t>• Backgrounds and subtle accents</a:t>
            </a:r>
          </a:p>
          <a:p>
            <a:pPr algn="l">
              <a:spcAft>
                <a:spcPts val="600"/>
              </a:spcAft>
              <a:defRPr sz="1400" b="0">
                <a:solidFill>
                  <a:srgbClr val="000000"/>
                </a:solidFill>
                <a:latin typeface="Inter"/>
              </a:defRPr>
            </a:pPr>
            <a:r>
              <a:t>• Secondary text</a:t>
            </a:r>
          </a:p>
          <a:p>
            <a:pPr algn="l">
              <a:spcAft>
                <a:spcPts val="600"/>
              </a:spcAft>
              <a:defRPr sz="1400" b="0">
                <a:solidFill>
                  <a:srgbClr val="000000"/>
                </a:solidFill>
                <a:latin typeface="Inter"/>
              </a:defRPr>
            </a:pPr>
            <a:r>
              <a:t>• Borders and dividers</a:t>
            </a:r>
          </a:p>
          <a:p>
            <a:pPr algn="l">
              <a:spcAft>
                <a:spcPts val="600"/>
              </a:spcAft>
              <a:defRPr sz="1400" b="0">
                <a:solidFill>
                  <a:srgbClr val="000000"/>
                </a:solidFill>
                <a:latin typeface="Inter"/>
              </a:defRPr>
            </a:pPr>
            <a:r>
              <a:t>• Hover states and icons</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Colors: Soft Lilac, Moss Green, Sunflower Yellow, Slate Blue, Dusty Rose</a:t>
            </a:r>
          </a:p>
          <a:p>
            <a:pPr algn="l">
              <a:spcAft>
                <a:spcPts val="600"/>
              </a:spcAft>
              <a:defRPr sz="1400" b="0">
                <a:solidFill>
                  <a:srgbClr val="000000"/>
                </a:solidFill>
                <a:latin typeface="Inter"/>
              </a:defRPr>
            </a:pPr>
          </a:p>
          <a:p>
            <a:pPr algn="l">
              <a:spcAft>
                <a:spcPts val="600"/>
              </a:spcAft>
              <a:defRPr sz="1400" b="0">
                <a:solidFill>
                  <a:srgbClr val="000000"/>
                </a:solidFill>
                <a:latin typeface="Inter"/>
              </a:defRPr>
            </a:pPr>
            <a:r>
              <a:t>Best Practices:</a:t>
            </a:r>
          </a:p>
          <a:p>
            <a:pPr algn="l">
              <a:spcAft>
                <a:spcPts val="600"/>
              </a:spcAft>
              <a:defRPr sz="1400" b="0">
                <a:solidFill>
                  <a:srgbClr val="000000"/>
                </a:solidFill>
                <a:latin typeface="Inter"/>
              </a:defRPr>
            </a:pPr>
            <a:r>
              <a:t>- Create visual hierarchy</a:t>
            </a:r>
          </a:p>
          <a:p>
            <a:pPr algn="l">
              <a:spcAft>
                <a:spcPts val="600"/>
              </a:spcAft>
              <a:defRPr sz="1400" b="0">
                <a:solidFill>
                  <a:srgbClr val="000000"/>
                </a:solidFill>
                <a:latin typeface="Inter"/>
              </a:defRPr>
            </a:pPr>
            <a:r>
              <a:t>- Support, don't compete</a:t>
            </a:r>
          </a:p>
          <a:p>
            <a:pPr algn="l">
              <a:spcAft>
                <a:spcPts val="600"/>
              </a:spcAft>
              <a:defRPr sz="1400" b="0">
                <a:solidFill>
                  <a:srgbClr val="000000"/>
                </a:solidFill>
                <a:latin typeface="Inter"/>
              </a:defRPr>
            </a:pPr>
            <a:r>
              <a:t>- Maintain readability</a:t>
            </a:r>
          </a:p>
          <a:p>
            <a:pPr algn="l">
              <a:spcAft>
                <a:spcPts val="600"/>
              </a:spcAft>
              <a:defRPr sz="1400" b="0">
                <a:solidFill>
                  <a:srgbClr val="000000"/>
                </a:solidFill>
                <a:latin typeface="Inter"/>
              </a:defRPr>
            </a:pPr>
            <a:r>
              <a:t>- Use sparingly</a:t>
            </a:r>
          </a:p>
        </p:txBody>
      </p:sp>
      <p:cxnSp>
        <p:nvCxnSpPr>
          <p:cNvPr id="3" name="Connector 2"/>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6C5B7B"/>
                </a:solidFill>
                <a:latin typeface="Source Sans Pro"/>
              </a:defRPr>
            </a:pPr>
            <a:r>
              <a:t>Color Usage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Primary Font: Source Sans Pro</a:t>
            </a:r>
          </a:p>
          <a:p>
            <a:pPr algn="l">
              <a:spcAft>
                <a:spcPts val="800"/>
              </a:spcAft>
              <a:defRPr sz="2000" b="0">
                <a:solidFill>
                  <a:srgbClr val="000000"/>
                </a:solidFill>
                <a:latin typeface="Inter"/>
              </a:defRPr>
            </a:pPr>
          </a:p>
          <a:p>
            <a:pPr algn="l">
              <a:spcAft>
                <a:spcPts val="800"/>
              </a:spcAft>
              <a:defRPr sz="2000" b="0">
                <a:solidFill>
                  <a:srgbClr val="000000"/>
                </a:solidFill>
                <a:latin typeface="Inter"/>
              </a:defRPr>
            </a:pPr>
            <a:r>
              <a:t>Secondary Font: Inter</a:t>
            </a:r>
          </a:p>
          <a:p>
            <a:pPr algn="l">
              <a:spcAft>
                <a:spcPts val="800"/>
              </a:spcAft>
              <a:defRPr sz="2000" b="0">
                <a:solidFill>
                  <a:srgbClr val="000000"/>
                </a:solidFill>
                <a:latin typeface="Inter"/>
              </a:defRPr>
            </a:pPr>
          </a:p>
          <a:p>
            <a:pPr algn="l">
              <a:spcAft>
                <a:spcPts val="800"/>
              </a:spcAft>
              <a:defRPr sz="2000" b="0">
                <a:solidFill>
                  <a:srgbClr val="000000"/>
                </a:solidFill>
                <a:latin typeface="Inter"/>
              </a:defRPr>
            </a:pPr>
            <a:r>
              <a:t>Font Hierarchy:</a:t>
            </a:r>
          </a:p>
          <a:p>
            <a:pPr algn="l">
              <a:spcAft>
                <a:spcPts val="800"/>
              </a:spcAft>
              <a:defRPr sz="2000" b="0">
                <a:solidFill>
                  <a:srgbClr val="000000"/>
                </a:solidFill>
                <a:latin typeface="Inter"/>
              </a:defRPr>
            </a:pPr>
            <a:r>
              <a:t>• Headlines: Source Sans Pro - Bold, 28-32pt</a:t>
            </a:r>
          </a:p>
          <a:p>
            <a:pPr algn="l">
              <a:spcAft>
                <a:spcPts val="800"/>
              </a:spcAft>
              <a:defRPr sz="2000" b="0">
                <a:solidFill>
                  <a:srgbClr val="000000"/>
                </a:solidFill>
                <a:latin typeface="Inter"/>
              </a:defRPr>
            </a:pPr>
            <a:r>
              <a:t>• Subheadlines: Source Sans Pro - Bold, 20-24pt</a:t>
            </a:r>
          </a:p>
          <a:p>
            <a:pPr algn="l">
              <a:spcAft>
                <a:spcPts val="800"/>
              </a:spcAft>
              <a:defRPr sz="2000" b="0">
                <a:solidFill>
                  <a:srgbClr val="000000"/>
                </a:solidFill>
                <a:latin typeface="Inter"/>
              </a:defRPr>
            </a:pPr>
            <a:r>
              <a:t>• Body Text: Inter - Regular, 16-18pt</a:t>
            </a:r>
          </a:p>
          <a:p>
            <a:pPr algn="l">
              <a:spcAft>
                <a:spcPts val="800"/>
              </a:spcAft>
              <a:defRPr sz="2000" b="0">
                <a:solidFill>
                  <a:srgbClr val="000000"/>
                </a:solidFill>
                <a:latin typeface="Inter"/>
              </a:defRPr>
            </a:pPr>
            <a:r>
              <a:t>• Caption Text: Inter - Regular, 12-14pt</a:t>
            </a:r>
          </a:p>
        </p:txBody>
      </p:sp>
      <p:cxnSp>
        <p:nvCxnSpPr>
          <p:cNvPr id="3" name="Connector 2"/>
          <p:cNvCxnSpPr/>
          <p:nvPr/>
        </p:nvCxnSpPr>
        <p:spPr>
          <a:xfrm>
            <a:off x="457200" y="4914900.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6C5B7B"/>
                </a:solidFill>
                <a:latin typeface="Source Sans Pro"/>
              </a:defRPr>
            </a:pPr>
            <a:r>
              <a:t>TYPOGRAPHY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MARQAIT - Core Functional Icons Icons</a:t>
            </a:r>
          </a:p>
        </p:txBody>
      </p:sp>
      <p:pic>
        <p:nvPicPr>
          <p:cNvPr id="3" name="Picture 2" descr="marqait_icon_home icon_20250901_175311_f4ed7119.png"/>
          <p:cNvPicPr>
            <a:picLocks noChangeAspect="1"/>
          </p:cNvPicPr>
          <p:nvPr/>
        </p:nvPicPr>
        <p:blipFill>
          <a:blip r:embed="rId2"/>
          <a:stretch>
            <a:fillRect/>
          </a:stretch>
        </p:blipFill>
        <p:spPr>
          <a:xfrm>
            <a:off x="2743200" y="2286000"/>
            <a:ext cx="914400" cy="914400"/>
          </a:xfrm>
          <a:prstGeom prst="rect">
            <a:avLst/>
          </a:prstGeom>
        </p:spPr>
      </p:pic>
      <p:sp>
        <p:nvSpPr>
          <p:cNvPr id="4" name="TextBox 3"/>
          <p:cNvSpPr txBox="1"/>
          <p:nvPr/>
        </p:nvSpPr>
        <p:spPr>
          <a:xfrm>
            <a:off x="2743200" y="3291840"/>
            <a:ext cx="914400" cy="365760"/>
          </a:xfrm>
          <a:prstGeom prst="rect">
            <a:avLst/>
          </a:prstGeom>
          <a:noFill/>
        </p:spPr>
        <p:txBody>
          <a:bodyPr wrap="none" lIns="0" rIns="0" tIns="0" bIns="0">
            <a:spAutoFit/>
          </a:bodyPr>
          <a:lstStyle/>
          <a:p>
            <a:pPr algn="ctr">
              <a:defRPr sz="1200" b="0">
                <a:solidFill>
                  <a:srgbClr val="000000"/>
                </a:solidFill>
                <a:latin typeface="Inter"/>
              </a:defRPr>
            </a:pPr>
            <a:r>
              <a:t>Home Icon</a:t>
            </a:r>
          </a:p>
        </p:txBody>
      </p:sp>
      <p:pic>
        <p:nvPicPr>
          <p:cNvPr id="5" name="Picture 4" descr="marqait_icon_search magnifying glass icon_20250901_175326_5b341a21.png"/>
          <p:cNvPicPr>
            <a:picLocks noChangeAspect="1"/>
          </p:cNvPicPr>
          <p:nvPr/>
        </p:nvPicPr>
        <p:blipFill>
          <a:blip r:embed="rId3"/>
          <a:stretch>
            <a:fillRect/>
          </a:stretch>
        </p:blipFill>
        <p:spPr>
          <a:xfrm>
            <a:off x="4572000" y="2286000"/>
            <a:ext cx="914400" cy="914400"/>
          </a:xfrm>
          <a:prstGeom prst="rect">
            <a:avLst/>
          </a:prstGeom>
        </p:spPr>
      </p:pic>
      <p:sp>
        <p:nvSpPr>
          <p:cNvPr id="6" name="TextBox 5"/>
          <p:cNvSpPr txBox="1"/>
          <p:nvPr/>
        </p:nvSpPr>
        <p:spPr>
          <a:xfrm>
            <a:off x="4572000" y="3291840"/>
            <a:ext cx="914400" cy="365760"/>
          </a:xfrm>
          <a:prstGeom prst="rect">
            <a:avLst/>
          </a:prstGeom>
          <a:noFill/>
        </p:spPr>
        <p:txBody>
          <a:bodyPr wrap="none" lIns="0" rIns="0" tIns="0" bIns="0">
            <a:spAutoFit/>
          </a:bodyPr>
          <a:lstStyle/>
          <a:p>
            <a:pPr algn="ctr">
              <a:defRPr sz="1200" b="0">
                <a:solidFill>
                  <a:srgbClr val="000000"/>
                </a:solidFill>
                <a:latin typeface="Inter"/>
              </a:defRPr>
            </a:pPr>
            <a:r>
              <a:t>Search Magnifying Glass Icon</a:t>
            </a:r>
          </a:p>
        </p:txBody>
      </p:sp>
      <p:pic>
        <p:nvPicPr>
          <p:cNvPr id="7" name="Picture 6" descr="marqait_icon_menu hamburger lines icon_20250901_175341_e0e6f5a5.png"/>
          <p:cNvPicPr>
            <a:picLocks noChangeAspect="1"/>
          </p:cNvPicPr>
          <p:nvPr/>
        </p:nvPicPr>
        <p:blipFill>
          <a:blip r:embed="rId4"/>
          <a:stretch>
            <a:fillRect/>
          </a:stretch>
        </p:blipFill>
        <p:spPr>
          <a:xfrm>
            <a:off x="6400800" y="2286000"/>
            <a:ext cx="914400" cy="914400"/>
          </a:xfrm>
          <a:prstGeom prst="rect">
            <a:avLst/>
          </a:prstGeom>
        </p:spPr>
      </p:pic>
      <p:sp>
        <p:nvSpPr>
          <p:cNvPr id="8" name="TextBox 7"/>
          <p:cNvSpPr txBox="1"/>
          <p:nvPr/>
        </p:nvSpPr>
        <p:spPr>
          <a:xfrm>
            <a:off x="6400800" y="3291840"/>
            <a:ext cx="914400" cy="365760"/>
          </a:xfrm>
          <a:prstGeom prst="rect">
            <a:avLst/>
          </a:prstGeom>
          <a:noFill/>
        </p:spPr>
        <p:txBody>
          <a:bodyPr wrap="none" lIns="0" rIns="0" tIns="0" bIns="0">
            <a:spAutoFit/>
          </a:bodyPr>
          <a:lstStyle/>
          <a:p>
            <a:pPr algn="ctr">
              <a:defRPr sz="1200" b="0">
                <a:solidFill>
                  <a:srgbClr val="000000"/>
                </a:solidFill>
                <a:latin typeface="Inter"/>
              </a:defRPr>
            </a:pPr>
            <a:r>
              <a:t>Menu Hamburger Lines Icon</a:t>
            </a:r>
          </a:p>
        </p:txBody>
      </p:sp>
      <p:pic>
        <p:nvPicPr>
          <p:cNvPr id="9" name="Picture 8" descr="marqait_icon_settings gear icon_20250901_175355_d6660b3e.png"/>
          <p:cNvPicPr>
            <a:picLocks noChangeAspect="1"/>
          </p:cNvPicPr>
          <p:nvPr/>
        </p:nvPicPr>
        <p:blipFill>
          <a:blip r:embed="rId5"/>
          <a:stretch>
            <a:fillRect/>
          </a:stretch>
        </p:blipFill>
        <p:spPr>
          <a:xfrm>
            <a:off x="2743200" y="3657600"/>
            <a:ext cx="914400" cy="914400"/>
          </a:xfrm>
          <a:prstGeom prst="rect">
            <a:avLst/>
          </a:prstGeom>
        </p:spPr>
      </p:pic>
      <p:sp>
        <p:nvSpPr>
          <p:cNvPr id="10" name="TextBox 9"/>
          <p:cNvSpPr txBox="1"/>
          <p:nvPr/>
        </p:nvSpPr>
        <p:spPr>
          <a:xfrm>
            <a:off x="2743200" y="4663440"/>
            <a:ext cx="914400" cy="365760"/>
          </a:xfrm>
          <a:prstGeom prst="rect">
            <a:avLst/>
          </a:prstGeom>
          <a:noFill/>
        </p:spPr>
        <p:txBody>
          <a:bodyPr wrap="none" lIns="0" rIns="0" tIns="0" bIns="0">
            <a:spAutoFit/>
          </a:bodyPr>
          <a:lstStyle/>
          <a:p>
            <a:pPr algn="ctr">
              <a:defRPr sz="1200" b="0">
                <a:solidFill>
                  <a:srgbClr val="000000"/>
                </a:solidFill>
                <a:latin typeface="Inter"/>
              </a:defRPr>
            </a:pPr>
            <a:r>
              <a:t>Settings Gear Icon</a:t>
            </a:r>
          </a:p>
        </p:txBody>
      </p:sp>
      <p:pic>
        <p:nvPicPr>
          <p:cNvPr id="11" name="Picture 10" descr="marqait_icon_user profile person icon_20250901_175410_b3e176b5.png"/>
          <p:cNvPicPr>
            <a:picLocks noChangeAspect="1"/>
          </p:cNvPicPr>
          <p:nvPr/>
        </p:nvPicPr>
        <p:blipFill>
          <a:blip r:embed="rId6"/>
          <a:stretch>
            <a:fillRect/>
          </a:stretch>
        </p:blipFill>
        <p:spPr>
          <a:xfrm>
            <a:off x="4572000" y="3657600"/>
            <a:ext cx="914400" cy="914400"/>
          </a:xfrm>
          <a:prstGeom prst="rect">
            <a:avLst/>
          </a:prstGeom>
        </p:spPr>
      </p:pic>
      <p:sp>
        <p:nvSpPr>
          <p:cNvPr id="12" name="TextBox 11"/>
          <p:cNvSpPr txBox="1"/>
          <p:nvPr/>
        </p:nvSpPr>
        <p:spPr>
          <a:xfrm>
            <a:off x="4572000" y="4663440"/>
            <a:ext cx="914400" cy="365760"/>
          </a:xfrm>
          <a:prstGeom prst="rect">
            <a:avLst/>
          </a:prstGeom>
          <a:noFill/>
        </p:spPr>
        <p:txBody>
          <a:bodyPr wrap="none" lIns="0" rIns="0" tIns="0" bIns="0">
            <a:spAutoFit/>
          </a:bodyPr>
          <a:lstStyle/>
          <a:p>
            <a:pPr algn="ctr">
              <a:defRPr sz="1200" b="0">
                <a:solidFill>
                  <a:srgbClr val="000000"/>
                </a:solidFill>
                <a:latin typeface="Inter"/>
              </a:defRPr>
            </a:pPr>
            <a:r>
              <a:t>User Profile Person Icon</a:t>
            </a:r>
          </a:p>
        </p:txBody>
      </p:sp>
      <p:pic>
        <p:nvPicPr>
          <p:cNvPr id="13" name="Picture 12" descr="marqait_icon_notification bell icon_20250901_175424_1aab2d88.png"/>
          <p:cNvPicPr>
            <a:picLocks noChangeAspect="1"/>
          </p:cNvPicPr>
          <p:nvPr/>
        </p:nvPicPr>
        <p:blipFill>
          <a:blip r:embed="rId7"/>
          <a:stretch>
            <a:fillRect/>
          </a:stretch>
        </p:blipFill>
        <p:spPr>
          <a:xfrm>
            <a:off x="6400800" y="3657600"/>
            <a:ext cx="914400" cy="914400"/>
          </a:xfrm>
          <a:prstGeom prst="rect">
            <a:avLst/>
          </a:prstGeom>
        </p:spPr>
      </p:pic>
      <p:sp>
        <p:nvSpPr>
          <p:cNvPr id="14" name="TextBox 13"/>
          <p:cNvSpPr txBox="1"/>
          <p:nvPr/>
        </p:nvSpPr>
        <p:spPr>
          <a:xfrm>
            <a:off x="6400800" y="4663440"/>
            <a:ext cx="914400" cy="365760"/>
          </a:xfrm>
          <a:prstGeom prst="rect">
            <a:avLst/>
          </a:prstGeom>
          <a:noFill/>
        </p:spPr>
        <p:txBody>
          <a:bodyPr wrap="none" lIns="0" rIns="0" tIns="0" bIns="0">
            <a:spAutoFit/>
          </a:bodyPr>
          <a:lstStyle/>
          <a:p>
            <a:pPr algn="ctr">
              <a:defRPr sz="1200" b="0">
                <a:solidFill>
                  <a:srgbClr val="000000"/>
                </a:solidFill>
                <a:latin typeface="Inter"/>
              </a:defRPr>
            </a:pPr>
            <a:r>
              <a:t>Notification Bell Icon</a:t>
            </a:r>
          </a:p>
        </p:txBody>
      </p:sp>
      <p:cxnSp>
        <p:nvCxnSpPr>
          <p:cNvPr id="15" name="Connector 14"/>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0100" y="5560695"/>
            <a:ext cx="3657600" cy="731520"/>
          </a:xfrm>
          <a:prstGeom prst="rect">
            <a:avLst/>
          </a:prstGeom>
          <a:noFill/>
        </p:spPr>
        <p:txBody>
          <a:bodyPr wrap="none">
            <a:spAutoFit/>
          </a:bodyPr>
          <a:lstStyle/>
          <a:p>
            <a:pPr algn="l">
              <a:defRPr sz="2800" b="1">
                <a:solidFill>
                  <a:srgbClr val="6C5B7B"/>
                </a:solidFill>
                <a:latin typeface="Source Sans Pro"/>
              </a:defRPr>
            </a:pPr>
            <a:r>
              <a:t>ICONOGRAPHY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Inter"/>
              </a:defRPr>
            </a:pPr>
            <a:r>
              <a:t>MARQAIT - Ai-Powered Marketing Automation Platform (Marketing Technology) Industry Icons Icons</a:t>
            </a:r>
          </a:p>
        </p:txBody>
      </p:sp>
      <p:pic>
        <p:nvPicPr>
          <p:cNvPr id="3" name="Picture 2" descr="marqait_icon_cloud computing icon_20250901_175519_cc69857a.png"/>
          <p:cNvPicPr>
            <a:picLocks noChangeAspect="1"/>
          </p:cNvPicPr>
          <p:nvPr/>
        </p:nvPicPr>
        <p:blipFill>
          <a:blip r:embed="rId2"/>
          <a:stretch>
            <a:fillRect/>
          </a:stretch>
        </p:blipFill>
        <p:spPr>
          <a:xfrm>
            <a:off x="2743200" y="2286000"/>
            <a:ext cx="914400" cy="914400"/>
          </a:xfrm>
          <a:prstGeom prst="rect">
            <a:avLst/>
          </a:prstGeom>
        </p:spPr>
      </p:pic>
      <p:sp>
        <p:nvSpPr>
          <p:cNvPr id="4" name="TextBox 3"/>
          <p:cNvSpPr txBox="1"/>
          <p:nvPr/>
        </p:nvSpPr>
        <p:spPr>
          <a:xfrm>
            <a:off x="2743200" y="3291840"/>
            <a:ext cx="914400" cy="365760"/>
          </a:xfrm>
          <a:prstGeom prst="rect">
            <a:avLst/>
          </a:prstGeom>
          <a:noFill/>
        </p:spPr>
        <p:txBody>
          <a:bodyPr wrap="none" lIns="0" rIns="0" tIns="0" bIns="0">
            <a:spAutoFit/>
          </a:bodyPr>
          <a:lstStyle/>
          <a:p>
            <a:pPr algn="ctr">
              <a:defRPr sz="1200" b="0">
                <a:solidFill>
                  <a:srgbClr val="000000"/>
                </a:solidFill>
                <a:latin typeface="Inter"/>
              </a:defRPr>
            </a:pPr>
            <a:r>
              <a:t>Cloud Computing Icon</a:t>
            </a:r>
          </a:p>
        </p:txBody>
      </p:sp>
      <p:pic>
        <p:nvPicPr>
          <p:cNvPr id="5" name="Picture 4" descr="marqait_icon_server database icon_20250901_175532_474b893b.png"/>
          <p:cNvPicPr>
            <a:picLocks noChangeAspect="1"/>
          </p:cNvPicPr>
          <p:nvPr/>
        </p:nvPicPr>
        <p:blipFill>
          <a:blip r:embed="rId3"/>
          <a:stretch>
            <a:fillRect/>
          </a:stretch>
        </p:blipFill>
        <p:spPr>
          <a:xfrm>
            <a:off x="4572000" y="2286000"/>
            <a:ext cx="914400" cy="914400"/>
          </a:xfrm>
          <a:prstGeom prst="rect">
            <a:avLst/>
          </a:prstGeom>
        </p:spPr>
      </p:pic>
      <p:sp>
        <p:nvSpPr>
          <p:cNvPr id="6" name="TextBox 5"/>
          <p:cNvSpPr txBox="1"/>
          <p:nvPr/>
        </p:nvSpPr>
        <p:spPr>
          <a:xfrm>
            <a:off x="4572000" y="3291840"/>
            <a:ext cx="914400" cy="365760"/>
          </a:xfrm>
          <a:prstGeom prst="rect">
            <a:avLst/>
          </a:prstGeom>
          <a:noFill/>
        </p:spPr>
        <p:txBody>
          <a:bodyPr wrap="none" lIns="0" rIns="0" tIns="0" bIns="0">
            <a:spAutoFit/>
          </a:bodyPr>
          <a:lstStyle/>
          <a:p>
            <a:pPr algn="ctr">
              <a:defRPr sz="1200" b="0">
                <a:solidFill>
                  <a:srgbClr val="000000"/>
                </a:solidFill>
                <a:latin typeface="Inter"/>
              </a:defRPr>
            </a:pPr>
            <a:r>
              <a:t>Server Database Icon</a:t>
            </a:r>
          </a:p>
        </p:txBody>
      </p:sp>
      <p:pic>
        <p:nvPicPr>
          <p:cNvPr id="7" name="Picture 6" descr="marqait_icon_programming code icon_20250901_175547_fefa6911.png"/>
          <p:cNvPicPr>
            <a:picLocks noChangeAspect="1"/>
          </p:cNvPicPr>
          <p:nvPr/>
        </p:nvPicPr>
        <p:blipFill>
          <a:blip r:embed="rId4"/>
          <a:stretch>
            <a:fillRect/>
          </a:stretch>
        </p:blipFill>
        <p:spPr>
          <a:xfrm>
            <a:off x="6400800" y="2286000"/>
            <a:ext cx="914400" cy="914400"/>
          </a:xfrm>
          <a:prstGeom prst="rect">
            <a:avLst/>
          </a:prstGeom>
        </p:spPr>
      </p:pic>
      <p:sp>
        <p:nvSpPr>
          <p:cNvPr id="8" name="TextBox 7"/>
          <p:cNvSpPr txBox="1"/>
          <p:nvPr/>
        </p:nvSpPr>
        <p:spPr>
          <a:xfrm>
            <a:off x="6400800" y="3291840"/>
            <a:ext cx="914400" cy="365760"/>
          </a:xfrm>
          <a:prstGeom prst="rect">
            <a:avLst/>
          </a:prstGeom>
          <a:noFill/>
        </p:spPr>
        <p:txBody>
          <a:bodyPr wrap="none" lIns="0" rIns="0" tIns="0" bIns="0">
            <a:spAutoFit/>
          </a:bodyPr>
          <a:lstStyle/>
          <a:p>
            <a:pPr algn="ctr">
              <a:defRPr sz="1200" b="0">
                <a:solidFill>
                  <a:srgbClr val="000000"/>
                </a:solidFill>
                <a:latin typeface="Inter"/>
              </a:defRPr>
            </a:pPr>
            <a:r>
              <a:t>Programming Code Icon</a:t>
            </a:r>
          </a:p>
        </p:txBody>
      </p:sp>
      <p:pic>
        <p:nvPicPr>
          <p:cNvPr id="9" name="Picture 8" descr="marqait_icon_network connection icon_20250901_175601_efc03c01.png"/>
          <p:cNvPicPr>
            <a:picLocks noChangeAspect="1"/>
          </p:cNvPicPr>
          <p:nvPr/>
        </p:nvPicPr>
        <p:blipFill>
          <a:blip r:embed="rId5"/>
          <a:stretch>
            <a:fillRect/>
          </a:stretch>
        </p:blipFill>
        <p:spPr>
          <a:xfrm>
            <a:off x="2743200" y="3657600"/>
            <a:ext cx="914400" cy="914400"/>
          </a:xfrm>
          <a:prstGeom prst="rect">
            <a:avLst/>
          </a:prstGeom>
        </p:spPr>
      </p:pic>
      <p:sp>
        <p:nvSpPr>
          <p:cNvPr id="10" name="TextBox 9"/>
          <p:cNvSpPr txBox="1"/>
          <p:nvPr/>
        </p:nvSpPr>
        <p:spPr>
          <a:xfrm>
            <a:off x="2743200" y="4663440"/>
            <a:ext cx="914400" cy="365760"/>
          </a:xfrm>
          <a:prstGeom prst="rect">
            <a:avLst/>
          </a:prstGeom>
          <a:noFill/>
        </p:spPr>
        <p:txBody>
          <a:bodyPr wrap="none" lIns="0" rIns="0" tIns="0" bIns="0">
            <a:spAutoFit/>
          </a:bodyPr>
          <a:lstStyle/>
          <a:p>
            <a:pPr algn="ctr">
              <a:defRPr sz="1200" b="0">
                <a:solidFill>
                  <a:srgbClr val="000000"/>
                </a:solidFill>
                <a:latin typeface="Inter"/>
              </a:defRPr>
            </a:pPr>
            <a:r>
              <a:t>Network Connection Icon</a:t>
            </a:r>
          </a:p>
        </p:txBody>
      </p:sp>
      <p:pic>
        <p:nvPicPr>
          <p:cNvPr id="11" name="Picture 10" descr="marqait_icon_artificial intelligence icon_20250901_175615_bad2a10d.png"/>
          <p:cNvPicPr>
            <a:picLocks noChangeAspect="1"/>
          </p:cNvPicPr>
          <p:nvPr/>
        </p:nvPicPr>
        <p:blipFill>
          <a:blip r:embed="rId6"/>
          <a:stretch>
            <a:fillRect/>
          </a:stretch>
        </p:blipFill>
        <p:spPr>
          <a:xfrm>
            <a:off x="4572000" y="3657600"/>
            <a:ext cx="914400" cy="914400"/>
          </a:xfrm>
          <a:prstGeom prst="rect">
            <a:avLst/>
          </a:prstGeom>
        </p:spPr>
      </p:pic>
      <p:sp>
        <p:nvSpPr>
          <p:cNvPr id="12" name="TextBox 11"/>
          <p:cNvSpPr txBox="1"/>
          <p:nvPr/>
        </p:nvSpPr>
        <p:spPr>
          <a:xfrm>
            <a:off x="4572000" y="4663440"/>
            <a:ext cx="914400" cy="365760"/>
          </a:xfrm>
          <a:prstGeom prst="rect">
            <a:avLst/>
          </a:prstGeom>
          <a:noFill/>
        </p:spPr>
        <p:txBody>
          <a:bodyPr wrap="none" lIns="0" rIns="0" tIns="0" bIns="0">
            <a:spAutoFit/>
          </a:bodyPr>
          <a:lstStyle/>
          <a:p>
            <a:pPr algn="ctr">
              <a:defRPr sz="1200" b="0">
                <a:solidFill>
                  <a:srgbClr val="000000"/>
                </a:solidFill>
                <a:latin typeface="Inter"/>
              </a:defRPr>
            </a:pPr>
            <a:r>
              <a:t>Artificial Intelligence Icon</a:t>
            </a:r>
          </a:p>
        </p:txBody>
      </p:sp>
      <p:pic>
        <p:nvPicPr>
          <p:cNvPr id="13" name="Picture 12" descr="marqait_icon_security lock icon_20250901_175631_5968f0d6.png"/>
          <p:cNvPicPr>
            <a:picLocks noChangeAspect="1"/>
          </p:cNvPicPr>
          <p:nvPr/>
        </p:nvPicPr>
        <p:blipFill>
          <a:blip r:embed="rId7"/>
          <a:stretch>
            <a:fillRect/>
          </a:stretch>
        </p:blipFill>
        <p:spPr>
          <a:xfrm>
            <a:off x="6400800" y="3657600"/>
            <a:ext cx="914400" cy="914400"/>
          </a:xfrm>
          <a:prstGeom prst="rect">
            <a:avLst/>
          </a:prstGeom>
        </p:spPr>
      </p:pic>
      <p:sp>
        <p:nvSpPr>
          <p:cNvPr id="14" name="TextBox 13"/>
          <p:cNvSpPr txBox="1"/>
          <p:nvPr/>
        </p:nvSpPr>
        <p:spPr>
          <a:xfrm>
            <a:off x="6400800" y="4663440"/>
            <a:ext cx="914400" cy="365760"/>
          </a:xfrm>
          <a:prstGeom prst="rect">
            <a:avLst/>
          </a:prstGeom>
          <a:noFill/>
        </p:spPr>
        <p:txBody>
          <a:bodyPr wrap="none" lIns="0" rIns="0" tIns="0" bIns="0">
            <a:spAutoFit/>
          </a:bodyPr>
          <a:lstStyle/>
          <a:p>
            <a:pPr algn="ctr">
              <a:defRPr sz="1200" b="0">
                <a:solidFill>
                  <a:srgbClr val="000000"/>
                </a:solidFill>
                <a:latin typeface="Inter"/>
              </a:defRPr>
            </a:pPr>
            <a:r>
              <a:t>Security Lock Icon</a:t>
            </a:r>
          </a:p>
        </p:txBody>
      </p:sp>
      <p:cxnSp>
        <p:nvCxnSpPr>
          <p:cNvPr id="15" name="Connector 14"/>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0100" y="5560695"/>
            <a:ext cx="3657600" cy="731520"/>
          </a:xfrm>
          <a:prstGeom prst="rect">
            <a:avLst/>
          </a:prstGeom>
          <a:noFill/>
        </p:spPr>
        <p:txBody>
          <a:bodyPr wrap="none">
            <a:spAutoFit/>
          </a:bodyPr>
          <a:lstStyle/>
          <a:p>
            <a:pPr algn="l">
              <a:defRPr sz="2800" b="1">
                <a:solidFill>
                  <a:srgbClr val="6C5B7B"/>
                </a:solidFill>
                <a:latin typeface="Source Sans Pro"/>
              </a:defRPr>
            </a:pPr>
            <a:r>
              <a:t>ICONOGRAPHY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000000"/>
                </a:solidFill>
                <a:latin typeface="Inter"/>
              </a:defRPr>
            </a:pPr>
            <a:r>
              <a:t>Style: Minimalist design</a:t>
            </a:r>
          </a:p>
          <a:p>
            <a:pPr algn="l">
              <a:spcAft>
                <a:spcPts val="600"/>
              </a:spcAft>
              <a:defRPr sz="1800" b="0">
                <a:solidFill>
                  <a:srgbClr val="000000"/>
                </a:solidFill>
                <a:latin typeface="Inter"/>
              </a:defRPr>
            </a:pPr>
            <a:r>
              <a:t>Color: #6C5B7B on black background</a:t>
            </a:r>
          </a:p>
          <a:p>
            <a:pPr algn="l">
              <a:spcAft>
                <a:spcPts val="600"/>
              </a:spcAft>
              <a:defRPr sz="1800" b="0">
                <a:solidFill>
                  <a:srgbClr val="000000"/>
                </a:solidFill>
                <a:latin typeface="Inter"/>
              </a:defRPr>
            </a:pPr>
          </a:p>
          <a:p>
            <a:pPr algn="l">
              <a:spcAft>
                <a:spcPts val="600"/>
              </a:spcAft>
              <a:defRPr sz="1800" b="0">
                <a:solidFill>
                  <a:srgbClr val="000000"/>
                </a:solidFill>
                <a:latin typeface="Inter"/>
              </a:defRPr>
            </a:pPr>
            <a:r>
              <a:t>Size Requirements:</a:t>
            </a:r>
          </a:p>
          <a:p>
            <a:pPr algn="l">
              <a:spcAft>
                <a:spcPts val="600"/>
              </a:spcAft>
              <a:defRPr sz="1800" b="0">
                <a:solidFill>
                  <a:srgbClr val="000000"/>
                </a:solidFill>
                <a:latin typeface="Inter"/>
              </a:defRPr>
            </a:pPr>
            <a:r>
              <a:t>• Minimum: 16px web, 0.5" print</a:t>
            </a:r>
          </a:p>
          <a:p>
            <a:pPr algn="l">
              <a:spcAft>
                <a:spcPts val="600"/>
              </a:spcAft>
              <a:defRPr sz="1800" b="0">
                <a:solidFill>
                  <a:srgbClr val="000000"/>
                </a:solidFill>
                <a:latin typeface="Inter"/>
              </a:defRPr>
            </a:pPr>
            <a:r>
              <a:t>• Recommended: 24px+ web, 0.75"+ print</a:t>
            </a:r>
          </a:p>
          <a:p>
            <a:pPr algn="l">
              <a:spcAft>
                <a:spcPts val="600"/>
              </a:spcAft>
              <a:defRPr sz="1800" b="0">
                <a:solidFill>
                  <a:srgbClr val="000000"/>
                </a:solidFill>
                <a:latin typeface="Inter"/>
              </a:defRPr>
            </a:pPr>
          </a:p>
          <a:p>
            <a:pPr algn="l">
              <a:spcAft>
                <a:spcPts val="600"/>
              </a:spcAft>
              <a:defRPr sz="1800" b="0">
                <a:solidFill>
                  <a:srgbClr val="000000"/>
                </a:solidFill>
                <a:latin typeface="Inter"/>
              </a:defRPr>
            </a:pPr>
            <a:r>
              <a:t>Spacing:</a:t>
            </a:r>
          </a:p>
          <a:p>
            <a:pPr algn="l">
              <a:spcAft>
                <a:spcPts val="600"/>
              </a:spcAft>
              <a:defRPr sz="1800" b="0">
                <a:solidFill>
                  <a:srgbClr val="000000"/>
                </a:solidFill>
                <a:latin typeface="Inter"/>
              </a:defRPr>
            </a:pPr>
            <a:r>
              <a:t>• Clear space: 50% of icon width</a:t>
            </a:r>
          </a:p>
          <a:p>
            <a:pPr algn="l">
              <a:spcAft>
                <a:spcPts val="600"/>
              </a:spcAft>
              <a:defRPr sz="1800" b="0">
                <a:solidFill>
                  <a:srgbClr val="000000"/>
                </a:solidFill>
                <a:latin typeface="Inter"/>
              </a:defRPr>
            </a:pPr>
            <a:r>
              <a:t>• Consistent grid alignment</a:t>
            </a:r>
          </a:p>
        </p:txBody>
      </p:sp>
      <p:cxnSp>
        <p:nvCxnSpPr>
          <p:cNvPr id="3" name="Connector 2"/>
          <p:cNvCxnSpPr/>
          <p:nvPr/>
        </p:nvCxnSpPr>
        <p:spPr>
          <a:xfrm>
            <a:off x="457200" y="5286375.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560695"/>
            <a:ext cx="5486400" cy="731520"/>
          </a:xfrm>
          <a:prstGeom prst="rect">
            <a:avLst/>
          </a:prstGeom>
          <a:noFill/>
        </p:spPr>
        <p:txBody>
          <a:bodyPr wrap="none">
            <a:spAutoFit/>
          </a:bodyPr>
          <a:lstStyle/>
          <a:p>
            <a:pPr algn="l">
              <a:defRPr sz="2800" b="1">
                <a:solidFill>
                  <a:srgbClr val="6C5B7B"/>
                </a:solidFill>
                <a:latin typeface="Source Sans Pro"/>
              </a:defRPr>
            </a:pPr>
            <a:r>
              <a:t>USAGE GUIDELINES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868680" y="320040"/>
            <a:ext cx="2468880" cy="1463040"/>
          </a:xfrm>
          <a:prstGeom prst="rect">
            <a:avLst/>
          </a:prstGeom>
          <a:solidFill>
            <a:srgbClr val="F8F8F8"/>
          </a:solidFill>
          <a:ln w="12700">
            <a:solidFill>
              <a:srgbClr val="6C5B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arqait_illustration_1_20250901_175655_158e26cc.png"/>
          <p:cNvPicPr>
            <a:picLocks noChangeAspect="1"/>
          </p:cNvPicPr>
          <p:nvPr/>
        </p:nvPicPr>
        <p:blipFill>
          <a:blip r:embed="rId2"/>
          <a:stretch>
            <a:fillRect/>
          </a:stretch>
        </p:blipFill>
        <p:spPr>
          <a:xfrm>
            <a:off x="914400" y="365760"/>
            <a:ext cx="2377440" cy="1371600"/>
          </a:xfrm>
          <a:prstGeom prst="rect">
            <a:avLst/>
          </a:prstGeom>
        </p:spPr>
      </p:pic>
      <p:sp>
        <p:nvSpPr>
          <p:cNvPr id="4" name="TextBox 3"/>
          <p:cNvSpPr txBox="1"/>
          <p:nvPr/>
        </p:nvSpPr>
        <p:spPr>
          <a:xfrm>
            <a:off x="914400" y="137160"/>
            <a:ext cx="2377440" cy="182880"/>
          </a:xfrm>
          <a:prstGeom prst="rect">
            <a:avLst/>
          </a:prstGeom>
          <a:noFill/>
        </p:spPr>
        <p:txBody>
          <a:bodyPr wrap="none" lIns="0" rIns="0" tIns="0" bIns="0">
            <a:spAutoFit/>
          </a:bodyPr>
          <a:lstStyle/>
          <a:p>
            <a:pPr algn="ctr">
              <a:defRPr sz="800" b="1">
                <a:solidFill>
                  <a:srgbClr val="6C5B7B"/>
                </a:solidFill>
                <a:latin typeface="Inter"/>
              </a:defRPr>
            </a:pPr>
            <a:r>
              <a:t>External Focus</a:t>
            </a:r>
          </a:p>
        </p:txBody>
      </p:sp>
      <p:sp>
        <p:nvSpPr>
          <p:cNvPr id="5" name="TextBox 4"/>
          <p:cNvSpPr txBox="1"/>
          <p:nvPr/>
        </p:nvSpPr>
        <p:spPr>
          <a:xfrm>
            <a:off x="914400" y="1810512"/>
            <a:ext cx="2377440" cy="228600"/>
          </a:xfrm>
          <a:prstGeom prst="rect">
            <a:avLst/>
          </a:prstGeom>
          <a:noFill/>
        </p:spPr>
        <p:txBody>
          <a:bodyPr wrap="none" lIns="0" rIns="0" tIns="0" bIns="0">
            <a:spAutoFit/>
          </a:bodyPr>
          <a:lstStyle/>
          <a:p>
            <a:pPr algn="ctr">
              <a:defRPr sz="900" b="0">
                <a:solidFill>
                  <a:srgbClr val="666666"/>
                </a:solidFill>
                <a:latin typeface="Inter"/>
              </a:defRPr>
            </a:pPr>
            <a:r>
              <a:t>Digital innovation in AI-Powered Ma...</a:t>
            </a:r>
          </a:p>
        </p:txBody>
      </p:sp>
      <p:sp>
        <p:nvSpPr>
          <p:cNvPr id="6" name="Rectangle 5"/>
          <p:cNvSpPr/>
          <p:nvPr/>
        </p:nvSpPr>
        <p:spPr>
          <a:xfrm>
            <a:off x="3703320" y="320040"/>
            <a:ext cx="2468880" cy="1463040"/>
          </a:xfrm>
          <a:prstGeom prst="rect">
            <a:avLst/>
          </a:prstGeom>
          <a:solidFill>
            <a:srgbClr val="F8F8F8"/>
          </a:solidFill>
          <a:ln w="12700">
            <a:solidFill>
              <a:srgbClr val="6C5B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rqait_illustration_2_20250901_175713_1c1e9b93.png"/>
          <p:cNvPicPr>
            <a:picLocks noChangeAspect="1"/>
          </p:cNvPicPr>
          <p:nvPr/>
        </p:nvPicPr>
        <p:blipFill>
          <a:blip r:embed="rId3"/>
          <a:stretch>
            <a:fillRect/>
          </a:stretch>
        </p:blipFill>
        <p:spPr>
          <a:xfrm>
            <a:off x="3749040" y="365760"/>
            <a:ext cx="2377440" cy="1371600"/>
          </a:xfrm>
          <a:prstGeom prst="rect">
            <a:avLst/>
          </a:prstGeom>
        </p:spPr>
      </p:pic>
      <p:sp>
        <p:nvSpPr>
          <p:cNvPr id="8" name="TextBox 7"/>
          <p:cNvSpPr txBox="1"/>
          <p:nvPr/>
        </p:nvSpPr>
        <p:spPr>
          <a:xfrm>
            <a:off x="3749040" y="137160"/>
            <a:ext cx="2377440" cy="182880"/>
          </a:xfrm>
          <a:prstGeom prst="rect">
            <a:avLst/>
          </a:prstGeom>
          <a:noFill/>
        </p:spPr>
        <p:txBody>
          <a:bodyPr wrap="none" lIns="0" rIns="0" tIns="0" bIns="0">
            <a:spAutoFit/>
          </a:bodyPr>
          <a:lstStyle/>
          <a:p>
            <a:pPr algn="ctr">
              <a:defRPr sz="800" b="1">
                <a:solidFill>
                  <a:srgbClr val="6C5B7B"/>
                </a:solidFill>
                <a:latin typeface="Inter"/>
              </a:defRPr>
            </a:pPr>
            <a:r>
              <a:t>External Focus</a:t>
            </a:r>
          </a:p>
        </p:txBody>
      </p:sp>
      <p:sp>
        <p:nvSpPr>
          <p:cNvPr id="9" name="TextBox 8"/>
          <p:cNvSpPr txBox="1"/>
          <p:nvPr/>
        </p:nvSpPr>
        <p:spPr>
          <a:xfrm>
            <a:off x="3749040" y="1810512"/>
            <a:ext cx="2377440" cy="228600"/>
          </a:xfrm>
          <a:prstGeom prst="rect">
            <a:avLst/>
          </a:prstGeom>
          <a:noFill/>
        </p:spPr>
        <p:txBody>
          <a:bodyPr wrap="none" lIns="0" rIns="0" tIns="0" bIns="0">
            <a:spAutoFit/>
          </a:bodyPr>
          <a:lstStyle/>
          <a:p>
            <a:pPr algn="ctr">
              <a:defRPr sz="900" b="0">
                <a:solidFill>
                  <a:srgbClr val="666666"/>
                </a:solidFill>
                <a:latin typeface="Inter"/>
              </a:defRPr>
            </a:pPr>
            <a:r>
              <a:t>Collaborative excellence in AI-Powe...</a:t>
            </a:r>
          </a:p>
        </p:txBody>
      </p:sp>
      <p:sp>
        <p:nvSpPr>
          <p:cNvPr id="10" name="Rectangle 9"/>
          <p:cNvSpPr/>
          <p:nvPr/>
        </p:nvSpPr>
        <p:spPr>
          <a:xfrm>
            <a:off x="6537960" y="320040"/>
            <a:ext cx="2468880" cy="1463040"/>
          </a:xfrm>
          <a:prstGeom prst="rect">
            <a:avLst/>
          </a:prstGeom>
          <a:solidFill>
            <a:srgbClr val="F8F8F8"/>
          </a:solidFill>
          <a:ln w="12700">
            <a:solidFill>
              <a:srgbClr val="6C5B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arqait_illustration_3_20250901_175730_11e549b5.png"/>
          <p:cNvPicPr>
            <a:picLocks noChangeAspect="1"/>
          </p:cNvPicPr>
          <p:nvPr/>
        </p:nvPicPr>
        <p:blipFill>
          <a:blip r:embed="rId4"/>
          <a:stretch>
            <a:fillRect/>
          </a:stretch>
        </p:blipFill>
        <p:spPr>
          <a:xfrm>
            <a:off x="6583680" y="365760"/>
            <a:ext cx="2377440" cy="1371600"/>
          </a:xfrm>
          <a:prstGeom prst="rect">
            <a:avLst/>
          </a:prstGeom>
        </p:spPr>
      </p:pic>
      <p:sp>
        <p:nvSpPr>
          <p:cNvPr id="12" name="TextBox 11"/>
          <p:cNvSpPr txBox="1"/>
          <p:nvPr/>
        </p:nvSpPr>
        <p:spPr>
          <a:xfrm>
            <a:off x="6583680" y="137160"/>
            <a:ext cx="2377440" cy="182880"/>
          </a:xfrm>
          <a:prstGeom prst="rect">
            <a:avLst/>
          </a:prstGeom>
          <a:noFill/>
        </p:spPr>
        <p:txBody>
          <a:bodyPr wrap="none" lIns="0" rIns="0" tIns="0" bIns="0">
            <a:spAutoFit/>
          </a:bodyPr>
          <a:lstStyle/>
          <a:p>
            <a:pPr algn="ctr">
              <a:defRPr sz="800" b="1">
                <a:solidFill>
                  <a:srgbClr val="6C5B7B"/>
                </a:solidFill>
                <a:latin typeface="Inter"/>
              </a:defRPr>
            </a:pPr>
            <a:r>
              <a:t>External Focus</a:t>
            </a:r>
          </a:p>
        </p:txBody>
      </p:sp>
      <p:sp>
        <p:nvSpPr>
          <p:cNvPr id="13" name="TextBox 12"/>
          <p:cNvSpPr txBox="1"/>
          <p:nvPr/>
        </p:nvSpPr>
        <p:spPr>
          <a:xfrm>
            <a:off x="6583680" y="1810512"/>
            <a:ext cx="2377440" cy="228600"/>
          </a:xfrm>
          <a:prstGeom prst="rect">
            <a:avLst/>
          </a:prstGeom>
          <a:noFill/>
        </p:spPr>
        <p:txBody>
          <a:bodyPr wrap="none" lIns="0" rIns="0" tIns="0" bIns="0">
            <a:spAutoFit/>
          </a:bodyPr>
          <a:lstStyle/>
          <a:p>
            <a:pPr algn="ctr">
              <a:defRPr sz="900" b="0">
                <a:solidFill>
                  <a:srgbClr val="666666"/>
                </a:solidFill>
                <a:latin typeface="Inter"/>
              </a:defRPr>
            </a:pPr>
            <a:r>
              <a:t>Professional excellence in AI-Power...</a:t>
            </a:r>
          </a:p>
        </p:txBody>
      </p:sp>
      <p:sp>
        <p:nvSpPr>
          <p:cNvPr id="14" name="Rectangle 13"/>
          <p:cNvSpPr/>
          <p:nvPr/>
        </p:nvSpPr>
        <p:spPr>
          <a:xfrm>
            <a:off x="868680" y="2331720"/>
            <a:ext cx="2468880" cy="1463040"/>
          </a:xfrm>
          <a:prstGeom prst="rect">
            <a:avLst/>
          </a:prstGeom>
          <a:solidFill>
            <a:srgbClr val="F8F8F8"/>
          </a:solidFill>
          <a:ln w="12700">
            <a:solidFill>
              <a:srgbClr val="6C5B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arqait_illustration_6_20250901_175825_308ae84f.png"/>
          <p:cNvPicPr>
            <a:picLocks noChangeAspect="1"/>
          </p:cNvPicPr>
          <p:nvPr/>
        </p:nvPicPr>
        <p:blipFill>
          <a:blip r:embed="rId5"/>
          <a:stretch>
            <a:fillRect/>
          </a:stretch>
        </p:blipFill>
        <p:spPr>
          <a:xfrm>
            <a:off x="914400" y="2377440"/>
            <a:ext cx="2377440" cy="1371600"/>
          </a:xfrm>
          <a:prstGeom prst="rect">
            <a:avLst/>
          </a:prstGeom>
        </p:spPr>
      </p:pic>
      <p:sp>
        <p:nvSpPr>
          <p:cNvPr id="16" name="TextBox 15"/>
          <p:cNvSpPr txBox="1"/>
          <p:nvPr/>
        </p:nvSpPr>
        <p:spPr>
          <a:xfrm>
            <a:off x="914400" y="2148840"/>
            <a:ext cx="2377440" cy="182880"/>
          </a:xfrm>
          <a:prstGeom prst="rect">
            <a:avLst/>
          </a:prstGeom>
          <a:noFill/>
        </p:spPr>
        <p:txBody>
          <a:bodyPr wrap="none" lIns="0" rIns="0" tIns="0" bIns="0">
            <a:spAutoFit/>
          </a:bodyPr>
          <a:lstStyle/>
          <a:p>
            <a:pPr algn="ctr">
              <a:defRPr sz="800" b="1">
                <a:solidFill>
                  <a:srgbClr val="6C5B7B"/>
                </a:solidFill>
                <a:latin typeface="Inter"/>
              </a:defRPr>
            </a:pPr>
            <a:r>
              <a:t>Internal Focus</a:t>
            </a:r>
          </a:p>
        </p:txBody>
      </p:sp>
      <p:sp>
        <p:nvSpPr>
          <p:cNvPr id="17" name="TextBox 16"/>
          <p:cNvSpPr txBox="1"/>
          <p:nvPr/>
        </p:nvSpPr>
        <p:spPr>
          <a:xfrm>
            <a:off x="914400" y="3822192"/>
            <a:ext cx="2377440" cy="228600"/>
          </a:xfrm>
          <a:prstGeom prst="rect">
            <a:avLst/>
          </a:prstGeom>
          <a:noFill/>
        </p:spPr>
        <p:txBody>
          <a:bodyPr wrap="none" lIns="0" rIns="0" tIns="0" bIns="0">
            <a:spAutoFit/>
          </a:bodyPr>
          <a:lstStyle/>
          <a:p>
            <a:pPr algn="ctr">
              <a:defRPr sz="900" b="0">
                <a:solidFill>
                  <a:srgbClr val="666666"/>
                </a:solidFill>
                <a:latin typeface="Inter"/>
              </a:defRPr>
            </a:pPr>
            <a:r>
              <a:t>Collaborative teamwork and company ...</a:t>
            </a:r>
          </a:p>
        </p:txBody>
      </p:sp>
      <p:sp>
        <p:nvSpPr>
          <p:cNvPr id="18" name="Rectangle 17"/>
          <p:cNvSpPr/>
          <p:nvPr/>
        </p:nvSpPr>
        <p:spPr>
          <a:xfrm>
            <a:off x="3703320" y="2331720"/>
            <a:ext cx="2468880" cy="1463040"/>
          </a:xfrm>
          <a:prstGeom prst="rect">
            <a:avLst/>
          </a:prstGeom>
          <a:solidFill>
            <a:srgbClr val="F8F8F8"/>
          </a:solidFill>
          <a:ln w="12700">
            <a:solidFill>
              <a:srgbClr val="6C5B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arqait_illustration_4_20250901_175747_80d53c32.png"/>
          <p:cNvPicPr>
            <a:picLocks noChangeAspect="1"/>
          </p:cNvPicPr>
          <p:nvPr/>
        </p:nvPicPr>
        <p:blipFill>
          <a:blip r:embed="rId6"/>
          <a:stretch>
            <a:fillRect/>
          </a:stretch>
        </p:blipFill>
        <p:spPr>
          <a:xfrm>
            <a:off x="3749040" y="2377440"/>
            <a:ext cx="2377440" cy="1371600"/>
          </a:xfrm>
          <a:prstGeom prst="rect">
            <a:avLst/>
          </a:prstGeom>
        </p:spPr>
      </p:pic>
      <p:sp>
        <p:nvSpPr>
          <p:cNvPr id="20" name="TextBox 19"/>
          <p:cNvSpPr txBox="1"/>
          <p:nvPr/>
        </p:nvSpPr>
        <p:spPr>
          <a:xfrm>
            <a:off x="3749040" y="2148840"/>
            <a:ext cx="2377440" cy="182880"/>
          </a:xfrm>
          <a:prstGeom prst="rect">
            <a:avLst/>
          </a:prstGeom>
          <a:noFill/>
        </p:spPr>
        <p:txBody>
          <a:bodyPr wrap="none" lIns="0" rIns="0" tIns="0" bIns="0">
            <a:spAutoFit/>
          </a:bodyPr>
          <a:lstStyle/>
          <a:p>
            <a:pPr algn="ctr">
              <a:defRPr sz="800" b="1">
                <a:solidFill>
                  <a:srgbClr val="6C5B7B"/>
                </a:solidFill>
                <a:latin typeface="Inter"/>
              </a:defRPr>
            </a:pPr>
            <a:r>
              <a:t>Internal Focus</a:t>
            </a:r>
          </a:p>
        </p:txBody>
      </p:sp>
      <p:sp>
        <p:nvSpPr>
          <p:cNvPr id="21" name="TextBox 20"/>
          <p:cNvSpPr txBox="1"/>
          <p:nvPr/>
        </p:nvSpPr>
        <p:spPr>
          <a:xfrm>
            <a:off x="3749040" y="3822192"/>
            <a:ext cx="2377440" cy="228600"/>
          </a:xfrm>
          <a:prstGeom prst="rect">
            <a:avLst/>
          </a:prstGeom>
          <a:noFill/>
        </p:spPr>
        <p:txBody>
          <a:bodyPr wrap="none" lIns="0" rIns="0" tIns="0" bIns="0">
            <a:spAutoFit/>
          </a:bodyPr>
          <a:lstStyle/>
          <a:p>
            <a:pPr algn="ctr">
              <a:defRPr sz="900" b="0">
                <a:solidFill>
                  <a:srgbClr val="666666"/>
                </a:solidFill>
                <a:latin typeface="Inter"/>
              </a:defRPr>
            </a:pPr>
            <a:r>
              <a:t>Innovative solutions for AI-Powered...</a:t>
            </a:r>
          </a:p>
        </p:txBody>
      </p:sp>
      <p:sp>
        <p:nvSpPr>
          <p:cNvPr id="22" name="Rectangle 21"/>
          <p:cNvSpPr/>
          <p:nvPr/>
        </p:nvSpPr>
        <p:spPr>
          <a:xfrm>
            <a:off x="6537960" y="2331720"/>
            <a:ext cx="2468880" cy="1463040"/>
          </a:xfrm>
          <a:prstGeom prst="rect">
            <a:avLst/>
          </a:prstGeom>
          <a:solidFill>
            <a:srgbClr val="F8F8F8"/>
          </a:solidFill>
          <a:ln w="12700">
            <a:solidFill>
              <a:srgbClr val="6C5B7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arqait_illustration_5_20250901_175807_c24c0922.png"/>
          <p:cNvPicPr>
            <a:picLocks noChangeAspect="1"/>
          </p:cNvPicPr>
          <p:nvPr/>
        </p:nvPicPr>
        <p:blipFill>
          <a:blip r:embed="rId7"/>
          <a:stretch>
            <a:fillRect/>
          </a:stretch>
        </p:blipFill>
        <p:spPr>
          <a:xfrm>
            <a:off x="6583680" y="2377440"/>
            <a:ext cx="2377440" cy="1371600"/>
          </a:xfrm>
          <a:prstGeom prst="rect">
            <a:avLst/>
          </a:prstGeom>
        </p:spPr>
      </p:pic>
      <p:sp>
        <p:nvSpPr>
          <p:cNvPr id="24" name="TextBox 23"/>
          <p:cNvSpPr txBox="1"/>
          <p:nvPr/>
        </p:nvSpPr>
        <p:spPr>
          <a:xfrm>
            <a:off x="6583680" y="2148840"/>
            <a:ext cx="2377440" cy="182880"/>
          </a:xfrm>
          <a:prstGeom prst="rect">
            <a:avLst/>
          </a:prstGeom>
          <a:noFill/>
        </p:spPr>
        <p:txBody>
          <a:bodyPr wrap="none" lIns="0" rIns="0" tIns="0" bIns="0">
            <a:spAutoFit/>
          </a:bodyPr>
          <a:lstStyle/>
          <a:p>
            <a:pPr algn="ctr">
              <a:defRPr sz="800" b="1">
                <a:solidFill>
                  <a:srgbClr val="6C5B7B"/>
                </a:solidFill>
                <a:latin typeface="Inter"/>
              </a:defRPr>
            </a:pPr>
            <a:r>
              <a:t>Internal Focus</a:t>
            </a:r>
          </a:p>
        </p:txBody>
      </p:sp>
      <p:sp>
        <p:nvSpPr>
          <p:cNvPr id="25" name="TextBox 24"/>
          <p:cNvSpPr txBox="1"/>
          <p:nvPr/>
        </p:nvSpPr>
        <p:spPr>
          <a:xfrm>
            <a:off x="6583680" y="3822192"/>
            <a:ext cx="2377440" cy="228600"/>
          </a:xfrm>
          <a:prstGeom prst="rect">
            <a:avLst/>
          </a:prstGeom>
          <a:noFill/>
        </p:spPr>
        <p:txBody>
          <a:bodyPr wrap="none" lIns="0" rIns="0" tIns="0" bIns="0">
            <a:spAutoFit/>
          </a:bodyPr>
          <a:lstStyle/>
          <a:p>
            <a:pPr algn="ctr">
              <a:defRPr sz="900" b="0">
                <a:solidFill>
                  <a:srgbClr val="666666"/>
                </a:solidFill>
                <a:latin typeface="Inter"/>
              </a:defRPr>
            </a:pPr>
            <a:r>
              <a:t>Strategic growth and development in...</a:t>
            </a:r>
          </a:p>
        </p:txBody>
      </p:sp>
      <p:sp>
        <p:nvSpPr>
          <p:cNvPr id="26" name="TextBox 25"/>
          <p:cNvSpPr txBox="1"/>
          <p:nvPr/>
        </p:nvSpPr>
        <p:spPr>
          <a:xfrm>
            <a:off x="914400" y="4663440"/>
            <a:ext cx="7315200" cy="731520"/>
          </a:xfrm>
          <a:prstGeom prst="rect">
            <a:avLst/>
          </a:prstGeom>
          <a:noFill/>
        </p:spPr>
        <p:txBody>
          <a:bodyPr wrap="square" lIns="0" rIns="0" tIns="0" bIns="0">
            <a:spAutoFit/>
          </a:bodyPr>
          <a:lstStyle/>
          <a:p>
            <a:pPr algn="ctr">
              <a:defRPr sz="1000" b="0">
                <a:solidFill>
                  <a:srgbClr val="000000"/>
                </a:solidFill>
                <a:latin typeface="Inter"/>
              </a:defRPr>
            </a:pPr>
            <a:r>
              <a:t>USAGE NOTES: These illustrations define the visual storytelling style of the brand. Use them consistently across presentations, reports, and marketing materials to maintain brand coherence.</a:t>
            </a:r>
          </a:p>
        </p:txBody>
      </p:sp>
      <p:cxnSp>
        <p:nvCxnSpPr>
          <p:cNvPr id="27" name="Connector 26"/>
          <p:cNvCxnSpPr/>
          <p:nvPr/>
        </p:nvCxnSpPr>
        <p:spPr>
          <a:xfrm>
            <a:off x="457200" y="4914900.0"/>
            <a:ext cx="8229600" cy="0.0"/>
          </a:xfrm>
          <a:prstGeom prst="line">
            <a:avLst/>
          </a:prstGeom>
          <a:ln w="25400">
            <a:solidFill>
              <a:srgbClr val="6C5B7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00100" y="5189220"/>
            <a:ext cx="5486400" cy="731520"/>
          </a:xfrm>
          <a:prstGeom prst="rect">
            <a:avLst/>
          </a:prstGeom>
          <a:noFill/>
        </p:spPr>
        <p:txBody>
          <a:bodyPr wrap="none" lIns="0" rIns="0" tIns="0" bIns="0">
            <a:spAutoFit/>
          </a:bodyPr>
          <a:lstStyle/>
          <a:p>
            <a:pPr algn="l">
              <a:defRPr sz="2800" b="1">
                <a:solidFill>
                  <a:srgbClr val="6C5B7B"/>
                </a:solidFill>
                <a:latin typeface="Source Sans Pro"/>
              </a:defRPr>
            </a:pPr>
            <a:r>
              <a:t>BRAND ILLUSTRATIONS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