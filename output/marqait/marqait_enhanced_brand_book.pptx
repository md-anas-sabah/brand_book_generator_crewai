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marqait_logo_1_20250828_214121_5acd8ff9.png"/>
          <p:cNvPicPr>
            <a:picLocks noChangeAspect="1"/>
          </p:cNvPicPr>
          <p:nvPr/>
        </p:nvPicPr>
        <p:blipFill>
          <a:blip r:embed="rId2"/>
          <a:stretch>
            <a:fillRect/>
          </a:stretch>
        </p:blipFill>
        <p:spPr>
          <a:xfrm>
            <a:off x="1143000" y="1943100"/>
            <a:ext cx="1371600" cy="1485900"/>
          </a:xfrm>
          <a:prstGeom prst="rect">
            <a:avLst/>
          </a:prstGeom>
        </p:spPr>
      </p:pic>
      <p:sp>
        <p:nvSpPr>
          <p:cNvPr id="3" name="TextBox 2"/>
          <p:cNvSpPr txBox="1"/>
          <p:nvPr/>
        </p:nvSpPr>
        <p:spPr>
          <a:xfrm>
            <a:off x="1143000" y="3800475"/>
            <a:ext cx="2743200" cy="742950"/>
          </a:xfrm>
          <a:prstGeom prst="rect">
            <a:avLst/>
          </a:prstGeom>
          <a:noFill/>
        </p:spPr>
        <p:txBody>
          <a:bodyPr wrap="none" lIns="0" rIns="0" tIns="0" bIns="0">
            <a:spAutoFit/>
          </a:bodyPr>
          <a:lstStyle/>
          <a:p>
            <a:pPr algn="l">
              <a:defRPr sz="3600" b="1">
                <a:solidFill>
                  <a:srgbClr val="FFFFFF"/>
                </a:solidFill>
                <a:latin typeface="Inter"/>
              </a:defRPr>
            </a:pPr>
            <a:r>
              <a:t>MARQAIT</a:t>
            </a:r>
          </a:p>
        </p:txBody>
      </p:sp>
      <p:cxnSp>
        <p:nvCxnSpPr>
          <p:cNvPr id="4" name="Connector 3"/>
          <p:cNvCxnSpPr/>
          <p:nvPr/>
        </p:nvCxnSpPr>
        <p:spPr>
          <a:xfrm>
            <a:off x="6629400.0" y="5657850.0"/>
            <a:ext cx="2057400.0" cy="0.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629400" y="5657850"/>
            <a:ext cx="2057400" cy="1485900"/>
          </a:xfrm>
          <a:prstGeom prst="rect">
            <a:avLst/>
          </a:prstGeom>
          <a:noFill/>
        </p:spPr>
        <p:txBody>
          <a:bodyPr wrap="none" anchor="ctr">
            <a:spAutoFit/>
          </a:bodyPr>
          <a:lstStyle/>
          <a:p>
            <a:pPr algn="ctr">
              <a:defRPr sz="1800" b="0">
                <a:solidFill>
                  <a:srgbClr val="2563EB"/>
                </a:solidFill>
                <a:latin typeface="Source Sans Pro"/>
              </a:defRPr>
            </a:pPr>
            <a:r>
              <a:t>Brand Identity System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2743200" cy="731520"/>
          </a:xfrm>
          <a:prstGeom prst="rect">
            <a:avLst/>
          </a:prstGeom>
          <a:noFill/>
        </p:spPr>
        <p:txBody>
          <a:bodyPr wrap="none">
            <a:spAutoFit/>
          </a:bodyPr>
          <a:lstStyle/>
          <a:p>
            <a:pPr>
              <a:defRPr sz="2800" b="1">
                <a:solidFill>
                  <a:srgbClr val="2563EB"/>
                </a:solidFill>
                <a:latin typeface="Inter"/>
              </a:defRPr>
            </a:pPr>
            <a:r>
              <a:t>INDEX</a:t>
            </a:r>
          </a:p>
        </p:txBody>
      </p:sp>
      <p:cxnSp>
        <p:nvCxnSpPr>
          <p:cNvPr id="3" name="Connector 2"/>
          <p:cNvCxnSpPr/>
          <p:nvPr/>
        </p:nvCxnSpPr>
        <p:spPr>
          <a:xfrm>
            <a:off x="457200" y="1097280"/>
            <a:ext cx="8229600" cy="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554480"/>
            <a:ext cx="1828800" cy="274320"/>
          </a:xfrm>
          <a:prstGeom prst="rect">
            <a:avLst/>
          </a:prstGeom>
          <a:noFill/>
        </p:spPr>
        <p:txBody>
          <a:bodyPr wrap="none" lIns="0" rIns="0" tIns="0" bIns="0">
            <a:spAutoFit/>
          </a:bodyPr>
          <a:lstStyle/>
          <a:p>
            <a:pPr>
              <a:defRPr sz="1200" b="1">
                <a:solidFill>
                  <a:srgbClr val="FFFFFF"/>
                </a:solidFill>
                <a:latin typeface="Source Sans Pro"/>
              </a:defRPr>
            </a:pPr>
            <a:r>
              <a:t>Introduction</a:t>
            </a:r>
          </a:p>
        </p:txBody>
      </p:sp>
      <p:cxnSp>
        <p:nvCxnSpPr>
          <p:cNvPr id="5" name="Connector 4"/>
          <p:cNvCxnSpPr/>
          <p:nvPr/>
        </p:nvCxnSpPr>
        <p:spPr>
          <a:xfrm>
            <a:off x="2331719" y="1664208"/>
            <a:ext cx="36576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0" y="1554480"/>
            <a:ext cx="274320" cy="274320"/>
          </a:xfrm>
          <a:prstGeom prst="rect">
            <a:avLst/>
          </a:prstGeom>
          <a:noFill/>
        </p:spPr>
        <p:txBody>
          <a:bodyPr wrap="none" lIns="0" tIns="0" bIns="0">
            <a:spAutoFit/>
          </a:bodyPr>
          <a:lstStyle/>
          <a:p>
            <a:pPr>
              <a:defRPr sz="1200" b="1">
                <a:solidFill>
                  <a:srgbClr val="2563EB"/>
                </a:solidFill>
                <a:latin typeface="Source Sans Pro"/>
              </a:defRPr>
            </a:pPr>
            <a:r>
              <a:t>01</a:t>
            </a:r>
          </a:p>
        </p:txBody>
      </p:sp>
      <p:sp>
        <p:nvSpPr>
          <p:cNvPr id="7" name="TextBox 6"/>
          <p:cNvSpPr txBox="1"/>
          <p:nvPr/>
        </p:nvSpPr>
        <p:spPr>
          <a:xfrm>
            <a:off x="457200" y="2057400"/>
            <a:ext cx="1828800" cy="274320"/>
          </a:xfrm>
          <a:prstGeom prst="rect">
            <a:avLst/>
          </a:prstGeom>
          <a:noFill/>
        </p:spPr>
        <p:txBody>
          <a:bodyPr wrap="none" lIns="0" rIns="0" tIns="0" bIns="0">
            <a:spAutoFit/>
          </a:bodyPr>
          <a:lstStyle/>
          <a:p>
            <a:pPr>
              <a:defRPr sz="1200" b="1">
                <a:solidFill>
                  <a:srgbClr val="FFFFFF"/>
                </a:solidFill>
                <a:latin typeface="Source Sans Pro"/>
              </a:defRPr>
            </a:pPr>
            <a:r>
              <a:t>Brand Purpose (Vision)</a:t>
            </a:r>
          </a:p>
        </p:txBody>
      </p:sp>
      <p:cxnSp>
        <p:nvCxnSpPr>
          <p:cNvPr id="8" name="Connector 7"/>
          <p:cNvCxnSpPr/>
          <p:nvPr/>
        </p:nvCxnSpPr>
        <p:spPr>
          <a:xfrm>
            <a:off x="2331719" y="2167128"/>
            <a:ext cx="36576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0" y="2057400"/>
            <a:ext cx="274320" cy="274320"/>
          </a:xfrm>
          <a:prstGeom prst="rect">
            <a:avLst/>
          </a:prstGeom>
          <a:noFill/>
        </p:spPr>
        <p:txBody>
          <a:bodyPr wrap="none" lIns="0" tIns="0" bIns="0">
            <a:spAutoFit/>
          </a:bodyPr>
          <a:lstStyle/>
          <a:p>
            <a:pPr>
              <a:defRPr sz="1200" b="1">
                <a:solidFill>
                  <a:srgbClr val="2563EB"/>
                </a:solidFill>
                <a:latin typeface="Source Sans Pro"/>
              </a:defRPr>
            </a:pPr>
            <a:r>
              <a:t>02</a:t>
            </a:r>
          </a:p>
        </p:txBody>
      </p:sp>
      <p:sp>
        <p:nvSpPr>
          <p:cNvPr id="10" name="TextBox 9"/>
          <p:cNvSpPr txBox="1"/>
          <p:nvPr/>
        </p:nvSpPr>
        <p:spPr>
          <a:xfrm>
            <a:off x="457200" y="2560320"/>
            <a:ext cx="1828800" cy="274320"/>
          </a:xfrm>
          <a:prstGeom prst="rect">
            <a:avLst/>
          </a:prstGeom>
          <a:noFill/>
        </p:spPr>
        <p:txBody>
          <a:bodyPr wrap="none" lIns="0" rIns="0" tIns="0" bIns="0">
            <a:spAutoFit/>
          </a:bodyPr>
          <a:lstStyle/>
          <a:p>
            <a:pPr>
              <a:defRPr sz="1200" b="1">
                <a:solidFill>
                  <a:srgbClr val="FFFFFF"/>
                </a:solidFill>
                <a:latin typeface="Source Sans Pro"/>
              </a:defRPr>
            </a:pPr>
            <a:r>
              <a:t>Brand Purpose (Mission)</a:t>
            </a:r>
          </a:p>
        </p:txBody>
      </p:sp>
      <p:cxnSp>
        <p:nvCxnSpPr>
          <p:cNvPr id="11" name="Connector 10"/>
          <p:cNvCxnSpPr/>
          <p:nvPr/>
        </p:nvCxnSpPr>
        <p:spPr>
          <a:xfrm>
            <a:off x="2331719" y="2670048"/>
            <a:ext cx="36576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743200" y="2560320"/>
            <a:ext cx="274320" cy="274320"/>
          </a:xfrm>
          <a:prstGeom prst="rect">
            <a:avLst/>
          </a:prstGeom>
          <a:noFill/>
        </p:spPr>
        <p:txBody>
          <a:bodyPr wrap="none" lIns="0" tIns="0" bIns="0">
            <a:spAutoFit/>
          </a:bodyPr>
          <a:lstStyle/>
          <a:p>
            <a:pPr>
              <a:defRPr sz="1200" b="1">
                <a:solidFill>
                  <a:srgbClr val="2563EB"/>
                </a:solidFill>
                <a:latin typeface="Source Sans Pro"/>
              </a:defRPr>
            </a:pPr>
            <a:r>
              <a:t>03</a:t>
            </a:r>
          </a:p>
        </p:txBody>
      </p:sp>
      <p:sp>
        <p:nvSpPr>
          <p:cNvPr id="13" name="TextBox 12"/>
          <p:cNvSpPr txBox="1"/>
          <p:nvPr/>
        </p:nvSpPr>
        <p:spPr>
          <a:xfrm>
            <a:off x="3474720" y="1554480"/>
            <a:ext cx="1828800" cy="274320"/>
          </a:xfrm>
          <a:prstGeom prst="rect">
            <a:avLst/>
          </a:prstGeom>
          <a:noFill/>
        </p:spPr>
        <p:txBody>
          <a:bodyPr wrap="none" lIns="0" rIns="0" tIns="0" bIns="0">
            <a:spAutoFit/>
          </a:bodyPr>
          <a:lstStyle/>
          <a:p>
            <a:pPr>
              <a:defRPr sz="1200" b="1">
                <a:solidFill>
                  <a:srgbClr val="FFFFFF"/>
                </a:solidFill>
                <a:latin typeface="Source Sans Pro"/>
              </a:defRPr>
            </a:pPr>
            <a:r>
              <a:t>Brand Purpose (Core Values)</a:t>
            </a:r>
          </a:p>
        </p:txBody>
      </p:sp>
      <p:cxnSp>
        <p:nvCxnSpPr>
          <p:cNvPr id="14" name="Connector 13"/>
          <p:cNvCxnSpPr/>
          <p:nvPr/>
        </p:nvCxnSpPr>
        <p:spPr>
          <a:xfrm>
            <a:off x="5349239" y="1664208"/>
            <a:ext cx="36576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760720" y="1554480"/>
            <a:ext cx="274320" cy="274320"/>
          </a:xfrm>
          <a:prstGeom prst="rect">
            <a:avLst/>
          </a:prstGeom>
          <a:noFill/>
        </p:spPr>
        <p:txBody>
          <a:bodyPr wrap="none" lIns="0" tIns="0" bIns="0">
            <a:spAutoFit/>
          </a:bodyPr>
          <a:lstStyle/>
          <a:p>
            <a:pPr>
              <a:defRPr sz="1200" b="1">
                <a:solidFill>
                  <a:srgbClr val="2563EB"/>
                </a:solidFill>
                <a:latin typeface="Source Sans Pro"/>
              </a:defRPr>
            </a:pPr>
            <a:r>
              <a:t>04</a:t>
            </a:r>
          </a:p>
        </p:txBody>
      </p:sp>
      <p:sp>
        <p:nvSpPr>
          <p:cNvPr id="16" name="TextBox 15"/>
          <p:cNvSpPr txBox="1"/>
          <p:nvPr/>
        </p:nvSpPr>
        <p:spPr>
          <a:xfrm>
            <a:off x="3474720" y="2057400"/>
            <a:ext cx="1828800" cy="274320"/>
          </a:xfrm>
          <a:prstGeom prst="rect">
            <a:avLst/>
          </a:prstGeom>
          <a:noFill/>
        </p:spPr>
        <p:txBody>
          <a:bodyPr wrap="none" lIns="0" rIns="0" tIns="0" bIns="0">
            <a:spAutoFit/>
          </a:bodyPr>
          <a:lstStyle/>
          <a:p>
            <a:pPr>
              <a:defRPr sz="1200" b="1">
                <a:solidFill>
                  <a:srgbClr val="FFFFFF"/>
                </a:solidFill>
                <a:latin typeface="Source Sans Pro"/>
              </a:defRPr>
            </a:pPr>
            <a:r>
              <a:t>Brand Story</a:t>
            </a:r>
          </a:p>
        </p:txBody>
      </p:sp>
      <p:cxnSp>
        <p:nvCxnSpPr>
          <p:cNvPr id="17" name="Connector 16"/>
          <p:cNvCxnSpPr/>
          <p:nvPr/>
        </p:nvCxnSpPr>
        <p:spPr>
          <a:xfrm>
            <a:off x="5349239" y="2167128"/>
            <a:ext cx="36576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760720" y="2057400"/>
            <a:ext cx="274320" cy="274320"/>
          </a:xfrm>
          <a:prstGeom prst="rect">
            <a:avLst/>
          </a:prstGeom>
          <a:noFill/>
        </p:spPr>
        <p:txBody>
          <a:bodyPr wrap="none" lIns="0" tIns="0" bIns="0">
            <a:spAutoFit/>
          </a:bodyPr>
          <a:lstStyle/>
          <a:p>
            <a:pPr>
              <a:defRPr sz="1200" b="1">
                <a:solidFill>
                  <a:srgbClr val="2563EB"/>
                </a:solidFill>
                <a:latin typeface="Source Sans Pro"/>
              </a:defRPr>
            </a:pPr>
            <a:r>
              <a:t>05</a:t>
            </a:r>
          </a:p>
        </p:txBody>
      </p:sp>
      <p:sp>
        <p:nvSpPr>
          <p:cNvPr id="19" name="TextBox 18"/>
          <p:cNvSpPr txBox="1"/>
          <p:nvPr/>
        </p:nvSpPr>
        <p:spPr>
          <a:xfrm>
            <a:off x="3474720" y="2560320"/>
            <a:ext cx="1828800" cy="274320"/>
          </a:xfrm>
          <a:prstGeom prst="rect">
            <a:avLst/>
          </a:prstGeom>
          <a:noFill/>
        </p:spPr>
        <p:txBody>
          <a:bodyPr wrap="none" lIns="0" rIns="0" tIns="0" bIns="0">
            <a:spAutoFit/>
          </a:bodyPr>
          <a:lstStyle/>
          <a:p>
            <a:pPr>
              <a:defRPr sz="1200" b="1">
                <a:solidFill>
                  <a:srgbClr val="FFFFFF"/>
                </a:solidFill>
                <a:latin typeface="Source Sans Pro"/>
              </a:defRPr>
            </a:pPr>
            <a:r>
              <a:t>Logo Variations</a:t>
            </a:r>
          </a:p>
        </p:txBody>
      </p:sp>
      <p:cxnSp>
        <p:nvCxnSpPr>
          <p:cNvPr id="20" name="Connector 19"/>
          <p:cNvCxnSpPr/>
          <p:nvPr/>
        </p:nvCxnSpPr>
        <p:spPr>
          <a:xfrm>
            <a:off x="5349239" y="2670048"/>
            <a:ext cx="36576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760720" y="2560320"/>
            <a:ext cx="274320" cy="274320"/>
          </a:xfrm>
          <a:prstGeom prst="rect">
            <a:avLst/>
          </a:prstGeom>
          <a:noFill/>
        </p:spPr>
        <p:txBody>
          <a:bodyPr wrap="none" lIns="0" tIns="0" bIns="0">
            <a:spAutoFit/>
          </a:bodyPr>
          <a:lstStyle/>
          <a:p>
            <a:pPr>
              <a:defRPr sz="1200" b="1">
                <a:solidFill>
                  <a:srgbClr val="2563EB"/>
                </a:solidFill>
                <a:latin typeface="Source Sans Pro"/>
              </a:defRPr>
            </a:pPr>
            <a:r>
              <a:t>06</a:t>
            </a:r>
          </a:p>
        </p:txBody>
      </p:sp>
      <p:sp>
        <p:nvSpPr>
          <p:cNvPr id="22" name="TextBox 21"/>
          <p:cNvSpPr txBox="1"/>
          <p:nvPr/>
        </p:nvSpPr>
        <p:spPr>
          <a:xfrm>
            <a:off x="3657600" y="2926079"/>
            <a:ext cx="1828800" cy="228600"/>
          </a:xfrm>
          <a:prstGeom prst="rect">
            <a:avLst/>
          </a:prstGeom>
          <a:noFill/>
        </p:spPr>
        <p:txBody>
          <a:bodyPr wrap="none" lIns="0" tIns="0" bIns="0">
            <a:spAutoFit/>
          </a:bodyPr>
          <a:lstStyle/>
          <a:p>
            <a:pPr>
              <a:defRPr sz="900" b="0">
                <a:solidFill>
                  <a:srgbClr val="CCCCCC"/>
                </a:solidFill>
                <a:latin typeface="Source Sans Pro"/>
              </a:defRPr>
            </a:pPr>
            <a:r>
              <a:t>Logo Mark</a:t>
            </a:r>
          </a:p>
        </p:txBody>
      </p:sp>
      <p:sp>
        <p:nvSpPr>
          <p:cNvPr id="23" name="TextBox 22"/>
          <p:cNvSpPr txBox="1"/>
          <p:nvPr/>
        </p:nvSpPr>
        <p:spPr>
          <a:xfrm>
            <a:off x="3657600" y="3154679"/>
            <a:ext cx="1828800" cy="228600"/>
          </a:xfrm>
          <a:prstGeom prst="rect">
            <a:avLst/>
          </a:prstGeom>
          <a:noFill/>
        </p:spPr>
        <p:txBody>
          <a:bodyPr wrap="none" lIns="0" tIns="0" bIns="0">
            <a:spAutoFit/>
          </a:bodyPr>
          <a:lstStyle/>
          <a:p>
            <a:pPr>
              <a:defRPr sz="900" b="0">
                <a:solidFill>
                  <a:srgbClr val="CCCCCC"/>
                </a:solidFill>
                <a:latin typeface="Source Sans Pro"/>
              </a:defRPr>
            </a:pPr>
            <a:r>
              <a:t>Clear Space</a:t>
            </a:r>
          </a:p>
        </p:txBody>
      </p:sp>
      <p:sp>
        <p:nvSpPr>
          <p:cNvPr id="24" name="TextBox 23"/>
          <p:cNvSpPr txBox="1"/>
          <p:nvPr/>
        </p:nvSpPr>
        <p:spPr>
          <a:xfrm>
            <a:off x="3657600" y="3383279"/>
            <a:ext cx="1828800" cy="228600"/>
          </a:xfrm>
          <a:prstGeom prst="rect">
            <a:avLst/>
          </a:prstGeom>
          <a:noFill/>
        </p:spPr>
        <p:txBody>
          <a:bodyPr wrap="none" lIns="0" tIns="0" bIns="0">
            <a:spAutoFit/>
          </a:bodyPr>
          <a:lstStyle/>
          <a:p>
            <a:pPr>
              <a:defRPr sz="900" b="0">
                <a:solidFill>
                  <a:srgbClr val="CCCCCC"/>
                </a:solidFill>
                <a:latin typeface="Source Sans Pro"/>
              </a:defRPr>
            </a:pPr>
            <a:r>
              <a:t>Usage Guidelines</a:t>
            </a:r>
          </a:p>
        </p:txBody>
      </p:sp>
      <p:sp>
        <p:nvSpPr>
          <p:cNvPr id="25" name="TextBox 24"/>
          <p:cNvSpPr txBox="1"/>
          <p:nvPr/>
        </p:nvSpPr>
        <p:spPr>
          <a:xfrm>
            <a:off x="6492240" y="1554480"/>
            <a:ext cx="1828800" cy="274320"/>
          </a:xfrm>
          <a:prstGeom prst="rect">
            <a:avLst/>
          </a:prstGeom>
          <a:noFill/>
        </p:spPr>
        <p:txBody>
          <a:bodyPr wrap="none" lIns="0" rIns="0" tIns="0" bIns="0">
            <a:spAutoFit/>
          </a:bodyPr>
          <a:lstStyle/>
          <a:p>
            <a:pPr>
              <a:defRPr sz="1200" b="1">
                <a:solidFill>
                  <a:srgbClr val="FFFFFF"/>
                </a:solidFill>
                <a:latin typeface="Source Sans Pro"/>
              </a:defRPr>
            </a:pPr>
            <a:r>
              <a:t>Brand Colors</a:t>
            </a:r>
          </a:p>
        </p:txBody>
      </p:sp>
      <p:cxnSp>
        <p:nvCxnSpPr>
          <p:cNvPr id="26" name="Connector 25"/>
          <p:cNvCxnSpPr/>
          <p:nvPr/>
        </p:nvCxnSpPr>
        <p:spPr>
          <a:xfrm>
            <a:off x="8366759" y="1664208"/>
            <a:ext cx="36576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778240" y="1554480"/>
            <a:ext cx="274320" cy="274320"/>
          </a:xfrm>
          <a:prstGeom prst="rect">
            <a:avLst/>
          </a:prstGeom>
          <a:noFill/>
        </p:spPr>
        <p:txBody>
          <a:bodyPr wrap="none" lIns="0" tIns="0" bIns="0">
            <a:spAutoFit/>
          </a:bodyPr>
          <a:lstStyle/>
          <a:p>
            <a:pPr>
              <a:defRPr sz="1200" b="1">
                <a:solidFill>
                  <a:srgbClr val="2563EB"/>
                </a:solidFill>
                <a:latin typeface="Source Sans Pro"/>
              </a:defRPr>
            </a:pPr>
            <a:r>
              <a:t>07</a:t>
            </a:r>
          </a:p>
        </p:txBody>
      </p:sp>
      <p:sp>
        <p:nvSpPr>
          <p:cNvPr id="28" name="TextBox 27"/>
          <p:cNvSpPr txBox="1"/>
          <p:nvPr/>
        </p:nvSpPr>
        <p:spPr>
          <a:xfrm>
            <a:off x="6675120" y="1920240"/>
            <a:ext cx="1828800" cy="228600"/>
          </a:xfrm>
          <a:prstGeom prst="rect">
            <a:avLst/>
          </a:prstGeom>
          <a:noFill/>
        </p:spPr>
        <p:txBody>
          <a:bodyPr wrap="none" lIns="0" tIns="0" bIns="0">
            <a:spAutoFit/>
          </a:bodyPr>
          <a:lstStyle/>
          <a:p>
            <a:pPr>
              <a:defRPr sz="900" b="0">
                <a:solidFill>
                  <a:srgbClr val="CCCCCC"/>
                </a:solidFill>
                <a:latin typeface="Source Sans Pro"/>
              </a:defRPr>
            </a:pPr>
            <a:r>
              <a:t>Primary Colors</a:t>
            </a:r>
          </a:p>
        </p:txBody>
      </p:sp>
      <p:sp>
        <p:nvSpPr>
          <p:cNvPr id="29" name="TextBox 28"/>
          <p:cNvSpPr txBox="1"/>
          <p:nvPr/>
        </p:nvSpPr>
        <p:spPr>
          <a:xfrm>
            <a:off x="6675120" y="2148840"/>
            <a:ext cx="1828800" cy="228600"/>
          </a:xfrm>
          <a:prstGeom prst="rect">
            <a:avLst/>
          </a:prstGeom>
          <a:noFill/>
        </p:spPr>
        <p:txBody>
          <a:bodyPr wrap="none" lIns="0" tIns="0" bIns="0">
            <a:spAutoFit/>
          </a:bodyPr>
          <a:lstStyle/>
          <a:p>
            <a:pPr>
              <a:defRPr sz="900" b="0">
                <a:solidFill>
                  <a:srgbClr val="CCCCCC"/>
                </a:solidFill>
                <a:latin typeface="Source Sans Pro"/>
              </a:defRPr>
            </a:pPr>
            <a:r>
              <a:t>Secondary Colors</a:t>
            </a:r>
          </a:p>
        </p:txBody>
      </p:sp>
      <p:sp>
        <p:nvSpPr>
          <p:cNvPr id="30" name="TextBox 29"/>
          <p:cNvSpPr txBox="1"/>
          <p:nvPr/>
        </p:nvSpPr>
        <p:spPr>
          <a:xfrm>
            <a:off x="6675120" y="2377440"/>
            <a:ext cx="1828800" cy="228600"/>
          </a:xfrm>
          <a:prstGeom prst="rect">
            <a:avLst/>
          </a:prstGeom>
          <a:noFill/>
        </p:spPr>
        <p:txBody>
          <a:bodyPr wrap="none" lIns="0" tIns="0" bIns="0">
            <a:spAutoFit/>
          </a:bodyPr>
          <a:lstStyle/>
          <a:p>
            <a:pPr>
              <a:defRPr sz="900" b="0">
                <a:solidFill>
                  <a:srgbClr val="CCCCCC"/>
                </a:solidFill>
                <a:latin typeface="Source Sans Pro"/>
              </a:defRPr>
            </a:pPr>
            <a:r>
              <a:t>Color Usage</a:t>
            </a:r>
          </a:p>
        </p:txBody>
      </p:sp>
      <p:sp>
        <p:nvSpPr>
          <p:cNvPr id="31" name="TextBox 30"/>
          <p:cNvSpPr txBox="1"/>
          <p:nvPr/>
        </p:nvSpPr>
        <p:spPr>
          <a:xfrm>
            <a:off x="6492240" y="2743200"/>
            <a:ext cx="1828800" cy="274320"/>
          </a:xfrm>
          <a:prstGeom prst="rect">
            <a:avLst/>
          </a:prstGeom>
          <a:noFill/>
        </p:spPr>
        <p:txBody>
          <a:bodyPr wrap="none" lIns="0" rIns="0" tIns="0" bIns="0">
            <a:spAutoFit/>
          </a:bodyPr>
          <a:lstStyle/>
          <a:p>
            <a:pPr>
              <a:defRPr sz="1200" b="1">
                <a:solidFill>
                  <a:srgbClr val="FFFFFF"/>
                </a:solidFill>
                <a:latin typeface="Source Sans Pro"/>
              </a:defRPr>
            </a:pPr>
            <a:r>
              <a:t>Typography</a:t>
            </a:r>
          </a:p>
        </p:txBody>
      </p:sp>
      <p:cxnSp>
        <p:nvCxnSpPr>
          <p:cNvPr id="32" name="Connector 31"/>
          <p:cNvCxnSpPr/>
          <p:nvPr/>
        </p:nvCxnSpPr>
        <p:spPr>
          <a:xfrm>
            <a:off x="8366759" y="2852928"/>
            <a:ext cx="36576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778240" y="2743200"/>
            <a:ext cx="274320" cy="274320"/>
          </a:xfrm>
          <a:prstGeom prst="rect">
            <a:avLst/>
          </a:prstGeom>
          <a:noFill/>
        </p:spPr>
        <p:txBody>
          <a:bodyPr wrap="none" lIns="0" tIns="0" bIns="0">
            <a:spAutoFit/>
          </a:bodyPr>
          <a:lstStyle/>
          <a:p>
            <a:pPr>
              <a:defRPr sz="1200" b="1">
                <a:solidFill>
                  <a:srgbClr val="2563EB"/>
                </a:solidFill>
                <a:latin typeface="Source Sans Pro"/>
              </a:defRPr>
            </a:pPr>
            <a:r>
              <a:t>08</a:t>
            </a:r>
          </a:p>
        </p:txBody>
      </p:sp>
      <p:sp>
        <p:nvSpPr>
          <p:cNvPr id="34" name="TextBox 33"/>
          <p:cNvSpPr txBox="1"/>
          <p:nvPr/>
        </p:nvSpPr>
        <p:spPr>
          <a:xfrm>
            <a:off x="6675120" y="3108960"/>
            <a:ext cx="1828800" cy="228600"/>
          </a:xfrm>
          <a:prstGeom prst="rect">
            <a:avLst/>
          </a:prstGeom>
          <a:noFill/>
        </p:spPr>
        <p:txBody>
          <a:bodyPr wrap="none" lIns="0" tIns="0" bIns="0">
            <a:spAutoFit/>
          </a:bodyPr>
          <a:lstStyle/>
          <a:p>
            <a:pPr>
              <a:defRPr sz="900" b="0">
                <a:solidFill>
                  <a:srgbClr val="CCCCCC"/>
                </a:solidFill>
                <a:latin typeface="Source Sans Pro"/>
              </a:defRPr>
            </a:pPr>
            <a:r>
              <a:t>Brand Font</a:t>
            </a:r>
          </a:p>
        </p:txBody>
      </p:sp>
      <p:sp>
        <p:nvSpPr>
          <p:cNvPr id="35" name="TextBox 34"/>
          <p:cNvSpPr txBox="1"/>
          <p:nvPr/>
        </p:nvSpPr>
        <p:spPr>
          <a:xfrm>
            <a:off x="6675120" y="3337560"/>
            <a:ext cx="1828800" cy="228600"/>
          </a:xfrm>
          <a:prstGeom prst="rect">
            <a:avLst/>
          </a:prstGeom>
          <a:noFill/>
        </p:spPr>
        <p:txBody>
          <a:bodyPr wrap="none" lIns="0" tIns="0" bIns="0">
            <a:spAutoFit/>
          </a:bodyPr>
          <a:lstStyle/>
          <a:p>
            <a:pPr>
              <a:defRPr sz="900" b="0">
                <a:solidFill>
                  <a:srgbClr val="CCCCCC"/>
                </a:solidFill>
                <a:latin typeface="Source Sans Pro"/>
              </a:defRPr>
            </a:pPr>
            <a:r>
              <a:t>Font Usage</a:t>
            </a:r>
          </a:p>
        </p:txBody>
      </p:sp>
      <p:sp>
        <p:nvSpPr>
          <p:cNvPr id="36" name="TextBox 35"/>
          <p:cNvSpPr txBox="1"/>
          <p:nvPr/>
        </p:nvSpPr>
        <p:spPr>
          <a:xfrm>
            <a:off x="6675120" y="3566160"/>
            <a:ext cx="1828800" cy="228600"/>
          </a:xfrm>
          <a:prstGeom prst="rect">
            <a:avLst/>
          </a:prstGeom>
          <a:noFill/>
        </p:spPr>
        <p:txBody>
          <a:bodyPr wrap="none" lIns="0" tIns="0" bIns="0">
            <a:spAutoFit/>
          </a:bodyPr>
          <a:lstStyle/>
          <a:p>
            <a:pPr>
              <a:defRPr sz="900" b="0">
                <a:solidFill>
                  <a:srgbClr val="CCCCCC"/>
                </a:solidFill>
                <a:latin typeface="Source Sans Pro"/>
              </a:defRPr>
            </a:pPr>
            <a:r>
              <a:t>Text Hierarchy</a:t>
            </a:r>
          </a:p>
        </p:txBody>
      </p:sp>
      <p:sp>
        <p:nvSpPr>
          <p:cNvPr id="37" name="TextBox 36"/>
          <p:cNvSpPr txBox="1"/>
          <p:nvPr/>
        </p:nvSpPr>
        <p:spPr>
          <a:xfrm>
            <a:off x="6492240" y="3931920"/>
            <a:ext cx="1828800" cy="274320"/>
          </a:xfrm>
          <a:prstGeom prst="rect">
            <a:avLst/>
          </a:prstGeom>
          <a:noFill/>
        </p:spPr>
        <p:txBody>
          <a:bodyPr wrap="none" lIns="0" rIns="0" tIns="0" bIns="0">
            <a:spAutoFit/>
          </a:bodyPr>
          <a:lstStyle/>
          <a:p>
            <a:pPr>
              <a:defRPr sz="1200" b="1">
                <a:solidFill>
                  <a:srgbClr val="FFFFFF"/>
                </a:solidFill>
                <a:latin typeface="Source Sans Pro"/>
              </a:defRPr>
            </a:pPr>
            <a:r>
              <a:t>Visual Guidelines</a:t>
            </a:r>
          </a:p>
        </p:txBody>
      </p:sp>
      <p:cxnSp>
        <p:nvCxnSpPr>
          <p:cNvPr id="38" name="Connector 37"/>
          <p:cNvCxnSpPr/>
          <p:nvPr/>
        </p:nvCxnSpPr>
        <p:spPr>
          <a:xfrm>
            <a:off x="8366759" y="4041648"/>
            <a:ext cx="36576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778240" y="3931920"/>
            <a:ext cx="274320" cy="274320"/>
          </a:xfrm>
          <a:prstGeom prst="rect">
            <a:avLst/>
          </a:prstGeom>
          <a:noFill/>
        </p:spPr>
        <p:txBody>
          <a:bodyPr wrap="none" lIns="0" tIns="0" bIns="0">
            <a:spAutoFit/>
          </a:bodyPr>
          <a:lstStyle/>
          <a:p>
            <a:pPr>
              <a:defRPr sz="1200" b="1">
                <a:solidFill>
                  <a:srgbClr val="2563EB"/>
                </a:solidFill>
                <a:latin typeface="Source Sans Pro"/>
              </a:defRPr>
            </a:pPr>
            <a:r>
              <a:t>09</a:t>
            </a:r>
          </a:p>
        </p:txBody>
      </p:sp>
      <p:sp>
        <p:nvSpPr>
          <p:cNvPr id="40" name="TextBox 39"/>
          <p:cNvSpPr txBox="1"/>
          <p:nvPr/>
        </p:nvSpPr>
        <p:spPr>
          <a:xfrm>
            <a:off x="6675120" y="4297680"/>
            <a:ext cx="1828800" cy="228600"/>
          </a:xfrm>
          <a:prstGeom prst="rect">
            <a:avLst/>
          </a:prstGeom>
          <a:noFill/>
        </p:spPr>
        <p:txBody>
          <a:bodyPr wrap="none" lIns="0" tIns="0" bIns="0">
            <a:spAutoFit/>
          </a:bodyPr>
          <a:lstStyle/>
          <a:p>
            <a:pPr>
              <a:defRPr sz="900" b="0">
                <a:solidFill>
                  <a:srgbClr val="CCCCCC"/>
                </a:solidFill>
                <a:latin typeface="Source Sans Pro"/>
              </a:defRPr>
            </a:pPr>
            <a:r>
              <a:t>Visual Style</a:t>
            </a:r>
          </a:p>
        </p:txBody>
      </p:sp>
      <p:sp>
        <p:nvSpPr>
          <p:cNvPr id="41" name="TextBox 40"/>
          <p:cNvSpPr txBox="1"/>
          <p:nvPr/>
        </p:nvSpPr>
        <p:spPr>
          <a:xfrm>
            <a:off x="6675120" y="4526280"/>
            <a:ext cx="1828800" cy="228600"/>
          </a:xfrm>
          <a:prstGeom prst="rect">
            <a:avLst/>
          </a:prstGeom>
          <a:noFill/>
        </p:spPr>
        <p:txBody>
          <a:bodyPr wrap="none" lIns="0" tIns="0" bIns="0">
            <a:spAutoFit/>
          </a:bodyPr>
          <a:lstStyle/>
          <a:p>
            <a:pPr>
              <a:defRPr sz="900" b="0">
                <a:solidFill>
                  <a:srgbClr val="CCCCCC"/>
                </a:solidFill>
                <a:latin typeface="Source Sans Pro"/>
              </a:defRPr>
            </a:pPr>
            <a:r>
              <a:t>Photography</a:t>
            </a:r>
          </a:p>
        </p:txBody>
      </p:sp>
      <p:sp>
        <p:nvSpPr>
          <p:cNvPr id="42" name="TextBox 41"/>
          <p:cNvSpPr txBox="1"/>
          <p:nvPr/>
        </p:nvSpPr>
        <p:spPr>
          <a:xfrm>
            <a:off x="6675120" y="4754880"/>
            <a:ext cx="1828800" cy="228600"/>
          </a:xfrm>
          <a:prstGeom prst="rect">
            <a:avLst/>
          </a:prstGeom>
          <a:noFill/>
        </p:spPr>
        <p:txBody>
          <a:bodyPr wrap="none" lIns="0" tIns="0" bIns="0">
            <a:spAutoFit/>
          </a:bodyPr>
          <a:lstStyle/>
          <a:p>
            <a:pPr>
              <a:defRPr sz="900" b="0">
                <a:solidFill>
                  <a:srgbClr val="CCCCCC"/>
                </a:solidFill>
                <a:latin typeface="Source Sans Pro"/>
              </a:defRPr>
            </a:pPr>
            <a:r>
              <a:t>Imagery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Source Sans Pro"/>
              </a:defRPr>
            </a:pPr>
            <a:r>
              <a:t>Welcome to MARQAIT's brand identity system presentation, where innovation meets precision. Our system ensures an internationally engaging, consistent, and proprietary brand presentation, reflecting our AI-Native approach and commitment to empowering businesses through distinctive Technology, AI Innovation solutions. Stay tuned to discover how we embody the essence of forward-thinking creativity in the Technology, AI Innovation landscape.</a:t>
            </a:r>
          </a:p>
        </p:txBody>
      </p:sp>
      <p:cxnSp>
        <p:nvCxnSpPr>
          <p:cNvPr id="3" name="Connector 2"/>
          <p:cNvCxnSpPr/>
          <p:nvPr/>
        </p:nvCxnSpPr>
        <p:spPr>
          <a:xfrm>
            <a:off x="457200" y="4914900.0"/>
            <a:ext cx="8229600" cy="0.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3657600" cy="731520"/>
          </a:xfrm>
          <a:prstGeom prst="rect">
            <a:avLst/>
          </a:prstGeom>
          <a:noFill/>
        </p:spPr>
        <p:txBody>
          <a:bodyPr wrap="none">
            <a:spAutoFit/>
          </a:bodyPr>
          <a:lstStyle/>
          <a:p>
            <a:pPr algn="l">
              <a:defRPr sz="2800" b="1">
                <a:solidFill>
                  <a:srgbClr val="2563EB"/>
                </a:solidFill>
                <a:latin typeface="Inter"/>
              </a:defRPr>
            </a:pPr>
            <a:r>
              <a:t>INTRODUCTION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Source Sans Pro"/>
              </a:defRPr>
            </a:pPr>
            <a:r>
              <a:t>At MARQAIT, we envision a future where Technology and AI Innovation seamlessly empower Startup founders, Small &amp; Medium Businesses (SMBs), Growth-stage companies, Digital-first brands, Marketing teams, and Entrepreneurs seeking automation. We strive to be the catalyst for businesses scaling with AI, driving transformative growth and efficiency in the digital landscape.</a:t>
            </a:r>
          </a:p>
        </p:txBody>
      </p:sp>
      <p:cxnSp>
        <p:nvCxnSpPr>
          <p:cNvPr id="3" name="Connector 2"/>
          <p:cNvCxnSpPr/>
          <p:nvPr/>
        </p:nvCxnSpPr>
        <p:spPr>
          <a:xfrm>
            <a:off x="457200" y="4914900.0"/>
            <a:ext cx="8229600" cy="0.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2563EB"/>
                </a:solidFill>
                <a:latin typeface="Inter"/>
              </a:defRPr>
            </a:pPr>
            <a:r>
              <a:t>VISION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Source Sans Pro"/>
              </a:defRPr>
            </a:pPr>
            <a:r>
              <a:t>MARQAIT is dedicated to providing distinctive Technology and AI Innovation solutions tailored to the unique needs of Startup founders, Small &amp; Medium Businesses (SMBs), Growth-stage companies, Digital-first brands, Marketing teams, and Entrepreneurs seeking automation. Our mission is to revolutionize the industry through user-centric design, fostering innovation and driving sustainable success for our clients.</a:t>
            </a:r>
          </a:p>
        </p:txBody>
      </p:sp>
      <p:cxnSp>
        <p:nvCxnSpPr>
          <p:cNvPr id="3" name="Connector 2"/>
          <p:cNvCxnSpPr/>
          <p:nvPr/>
        </p:nvCxnSpPr>
        <p:spPr>
          <a:xfrm>
            <a:off x="457200" y="4914900.0"/>
            <a:ext cx="8229600" cy="0.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2563EB"/>
                </a:solidFill>
                <a:latin typeface="Inter"/>
              </a:defRPr>
            </a:pPr>
            <a:r>
              <a:t>MISSION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Source Sans Pro"/>
              </a:defRPr>
            </a:pPr>
            <a:r>
              <a:t>In our pursuit of excellence, we embody the core values of being AI-Native, fostering Innovation, embracing Simplicity, prioritizing Speed, maintaining Precision, promoting Collaboration, staying Customer-Centric, ensuring Scalability, upholding Transparency, and being inherently Growth-Oriented. These values guide us in every interaction, decision, and solution we deliver, driving meaningful impact in the Technology and AI Innovation space for businesses of all scales.</a:t>
            </a:r>
          </a:p>
        </p:txBody>
      </p:sp>
      <p:cxnSp>
        <p:nvCxnSpPr>
          <p:cNvPr id="3" name="Connector 2"/>
          <p:cNvCxnSpPr/>
          <p:nvPr/>
        </p:nvCxnSpPr>
        <p:spPr>
          <a:xfrm>
            <a:off x="457200" y="4914900.0"/>
            <a:ext cx="8229600" cy="0.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2563EB"/>
                </a:solidFill>
                <a:latin typeface="Inter"/>
              </a:defRPr>
            </a:pPr>
            <a:r>
              <a:t>CORE VALUES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Brand Story (1/2)</a:t>
            </a:r>
          </a:p>
        </p:txBody>
      </p:sp>
      <p:sp>
        <p:nvSpPr>
          <p:cNvPr id="4" name="TextBox 3"/>
          <p:cNvSpPr txBox="1"/>
          <p:nvPr/>
        </p:nvSpPr>
        <p:spPr>
          <a:xfrm>
            <a:off x="1143000" y="1943100"/>
            <a:ext cx="6858000" cy="2971800"/>
          </a:xfrm>
          <a:prstGeom prst="rect">
            <a:avLst/>
          </a:prstGeom>
          <a:noFill/>
        </p:spPr>
        <p:txBody>
          <a:bodyPr wrap="square">
            <a:spAutoFit/>
          </a:bodyPr>
          <a:lstStyle/>
          <a:p>
            <a:pPr>
              <a:defRPr sz="1600" b="0">
                <a:solidFill>
                  <a:srgbClr val="FFFFFF"/>
                </a:solidFill>
                <a:latin typeface="Source Sans Pro"/>
              </a:defRPr>
            </a:pPr>
            <a:r>
              <a:t>In a world where technology is evolving at an unprecedented pace, where AI is revolutionizing industries, and where businesses are constantly seeking ways to innovate and grow, there stands a beacon of light for startup founders, small and medium businesses, growth-stage companies, digital-first brands, and marketing teams. That beacon is MARQAIT - a trailblazer in the realm of Technology and AI Innovation. At MARQAIT, we believe in the power of AI to transform businesses, streamline processes, and drive growth. Our core values of AI-Native, Innovation, Simplicity, Speed, Precision, Collaboration, Customer-Centricity, Scalability, Transparency, and Growth-Oriented mindset are at the heart of everything we do.</a:t>
            </a:r>
          </a:p>
        </p:txBody>
      </p:sp>
      <p:sp>
        <p:nvSpPr>
          <p:cNvPr id="5" name="TextBox 4"/>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MARQAIT</a:t>
            </a:r>
          </a:p>
        </p:txBody>
      </p:sp>
      <p:sp>
        <p:nvSpPr>
          <p:cNvPr id="6" name="TextBox 5"/>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Brand Story (2/2)</a:t>
            </a:r>
          </a:p>
        </p:txBody>
      </p:sp>
      <p:sp>
        <p:nvSpPr>
          <p:cNvPr id="4" name="TextBox 3"/>
          <p:cNvSpPr txBox="1"/>
          <p:nvPr/>
        </p:nvSpPr>
        <p:spPr>
          <a:xfrm>
            <a:off x="1143000" y="1943100"/>
            <a:ext cx="6858000" cy="2971800"/>
          </a:xfrm>
          <a:prstGeom prst="rect">
            <a:avLst/>
          </a:prstGeom>
          <a:noFill/>
        </p:spPr>
        <p:txBody>
          <a:bodyPr wrap="square">
            <a:spAutoFit/>
          </a:bodyPr>
          <a:lstStyle/>
          <a:p>
            <a:pPr>
              <a:defRPr sz="1600" b="0">
                <a:solidFill>
                  <a:srgbClr val="FFFFFF"/>
                </a:solidFill>
                <a:latin typeface="Source Sans Pro"/>
              </a:defRPr>
            </a:pPr>
            <a:r>
              <a:t>We are not just a technology company; we are a partner in your journey towards success. Imagine a world where your business operations are optimized with precision, where your marketing efforts are data-driven and effective, where your decision-making is powered by insights and intelligence. This is the world that MARQAIT is building for you. Our brand promise is simple yet profound - we empower startup founders, SMBs, growth-stage companies, digital-first brands, and entrepreneurs seeking automation to scale their businesses with innovative Technology and AI Innovation solutions. We understand the challenges you face, and we are here to...</a:t>
            </a:r>
          </a:p>
        </p:txBody>
      </p:sp>
      <p:sp>
        <p:nvSpPr>
          <p:cNvPr id="5" name="TextBox 4"/>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MARQAIT</a:t>
            </a:r>
          </a:p>
        </p:txBody>
      </p:sp>
      <p:sp>
        <p:nvSpPr>
          <p:cNvPr id="6" name="TextBox 5"/>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Logo Variations (3 designs)</a:t>
            </a:r>
          </a:p>
        </p:txBody>
      </p:sp>
      <p:sp>
        <p:nvSpPr>
          <p:cNvPr id="4" name="Rectangle 3"/>
          <p:cNvSpPr/>
          <p:nvPr/>
        </p:nvSpPr>
        <p:spPr>
          <a:xfrm>
            <a:off x="1051560" y="1851660"/>
            <a:ext cx="1554480" cy="1668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arqait_logo_1_20250828_214121_5acd8ff9.png"/>
          <p:cNvPicPr>
            <a:picLocks noChangeAspect="1"/>
          </p:cNvPicPr>
          <p:nvPr/>
        </p:nvPicPr>
        <p:blipFill>
          <a:blip r:embed="rId2"/>
          <a:stretch>
            <a:fillRect/>
          </a:stretch>
        </p:blipFill>
        <p:spPr>
          <a:xfrm>
            <a:off x="1143000" y="1943100"/>
            <a:ext cx="1371600" cy="1485900"/>
          </a:xfrm>
          <a:prstGeom prst="rect">
            <a:avLst/>
          </a:prstGeom>
        </p:spPr>
      </p:pic>
      <p:sp>
        <p:nvSpPr>
          <p:cNvPr id="6" name="TextBox 5"/>
          <p:cNvSpPr txBox="1"/>
          <p:nvPr/>
        </p:nvSpPr>
        <p:spPr>
          <a:xfrm>
            <a:off x="1143000" y="3429000"/>
            <a:ext cx="1371600" cy="742950"/>
          </a:xfrm>
          <a:prstGeom prst="rect">
            <a:avLst/>
          </a:prstGeom>
          <a:noFill/>
        </p:spPr>
        <p:txBody>
          <a:bodyPr wrap="none">
            <a:spAutoFit/>
          </a:bodyPr>
          <a:lstStyle/>
          <a:p>
            <a:pPr algn="ctr">
              <a:defRPr sz="1200" b="0">
                <a:solidFill>
                  <a:srgbClr val="FFFFFF"/>
                </a:solidFill>
                <a:latin typeface="Source Sans Pro"/>
              </a:defRPr>
            </a:pPr>
            <a:r>
              <a:t>Version 1</a:t>
            </a:r>
          </a:p>
        </p:txBody>
      </p:sp>
      <p:sp>
        <p:nvSpPr>
          <p:cNvPr id="7" name="Rectangle 6"/>
          <p:cNvSpPr/>
          <p:nvPr/>
        </p:nvSpPr>
        <p:spPr>
          <a:xfrm>
            <a:off x="3108960" y="1851660"/>
            <a:ext cx="1554480" cy="1668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arqait_logo_2_20250828_214144_600894cf.png"/>
          <p:cNvPicPr>
            <a:picLocks noChangeAspect="1"/>
          </p:cNvPicPr>
          <p:nvPr/>
        </p:nvPicPr>
        <p:blipFill>
          <a:blip r:embed="rId3"/>
          <a:stretch>
            <a:fillRect/>
          </a:stretch>
        </p:blipFill>
        <p:spPr>
          <a:xfrm>
            <a:off x="3200400" y="1943100"/>
            <a:ext cx="1371600" cy="1485900"/>
          </a:xfrm>
          <a:prstGeom prst="rect">
            <a:avLst/>
          </a:prstGeom>
        </p:spPr>
      </p:pic>
      <p:sp>
        <p:nvSpPr>
          <p:cNvPr id="9" name="TextBox 8"/>
          <p:cNvSpPr txBox="1"/>
          <p:nvPr/>
        </p:nvSpPr>
        <p:spPr>
          <a:xfrm>
            <a:off x="3200400" y="3429000"/>
            <a:ext cx="1371600" cy="742950"/>
          </a:xfrm>
          <a:prstGeom prst="rect">
            <a:avLst/>
          </a:prstGeom>
          <a:noFill/>
        </p:spPr>
        <p:txBody>
          <a:bodyPr wrap="none">
            <a:spAutoFit/>
          </a:bodyPr>
          <a:lstStyle/>
          <a:p>
            <a:pPr algn="ctr">
              <a:defRPr sz="1200" b="0">
                <a:solidFill>
                  <a:srgbClr val="FFFFFF"/>
                </a:solidFill>
                <a:latin typeface="Source Sans Pro"/>
              </a:defRPr>
            </a:pPr>
            <a:r>
              <a:t>Version 2</a:t>
            </a:r>
          </a:p>
        </p:txBody>
      </p:sp>
      <p:sp>
        <p:nvSpPr>
          <p:cNvPr id="10" name="Rectangle 9"/>
          <p:cNvSpPr/>
          <p:nvPr/>
        </p:nvSpPr>
        <p:spPr>
          <a:xfrm>
            <a:off x="5166360" y="1851660"/>
            <a:ext cx="1554480" cy="1668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arqait_logo_3_20250828_214207_070b2429.png"/>
          <p:cNvPicPr>
            <a:picLocks noChangeAspect="1"/>
          </p:cNvPicPr>
          <p:nvPr/>
        </p:nvPicPr>
        <p:blipFill>
          <a:blip r:embed="rId4"/>
          <a:stretch>
            <a:fillRect/>
          </a:stretch>
        </p:blipFill>
        <p:spPr>
          <a:xfrm>
            <a:off x="5257800" y="1943100"/>
            <a:ext cx="1371600" cy="1485900"/>
          </a:xfrm>
          <a:prstGeom prst="rect">
            <a:avLst/>
          </a:prstGeom>
        </p:spPr>
      </p:pic>
      <p:sp>
        <p:nvSpPr>
          <p:cNvPr id="12" name="TextBox 11"/>
          <p:cNvSpPr txBox="1"/>
          <p:nvPr/>
        </p:nvSpPr>
        <p:spPr>
          <a:xfrm>
            <a:off x="5257800" y="3429000"/>
            <a:ext cx="1371600" cy="742950"/>
          </a:xfrm>
          <a:prstGeom prst="rect">
            <a:avLst/>
          </a:prstGeom>
          <a:noFill/>
        </p:spPr>
        <p:txBody>
          <a:bodyPr wrap="none">
            <a:spAutoFit/>
          </a:bodyPr>
          <a:lstStyle/>
          <a:p>
            <a:pPr algn="ctr">
              <a:defRPr sz="1200" b="0">
                <a:solidFill>
                  <a:srgbClr val="FFFFFF"/>
                </a:solidFill>
                <a:latin typeface="Source Sans Pro"/>
              </a:defRPr>
            </a:pPr>
            <a:r>
              <a:t>Version 3</a:t>
            </a:r>
          </a:p>
        </p:txBody>
      </p:sp>
      <p:sp>
        <p:nvSpPr>
          <p:cNvPr id="13" name="TextBox 12"/>
          <p:cNvSpPr txBox="1"/>
          <p:nvPr/>
        </p:nvSpPr>
        <p:spPr>
          <a:xfrm>
            <a:off x="1143000" y="4914900"/>
            <a:ext cx="7543800" cy="742950"/>
          </a:xfrm>
          <a:prstGeom prst="rect">
            <a:avLst/>
          </a:prstGeom>
          <a:noFill/>
        </p:spPr>
        <p:txBody>
          <a:bodyPr wrap="none">
            <a:spAutoFit/>
          </a:bodyPr>
          <a:lstStyle/>
          <a:p>
            <a:pPr algn="ctr">
              <a:defRPr sz="1200" b="0">
                <a:solidFill>
                  <a:srgbClr val="FFFFFF"/>
                </a:solidFill>
                <a:latin typeface="Source Sans Pro"/>
              </a:defRPr>
            </a:pPr>
            <a:r>
              <a:t>Minimum size: 0.5 inches • Clearspace: 0.25 inches on all sides</a:t>
            </a:r>
          </a:p>
        </p:txBody>
      </p:sp>
      <p:sp>
        <p:nvSpPr>
          <p:cNvPr id="14" name="TextBox 13"/>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MARQAIT</a:t>
            </a:r>
          </a:p>
        </p:txBody>
      </p:sp>
      <p:sp>
        <p:nvSpPr>
          <p:cNvPr id="15" name="TextBox 14"/>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Color Palette</a:t>
            </a:r>
          </a:p>
        </p:txBody>
      </p:sp>
      <p:sp>
        <p:nvSpPr>
          <p:cNvPr id="4" name="Rectangle 3"/>
          <p:cNvSpPr/>
          <p:nvPr/>
        </p:nvSpPr>
        <p:spPr>
          <a:xfrm>
            <a:off x="1143000" y="1943100"/>
            <a:ext cx="2057400" cy="1485900"/>
          </a:xfrm>
          <a:prstGeom prst="rect">
            <a:avLst/>
          </a:prstGeom>
          <a:solidFill>
            <a:srgbClr val="2563E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3429000"/>
            <a:ext cx="2057400" cy="1485900"/>
          </a:xfrm>
          <a:prstGeom prst="rect">
            <a:avLst/>
          </a:prstGeom>
          <a:noFill/>
        </p:spPr>
        <p:txBody>
          <a:bodyPr wrap="square">
            <a:spAutoFit/>
          </a:bodyPr>
          <a:lstStyle/>
          <a:p>
            <a:pPr>
              <a:defRPr sz="1000" b="0">
                <a:solidFill>
                  <a:srgbClr val="FFFFFF"/>
                </a:solidFill>
                <a:latin typeface="Source Sans Pro"/>
              </a:defRPr>
            </a:pPr>
            <a:r>
              <a:t>Primary</a:t>
            </a:r>
          </a:p>
          <a:p>
            <a:pPr>
              <a:defRPr sz="1000" b="0">
                <a:solidFill>
                  <a:srgbClr val="FFFFFF"/>
                </a:solidFill>
                <a:latin typeface="Source Sans Pro"/>
              </a:defRPr>
            </a:pPr>
            <a:r>
              <a:t>#2563EB</a:t>
            </a:r>
          </a:p>
          <a:p>
            <a:pPr>
              <a:defRPr sz="1000" b="0">
                <a:solidFill>
                  <a:srgbClr val="FFFFFF"/>
                </a:solidFill>
                <a:latin typeface="Source Sans Pro"/>
              </a:defRPr>
            </a:pPr>
            <a:r>
              <a:t>RGB(37, 99, 235)</a:t>
            </a:r>
          </a:p>
          <a:p>
            <a:pPr>
              <a:defRPr sz="1000" b="0">
                <a:solidFill>
                  <a:srgbClr val="FFFFFF"/>
                </a:solidFill>
                <a:latin typeface="Source Sans Pro"/>
              </a:defRPr>
            </a:pPr>
            <a:r>
              <a:t>CMYK(84, 57, 0, 7)</a:t>
            </a:r>
          </a:p>
          <a:p>
            <a:pPr>
              <a:defRPr sz="1000" b="0">
                <a:solidFill>
                  <a:srgbClr val="FFFFFF"/>
                </a:solidFill>
                <a:latin typeface="Source Sans Pro"/>
              </a:defRPr>
            </a:pPr>
            <a:r>
              <a:t>Use Light Text</a:t>
            </a:r>
          </a:p>
        </p:txBody>
      </p:sp>
      <p:sp>
        <p:nvSpPr>
          <p:cNvPr id="6" name="Rectangle 5"/>
          <p:cNvSpPr/>
          <p:nvPr/>
        </p:nvSpPr>
        <p:spPr>
          <a:xfrm>
            <a:off x="3886200" y="1943100"/>
            <a:ext cx="2057400" cy="1485900"/>
          </a:xfrm>
          <a:prstGeom prst="rect">
            <a:avLst/>
          </a:prstGeom>
          <a:solidFill>
            <a:srgbClr val="1F293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86200" y="3429000"/>
            <a:ext cx="2057400" cy="1485900"/>
          </a:xfrm>
          <a:prstGeom prst="rect">
            <a:avLst/>
          </a:prstGeom>
          <a:noFill/>
        </p:spPr>
        <p:txBody>
          <a:bodyPr wrap="square">
            <a:spAutoFit/>
          </a:bodyPr>
          <a:lstStyle/>
          <a:p>
            <a:pPr>
              <a:defRPr sz="1000" b="0">
                <a:solidFill>
                  <a:srgbClr val="FFFFFF"/>
                </a:solidFill>
                <a:latin typeface="Source Sans Pro"/>
              </a:defRPr>
            </a:pPr>
            <a:r>
              <a:t>Secondary</a:t>
            </a:r>
          </a:p>
          <a:p>
            <a:pPr>
              <a:defRPr sz="1000" b="0">
                <a:solidFill>
                  <a:srgbClr val="FFFFFF"/>
                </a:solidFill>
                <a:latin typeface="Source Sans Pro"/>
              </a:defRPr>
            </a:pPr>
            <a:r>
              <a:t>#1F2937</a:t>
            </a:r>
          </a:p>
          <a:p>
            <a:pPr>
              <a:defRPr sz="1000" b="0">
                <a:solidFill>
                  <a:srgbClr val="FFFFFF"/>
                </a:solidFill>
                <a:latin typeface="Source Sans Pro"/>
              </a:defRPr>
            </a:pPr>
            <a:r>
              <a:t>RGB(31, 41, 55)</a:t>
            </a:r>
          </a:p>
          <a:p>
            <a:pPr>
              <a:defRPr sz="1000" b="0">
                <a:solidFill>
                  <a:srgbClr val="FFFFFF"/>
                </a:solidFill>
                <a:latin typeface="Source Sans Pro"/>
              </a:defRPr>
            </a:pPr>
            <a:r>
              <a:t>CMYK(43, 25, 0, 78)</a:t>
            </a:r>
          </a:p>
          <a:p>
            <a:pPr>
              <a:defRPr sz="1000" b="0">
                <a:solidFill>
                  <a:srgbClr val="FFFFFF"/>
                </a:solidFill>
                <a:latin typeface="Source Sans Pro"/>
              </a:defRPr>
            </a:pPr>
            <a:r>
              <a:t>Use Light Text</a:t>
            </a:r>
          </a:p>
        </p:txBody>
      </p:sp>
      <p:sp>
        <p:nvSpPr>
          <p:cNvPr id="8" name="Rectangle 7"/>
          <p:cNvSpPr/>
          <p:nvPr/>
        </p:nvSpPr>
        <p:spPr>
          <a:xfrm>
            <a:off x="6629400" y="1943100"/>
            <a:ext cx="2057400" cy="1485900"/>
          </a:xfrm>
          <a:prstGeom prst="rect">
            <a:avLst/>
          </a:prstGeom>
          <a:solidFill>
            <a:srgbClr val="05966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3429000"/>
            <a:ext cx="2057400" cy="1485900"/>
          </a:xfrm>
          <a:prstGeom prst="rect">
            <a:avLst/>
          </a:prstGeom>
          <a:noFill/>
        </p:spPr>
        <p:txBody>
          <a:bodyPr wrap="square">
            <a:spAutoFit/>
          </a:bodyPr>
          <a:lstStyle/>
          <a:p>
            <a:pPr>
              <a:defRPr sz="1000" b="0">
                <a:solidFill>
                  <a:srgbClr val="FFFFFF"/>
                </a:solidFill>
                <a:latin typeface="Source Sans Pro"/>
              </a:defRPr>
            </a:pPr>
            <a:r>
              <a:t>Accent</a:t>
            </a:r>
          </a:p>
          <a:p>
            <a:pPr>
              <a:defRPr sz="1000" b="0">
                <a:solidFill>
                  <a:srgbClr val="FFFFFF"/>
                </a:solidFill>
                <a:latin typeface="Source Sans Pro"/>
              </a:defRPr>
            </a:pPr>
            <a:r>
              <a:t>#059669</a:t>
            </a:r>
          </a:p>
          <a:p>
            <a:pPr>
              <a:defRPr sz="1000" b="0">
                <a:solidFill>
                  <a:srgbClr val="FFFFFF"/>
                </a:solidFill>
                <a:latin typeface="Source Sans Pro"/>
              </a:defRPr>
            </a:pPr>
            <a:r>
              <a:t>RGB(5, 150, 105)</a:t>
            </a:r>
          </a:p>
          <a:p>
            <a:pPr>
              <a:defRPr sz="1000" b="0">
                <a:solidFill>
                  <a:srgbClr val="FFFFFF"/>
                </a:solidFill>
                <a:latin typeface="Source Sans Pro"/>
              </a:defRPr>
            </a:pPr>
            <a:r>
              <a:t>CMYK(96, 0, 30, 41)</a:t>
            </a:r>
          </a:p>
          <a:p>
            <a:pPr>
              <a:defRPr sz="1000" b="0">
                <a:solidFill>
                  <a:srgbClr val="FFFFFF"/>
                </a:solidFill>
                <a:latin typeface="Source Sans Pro"/>
              </a:defRPr>
            </a:pPr>
            <a:r>
              <a:t>Use Light Text</a:t>
            </a:r>
          </a:p>
        </p:txBody>
      </p:sp>
      <p:sp>
        <p:nvSpPr>
          <p:cNvPr id="10" name="Rectangle 9"/>
          <p:cNvSpPr/>
          <p:nvPr/>
        </p:nvSpPr>
        <p:spPr>
          <a:xfrm>
            <a:off x="1143000" y="5657850"/>
            <a:ext cx="2057400" cy="1485900"/>
          </a:xfrm>
          <a:prstGeom prst="rect">
            <a:avLst/>
          </a:prstGeom>
          <a:solidFill>
            <a:srgbClr val="0EA5E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7143750"/>
            <a:ext cx="2057400" cy="1485900"/>
          </a:xfrm>
          <a:prstGeom prst="rect">
            <a:avLst/>
          </a:prstGeom>
          <a:noFill/>
        </p:spPr>
        <p:txBody>
          <a:bodyPr wrap="square">
            <a:spAutoFit/>
          </a:bodyPr>
          <a:lstStyle/>
          <a:p>
            <a:pPr>
              <a:defRPr sz="1000" b="0">
                <a:solidFill>
                  <a:srgbClr val="FFFFFF"/>
                </a:solidFill>
                <a:latin typeface="Source Sans Pro"/>
              </a:defRPr>
            </a:pPr>
            <a:r>
              <a:t>Supporting</a:t>
            </a:r>
          </a:p>
          <a:p>
            <a:pPr>
              <a:defRPr sz="1000" b="0">
                <a:solidFill>
                  <a:srgbClr val="FFFFFF"/>
                </a:solidFill>
                <a:latin typeface="Source Sans Pro"/>
              </a:defRPr>
            </a:pPr>
            <a:r>
              <a:t>#0EA5E9</a:t>
            </a:r>
          </a:p>
          <a:p>
            <a:pPr>
              <a:defRPr sz="1000" b="0">
                <a:solidFill>
                  <a:srgbClr val="FFFFFF"/>
                </a:solidFill>
                <a:latin typeface="Source Sans Pro"/>
              </a:defRPr>
            </a:pPr>
            <a:r>
              <a:t>RGB(14, 165, 233)</a:t>
            </a:r>
          </a:p>
          <a:p>
            <a:pPr>
              <a:defRPr sz="1000" b="0">
                <a:solidFill>
                  <a:srgbClr val="FFFFFF"/>
                </a:solidFill>
                <a:latin typeface="Source Sans Pro"/>
              </a:defRPr>
            </a:pPr>
            <a:r>
              <a:t>CMYK(93, 29, 0, 8)</a:t>
            </a:r>
          </a:p>
          <a:p>
            <a:pPr>
              <a:defRPr sz="1000" b="0">
                <a:solidFill>
                  <a:srgbClr val="FFFFFF"/>
                </a:solidFill>
                <a:latin typeface="Source Sans Pro"/>
              </a:defRPr>
            </a:pPr>
            <a:r>
              <a:t>Use Dark Text</a:t>
            </a:r>
          </a:p>
        </p:txBody>
      </p:sp>
      <p:sp>
        <p:nvSpPr>
          <p:cNvPr id="12" name="Rectangle 11"/>
          <p:cNvSpPr/>
          <p:nvPr/>
        </p:nvSpPr>
        <p:spPr>
          <a:xfrm>
            <a:off x="3886200" y="5657850"/>
            <a:ext cx="2057400" cy="1485900"/>
          </a:xfrm>
          <a:prstGeom prst="rect">
            <a:avLst/>
          </a:prstGeom>
          <a:solidFill>
            <a:srgbClr val="2563E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86200" y="7143750"/>
            <a:ext cx="2057400" cy="1485900"/>
          </a:xfrm>
          <a:prstGeom prst="rect">
            <a:avLst/>
          </a:prstGeom>
          <a:noFill/>
        </p:spPr>
        <p:txBody>
          <a:bodyPr wrap="square">
            <a:spAutoFit/>
          </a:bodyPr>
          <a:lstStyle/>
          <a:p>
            <a:pPr>
              <a:defRPr sz="1000" b="0">
                <a:solidFill>
                  <a:srgbClr val="FFFFFF"/>
                </a:solidFill>
                <a:latin typeface="Source Sans Pro"/>
              </a:defRPr>
            </a:pPr>
            <a:r>
              <a:t>Hex_Codes</a:t>
            </a:r>
          </a:p>
          <a:p>
            <a:pPr>
              <a:defRPr sz="1000" b="0">
                <a:solidFill>
                  <a:srgbClr val="FFFFFF"/>
                </a:solidFill>
                <a:latin typeface="Source Sans Pro"/>
              </a:defRPr>
            </a:pPr>
            <a:r>
              <a:t>#2563EB</a:t>
            </a:r>
          </a:p>
          <a:p>
            <a:pPr>
              <a:defRPr sz="1000" b="0">
                <a:solidFill>
                  <a:srgbClr val="FFFFFF"/>
                </a:solidFill>
                <a:latin typeface="Source Sans Pro"/>
              </a:defRPr>
            </a:pPr>
            <a:r>
              <a:t>RGB(37, 99, 235)</a:t>
            </a:r>
          </a:p>
          <a:p>
            <a:pPr>
              <a:defRPr sz="1000" b="0">
                <a:solidFill>
                  <a:srgbClr val="FFFFFF"/>
                </a:solidFill>
                <a:latin typeface="Source Sans Pro"/>
              </a:defRPr>
            </a:pPr>
            <a:r>
              <a:t>CMYK(84, 57, 0, 7)</a:t>
            </a:r>
          </a:p>
          <a:p>
            <a:pPr>
              <a:defRPr sz="1000" b="0">
                <a:solidFill>
                  <a:srgbClr val="FFFFFF"/>
                </a:solidFill>
                <a:latin typeface="Source Sans Pro"/>
              </a:defRPr>
            </a:pPr>
            <a:r>
              <a:t>Use Light Text</a:t>
            </a:r>
          </a:p>
        </p:txBody>
      </p:sp>
      <p:sp>
        <p:nvSpPr>
          <p:cNvPr id="14" name="TextBox 13"/>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MARQAIT</a:t>
            </a:r>
          </a:p>
        </p:txBody>
      </p:sp>
      <p:sp>
        <p:nvSpPr>
          <p:cNvPr id="15" name="TextBox 14"/>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Typography</a:t>
            </a:r>
          </a:p>
        </p:txBody>
      </p:sp>
      <p:sp>
        <p:nvSpPr>
          <p:cNvPr id="4" name="TextBox 3"/>
          <p:cNvSpPr txBox="1"/>
          <p:nvPr/>
        </p:nvSpPr>
        <p:spPr>
          <a:xfrm>
            <a:off x="1143000" y="1943100"/>
            <a:ext cx="3429000" cy="742950"/>
          </a:xfrm>
          <a:prstGeom prst="rect">
            <a:avLst/>
          </a:prstGeom>
          <a:noFill/>
        </p:spPr>
        <p:txBody>
          <a:bodyPr wrap="none">
            <a:spAutoFit/>
          </a:bodyPr>
          <a:lstStyle/>
          <a:p>
            <a:pPr>
              <a:defRPr sz="2000" b="0">
                <a:solidFill>
                  <a:srgbClr val="FFFFFF"/>
                </a:solidFill>
                <a:latin typeface="Source Sans Pro"/>
              </a:defRPr>
            </a:pPr>
            <a:r>
              <a:t>Primary Font: Inter</a:t>
            </a:r>
          </a:p>
        </p:txBody>
      </p:sp>
      <p:sp>
        <p:nvSpPr>
          <p:cNvPr id="5" name="TextBox 4"/>
          <p:cNvSpPr txBox="1"/>
          <p:nvPr/>
        </p:nvSpPr>
        <p:spPr>
          <a:xfrm>
            <a:off x="1143000" y="2686050"/>
            <a:ext cx="3429000" cy="742950"/>
          </a:xfrm>
          <a:prstGeom prst="rect">
            <a:avLst/>
          </a:prstGeom>
          <a:noFill/>
        </p:spPr>
        <p:txBody>
          <a:bodyPr wrap="none">
            <a:spAutoFit/>
          </a:bodyPr>
          <a:lstStyle/>
          <a:p>
            <a:pPr>
              <a:defRPr sz="3200" b="1">
                <a:solidFill>
                  <a:srgbClr val="FFFFFF"/>
                </a:solidFill>
                <a:latin typeface="Inter"/>
              </a:defRPr>
            </a:pPr>
            <a:r>
              <a:t>H1 Heading</a:t>
            </a:r>
          </a:p>
        </p:txBody>
      </p:sp>
      <p:sp>
        <p:nvSpPr>
          <p:cNvPr id="6" name="TextBox 5"/>
          <p:cNvSpPr txBox="1"/>
          <p:nvPr/>
        </p:nvSpPr>
        <p:spPr>
          <a:xfrm>
            <a:off x="1143000" y="3429000"/>
            <a:ext cx="3429000" cy="742950"/>
          </a:xfrm>
          <a:prstGeom prst="rect">
            <a:avLst/>
          </a:prstGeom>
          <a:noFill/>
        </p:spPr>
        <p:txBody>
          <a:bodyPr wrap="none">
            <a:spAutoFit/>
          </a:bodyPr>
          <a:lstStyle/>
          <a:p>
            <a:pPr>
              <a:defRPr sz="2400" b="1">
                <a:solidFill>
                  <a:srgbClr val="FFFFFF"/>
                </a:solidFill>
                <a:latin typeface="Inter"/>
              </a:defRPr>
            </a:pPr>
            <a:r>
              <a:t>H2 Heading</a:t>
            </a:r>
          </a:p>
        </p:txBody>
      </p:sp>
      <p:sp>
        <p:nvSpPr>
          <p:cNvPr id="7" name="TextBox 6"/>
          <p:cNvSpPr txBox="1"/>
          <p:nvPr/>
        </p:nvSpPr>
        <p:spPr>
          <a:xfrm>
            <a:off x="1143000" y="4171950"/>
            <a:ext cx="3429000" cy="742950"/>
          </a:xfrm>
          <a:prstGeom prst="rect">
            <a:avLst/>
          </a:prstGeom>
          <a:noFill/>
        </p:spPr>
        <p:txBody>
          <a:bodyPr wrap="none">
            <a:spAutoFit/>
          </a:bodyPr>
          <a:lstStyle/>
          <a:p>
            <a:pPr>
              <a:defRPr sz="2000" b="0">
                <a:solidFill>
                  <a:srgbClr val="FFFFFF"/>
                </a:solidFill>
                <a:latin typeface="Inter"/>
              </a:defRPr>
            </a:pPr>
            <a:r>
              <a:t>H3 Heading</a:t>
            </a:r>
          </a:p>
        </p:txBody>
      </p:sp>
      <p:sp>
        <p:nvSpPr>
          <p:cNvPr id="8" name="TextBox 7"/>
          <p:cNvSpPr txBox="1"/>
          <p:nvPr/>
        </p:nvSpPr>
        <p:spPr>
          <a:xfrm>
            <a:off x="5257800" y="1943100"/>
            <a:ext cx="3429000" cy="742950"/>
          </a:xfrm>
          <a:prstGeom prst="rect">
            <a:avLst/>
          </a:prstGeom>
          <a:noFill/>
        </p:spPr>
        <p:txBody>
          <a:bodyPr wrap="none">
            <a:spAutoFit/>
          </a:bodyPr>
          <a:lstStyle/>
          <a:p>
            <a:pPr>
              <a:defRPr sz="2000" b="0">
                <a:solidFill>
                  <a:srgbClr val="FFFFFF"/>
                </a:solidFill>
                <a:latin typeface="Source Sans Pro"/>
              </a:defRPr>
            </a:pPr>
            <a:r>
              <a:t>Secondary Font: Source Sans Pro</a:t>
            </a:r>
          </a:p>
        </p:txBody>
      </p:sp>
      <p:sp>
        <p:nvSpPr>
          <p:cNvPr id="9" name="TextBox 8"/>
          <p:cNvSpPr txBox="1"/>
          <p:nvPr/>
        </p:nvSpPr>
        <p:spPr>
          <a:xfrm>
            <a:off x="5257800" y="2686050"/>
            <a:ext cx="3429000" cy="742950"/>
          </a:xfrm>
          <a:prstGeom prst="rect">
            <a:avLst/>
          </a:prstGeom>
          <a:noFill/>
        </p:spPr>
        <p:txBody>
          <a:bodyPr wrap="none">
            <a:spAutoFit/>
          </a:bodyPr>
          <a:lstStyle/>
          <a:p>
            <a:pPr>
              <a:defRPr sz="1600" b="0">
                <a:solidFill>
                  <a:srgbClr val="FFFFFF"/>
                </a:solidFill>
                <a:latin typeface="Source Sans Pro"/>
              </a:defRPr>
            </a:pPr>
            <a:r>
              <a:t>Body Text</a:t>
            </a:r>
          </a:p>
        </p:txBody>
      </p:sp>
      <p:sp>
        <p:nvSpPr>
          <p:cNvPr id="10" name="TextBox 9"/>
          <p:cNvSpPr txBox="1"/>
          <p:nvPr/>
        </p:nvSpPr>
        <p:spPr>
          <a:xfrm>
            <a:off x="5257800" y="3429000"/>
            <a:ext cx="3429000" cy="742950"/>
          </a:xfrm>
          <a:prstGeom prst="rect">
            <a:avLst/>
          </a:prstGeom>
          <a:noFill/>
        </p:spPr>
        <p:txBody>
          <a:bodyPr wrap="none">
            <a:spAutoFit/>
          </a:bodyPr>
          <a:lstStyle/>
          <a:p>
            <a:pPr>
              <a:defRPr sz="1600" b="1">
                <a:solidFill>
                  <a:srgbClr val="FFFFFF"/>
                </a:solidFill>
                <a:latin typeface="Source Sans Pro"/>
              </a:defRPr>
            </a:pPr>
            <a:r>
              <a:t>Body Bold</a:t>
            </a:r>
          </a:p>
        </p:txBody>
      </p:sp>
      <p:sp>
        <p:nvSpPr>
          <p:cNvPr id="11" name="TextBox 10"/>
          <p:cNvSpPr txBox="1"/>
          <p:nvPr/>
        </p:nvSpPr>
        <p:spPr>
          <a:xfrm>
            <a:off x="5257800" y="4171950"/>
            <a:ext cx="3429000" cy="742950"/>
          </a:xfrm>
          <a:prstGeom prst="rect">
            <a:avLst/>
          </a:prstGeom>
          <a:noFill/>
        </p:spPr>
        <p:txBody>
          <a:bodyPr wrap="none">
            <a:spAutoFit/>
          </a:bodyPr>
          <a:lstStyle/>
          <a:p>
            <a:pPr>
              <a:defRPr sz="1200" b="0">
                <a:solidFill>
                  <a:srgbClr val="FFFFFF"/>
                </a:solidFill>
                <a:latin typeface="Source Sans Pro"/>
              </a:defRPr>
            </a:pPr>
            <a:r>
              <a:t>Caption Text</a:t>
            </a:r>
          </a:p>
        </p:txBody>
      </p:sp>
      <p:sp>
        <p:nvSpPr>
          <p:cNvPr id="12" name="TextBox 11"/>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MARQAIT</a:t>
            </a:r>
          </a:p>
        </p:txBody>
      </p:sp>
      <p:sp>
        <p:nvSpPr>
          <p:cNvPr id="13" name="TextBox 12"/>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Visual &amp; Photography Guidelines</a:t>
            </a:r>
          </a:p>
        </p:txBody>
      </p:sp>
      <p:sp>
        <p:nvSpPr>
          <p:cNvPr id="4" name="TextBox 3"/>
          <p:cNvSpPr txBox="1"/>
          <p:nvPr/>
        </p:nvSpPr>
        <p:spPr>
          <a:xfrm>
            <a:off x="1143000" y="1943100"/>
            <a:ext cx="3429000" cy="2971800"/>
          </a:xfrm>
          <a:prstGeom prst="rect">
            <a:avLst/>
          </a:prstGeom>
          <a:noFill/>
        </p:spPr>
        <p:txBody>
          <a:bodyPr wrap="square">
            <a:spAutoFit/>
          </a:bodyPr>
          <a:lstStyle/>
          <a:p>
            <a:pPr>
              <a:defRPr sz="1800" b="0">
                <a:solidFill>
                  <a:srgbClr val="FFFFFF"/>
                </a:solidFill>
                <a:latin typeface="Source Sans Pro"/>
              </a:defRPr>
            </a:pPr>
            <a:r>
              <a:t>Visual Style Guidelines:</a:t>
            </a:r>
          </a:p>
          <a:p>
            <a:pPr>
              <a:defRPr sz="1400" b="0">
                <a:solidFill>
                  <a:srgbClr val="FFFFFF"/>
                </a:solidFill>
                <a:latin typeface="Source Sans Pro"/>
              </a:defRPr>
            </a:pPr>
            <a:r>
              <a:t>• Visual style for MARQAIT in Technology</a:t>
            </a:r>
          </a:p>
          <a:p>
            <a:pPr>
              <a:defRPr sz="1400" b="0">
                <a:solidFill>
                  <a:srgbClr val="FFFFFF"/>
                </a:solidFill>
                <a:latin typeface="Source Sans Pro"/>
              </a:defRPr>
            </a:pPr>
            <a:r>
              <a:t>• AI Innovation: Modern aesthetic</a:t>
            </a:r>
          </a:p>
          <a:p>
            <a:pPr>
              <a:defRPr sz="1400" b="0">
                <a:solidFill>
                  <a:srgbClr val="FFFFFF"/>
                </a:solidFill>
                <a:latin typeface="Source Sans Pro"/>
              </a:defRPr>
            </a:pPr>
            <a:r>
              <a:t>• values: AI-Native</a:t>
            </a:r>
          </a:p>
          <a:p>
            <a:pPr>
              <a:defRPr sz="1400" b="0">
                <a:solidFill>
                  <a:srgbClr val="FFFFFF"/>
                </a:solidFill>
                <a:latin typeface="Source Sans Pro"/>
              </a:defRPr>
            </a:pPr>
            <a:r>
              <a:t>• Innovation</a:t>
            </a:r>
          </a:p>
          <a:p>
            <a:pPr>
              <a:defRPr sz="1400" b="0">
                <a:solidFill>
                  <a:srgbClr val="FFFFFF"/>
                </a:solidFill>
                <a:latin typeface="Source Sans Pro"/>
              </a:defRPr>
            </a:pPr>
            <a:r>
              <a:t>• Simplicity</a:t>
            </a:r>
          </a:p>
        </p:txBody>
      </p:sp>
      <p:sp>
        <p:nvSpPr>
          <p:cNvPr id="5" name="TextBox 4"/>
          <p:cNvSpPr txBox="1"/>
          <p:nvPr/>
        </p:nvSpPr>
        <p:spPr>
          <a:xfrm>
            <a:off x="5257800" y="1943100"/>
            <a:ext cx="3429000" cy="2971800"/>
          </a:xfrm>
          <a:prstGeom prst="rect">
            <a:avLst/>
          </a:prstGeom>
          <a:noFill/>
        </p:spPr>
        <p:txBody>
          <a:bodyPr wrap="square">
            <a:spAutoFit/>
          </a:bodyPr>
          <a:lstStyle/>
          <a:p>
            <a:pPr>
              <a:defRPr sz="1800" b="0">
                <a:solidFill>
                  <a:srgbClr val="FFFFFF"/>
                </a:solidFill>
                <a:latin typeface="Source Sans Pro"/>
              </a:defRPr>
            </a:pPr>
            <a:r>
              <a:t>Photography Guidelines:</a:t>
            </a:r>
          </a:p>
          <a:p>
            <a:pPr>
              <a:defRPr sz="1400" b="0">
                <a:solidFill>
                  <a:srgbClr val="FFFFFF"/>
                </a:solidFill>
                <a:latin typeface="Source Sans Pro"/>
              </a:defRPr>
            </a:pPr>
            <a:r>
              <a:t>• Photography style for MARQAIT: Modern and Technology</a:t>
            </a:r>
          </a:p>
          <a:p>
            <a:pPr>
              <a:defRPr sz="1400" b="0">
                <a:solidFill>
                  <a:srgbClr val="FFFFFF"/>
                </a:solidFill>
                <a:latin typeface="Source Sans Pro"/>
              </a:defRPr>
            </a:pPr>
            <a:r>
              <a:t>• AI Innovation feel. Show diversity</a:t>
            </a:r>
          </a:p>
          <a:p>
            <a:pPr>
              <a:defRPr sz="1400" b="0">
                <a:solidFill>
                  <a:srgbClr val="FFFFFF"/>
                </a:solidFill>
                <a:latin typeface="Source Sans Pro"/>
              </a:defRPr>
            </a:pPr>
            <a:r>
              <a:t>• authenticity</a:t>
            </a:r>
          </a:p>
          <a:p>
            <a:pPr>
              <a:defRPr sz="1400" b="0">
                <a:solidFill>
                  <a:srgbClr val="FFFFFF"/>
                </a:solidFill>
                <a:latin typeface="Source Sans Pro"/>
              </a:defRPr>
            </a:pPr>
            <a:r>
              <a:t>• and lighting that supports brand values: AI-Native</a:t>
            </a:r>
          </a:p>
          <a:p>
            <a:pPr>
              <a:defRPr sz="1400" b="0">
                <a:solidFill>
                  <a:srgbClr val="FFFFFF"/>
                </a:solidFill>
                <a:latin typeface="Source Sans Pro"/>
              </a:defRPr>
            </a:pPr>
            <a:r>
              <a:t>• Innovation</a:t>
            </a:r>
          </a:p>
        </p:txBody>
      </p:sp>
      <p:sp>
        <p:nvSpPr>
          <p:cNvPr id="6" name="Rectangle 5"/>
          <p:cNvSpPr/>
          <p:nvPr/>
        </p:nvSpPr>
        <p:spPr>
          <a:xfrm>
            <a:off x="5257800" y="4914900"/>
            <a:ext cx="685800" cy="742950"/>
          </a:xfrm>
          <a:prstGeom prst="rect">
            <a:avLst/>
          </a:prstGeom>
          <a:solidFill>
            <a:srgbClr val="404040"/>
          </a:solidFill>
          <a:ln w="12700">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57800" y="5162550"/>
            <a:ext cx="685800" cy="247650"/>
          </a:xfrm>
          <a:prstGeom prst="rect">
            <a:avLst/>
          </a:prstGeom>
          <a:noFill/>
        </p:spPr>
        <p:txBody>
          <a:bodyPr wrap="none">
            <a:spAutoFit/>
          </a:bodyPr>
          <a:lstStyle/>
          <a:p>
            <a:pPr algn="ctr">
              <a:defRPr sz="800" b="0">
                <a:solidFill>
                  <a:srgbClr val="FFFFFF"/>
                </a:solidFill>
                <a:latin typeface="Source Sans Pro"/>
              </a:defRPr>
            </a:pPr>
            <a:r>
              <a:t>Example</a:t>
            </a:r>
          </a:p>
        </p:txBody>
      </p:sp>
      <p:sp>
        <p:nvSpPr>
          <p:cNvPr id="8" name="Rectangle 7"/>
          <p:cNvSpPr/>
          <p:nvPr/>
        </p:nvSpPr>
        <p:spPr>
          <a:xfrm>
            <a:off x="6629400" y="4914900"/>
            <a:ext cx="685800" cy="742950"/>
          </a:xfrm>
          <a:prstGeom prst="rect">
            <a:avLst/>
          </a:prstGeom>
          <a:solidFill>
            <a:srgbClr val="404040"/>
          </a:solidFill>
          <a:ln w="12700">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5162550"/>
            <a:ext cx="685800" cy="247650"/>
          </a:xfrm>
          <a:prstGeom prst="rect">
            <a:avLst/>
          </a:prstGeom>
          <a:noFill/>
        </p:spPr>
        <p:txBody>
          <a:bodyPr wrap="none">
            <a:spAutoFit/>
          </a:bodyPr>
          <a:lstStyle/>
          <a:p>
            <a:pPr algn="ctr">
              <a:defRPr sz="800" b="0">
                <a:solidFill>
                  <a:srgbClr val="FFFFFF"/>
                </a:solidFill>
                <a:latin typeface="Source Sans Pro"/>
              </a:defRPr>
            </a:pPr>
            <a:r>
              <a:t>Example</a:t>
            </a:r>
          </a:p>
        </p:txBody>
      </p:sp>
      <p:sp>
        <p:nvSpPr>
          <p:cNvPr id="10" name="Rectangle 9"/>
          <p:cNvSpPr/>
          <p:nvPr/>
        </p:nvSpPr>
        <p:spPr>
          <a:xfrm>
            <a:off x="8001000" y="4914900"/>
            <a:ext cx="685800" cy="742950"/>
          </a:xfrm>
          <a:prstGeom prst="rect">
            <a:avLst/>
          </a:prstGeom>
          <a:solidFill>
            <a:srgbClr val="404040"/>
          </a:solidFill>
          <a:ln w="12700">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5162550"/>
            <a:ext cx="685800" cy="247650"/>
          </a:xfrm>
          <a:prstGeom prst="rect">
            <a:avLst/>
          </a:prstGeom>
          <a:noFill/>
        </p:spPr>
        <p:txBody>
          <a:bodyPr wrap="none">
            <a:spAutoFit/>
          </a:bodyPr>
          <a:lstStyle/>
          <a:p>
            <a:pPr algn="ctr">
              <a:defRPr sz="800" b="0">
                <a:solidFill>
                  <a:srgbClr val="FFFFFF"/>
                </a:solidFill>
                <a:latin typeface="Source Sans Pro"/>
              </a:defRPr>
            </a:pPr>
            <a:r>
              <a:t>Example</a:t>
            </a:r>
          </a:p>
        </p:txBody>
      </p:sp>
      <p:sp>
        <p:nvSpPr>
          <p:cNvPr id="12" name="TextBox 11"/>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MARQAIT</a:t>
            </a:r>
          </a:p>
        </p:txBody>
      </p:sp>
      <p:sp>
        <p:nvSpPr>
          <p:cNvPr id="13" name="TextBox 12"/>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