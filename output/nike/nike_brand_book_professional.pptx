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0"/>
            <a:ext cx="7680960" cy="1828800"/>
          </a:xfrm>
          <a:prstGeom prst="rect">
            <a:avLst/>
          </a:prstGeom>
          <a:noFill/>
        </p:spPr>
        <p:txBody>
          <a:bodyPr wrap="none">
            <a:spAutoFit/>
          </a:bodyPr>
          <a:lstStyle/>
          <a:p>
            <a:pPr algn="ctr">
              <a:defRPr sz="7200" b="1">
                <a:solidFill>
                  <a:srgbClr val="FFFFFF"/>
                </a:solidFill>
                <a:latin typeface="Montserrat"/>
              </a:defRPr>
            </a:pPr>
            <a:r>
              <a:t>NIKE</a:t>
            </a:r>
          </a:p>
        </p:txBody>
      </p:sp>
      <p:sp>
        <p:nvSpPr>
          <p:cNvPr id="4" name="TextBox 3"/>
          <p:cNvSpPr txBox="1"/>
          <p:nvPr/>
        </p:nvSpPr>
        <p:spPr>
          <a:xfrm>
            <a:off x="731520" y="4389120"/>
            <a:ext cx="7680960" cy="731520"/>
          </a:xfrm>
          <a:prstGeom prst="rect">
            <a:avLst/>
          </a:prstGeom>
          <a:noFill/>
        </p:spPr>
        <p:txBody>
          <a:bodyPr wrap="none">
            <a:spAutoFit/>
          </a:bodyPr>
          <a:lstStyle/>
          <a:p>
            <a:pPr algn="ctr">
              <a:defRPr sz="2400" b="1">
                <a:solidFill>
                  <a:srgbClr val="FCD34D"/>
                </a:solidFill>
                <a:latin typeface="Montserrat"/>
              </a:defRPr>
            </a:pPr>
            <a:r>
              <a:t>BRAND IDENTITY SYSTEM</a:t>
            </a:r>
          </a:p>
        </p:txBody>
      </p:sp>
      <p:sp>
        <p:nvSpPr>
          <p:cNvPr id="5" name="Rectangle 4"/>
          <p:cNvSpPr/>
          <p:nvPr/>
        </p:nvSpPr>
        <p:spPr>
          <a:xfrm>
            <a:off x="731520" y="6217920"/>
            <a:ext cx="7680960" cy="4572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FCD34D"/>
                </a:solidFill>
                <a:latin typeface="Montserrat"/>
              </a:defRPr>
            </a:pPr>
            <a:r>
              <a:t>INDEX</a:t>
            </a:r>
          </a:p>
        </p:txBody>
      </p:sp>
      <p:sp>
        <p:nvSpPr>
          <p:cNvPr id="4" name="TextBox 3"/>
          <p:cNvSpPr txBox="1"/>
          <p:nvPr/>
        </p:nvSpPr>
        <p:spPr>
          <a:xfrm>
            <a:off x="731520" y="1371600"/>
            <a:ext cx="3657600" cy="3657600"/>
          </a:xfrm>
          <a:prstGeom prst="rect">
            <a:avLst/>
          </a:prstGeom>
          <a:noFill/>
        </p:spPr>
        <p:txBody>
          <a:bodyPr wrap="none">
            <a:spAutoFit/>
          </a:bodyPr>
          <a:lstStyle/>
          <a:p>
            <a:pPr>
              <a:lnSpc>
                <a:spcPct val="160000"/>
              </a:lnSpc>
              <a:defRPr sz="1800">
                <a:solidFill>
                  <a:srgbClr val="FFFFFF"/>
                </a:solidFill>
                <a:latin typeface="Open Sans"/>
              </a:defRPr>
            </a:pPr>
            <a:r>
              <a:t>Introduction                   01</a:t>
            </a:r>
          </a:p>
          <a:p>
            <a:r>
              <a:t>Brand Story                    03</a:t>
            </a:r>
          </a:p>
          <a:p>
            <a:r>
              <a:t>Brand Colors                   05</a:t>
            </a:r>
          </a:p>
          <a:p>
            <a:r>
              <a:t>Visual Language                07</a:t>
            </a:r>
          </a:p>
          <a:p>
            <a:r>
              <a:t>Applications                   09</a:t>
            </a:r>
          </a:p>
        </p:txBody>
      </p:sp>
      <p:sp>
        <p:nvSpPr>
          <p:cNvPr id="5" name="TextBox 4"/>
          <p:cNvSpPr txBox="1"/>
          <p:nvPr/>
        </p:nvSpPr>
        <p:spPr>
          <a:xfrm>
            <a:off x="4754880" y="1371600"/>
            <a:ext cx="3657600" cy="3657600"/>
          </a:xfrm>
          <a:prstGeom prst="rect">
            <a:avLst/>
          </a:prstGeom>
          <a:noFill/>
        </p:spPr>
        <p:txBody>
          <a:bodyPr wrap="none">
            <a:spAutoFit/>
          </a:bodyPr>
          <a:lstStyle/>
          <a:p>
            <a:pPr>
              <a:lnSpc>
                <a:spcPct val="160000"/>
              </a:lnSpc>
              <a:defRPr sz="1800">
                <a:solidFill>
                  <a:srgbClr val="FFFFFF"/>
                </a:solidFill>
                <a:latin typeface="Open Sans"/>
              </a:defRPr>
            </a:pPr>
            <a:r>
              <a:t>Brand Purpose                  02</a:t>
            </a:r>
          </a:p>
          <a:p>
            <a:r>
              <a:t>Logo                           04</a:t>
            </a:r>
          </a:p>
          <a:p>
            <a:r>
              <a:t>Typography                     06</a:t>
            </a:r>
          </a:p>
          <a:p>
            <a:r>
              <a:t>Brand Voice                    08</a:t>
            </a:r>
          </a:p>
        </p:txBody>
      </p:sp>
      <p:sp>
        <p:nvSpPr>
          <p:cNvPr id="6" name="Rectangle 5"/>
          <p:cNvSpPr/>
          <p:nvPr/>
        </p:nvSpPr>
        <p:spPr>
          <a:xfrm>
            <a:off x="731520" y="6217920"/>
            <a:ext cx="7680960" cy="4572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6400800"/>
            <a:ext cx="914400" cy="274320"/>
          </a:xfrm>
          <a:prstGeom prst="rect">
            <a:avLst/>
          </a:prstGeom>
          <a:noFill/>
        </p:spPr>
        <p:txBody>
          <a:bodyPr wrap="none">
            <a:spAutoFit/>
          </a:bodyPr>
          <a:lstStyle/>
          <a:p>
            <a:pPr algn="r">
              <a:defRPr sz="1400" b="1">
                <a:solidFill>
                  <a:srgbClr val="FCD34D"/>
                </a:solidFill>
                <a:latin typeface="Open Sans"/>
              </a:defRPr>
            </a:pPr>
            <a: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FCD34D"/>
                </a:solidFill>
                <a:latin typeface="Montserrat"/>
              </a:defRPr>
            </a:pPr>
            <a:r>
              <a:t>INTRODUCTION</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The following brand identity system for Nike is thoughtfully crafted to present our brand in an international, engaging, consistent, recognisable and proprietary way. Unique in form, versatile in its application and unified by a fundamental principle.</a:t>
            </a:r>
          </a:p>
          <a:p/>
          <a:p>
            <a:r>
              <a:t>Industry: Sportswear, Footwear, Apparel, Lifestyle &amp; Fitness</a:t>
            </a:r>
          </a:p>
          <a:p>
            <a:r>
              <a:t>Target Audience: Athletes, Fitness enthusiasts, Sports teams, Urban youth, Lifestyle-focused consumers, Fashion-conscious individuals, Professional and amateur athletes, People seeking performance-driven and stylish sportswear.</a:t>
            </a:r>
          </a:p>
        </p:txBody>
      </p:sp>
      <p:sp>
        <p:nvSpPr>
          <p:cNvPr id="5" name="Rectangle 4"/>
          <p:cNvSpPr/>
          <p:nvPr/>
        </p:nvSpPr>
        <p:spPr>
          <a:xfrm>
            <a:off x="731520" y="6217920"/>
            <a:ext cx="7680960" cy="4572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FCD34D"/>
                </a:solidFill>
                <a:latin typeface="Open Sans"/>
              </a:defRPr>
            </a:pPr>
            <a: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FCD34D"/>
                </a:solidFill>
                <a:latin typeface="Montserrat"/>
              </a:defRPr>
            </a:pPr>
            <a:r>
              <a:t>BRAND PURPOSE</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Distinctive Sportswear, Footwear, Apparel, Lifestyle &amp; Fitness solution focused on Athletes, Fitness enthusiasts, Sports teams, Urban youth, Lifestyle-focused consumers, Fashion-conscious individuals, Professional and amateur athletes, People seeking performance-driven and stylish sportswear.</a:t>
            </a:r>
          </a:p>
        </p:txBody>
      </p:sp>
      <p:sp>
        <p:nvSpPr>
          <p:cNvPr id="5" name="Rectangle 4"/>
          <p:cNvSpPr/>
          <p:nvPr/>
        </p:nvSpPr>
        <p:spPr>
          <a:xfrm>
            <a:off x="731520" y="6217920"/>
            <a:ext cx="7680960" cy="4572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FCD34D"/>
                </a:solidFill>
                <a:latin typeface="Open Sans"/>
              </a:defRPr>
            </a:pPr>
            <a: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FCD34D"/>
                </a:solidFill>
                <a:latin typeface="Montserrat"/>
              </a:defRPr>
            </a:pPr>
            <a:r>
              <a:t>LOGO</a:t>
            </a:r>
          </a:p>
        </p:txBody>
      </p:sp>
      <p:pic>
        <p:nvPicPr>
          <p:cNvPr id="4" name="Picture 3" descr="nike_logo_1_20250826_230954_7a172d50.png"/>
          <p:cNvPicPr>
            <a:picLocks noChangeAspect="1"/>
          </p:cNvPicPr>
          <p:nvPr/>
        </p:nvPicPr>
        <p:blipFill>
          <a:blip r:embed="rId2"/>
          <a:stretch>
            <a:fillRect/>
          </a:stretch>
        </p:blipFill>
        <p:spPr>
          <a:xfrm>
            <a:off x="1371600" y="2286000"/>
            <a:ext cx="1828800" cy="1828800"/>
          </a:xfrm>
          <a:prstGeom prst="rect">
            <a:avLst/>
          </a:prstGeom>
        </p:spPr>
      </p:pic>
      <p:pic>
        <p:nvPicPr>
          <p:cNvPr id="5" name="Picture 4" descr="nike_logo_2_20250826_231015_8a4f1a6a.png"/>
          <p:cNvPicPr>
            <a:picLocks noChangeAspect="1"/>
          </p:cNvPicPr>
          <p:nvPr/>
        </p:nvPicPr>
        <p:blipFill>
          <a:blip r:embed="rId3"/>
          <a:stretch>
            <a:fillRect/>
          </a:stretch>
        </p:blipFill>
        <p:spPr>
          <a:xfrm>
            <a:off x="3657600" y="2286000"/>
            <a:ext cx="1828800" cy="1828800"/>
          </a:xfrm>
          <a:prstGeom prst="rect">
            <a:avLst/>
          </a:prstGeom>
        </p:spPr>
      </p:pic>
      <p:pic>
        <p:nvPicPr>
          <p:cNvPr id="6" name="Picture 5" descr="nike_logo_3_20250826_231035_30c71d79.png"/>
          <p:cNvPicPr>
            <a:picLocks noChangeAspect="1"/>
          </p:cNvPicPr>
          <p:nvPr/>
        </p:nvPicPr>
        <p:blipFill>
          <a:blip r:embed="rId4"/>
          <a:stretch>
            <a:fillRect/>
          </a:stretch>
        </p:blipFill>
        <p:spPr>
          <a:xfrm>
            <a:off x="5943600" y="2286000"/>
            <a:ext cx="1828800" cy="1828800"/>
          </a:xfrm>
          <a:prstGeom prst="rect">
            <a:avLst/>
          </a:prstGeom>
        </p:spPr>
      </p:pic>
      <p:sp>
        <p:nvSpPr>
          <p:cNvPr id="7" name="Rectangle 6"/>
          <p:cNvSpPr/>
          <p:nvPr/>
        </p:nvSpPr>
        <p:spPr>
          <a:xfrm>
            <a:off x="731520" y="6217920"/>
            <a:ext cx="7680960" cy="4572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6400800"/>
            <a:ext cx="914400" cy="274320"/>
          </a:xfrm>
          <a:prstGeom prst="rect">
            <a:avLst/>
          </a:prstGeom>
          <a:noFill/>
        </p:spPr>
        <p:txBody>
          <a:bodyPr wrap="none">
            <a:spAutoFit/>
          </a:bodyPr>
          <a:lstStyle/>
          <a:p>
            <a:pPr algn="r">
              <a:defRPr sz="1400" b="1">
                <a:solidFill>
                  <a:srgbClr val="FCD34D"/>
                </a:solidFill>
                <a:latin typeface="Open Sans"/>
              </a:defRPr>
            </a:pPr>
            <a: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FCD34D"/>
                </a:solidFill>
                <a:latin typeface="Montserrat"/>
              </a:defRPr>
            </a:pPr>
            <a:r>
              <a:t>BRAND COLORS</a:t>
            </a:r>
          </a:p>
        </p:txBody>
      </p:sp>
      <p:sp>
        <p:nvSpPr>
          <p:cNvPr id="4" name="Rectangle 3"/>
          <p:cNvSpPr/>
          <p:nvPr/>
        </p:nvSpPr>
        <p:spPr>
          <a:xfrm>
            <a:off x="914400" y="2286000"/>
            <a:ext cx="1645920" cy="1645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645920" cy="548640"/>
          </a:xfrm>
          <a:prstGeom prst="rect">
            <a:avLst/>
          </a:prstGeom>
          <a:noFill/>
        </p:spPr>
        <p:txBody>
          <a:bodyPr wrap="none">
            <a:spAutoFit/>
          </a:bodyPr>
          <a:lstStyle/>
          <a:p>
            <a:pPr algn="ctr">
              <a:defRPr sz="1200" b="1">
                <a:solidFill>
                  <a:srgbClr val="FFFFFF"/>
                </a:solidFill>
                <a:latin typeface="Open Sans"/>
              </a:defRPr>
            </a:pPr>
            <a:r>
              <a:t>PRIMARY</a:t>
            </a:r>
          </a:p>
          <a:p>
            <a:r>
              <a:t>#2563EB</a:t>
            </a:r>
          </a:p>
        </p:txBody>
      </p:sp>
      <p:sp>
        <p:nvSpPr>
          <p:cNvPr id="6" name="Rectangle 5"/>
          <p:cNvSpPr/>
          <p:nvPr/>
        </p:nvSpPr>
        <p:spPr>
          <a:xfrm>
            <a:off x="2834640" y="2286000"/>
            <a:ext cx="1645920" cy="164592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4023360"/>
            <a:ext cx="1645920" cy="548640"/>
          </a:xfrm>
          <a:prstGeom prst="rect">
            <a:avLst/>
          </a:prstGeom>
          <a:noFill/>
        </p:spPr>
        <p:txBody>
          <a:bodyPr wrap="none">
            <a:spAutoFit/>
          </a:bodyPr>
          <a:lstStyle/>
          <a:p>
            <a:pPr algn="ctr">
              <a:defRPr sz="1200" b="1">
                <a:solidFill>
                  <a:srgbClr val="FFFFFF"/>
                </a:solidFill>
                <a:latin typeface="Open Sans"/>
              </a:defRPr>
            </a:pPr>
            <a:r>
              <a:t>SECONDARY</a:t>
            </a:r>
          </a:p>
          <a:p>
            <a:r>
              <a:t>#4B5563</a:t>
            </a:r>
          </a:p>
        </p:txBody>
      </p:sp>
      <p:sp>
        <p:nvSpPr>
          <p:cNvPr id="8" name="Rectangle 7"/>
          <p:cNvSpPr/>
          <p:nvPr/>
        </p:nvSpPr>
        <p:spPr>
          <a:xfrm>
            <a:off x="4754880" y="2286000"/>
            <a:ext cx="1645920" cy="164592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4023360"/>
            <a:ext cx="1645920" cy="548640"/>
          </a:xfrm>
          <a:prstGeom prst="rect">
            <a:avLst/>
          </a:prstGeom>
          <a:noFill/>
        </p:spPr>
        <p:txBody>
          <a:bodyPr wrap="none">
            <a:spAutoFit/>
          </a:bodyPr>
          <a:lstStyle/>
          <a:p>
            <a:pPr algn="ctr">
              <a:defRPr sz="1200" b="1">
                <a:solidFill>
                  <a:srgbClr val="FFFFFF"/>
                </a:solidFill>
                <a:latin typeface="Open Sans"/>
              </a:defRPr>
            </a:pPr>
            <a:r>
              <a:t>ACCENT</a:t>
            </a:r>
          </a:p>
          <a:p>
            <a:r>
              <a:t>#FCD34D</a:t>
            </a:r>
          </a:p>
        </p:txBody>
      </p:sp>
      <p:sp>
        <p:nvSpPr>
          <p:cNvPr id="10" name="Rectangle 9"/>
          <p:cNvSpPr/>
          <p:nvPr/>
        </p:nvSpPr>
        <p:spPr>
          <a:xfrm>
            <a:off x="731520" y="6217920"/>
            <a:ext cx="7680960" cy="4572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6400800"/>
            <a:ext cx="914400" cy="274320"/>
          </a:xfrm>
          <a:prstGeom prst="rect">
            <a:avLst/>
          </a:prstGeom>
          <a:noFill/>
        </p:spPr>
        <p:txBody>
          <a:bodyPr wrap="none">
            <a:spAutoFit/>
          </a:bodyPr>
          <a:lstStyle/>
          <a:p>
            <a:pPr algn="r">
              <a:defRPr sz="1400" b="1">
                <a:solidFill>
                  <a:srgbClr val="FCD34D"/>
                </a:solidFill>
                <a:latin typeface="Open Sans"/>
              </a:defRPr>
            </a:pPr>
            <a: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FCD34D"/>
                </a:solidFill>
                <a:latin typeface="Montserrat"/>
              </a:defRPr>
            </a:pPr>
            <a:r>
              <a:t>TYPOGRAPHY</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Primary Font: Archivo</a:t>
            </a:r>
          </a:p>
          <a:p>
            <a:r>
              <a:t>Secondary Font: Work Sans</a:t>
            </a:r>
          </a:p>
          <a:p/>
          <a:p>
            <a:r>
              <a:t>Research-driven bold selection</a:t>
            </a:r>
          </a:p>
        </p:txBody>
      </p:sp>
      <p:sp>
        <p:nvSpPr>
          <p:cNvPr id="5" name="Rectangle 4"/>
          <p:cNvSpPr/>
          <p:nvPr/>
        </p:nvSpPr>
        <p:spPr>
          <a:xfrm>
            <a:off x="731520" y="6217920"/>
            <a:ext cx="7680960" cy="4572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FCD34D"/>
                </a:solidFill>
                <a:latin typeface="Open Sans"/>
              </a:defRPr>
            </a:pPr>
            <a: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669280"/>
            <a:ext cx="7315200" cy="731520"/>
          </a:xfrm>
          <a:prstGeom prst="rect">
            <a:avLst/>
          </a:prstGeom>
          <a:noFill/>
        </p:spPr>
        <p:txBody>
          <a:bodyPr wrap="none">
            <a:spAutoFit/>
          </a:bodyPr>
          <a:lstStyle/>
          <a:p>
            <a:pPr algn="l">
              <a:defRPr sz="3600" b="1">
                <a:solidFill>
                  <a:srgbClr val="FCD34D"/>
                </a:solidFill>
                <a:latin typeface="Montserrat"/>
              </a:defRPr>
            </a:pPr>
            <a:r>
              <a:t>BRAND VOICE</a:t>
            </a:r>
          </a:p>
        </p:txBody>
      </p:sp>
      <p:sp>
        <p:nvSpPr>
          <p:cNvPr id="4" name="TextBox 3"/>
          <p:cNvSpPr txBox="1"/>
          <p:nvPr/>
        </p:nvSpPr>
        <p:spPr>
          <a:xfrm>
            <a:off x="731520" y="1097280"/>
            <a:ext cx="7315200" cy="4114800"/>
          </a:xfrm>
          <a:prstGeom prst="rect">
            <a:avLst/>
          </a:prstGeom>
          <a:noFill/>
        </p:spPr>
        <p:txBody>
          <a:bodyPr wrap="square">
            <a:spAutoFit/>
          </a:bodyPr>
          <a:lstStyle/>
          <a:p>
            <a:pPr algn="l">
              <a:lnSpc>
                <a:spcPct val="140000"/>
              </a:lnSpc>
              <a:defRPr sz="2400">
                <a:solidFill>
                  <a:srgbClr val="FFFFFF"/>
                </a:solidFill>
                <a:latin typeface="Open Sans"/>
              </a:defRPr>
            </a:pPr>
            <a:r>
              <a:t>Nike's brand voice is dynamic, inspiring, and empowering. It reflects a passion for innovation, performance, and excellence, while also celebrating diversity, sustainability, and authenticity. The tone is confident, energetic, and determined, resonating with athletes, fitness enthusiasts, sports teams, urban youth, lifestyle-focused consumers, and fashion-conscious individuals.</a:t>
            </a:r>
          </a:p>
          <a:p/>
          <a:p>
            <a:r>
              <a:t>Nike's messaging is authoritative, motivating individuals to push their limits and achieve their goals. It is also supportive and inclusive, fostering a sense of community and empowerment. The brand communicates with a sense of authenticity, showcasing real stories of determination and success.</a:t>
            </a:r>
          </a:p>
          <a:p/>
          <a:p>
            <a:r>
              <a:t>Overall, Nike's</a:t>
            </a:r>
          </a:p>
        </p:txBody>
      </p:sp>
      <p:sp>
        <p:nvSpPr>
          <p:cNvPr id="5" name="Rectangle 4"/>
          <p:cNvSpPr/>
          <p:nvPr/>
        </p:nvSpPr>
        <p:spPr>
          <a:xfrm>
            <a:off x="731520" y="6217920"/>
            <a:ext cx="7680960" cy="45720"/>
          </a:xfrm>
          <a:prstGeom prst="rect">
            <a:avLst/>
          </a:prstGeom>
          <a:solidFill>
            <a:srgbClr val="FCD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6400800"/>
            <a:ext cx="914400" cy="274320"/>
          </a:xfrm>
          <a:prstGeom prst="rect">
            <a:avLst/>
          </a:prstGeom>
          <a:noFill/>
        </p:spPr>
        <p:txBody>
          <a:bodyPr wrap="none">
            <a:spAutoFit/>
          </a:bodyPr>
          <a:lstStyle/>
          <a:p>
            <a:pPr algn="r">
              <a:defRPr sz="1400" b="1">
                <a:solidFill>
                  <a:srgbClr val="FCD34D"/>
                </a:solidFill>
                <a:latin typeface="Open Sans"/>
              </a:defRPr>
            </a:pPr>
            <a:r>
              <a:t>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