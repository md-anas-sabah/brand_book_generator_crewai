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nike_logo_1_20250902_023254_2c46420a.png"/>
          <p:cNvPicPr>
            <a:picLocks noChangeAspect="1"/>
          </p:cNvPicPr>
          <p:nvPr/>
        </p:nvPicPr>
        <p:blipFill>
          <a:blip r:embed="rId2"/>
          <a:stretch>
            <a:fillRect/>
          </a:stretch>
        </p:blipFill>
        <p:spPr>
          <a:xfrm>
            <a:off x="0" y="0"/>
            <a:ext cx="9144000" cy="6858000"/>
          </a:xfrm>
          <a:prstGeom prst="rect">
            <a:avLst/>
          </a:prstGeom>
        </p:spPr>
      </p:pic>
      <p:cxnSp>
        <p:nvCxnSpPr>
          <p:cNvPr id="3" name="Connector 2"/>
          <p:cNvCxnSpPr/>
          <p:nvPr/>
        </p:nvCxnSpPr>
        <p:spPr>
          <a:xfrm>
            <a:off x="6629400.0" y="5657850.0"/>
            <a:ext cx="2057400.0" cy="0.0"/>
          </a:xfrm>
          <a:prstGeom prst="line">
            <a:avLst/>
          </a:prstGeom>
          <a:ln>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29400" y="5657850"/>
            <a:ext cx="2057400" cy="1485900"/>
          </a:xfrm>
          <a:prstGeom prst="rect">
            <a:avLst/>
          </a:prstGeom>
          <a:noFill/>
        </p:spPr>
        <p:txBody>
          <a:bodyPr wrap="none" anchor="ctr">
            <a:spAutoFit/>
          </a:bodyPr>
          <a:lstStyle/>
          <a:p>
            <a:pPr algn="ctr">
              <a:defRPr sz="1800" b="0">
                <a:solidFill>
                  <a:srgbClr val="4CAF50"/>
                </a:solidFill>
                <a:latin typeface="Inter"/>
              </a:defRPr>
            </a:pPr>
            <a:r>
              <a:t>Brand Identity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2743200" cy="731520"/>
          </a:xfrm>
          <a:prstGeom prst="rect">
            <a:avLst/>
          </a:prstGeom>
          <a:noFill/>
        </p:spPr>
        <p:txBody>
          <a:bodyPr wrap="none">
            <a:spAutoFit/>
          </a:bodyPr>
          <a:lstStyle/>
          <a:p>
            <a:pPr>
              <a:defRPr sz="2800" b="1">
                <a:solidFill>
                  <a:srgbClr val="4CAF50"/>
                </a:solidFill>
                <a:latin typeface="Source Sans Pro"/>
              </a:defRPr>
            </a:pPr>
            <a:r>
              <a:t>INDEX</a:t>
            </a:r>
          </a:p>
        </p:txBody>
      </p:sp>
      <p:cxnSp>
        <p:nvCxnSpPr>
          <p:cNvPr id="3" name="Connector 2"/>
          <p:cNvCxnSpPr/>
          <p:nvPr/>
        </p:nvCxnSpPr>
        <p:spPr>
          <a:xfrm>
            <a:off x="457200" y="1097280"/>
            <a:ext cx="8229600" cy="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554480"/>
            <a:ext cx="1828800" cy="274320"/>
          </a:xfrm>
          <a:prstGeom prst="rect">
            <a:avLst/>
          </a:prstGeom>
          <a:noFill/>
        </p:spPr>
        <p:txBody>
          <a:bodyPr wrap="none" lIns="0" rIns="0" tIns="0" bIns="0">
            <a:spAutoFit/>
          </a:bodyPr>
          <a:lstStyle/>
          <a:p>
            <a:pPr>
              <a:defRPr sz="1200" b="1">
                <a:solidFill>
                  <a:srgbClr val="000000"/>
                </a:solidFill>
                <a:latin typeface="Inter"/>
              </a:defRPr>
            </a:pPr>
            <a:r>
              <a:t>Introduction</a:t>
            </a:r>
          </a:p>
        </p:txBody>
      </p:sp>
      <p:cxnSp>
        <p:nvCxnSpPr>
          <p:cNvPr id="5" name="Connector 4"/>
          <p:cNvCxnSpPr/>
          <p:nvPr/>
        </p:nvCxnSpPr>
        <p:spPr>
          <a:xfrm>
            <a:off x="2331719" y="166420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0" y="1554480"/>
            <a:ext cx="274320" cy="274320"/>
          </a:xfrm>
          <a:prstGeom prst="rect">
            <a:avLst/>
          </a:prstGeom>
          <a:noFill/>
        </p:spPr>
        <p:txBody>
          <a:bodyPr wrap="none" lIns="0" tIns="0" bIns="0">
            <a:spAutoFit/>
          </a:bodyPr>
          <a:lstStyle/>
          <a:p>
            <a:pPr>
              <a:defRPr sz="1200" b="1">
                <a:solidFill>
                  <a:srgbClr val="4CAF50"/>
                </a:solidFill>
                <a:latin typeface="Inter"/>
              </a:defRPr>
            </a:pPr>
            <a:r>
              <a:t>01</a:t>
            </a:r>
          </a:p>
        </p:txBody>
      </p:sp>
      <p:sp>
        <p:nvSpPr>
          <p:cNvPr id="7" name="TextBox 6"/>
          <p:cNvSpPr txBox="1"/>
          <p:nvPr/>
        </p:nvSpPr>
        <p:spPr>
          <a:xfrm>
            <a:off x="457200" y="2057400"/>
            <a:ext cx="1828800" cy="274320"/>
          </a:xfrm>
          <a:prstGeom prst="rect">
            <a:avLst/>
          </a:prstGeom>
          <a:noFill/>
        </p:spPr>
        <p:txBody>
          <a:bodyPr wrap="none" lIns="0" rIns="0" tIns="0" bIns="0">
            <a:spAutoFit/>
          </a:bodyPr>
          <a:lstStyle/>
          <a:p>
            <a:pPr>
              <a:defRPr sz="1200" b="1">
                <a:solidFill>
                  <a:srgbClr val="000000"/>
                </a:solidFill>
                <a:latin typeface="Inter"/>
              </a:defRPr>
            </a:pPr>
            <a:r>
              <a:t>Brand Purpose (Vision)</a:t>
            </a:r>
          </a:p>
        </p:txBody>
      </p:sp>
      <p:cxnSp>
        <p:nvCxnSpPr>
          <p:cNvPr id="8" name="Connector 7"/>
          <p:cNvCxnSpPr/>
          <p:nvPr/>
        </p:nvCxnSpPr>
        <p:spPr>
          <a:xfrm>
            <a:off x="2331719" y="216712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2057400"/>
            <a:ext cx="274320" cy="274320"/>
          </a:xfrm>
          <a:prstGeom prst="rect">
            <a:avLst/>
          </a:prstGeom>
          <a:noFill/>
        </p:spPr>
        <p:txBody>
          <a:bodyPr wrap="none" lIns="0" tIns="0" bIns="0">
            <a:spAutoFit/>
          </a:bodyPr>
          <a:lstStyle/>
          <a:p>
            <a:pPr>
              <a:defRPr sz="1200" b="1">
                <a:solidFill>
                  <a:srgbClr val="4CAF50"/>
                </a:solidFill>
                <a:latin typeface="Inter"/>
              </a:defRPr>
            </a:pPr>
            <a:r>
              <a:t>02</a:t>
            </a:r>
          </a:p>
        </p:txBody>
      </p:sp>
      <p:sp>
        <p:nvSpPr>
          <p:cNvPr id="10" name="TextBox 9"/>
          <p:cNvSpPr txBox="1"/>
          <p:nvPr/>
        </p:nvSpPr>
        <p:spPr>
          <a:xfrm>
            <a:off x="457200" y="2560320"/>
            <a:ext cx="1828800" cy="274320"/>
          </a:xfrm>
          <a:prstGeom prst="rect">
            <a:avLst/>
          </a:prstGeom>
          <a:noFill/>
        </p:spPr>
        <p:txBody>
          <a:bodyPr wrap="none" lIns="0" rIns="0" tIns="0" bIns="0">
            <a:spAutoFit/>
          </a:bodyPr>
          <a:lstStyle/>
          <a:p>
            <a:pPr>
              <a:defRPr sz="1200" b="1">
                <a:solidFill>
                  <a:srgbClr val="000000"/>
                </a:solidFill>
                <a:latin typeface="Inter"/>
              </a:defRPr>
            </a:pPr>
            <a:r>
              <a:t>Brand Purpose (Mission)</a:t>
            </a:r>
          </a:p>
        </p:txBody>
      </p:sp>
      <p:cxnSp>
        <p:nvCxnSpPr>
          <p:cNvPr id="11" name="Connector 10"/>
          <p:cNvCxnSpPr/>
          <p:nvPr/>
        </p:nvCxnSpPr>
        <p:spPr>
          <a:xfrm>
            <a:off x="2331719" y="267004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0" y="2560320"/>
            <a:ext cx="274320" cy="274320"/>
          </a:xfrm>
          <a:prstGeom prst="rect">
            <a:avLst/>
          </a:prstGeom>
          <a:noFill/>
        </p:spPr>
        <p:txBody>
          <a:bodyPr wrap="none" lIns="0" tIns="0" bIns="0">
            <a:spAutoFit/>
          </a:bodyPr>
          <a:lstStyle/>
          <a:p>
            <a:pPr>
              <a:defRPr sz="1200" b="1">
                <a:solidFill>
                  <a:srgbClr val="4CAF50"/>
                </a:solidFill>
                <a:latin typeface="Inter"/>
              </a:defRPr>
            </a:pPr>
            <a:r>
              <a:t>03</a:t>
            </a:r>
          </a:p>
        </p:txBody>
      </p:sp>
      <p:sp>
        <p:nvSpPr>
          <p:cNvPr id="13" name="TextBox 12"/>
          <p:cNvSpPr txBox="1"/>
          <p:nvPr/>
        </p:nvSpPr>
        <p:spPr>
          <a:xfrm>
            <a:off x="3474720" y="1554480"/>
            <a:ext cx="1828800" cy="274320"/>
          </a:xfrm>
          <a:prstGeom prst="rect">
            <a:avLst/>
          </a:prstGeom>
          <a:noFill/>
        </p:spPr>
        <p:txBody>
          <a:bodyPr wrap="none" lIns="0" rIns="0" tIns="0" bIns="0">
            <a:spAutoFit/>
          </a:bodyPr>
          <a:lstStyle/>
          <a:p>
            <a:pPr>
              <a:defRPr sz="1200" b="1">
                <a:solidFill>
                  <a:srgbClr val="000000"/>
                </a:solidFill>
                <a:latin typeface="Inter"/>
              </a:defRPr>
            </a:pPr>
            <a:r>
              <a:t>Brand Purpose (Values)</a:t>
            </a:r>
          </a:p>
        </p:txBody>
      </p:sp>
      <p:cxnSp>
        <p:nvCxnSpPr>
          <p:cNvPr id="14" name="Connector 13"/>
          <p:cNvCxnSpPr/>
          <p:nvPr/>
        </p:nvCxnSpPr>
        <p:spPr>
          <a:xfrm>
            <a:off x="5349239" y="166420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60720" y="1554480"/>
            <a:ext cx="274320" cy="274320"/>
          </a:xfrm>
          <a:prstGeom prst="rect">
            <a:avLst/>
          </a:prstGeom>
          <a:noFill/>
        </p:spPr>
        <p:txBody>
          <a:bodyPr wrap="none" lIns="0" tIns="0" bIns="0">
            <a:spAutoFit/>
          </a:bodyPr>
          <a:lstStyle/>
          <a:p>
            <a:pPr>
              <a:defRPr sz="1200" b="1">
                <a:solidFill>
                  <a:srgbClr val="4CAF50"/>
                </a:solidFill>
                <a:latin typeface="Inter"/>
              </a:defRPr>
            </a:pPr>
            <a:r>
              <a:t>04</a:t>
            </a:r>
          </a:p>
        </p:txBody>
      </p:sp>
      <p:sp>
        <p:nvSpPr>
          <p:cNvPr id="16" name="TextBox 15"/>
          <p:cNvSpPr txBox="1"/>
          <p:nvPr/>
        </p:nvSpPr>
        <p:spPr>
          <a:xfrm>
            <a:off x="3474720" y="2057400"/>
            <a:ext cx="1828800" cy="274320"/>
          </a:xfrm>
          <a:prstGeom prst="rect">
            <a:avLst/>
          </a:prstGeom>
          <a:noFill/>
        </p:spPr>
        <p:txBody>
          <a:bodyPr wrap="none" lIns="0" rIns="0" tIns="0" bIns="0">
            <a:spAutoFit/>
          </a:bodyPr>
          <a:lstStyle/>
          <a:p>
            <a:pPr>
              <a:defRPr sz="1200" b="1">
                <a:solidFill>
                  <a:srgbClr val="000000"/>
                </a:solidFill>
                <a:latin typeface="Inter"/>
              </a:defRPr>
            </a:pPr>
            <a:r>
              <a:t>Brand Story</a:t>
            </a:r>
          </a:p>
        </p:txBody>
      </p:sp>
      <p:cxnSp>
        <p:nvCxnSpPr>
          <p:cNvPr id="17" name="Connector 16"/>
          <p:cNvCxnSpPr/>
          <p:nvPr/>
        </p:nvCxnSpPr>
        <p:spPr>
          <a:xfrm>
            <a:off x="5349239" y="216712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0720" y="2057400"/>
            <a:ext cx="274320" cy="274320"/>
          </a:xfrm>
          <a:prstGeom prst="rect">
            <a:avLst/>
          </a:prstGeom>
          <a:noFill/>
        </p:spPr>
        <p:txBody>
          <a:bodyPr wrap="none" lIns="0" tIns="0" bIns="0">
            <a:spAutoFit/>
          </a:bodyPr>
          <a:lstStyle/>
          <a:p>
            <a:pPr>
              <a:defRPr sz="1200" b="1">
                <a:solidFill>
                  <a:srgbClr val="4CAF50"/>
                </a:solidFill>
                <a:latin typeface="Inter"/>
              </a:defRPr>
            </a:pPr>
            <a:r>
              <a:t>05</a:t>
            </a:r>
          </a:p>
        </p:txBody>
      </p:sp>
      <p:sp>
        <p:nvSpPr>
          <p:cNvPr id="19" name="TextBox 18"/>
          <p:cNvSpPr txBox="1"/>
          <p:nvPr/>
        </p:nvSpPr>
        <p:spPr>
          <a:xfrm>
            <a:off x="3474720" y="2560320"/>
            <a:ext cx="1828800" cy="274320"/>
          </a:xfrm>
          <a:prstGeom prst="rect">
            <a:avLst/>
          </a:prstGeom>
          <a:noFill/>
        </p:spPr>
        <p:txBody>
          <a:bodyPr wrap="none" lIns="0" rIns="0" tIns="0" bIns="0">
            <a:spAutoFit/>
          </a:bodyPr>
          <a:lstStyle/>
          <a:p>
            <a:pPr>
              <a:defRPr sz="1200" b="1">
                <a:solidFill>
                  <a:srgbClr val="000000"/>
                </a:solidFill>
                <a:latin typeface="Inter"/>
              </a:defRPr>
            </a:pPr>
            <a:r>
              <a:t>Logo Variations</a:t>
            </a:r>
          </a:p>
        </p:txBody>
      </p:sp>
      <p:cxnSp>
        <p:nvCxnSpPr>
          <p:cNvPr id="20" name="Connector 19"/>
          <p:cNvCxnSpPr/>
          <p:nvPr/>
        </p:nvCxnSpPr>
        <p:spPr>
          <a:xfrm>
            <a:off x="5349239" y="267004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760720" y="2560320"/>
            <a:ext cx="274320" cy="274320"/>
          </a:xfrm>
          <a:prstGeom prst="rect">
            <a:avLst/>
          </a:prstGeom>
          <a:noFill/>
        </p:spPr>
        <p:txBody>
          <a:bodyPr wrap="none" lIns="0" tIns="0" bIns="0">
            <a:spAutoFit/>
          </a:bodyPr>
          <a:lstStyle/>
          <a:p>
            <a:pPr>
              <a:defRPr sz="1200" b="1">
                <a:solidFill>
                  <a:srgbClr val="4CAF50"/>
                </a:solidFill>
                <a:latin typeface="Inter"/>
              </a:defRPr>
            </a:pPr>
            <a:r>
              <a:t>06</a:t>
            </a:r>
          </a:p>
        </p:txBody>
      </p:sp>
      <p:sp>
        <p:nvSpPr>
          <p:cNvPr id="22" name="TextBox 21"/>
          <p:cNvSpPr txBox="1"/>
          <p:nvPr/>
        </p:nvSpPr>
        <p:spPr>
          <a:xfrm>
            <a:off x="3657600" y="2926079"/>
            <a:ext cx="1828800" cy="228600"/>
          </a:xfrm>
          <a:prstGeom prst="rect">
            <a:avLst/>
          </a:prstGeom>
          <a:noFill/>
        </p:spPr>
        <p:txBody>
          <a:bodyPr wrap="none" lIns="0" tIns="0" bIns="0">
            <a:spAutoFit/>
          </a:bodyPr>
          <a:lstStyle/>
          <a:p>
            <a:pPr>
              <a:defRPr sz="900" b="0">
                <a:solidFill>
                  <a:srgbClr val="CCCCCC"/>
                </a:solidFill>
                <a:latin typeface="Inter"/>
              </a:defRPr>
            </a:pPr>
            <a:r>
              <a:t>Variation 1</a:t>
            </a:r>
          </a:p>
        </p:txBody>
      </p:sp>
      <p:sp>
        <p:nvSpPr>
          <p:cNvPr id="23" name="TextBox 22"/>
          <p:cNvSpPr txBox="1"/>
          <p:nvPr/>
        </p:nvSpPr>
        <p:spPr>
          <a:xfrm>
            <a:off x="3657600" y="3154679"/>
            <a:ext cx="1828800" cy="228600"/>
          </a:xfrm>
          <a:prstGeom prst="rect">
            <a:avLst/>
          </a:prstGeom>
          <a:noFill/>
        </p:spPr>
        <p:txBody>
          <a:bodyPr wrap="none" lIns="0" tIns="0" bIns="0">
            <a:spAutoFit/>
          </a:bodyPr>
          <a:lstStyle/>
          <a:p>
            <a:pPr>
              <a:defRPr sz="900" b="0">
                <a:solidFill>
                  <a:srgbClr val="CCCCCC"/>
                </a:solidFill>
                <a:latin typeface="Inter"/>
              </a:defRPr>
            </a:pPr>
            <a:r>
              <a:t>Variation 2</a:t>
            </a:r>
          </a:p>
        </p:txBody>
      </p:sp>
      <p:sp>
        <p:nvSpPr>
          <p:cNvPr id="24" name="TextBox 23"/>
          <p:cNvSpPr txBox="1"/>
          <p:nvPr/>
        </p:nvSpPr>
        <p:spPr>
          <a:xfrm>
            <a:off x="3657600" y="3383279"/>
            <a:ext cx="1828800" cy="228600"/>
          </a:xfrm>
          <a:prstGeom prst="rect">
            <a:avLst/>
          </a:prstGeom>
          <a:noFill/>
        </p:spPr>
        <p:txBody>
          <a:bodyPr wrap="none" lIns="0" tIns="0" bIns="0">
            <a:spAutoFit/>
          </a:bodyPr>
          <a:lstStyle/>
          <a:p>
            <a:pPr>
              <a:defRPr sz="900" b="0">
                <a:solidFill>
                  <a:srgbClr val="CCCCCC"/>
                </a:solidFill>
                <a:latin typeface="Inter"/>
              </a:defRPr>
            </a:pPr>
            <a:r>
              <a:t>Variation 3</a:t>
            </a:r>
          </a:p>
        </p:txBody>
      </p:sp>
      <p:sp>
        <p:nvSpPr>
          <p:cNvPr id="25" name="TextBox 24"/>
          <p:cNvSpPr txBox="1"/>
          <p:nvPr/>
        </p:nvSpPr>
        <p:spPr>
          <a:xfrm>
            <a:off x="6492240" y="1554480"/>
            <a:ext cx="1828800" cy="274320"/>
          </a:xfrm>
          <a:prstGeom prst="rect">
            <a:avLst/>
          </a:prstGeom>
          <a:noFill/>
        </p:spPr>
        <p:txBody>
          <a:bodyPr wrap="none" lIns="0" rIns="0" tIns="0" bIns="0">
            <a:spAutoFit/>
          </a:bodyPr>
          <a:lstStyle/>
          <a:p>
            <a:pPr>
              <a:defRPr sz="1200" b="1">
                <a:solidFill>
                  <a:srgbClr val="000000"/>
                </a:solidFill>
                <a:latin typeface="Inter"/>
              </a:defRPr>
            </a:pPr>
            <a:r>
              <a:t>Brand Colors</a:t>
            </a:r>
          </a:p>
        </p:txBody>
      </p:sp>
      <p:cxnSp>
        <p:nvCxnSpPr>
          <p:cNvPr id="26" name="Connector 25"/>
          <p:cNvCxnSpPr/>
          <p:nvPr/>
        </p:nvCxnSpPr>
        <p:spPr>
          <a:xfrm>
            <a:off x="8366759" y="166420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1554480"/>
            <a:ext cx="274320" cy="274320"/>
          </a:xfrm>
          <a:prstGeom prst="rect">
            <a:avLst/>
          </a:prstGeom>
          <a:noFill/>
        </p:spPr>
        <p:txBody>
          <a:bodyPr wrap="none" lIns="0" tIns="0" bIns="0">
            <a:spAutoFit/>
          </a:bodyPr>
          <a:lstStyle/>
          <a:p>
            <a:pPr>
              <a:defRPr sz="1200" b="1">
                <a:solidFill>
                  <a:srgbClr val="4CAF50"/>
                </a:solidFill>
                <a:latin typeface="Inter"/>
              </a:defRPr>
            </a:pPr>
            <a:r>
              <a:t>07</a:t>
            </a:r>
          </a:p>
        </p:txBody>
      </p:sp>
      <p:sp>
        <p:nvSpPr>
          <p:cNvPr id="28" name="TextBox 27"/>
          <p:cNvSpPr txBox="1"/>
          <p:nvPr/>
        </p:nvSpPr>
        <p:spPr>
          <a:xfrm>
            <a:off x="6675120" y="1920240"/>
            <a:ext cx="1828800" cy="228600"/>
          </a:xfrm>
          <a:prstGeom prst="rect">
            <a:avLst/>
          </a:prstGeom>
          <a:noFill/>
        </p:spPr>
        <p:txBody>
          <a:bodyPr wrap="none" lIns="0" tIns="0" bIns="0">
            <a:spAutoFit/>
          </a:bodyPr>
          <a:lstStyle/>
          <a:p>
            <a:pPr>
              <a:defRPr sz="900" b="0">
                <a:solidFill>
                  <a:srgbClr val="CCCCCC"/>
                </a:solidFill>
                <a:latin typeface="Inter"/>
              </a:defRPr>
            </a:pPr>
            <a:r>
              <a:t>Primary Colors</a:t>
            </a:r>
          </a:p>
        </p:txBody>
      </p:sp>
      <p:sp>
        <p:nvSpPr>
          <p:cNvPr id="29" name="TextBox 28"/>
          <p:cNvSpPr txBox="1"/>
          <p:nvPr/>
        </p:nvSpPr>
        <p:spPr>
          <a:xfrm>
            <a:off x="6675120" y="2148840"/>
            <a:ext cx="1828800" cy="228600"/>
          </a:xfrm>
          <a:prstGeom prst="rect">
            <a:avLst/>
          </a:prstGeom>
          <a:noFill/>
        </p:spPr>
        <p:txBody>
          <a:bodyPr wrap="none" lIns="0" tIns="0" bIns="0">
            <a:spAutoFit/>
          </a:bodyPr>
          <a:lstStyle/>
          <a:p>
            <a:pPr>
              <a:defRPr sz="900" b="0">
                <a:solidFill>
                  <a:srgbClr val="CCCCCC"/>
                </a:solidFill>
                <a:latin typeface="Inter"/>
              </a:defRPr>
            </a:pPr>
            <a:r>
              <a:t>Secondary Colors</a:t>
            </a:r>
          </a:p>
        </p:txBody>
      </p:sp>
      <p:sp>
        <p:nvSpPr>
          <p:cNvPr id="30" name="TextBox 29"/>
          <p:cNvSpPr txBox="1"/>
          <p:nvPr/>
        </p:nvSpPr>
        <p:spPr>
          <a:xfrm>
            <a:off x="6675120" y="2377440"/>
            <a:ext cx="1828800" cy="228600"/>
          </a:xfrm>
          <a:prstGeom prst="rect">
            <a:avLst/>
          </a:prstGeom>
          <a:noFill/>
        </p:spPr>
        <p:txBody>
          <a:bodyPr wrap="none" lIns="0" tIns="0" bIns="0">
            <a:spAutoFit/>
          </a:bodyPr>
          <a:lstStyle/>
          <a:p>
            <a:pPr>
              <a:defRPr sz="900" b="0">
                <a:solidFill>
                  <a:srgbClr val="CCCCCC"/>
                </a:solidFill>
                <a:latin typeface="Inter"/>
              </a:defRPr>
            </a:pPr>
            <a:r>
              <a:t>Color Usage 1/2</a:t>
            </a:r>
          </a:p>
        </p:txBody>
      </p:sp>
      <p:sp>
        <p:nvSpPr>
          <p:cNvPr id="31" name="TextBox 30"/>
          <p:cNvSpPr txBox="1"/>
          <p:nvPr/>
        </p:nvSpPr>
        <p:spPr>
          <a:xfrm>
            <a:off x="6675120" y="2606040"/>
            <a:ext cx="1828800" cy="228600"/>
          </a:xfrm>
          <a:prstGeom prst="rect">
            <a:avLst/>
          </a:prstGeom>
          <a:noFill/>
        </p:spPr>
        <p:txBody>
          <a:bodyPr wrap="none" lIns="0" tIns="0" bIns="0">
            <a:spAutoFit/>
          </a:bodyPr>
          <a:lstStyle/>
          <a:p>
            <a:pPr>
              <a:defRPr sz="900" b="0">
                <a:solidFill>
                  <a:srgbClr val="CCCCCC"/>
                </a:solidFill>
                <a:latin typeface="Inter"/>
              </a:defRPr>
            </a:pPr>
            <a:r>
              <a:t>Color Usage 2/2</a:t>
            </a:r>
          </a:p>
        </p:txBody>
      </p:sp>
      <p:sp>
        <p:nvSpPr>
          <p:cNvPr id="32" name="TextBox 31"/>
          <p:cNvSpPr txBox="1"/>
          <p:nvPr/>
        </p:nvSpPr>
        <p:spPr>
          <a:xfrm>
            <a:off x="6492240" y="2971800"/>
            <a:ext cx="1828800" cy="274320"/>
          </a:xfrm>
          <a:prstGeom prst="rect">
            <a:avLst/>
          </a:prstGeom>
          <a:noFill/>
        </p:spPr>
        <p:txBody>
          <a:bodyPr wrap="none" lIns="0" rIns="0" tIns="0" bIns="0">
            <a:spAutoFit/>
          </a:bodyPr>
          <a:lstStyle/>
          <a:p>
            <a:pPr>
              <a:defRPr sz="1200" b="1">
                <a:solidFill>
                  <a:srgbClr val="000000"/>
                </a:solidFill>
                <a:latin typeface="Inter"/>
              </a:defRPr>
            </a:pPr>
            <a:r>
              <a:t>Typography</a:t>
            </a:r>
          </a:p>
        </p:txBody>
      </p:sp>
      <p:cxnSp>
        <p:nvCxnSpPr>
          <p:cNvPr id="33" name="Connector 32"/>
          <p:cNvCxnSpPr/>
          <p:nvPr/>
        </p:nvCxnSpPr>
        <p:spPr>
          <a:xfrm>
            <a:off x="8366759" y="308152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778240" y="2971800"/>
            <a:ext cx="274320" cy="274320"/>
          </a:xfrm>
          <a:prstGeom prst="rect">
            <a:avLst/>
          </a:prstGeom>
          <a:noFill/>
        </p:spPr>
        <p:txBody>
          <a:bodyPr wrap="none" lIns="0" tIns="0" bIns="0">
            <a:spAutoFit/>
          </a:bodyPr>
          <a:lstStyle/>
          <a:p>
            <a:pPr>
              <a:defRPr sz="1200" b="1">
                <a:solidFill>
                  <a:srgbClr val="4CAF50"/>
                </a:solidFill>
                <a:latin typeface="Inter"/>
              </a:defRPr>
            </a:pPr>
            <a:r>
              <a:t>08</a:t>
            </a:r>
          </a:p>
        </p:txBody>
      </p:sp>
      <p:sp>
        <p:nvSpPr>
          <p:cNvPr id="35" name="TextBox 34"/>
          <p:cNvSpPr txBox="1"/>
          <p:nvPr/>
        </p:nvSpPr>
        <p:spPr>
          <a:xfrm>
            <a:off x="6675120" y="3337560"/>
            <a:ext cx="1828800" cy="228600"/>
          </a:xfrm>
          <a:prstGeom prst="rect">
            <a:avLst/>
          </a:prstGeom>
          <a:noFill/>
        </p:spPr>
        <p:txBody>
          <a:bodyPr wrap="none" lIns="0" tIns="0" bIns="0">
            <a:spAutoFit/>
          </a:bodyPr>
          <a:lstStyle/>
          <a:p>
            <a:pPr>
              <a:defRPr sz="900" b="0">
                <a:solidFill>
                  <a:srgbClr val="CCCCCC"/>
                </a:solidFill>
                <a:latin typeface="Inter"/>
              </a:defRPr>
            </a:pPr>
            <a:r>
              <a:t>Brand Font</a:t>
            </a:r>
          </a:p>
        </p:txBody>
      </p:sp>
      <p:sp>
        <p:nvSpPr>
          <p:cNvPr id="36" name="TextBox 35"/>
          <p:cNvSpPr txBox="1"/>
          <p:nvPr/>
        </p:nvSpPr>
        <p:spPr>
          <a:xfrm>
            <a:off x="6675120" y="3566160"/>
            <a:ext cx="1828800" cy="228600"/>
          </a:xfrm>
          <a:prstGeom prst="rect">
            <a:avLst/>
          </a:prstGeom>
          <a:noFill/>
        </p:spPr>
        <p:txBody>
          <a:bodyPr wrap="none" lIns="0" tIns="0" bIns="0">
            <a:spAutoFit/>
          </a:bodyPr>
          <a:lstStyle/>
          <a:p>
            <a:pPr>
              <a:defRPr sz="900" b="0">
                <a:solidFill>
                  <a:srgbClr val="CCCCCC"/>
                </a:solidFill>
                <a:latin typeface="Inter"/>
              </a:defRPr>
            </a:pPr>
            <a:r>
              <a:t>Font Usage</a:t>
            </a:r>
          </a:p>
        </p:txBody>
      </p:sp>
      <p:sp>
        <p:nvSpPr>
          <p:cNvPr id="37" name="TextBox 36"/>
          <p:cNvSpPr txBox="1"/>
          <p:nvPr/>
        </p:nvSpPr>
        <p:spPr>
          <a:xfrm>
            <a:off x="6675120" y="3794760"/>
            <a:ext cx="1828800" cy="228600"/>
          </a:xfrm>
          <a:prstGeom prst="rect">
            <a:avLst/>
          </a:prstGeom>
          <a:noFill/>
        </p:spPr>
        <p:txBody>
          <a:bodyPr wrap="none" lIns="0" tIns="0" bIns="0">
            <a:spAutoFit/>
          </a:bodyPr>
          <a:lstStyle/>
          <a:p>
            <a:pPr>
              <a:defRPr sz="900" b="0">
                <a:solidFill>
                  <a:srgbClr val="CCCCCC"/>
                </a:solidFill>
                <a:latin typeface="Inter"/>
              </a:defRPr>
            </a:pPr>
            <a:r>
              <a:t>Text Hierarchy</a:t>
            </a:r>
          </a:p>
        </p:txBody>
      </p:sp>
      <p:sp>
        <p:nvSpPr>
          <p:cNvPr id="38" name="TextBox 37"/>
          <p:cNvSpPr txBox="1"/>
          <p:nvPr/>
        </p:nvSpPr>
        <p:spPr>
          <a:xfrm>
            <a:off x="6492240" y="4160520"/>
            <a:ext cx="1828800" cy="274320"/>
          </a:xfrm>
          <a:prstGeom prst="rect">
            <a:avLst/>
          </a:prstGeom>
          <a:noFill/>
        </p:spPr>
        <p:txBody>
          <a:bodyPr wrap="none" lIns="0" rIns="0" tIns="0" bIns="0">
            <a:spAutoFit/>
          </a:bodyPr>
          <a:lstStyle/>
          <a:p>
            <a:pPr>
              <a:defRPr sz="1200" b="1">
                <a:solidFill>
                  <a:srgbClr val="000000"/>
                </a:solidFill>
                <a:latin typeface="Inter"/>
              </a:defRPr>
            </a:pPr>
            <a:r>
              <a:t>Imagery &amp; Visuals</a:t>
            </a:r>
          </a:p>
        </p:txBody>
      </p:sp>
      <p:cxnSp>
        <p:nvCxnSpPr>
          <p:cNvPr id="39" name="Connector 38"/>
          <p:cNvCxnSpPr/>
          <p:nvPr/>
        </p:nvCxnSpPr>
        <p:spPr>
          <a:xfrm>
            <a:off x="8366759" y="4270248"/>
            <a:ext cx="365760" cy="0"/>
          </a:xfrm>
          <a:prstGeom prst="line">
            <a:avLst/>
          </a:prstGeom>
          <a:ln w="19050">
            <a:solidFill>
              <a:srgbClr val="4CAF5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78240" y="4160520"/>
            <a:ext cx="274320" cy="274320"/>
          </a:xfrm>
          <a:prstGeom prst="rect">
            <a:avLst/>
          </a:prstGeom>
          <a:noFill/>
        </p:spPr>
        <p:txBody>
          <a:bodyPr wrap="none" lIns="0" tIns="0" bIns="0">
            <a:spAutoFit/>
          </a:bodyPr>
          <a:lstStyle/>
          <a:p>
            <a:pPr>
              <a:defRPr sz="1200" b="1">
                <a:solidFill>
                  <a:srgbClr val="4CAF50"/>
                </a:solidFill>
                <a:latin typeface="Inter"/>
              </a:defRPr>
            </a:pPr>
            <a:r>
              <a:t>09</a:t>
            </a:r>
          </a:p>
        </p:txBody>
      </p:sp>
      <p:sp>
        <p:nvSpPr>
          <p:cNvPr id="41" name="TextBox 40"/>
          <p:cNvSpPr txBox="1"/>
          <p:nvPr/>
        </p:nvSpPr>
        <p:spPr>
          <a:xfrm>
            <a:off x="6675120" y="4526280"/>
            <a:ext cx="1828800" cy="228600"/>
          </a:xfrm>
          <a:prstGeom prst="rect">
            <a:avLst/>
          </a:prstGeom>
          <a:noFill/>
        </p:spPr>
        <p:txBody>
          <a:bodyPr wrap="none" lIns="0" tIns="0" bIns="0">
            <a:spAutoFit/>
          </a:bodyPr>
          <a:lstStyle/>
          <a:p>
            <a:pPr>
              <a:defRPr sz="900" b="0">
                <a:solidFill>
                  <a:srgbClr val="CCCCCC"/>
                </a:solidFill>
                <a:latin typeface="Inter"/>
              </a:defRPr>
            </a:pPr>
            <a:r>
              <a:t>Iconography</a:t>
            </a:r>
          </a:p>
        </p:txBody>
      </p:sp>
      <p:sp>
        <p:nvSpPr>
          <p:cNvPr id="42" name="TextBox 41"/>
          <p:cNvSpPr txBox="1"/>
          <p:nvPr/>
        </p:nvSpPr>
        <p:spPr>
          <a:xfrm>
            <a:off x="6675120" y="4754880"/>
            <a:ext cx="1828800" cy="228600"/>
          </a:xfrm>
          <a:prstGeom prst="rect">
            <a:avLst/>
          </a:prstGeom>
          <a:noFill/>
        </p:spPr>
        <p:txBody>
          <a:bodyPr wrap="none" lIns="0" tIns="0" bIns="0">
            <a:spAutoFit/>
          </a:bodyPr>
          <a:lstStyle/>
          <a:p>
            <a:pPr>
              <a:defRPr sz="900" b="0">
                <a:solidFill>
                  <a:srgbClr val="CCCCCC"/>
                </a:solidFill>
                <a:latin typeface="Inter"/>
              </a:defRPr>
            </a:pPr>
            <a:r>
              <a:t>Illustrations</a:t>
            </a:r>
          </a:p>
        </p:txBody>
      </p:sp>
      <p:sp>
        <p:nvSpPr>
          <p:cNvPr id="43" name="TextBox 42"/>
          <p:cNvSpPr txBox="1"/>
          <p:nvPr/>
        </p:nvSpPr>
        <p:spPr>
          <a:xfrm>
            <a:off x="6675120" y="4983480"/>
            <a:ext cx="1828800" cy="228600"/>
          </a:xfrm>
          <a:prstGeom prst="rect">
            <a:avLst/>
          </a:prstGeom>
          <a:noFill/>
        </p:spPr>
        <p:txBody>
          <a:bodyPr wrap="none" lIns="0" tIns="0" bIns="0">
            <a:spAutoFit/>
          </a:bodyPr>
          <a:lstStyle/>
          <a:p>
            <a:pPr>
              <a:defRPr sz="900" b="0">
                <a:solidFill>
                  <a:srgbClr val="CCCCCC"/>
                </a:solidFill>
                <a:latin typeface="Inter"/>
              </a:defRPr>
            </a:pPr>
            <a:r>
              <a:t>Merchandise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Welcome to Nike's global brand identity system. Built on our legacy of innovation and athletic excellence, this comprehensive framework delivers a powerful, instantly recognizable presence across our athletic footwear, performance apparel, and sports equipment portfolio. Our system embodies Nike's fundamental commitment to empowering athletes and inspiring movement worldwide, while ensuring consistent, engaging brand experiences at every touchpoint. From elite competitors to everyday enthusiasts, our distinctive identity reflects the dynamic spirit that has made Nike the world's leading sports and lifestyle brand.</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4CAF50"/>
                </a:solidFill>
                <a:latin typeface="Source Sans Pro"/>
              </a:defRPr>
            </a:pPr>
            <a: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At Nike, we envision a world where every step, jump, or sprint fuels the endless pursuit of greatness. Our ultimate goal is to inspire and empower Athletes, Fitness enthusiasts, Youth, Professionals, and Global lifestyle consumers to push beyond their limits, both on and off the field, through innovative Sportswear &amp; Apparel solutions that redefine performance and style.</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4CAF50"/>
                </a:solidFill>
                <a:latin typeface="Source Sans Pro"/>
              </a:defRPr>
            </a:pPr>
            <a:r>
              <a:t>BRAND PURPOSE (VISION)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Our mission at Nike is to lead the Sportswear &amp; Apparel industry by relentlessly pursuing excellence in design and functionality. We are dedicated to providing Athletes, Fitness enthusiasts, Youth, Professionals, and Global lifestyle consumers with cutting-edge Athletic Footwear, Clothing, and Equipment that not only enhance their performance but also reflect their unique identity and aspirations.</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4CAF50"/>
                </a:solidFill>
                <a:latin typeface="Source Sans Pro"/>
              </a:defRPr>
            </a:pPr>
            <a:r>
              <a:t>BRAND PURPOSE (MISSION)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Our commitment to Innovation drives us to constantly push the boundaries of what's possible, delivering products that anticipate and meet the evolving needs of our diverse consumer base. Performance is at the core of everything we do, ensuring that every garment, shoe, or accessory we create empowers individuals to excel in their chosen pursuits. We draw Inspiration from the stories and journeys of our customers, fostering a culture of creativity and passion within our brand. Sustainability is ingrained in our DNA, guiding us to design with the planet in mind, creating products that are not only high-performing but also environmentally responsible. Embracing Diversity and promoting Equality are fundamental to our ethos, as we strive to celebrate the unique talents and perspectives of every individual we touch. Through our commitment to Empowerment, we seek to uplift and support communities, creating opportunities for growth and positive change worldwide.</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4CAF50"/>
                </a:solidFill>
                <a:latin typeface="Source Sans Pro"/>
              </a:defRPr>
            </a:pPr>
            <a:r>
              <a:t>BRAND PURPOSE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In the heart of every athlete, every fitness enthusiast, every young dreamer, and every global lifestyle consumer, there beats a relentless drive for greatness. It's the same pulse that fuels our passion at Nike – a passion for innovation, performance, and empowerment. At Nike, we believe in the power of sport to unleash human potential. We are not just a brand; we are a movement, a force for change, a beacon of inspiration for athletes and dreamers around the world. Our core values of innovation, performance, inspiration, sustainability, diversity, equality, and empowerment guide every step we take, every product we create, and every athlete we support.</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4CAF50"/>
                </a:solidFill>
                <a:latin typeface="Source Sans Pro"/>
              </a:defRPr>
            </a:pPr>
            <a:r>
              <a:t>BRAND STORY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Our brand promise is simple yet profound: to empower athletes, fitness enthusiasts, youth, professionals, and global lifestyle consumers through innovative Sportswear &amp; Apparel solutions. We are not just here to sell clothes and shoes; we are here to revolutionize the way people move, feel, and perform. Our products are not just pieces of fabric and rubber; they are tools of transformation, catalysts for greatness, and symbols of empowerment. What sets Nike apart is our relentless commitment to pushing boundaries, challenging the status quo, and redefining what is possible. Our unique value proposition lies in...</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4CAF50"/>
                </a:solidFill>
                <a:latin typeface="Source Sans Pro"/>
              </a:defRPr>
            </a:pPr>
            <a:r>
              <a:t>BRAND STORY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nike_logo_1_20250902_023254_2c46420a.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000000"/>
                </a:solidFill>
                <a:latin typeface="Inter"/>
              </a:defRPr>
            </a:pPr>
            <a:r>
              <a:t>Choose for maximum impact and brand recognition in primary applications.</a:t>
            </a:r>
          </a:p>
        </p:txBody>
      </p:sp>
      <p:cxnSp>
        <p:nvCxnSpPr>
          <p:cNvPr id="4" name="Connector 3"/>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4CAF50"/>
                </a:solidFill>
                <a:latin typeface="Source Sans Pro"/>
              </a:defRPr>
            </a:pPr>
            <a:r>
              <a:t>Logo Variation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nike_logo_2_20250902_023311_731884bc.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000000"/>
                </a:solidFill>
                <a:latin typeface="Inter"/>
              </a:defRPr>
            </a:pPr>
            <a:r>
              <a:t>Perfect for constrained spaces while maintaining professional brand presence and clarity.</a:t>
            </a:r>
          </a:p>
        </p:txBody>
      </p:sp>
      <p:cxnSp>
        <p:nvCxnSpPr>
          <p:cNvPr id="4" name="Connector 3"/>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4CAF50"/>
                </a:solidFill>
                <a:latin typeface="Source Sans Pro"/>
              </a:defRPr>
            </a:pPr>
            <a:r>
              <a:t>Logo Variation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nike_logo_3_20250902_023326_3a982851.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000000"/>
                </a:solidFill>
                <a:latin typeface="Inter"/>
              </a:defRPr>
            </a:pPr>
            <a:r>
              <a:t>Ideal for small sizes, watermarks, and applications requiring simplified brand representation.</a:t>
            </a:r>
          </a:p>
        </p:txBody>
      </p:sp>
      <p:cxnSp>
        <p:nvCxnSpPr>
          <p:cNvPr id="4" name="Connector 3"/>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4CAF50"/>
                </a:solidFill>
                <a:latin typeface="Source Sans Pro"/>
              </a:defRPr>
            </a:pPr>
            <a:r>
              <a:t>Logo Variation 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43000" y="1645920"/>
            <a:ext cx="1828800" cy="1371600"/>
          </a:xfrm>
          <a:prstGeom prst="rect">
            <a:avLst/>
          </a:prstGeom>
          <a:solidFill>
            <a:srgbClr val="4CAF5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54680" y="164592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Inter"/>
              </a:defRPr>
            </a:pPr>
            <a:r>
              <a:t>Innovation Green</a:t>
            </a:r>
          </a:p>
          <a:p>
            <a:pPr algn="l">
              <a:spcAft>
                <a:spcPts val="300"/>
              </a:spcAft>
              <a:defRPr sz="1000" b="0">
                <a:solidFill>
                  <a:srgbClr val="000000"/>
                </a:solidFill>
                <a:latin typeface="Inter"/>
              </a:defRPr>
            </a:pPr>
            <a:r>
              <a:t>#4CAF50</a:t>
            </a:r>
          </a:p>
          <a:p>
            <a:pPr algn="l">
              <a:spcAft>
                <a:spcPts val="300"/>
              </a:spcAft>
              <a:defRPr sz="1000" b="0">
                <a:solidFill>
                  <a:srgbClr val="000000"/>
                </a:solidFill>
                <a:latin typeface="Inter"/>
              </a:defRPr>
            </a:pPr>
            <a:r>
              <a:t>RGB(76, 175, 80)</a:t>
            </a:r>
          </a:p>
          <a:p>
            <a:pPr algn="l">
              <a:spcAft>
                <a:spcPts val="300"/>
              </a:spcAft>
              <a:defRPr sz="1000" b="0">
                <a:solidFill>
                  <a:srgbClr val="000000"/>
                </a:solidFill>
                <a:latin typeface="Inter"/>
              </a:defRPr>
            </a:pPr>
            <a:r>
              <a:t>CMYK(56, 0, 54, 31)</a:t>
            </a:r>
          </a:p>
          <a:p>
            <a:pPr algn="l">
              <a:spcAft>
                <a:spcPts val="300"/>
              </a:spcAft>
              <a:defRPr sz="1000" b="0">
                <a:solidFill>
                  <a:srgbClr val="000000"/>
                </a:solidFill>
                <a:latin typeface="Inter"/>
              </a:defRPr>
            </a:pPr>
            <a:r>
              <a:t>Use Dark Text</a:t>
            </a:r>
          </a:p>
        </p:txBody>
      </p:sp>
      <p:sp>
        <p:nvSpPr>
          <p:cNvPr id="4" name="Rectangle 3"/>
          <p:cNvSpPr/>
          <p:nvPr/>
        </p:nvSpPr>
        <p:spPr>
          <a:xfrm>
            <a:off x="4572000" y="1645920"/>
            <a:ext cx="1828800" cy="1371600"/>
          </a:xfrm>
          <a:prstGeom prst="rect">
            <a:avLst/>
          </a:prstGeom>
          <a:solidFill>
            <a:srgbClr val="D32F2F"/>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164592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Inter"/>
              </a:defRPr>
            </a:pPr>
            <a:r>
              <a:t>Empowerment Red</a:t>
            </a:r>
          </a:p>
          <a:p>
            <a:pPr algn="l">
              <a:spcAft>
                <a:spcPts val="300"/>
              </a:spcAft>
              <a:defRPr sz="1000" b="0">
                <a:solidFill>
                  <a:srgbClr val="000000"/>
                </a:solidFill>
                <a:latin typeface="Inter"/>
              </a:defRPr>
            </a:pPr>
            <a:r>
              <a:t>#D32F2F</a:t>
            </a:r>
          </a:p>
          <a:p>
            <a:pPr algn="l">
              <a:spcAft>
                <a:spcPts val="300"/>
              </a:spcAft>
              <a:defRPr sz="1000" b="0">
                <a:solidFill>
                  <a:srgbClr val="000000"/>
                </a:solidFill>
                <a:latin typeface="Inter"/>
              </a:defRPr>
            </a:pPr>
            <a:r>
              <a:t>RGB(211, 47, 47)</a:t>
            </a:r>
          </a:p>
          <a:p>
            <a:pPr algn="l">
              <a:spcAft>
                <a:spcPts val="300"/>
              </a:spcAft>
              <a:defRPr sz="1000" b="0">
                <a:solidFill>
                  <a:srgbClr val="000000"/>
                </a:solidFill>
                <a:latin typeface="Inter"/>
              </a:defRPr>
            </a:pPr>
            <a:r>
              <a:t>CMYK(0, 77, 77, 17)</a:t>
            </a:r>
          </a:p>
          <a:p>
            <a:pPr algn="l">
              <a:spcAft>
                <a:spcPts val="300"/>
              </a:spcAft>
              <a:defRPr sz="1000" b="0">
                <a:solidFill>
                  <a:srgbClr val="000000"/>
                </a:solidFill>
                <a:latin typeface="Inter"/>
              </a:defRPr>
            </a:pPr>
            <a:r>
              <a:t>Use Light Text</a:t>
            </a:r>
          </a:p>
        </p:txBody>
      </p:sp>
      <p:sp>
        <p:nvSpPr>
          <p:cNvPr id="6" name="Rectangle 5"/>
          <p:cNvSpPr/>
          <p:nvPr/>
        </p:nvSpPr>
        <p:spPr>
          <a:xfrm>
            <a:off x="1143000" y="3726180"/>
            <a:ext cx="1828800" cy="1371600"/>
          </a:xfrm>
          <a:prstGeom prst="rect">
            <a:avLst/>
          </a:prstGeom>
          <a:solidFill>
            <a:srgbClr val="FFC107"/>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54680" y="372618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Inter"/>
              </a:defRPr>
            </a:pPr>
            <a:r>
              <a:t>Inspiration Yellow</a:t>
            </a:r>
          </a:p>
          <a:p>
            <a:pPr algn="l">
              <a:spcAft>
                <a:spcPts val="300"/>
              </a:spcAft>
              <a:defRPr sz="1000" b="0">
                <a:solidFill>
                  <a:srgbClr val="000000"/>
                </a:solidFill>
                <a:latin typeface="Inter"/>
              </a:defRPr>
            </a:pPr>
            <a:r>
              <a:t>#FFC107</a:t>
            </a:r>
          </a:p>
          <a:p>
            <a:pPr algn="l">
              <a:spcAft>
                <a:spcPts val="300"/>
              </a:spcAft>
              <a:defRPr sz="1000" b="0">
                <a:solidFill>
                  <a:srgbClr val="000000"/>
                </a:solidFill>
                <a:latin typeface="Inter"/>
              </a:defRPr>
            </a:pPr>
            <a:r>
              <a:t>RGB(255, 193, 7)</a:t>
            </a:r>
          </a:p>
          <a:p>
            <a:pPr algn="l">
              <a:spcAft>
                <a:spcPts val="300"/>
              </a:spcAft>
              <a:defRPr sz="1000" b="0">
                <a:solidFill>
                  <a:srgbClr val="000000"/>
                </a:solidFill>
                <a:latin typeface="Inter"/>
              </a:defRPr>
            </a:pPr>
            <a:r>
              <a:t>CMYK(0, 24, 97, 0)</a:t>
            </a:r>
          </a:p>
          <a:p>
            <a:pPr algn="l">
              <a:spcAft>
                <a:spcPts val="300"/>
              </a:spcAft>
              <a:defRPr sz="1000" b="0">
                <a:solidFill>
                  <a:srgbClr val="000000"/>
                </a:solidFill>
                <a:latin typeface="Inter"/>
              </a:defRPr>
            </a:pPr>
            <a:r>
              <a:t>Use Dark Text</a:t>
            </a:r>
          </a:p>
        </p:txBody>
      </p:sp>
      <p:sp>
        <p:nvSpPr>
          <p:cNvPr id="8" name="Rectangle 7"/>
          <p:cNvSpPr/>
          <p:nvPr/>
        </p:nvSpPr>
        <p:spPr>
          <a:xfrm>
            <a:off x="4572000" y="3726180"/>
            <a:ext cx="1828800" cy="1371600"/>
          </a:xfrm>
          <a:prstGeom prst="rect">
            <a:avLst/>
          </a:prstGeom>
          <a:solidFill>
            <a:srgbClr val="75757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3726180"/>
            <a:ext cx="3017520" cy="1371600"/>
          </a:xfrm>
          <a:prstGeom prst="rect">
            <a:avLst/>
          </a:prstGeom>
          <a:noFill/>
        </p:spPr>
        <p:txBody>
          <a:bodyPr wrap="square" lIns="0" rIns="0" tIns="0" bIns="0">
            <a:spAutoFit/>
          </a:bodyPr>
          <a:lstStyle/>
          <a:p>
            <a:pPr algn="l">
              <a:spcAft>
                <a:spcPts val="300"/>
              </a:spcAft>
              <a:defRPr sz="1000" b="0">
                <a:solidFill>
                  <a:srgbClr val="000000"/>
                </a:solidFill>
                <a:latin typeface="Inter"/>
              </a:defRPr>
            </a:pPr>
            <a:r>
              <a:t>Performance Grey</a:t>
            </a:r>
          </a:p>
          <a:p>
            <a:pPr algn="l">
              <a:spcAft>
                <a:spcPts val="300"/>
              </a:spcAft>
              <a:defRPr sz="1000" b="0">
                <a:solidFill>
                  <a:srgbClr val="000000"/>
                </a:solidFill>
                <a:latin typeface="Inter"/>
              </a:defRPr>
            </a:pPr>
            <a:r>
              <a:t>#757575</a:t>
            </a:r>
          </a:p>
          <a:p>
            <a:pPr algn="l">
              <a:spcAft>
                <a:spcPts val="300"/>
              </a:spcAft>
              <a:defRPr sz="1000" b="0">
                <a:solidFill>
                  <a:srgbClr val="000000"/>
                </a:solidFill>
                <a:latin typeface="Inter"/>
              </a:defRPr>
            </a:pPr>
            <a:r>
              <a:t>RGB(117, 117, 117)</a:t>
            </a:r>
          </a:p>
          <a:p>
            <a:pPr algn="l">
              <a:spcAft>
                <a:spcPts val="300"/>
              </a:spcAft>
              <a:defRPr sz="1000" b="0">
                <a:solidFill>
                  <a:srgbClr val="000000"/>
                </a:solidFill>
                <a:latin typeface="Inter"/>
              </a:defRPr>
            </a:pPr>
            <a:r>
              <a:t>CMYK(0, 0, 0, 54)</a:t>
            </a:r>
          </a:p>
          <a:p>
            <a:pPr algn="l">
              <a:spcAft>
                <a:spcPts val="300"/>
              </a:spcAft>
              <a:defRPr sz="1000" b="0">
                <a:solidFill>
                  <a:srgbClr val="000000"/>
                </a:solidFill>
                <a:latin typeface="Inter"/>
              </a:defRPr>
            </a:pPr>
            <a:r>
              <a:t>Use Light Text</a:t>
            </a:r>
          </a:p>
        </p:txBody>
      </p:sp>
      <p:cxnSp>
        <p:nvCxnSpPr>
          <p:cNvPr id="10" name="Connector 9"/>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5560695"/>
            <a:ext cx="5486400" cy="731520"/>
          </a:xfrm>
          <a:prstGeom prst="rect">
            <a:avLst/>
          </a:prstGeom>
          <a:noFill/>
        </p:spPr>
        <p:txBody>
          <a:bodyPr wrap="none">
            <a:spAutoFit/>
          </a:bodyPr>
          <a:lstStyle/>
          <a:p>
            <a:pPr algn="l">
              <a:defRPr sz="2800" b="1">
                <a:solidFill>
                  <a:srgbClr val="4CAF50"/>
                </a:solidFill>
                <a:latin typeface="Source Sans Pro"/>
              </a:defRPr>
            </a:pPr>
            <a:r>
              <a:t>Primary Colors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43000" y="1571625"/>
            <a:ext cx="1828800" cy="914400"/>
          </a:xfrm>
          <a:prstGeom prst="rect">
            <a:avLst/>
          </a:prstGeom>
          <a:solidFill>
            <a:srgbClr val="F8F9F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2668905"/>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Inter"/>
              </a:defRPr>
            </a:pPr>
            <a:r>
              <a:t>Light Background</a:t>
            </a:r>
          </a:p>
          <a:p>
            <a:pPr algn="ctr">
              <a:spcAft>
                <a:spcPts val="300"/>
              </a:spcAft>
              <a:defRPr sz="1000" b="0">
                <a:solidFill>
                  <a:srgbClr val="000000"/>
                </a:solidFill>
                <a:latin typeface="Inter"/>
              </a:defRPr>
            </a:pPr>
            <a:r>
              <a:t>#F8F9FA</a:t>
            </a:r>
          </a:p>
          <a:p>
            <a:pPr algn="ctr">
              <a:spcAft>
                <a:spcPts val="300"/>
              </a:spcAft>
              <a:defRPr sz="1000" b="0">
                <a:solidFill>
                  <a:srgbClr val="000000"/>
                </a:solidFill>
                <a:latin typeface="Inter"/>
              </a:defRPr>
            </a:pPr>
            <a:r>
              <a:t>Use Dark Text</a:t>
            </a:r>
          </a:p>
        </p:txBody>
      </p:sp>
      <p:sp>
        <p:nvSpPr>
          <p:cNvPr id="4" name="Rectangle 3"/>
          <p:cNvSpPr/>
          <p:nvPr/>
        </p:nvSpPr>
        <p:spPr>
          <a:xfrm>
            <a:off x="3200400" y="1571625"/>
            <a:ext cx="1828800" cy="914400"/>
          </a:xfrm>
          <a:prstGeom prst="rect">
            <a:avLst/>
          </a:prstGeom>
          <a:solidFill>
            <a:srgbClr val="6B728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0" y="2668905"/>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Inter"/>
              </a:defRPr>
            </a:pPr>
            <a:r>
              <a:t>Medium Gray</a:t>
            </a:r>
          </a:p>
          <a:p>
            <a:pPr algn="ctr">
              <a:spcAft>
                <a:spcPts val="300"/>
              </a:spcAft>
              <a:defRPr sz="1000" b="0">
                <a:solidFill>
                  <a:srgbClr val="000000"/>
                </a:solidFill>
                <a:latin typeface="Inter"/>
              </a:defRPr>
            </a:pPr>
            <a:r>
              <a:t>#6B7280</a:t>
            </a:r>
          </a:p>
          <a:p>
            <a:pPr algn="ctr">
              <a:spcAft>
                <a:spcPts val="300"/>
              </a:spcAft>
              <a:defRPr sz="1000" b="0">
                <a:solidFill>
                  <a:srgbClr val="000000"/>
                </a:solidFill>
                <a:latin typeface="Inter"/>
              </a:defRPr>
            </a:pPr>
            <a:r>
              <a:t>Use Light Text</a:t>
            </a:r>
          </a:p>
        </p:txBody>
      </p:sp>
      <p:sp>
        <p:nvSpPr>
          <p:cNvPr id="6" name="Rectangle 5"/>
          <p:cNvSpPr/>
          <p:nvPr/>
        </p:nvSpPr>
        <p:spPr>
          <a:xfrm>
            <a:off x="5257800" y="1571625"/>
            <a:ext cx="1828800" cy="914400"/>
          </a:xfrm>
          <a:prstGeom prst="rect">
            <a:avLst/>
          </a:prstGeom>
          <a:solidFill>
            <a:srgbClr val="1F2937"/>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2668905"/>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Inter"/>
              </a:defRPr>
            </a:pPr>
            <a:r>
              <a:t>Dark Text</a:t>
            </a:r>
          </a:p>
          <a:p>
            <a:pPr algn="ctr">
              <a:spcAft>
                <a:spcPts val="300"/>
              </a:spcAft>
              <a:defRPr sz="1000" b="0">
                <a:solidFill>
                  <a:srgbClr val="000000"/>
                </a:solidFill>
                <a:latin typeface="Inter"/>
              </a:defRPr>
            </a:pPr>
            <a:r>
              <a:t>#1F2937</a:t>
            </a:r>
          </a:p>
          <a:p>
            <a:pPr algn="ctr">
              <a:spcAft>
                <a:spcPts val="300"/>
              </a:spcAft>
              <a:defRPr sz="1000" b="0">
                <a:solidFill>
                  <a:srgbClr val="000000"/>
                </a:solidFill>
                <a:latin typeface="Inter"/>
              </a:defRPr>
            </a:pPr>
            <a:r>
              <a:t>Use Light Text</a:t>
            </a:r>
          </a:p>
        </p:txBody>
      </p:sp>
      <p:sp>
        <p:nvSpPr>
          <p:cNvPr id="8" name="Rectangle 7"/>
          <p:cNvSpPr/>
          <p:nvPr/>
        </p:nvSpPr>
        <p:spPr>
          <a:xfrm>
            <a:off x="2171700" y="3429000"/>
            <a:ext cx="1828800" cy="914400"/>
          </a:xfrm>
          <a:prstGeom prst="rect">
            <a:avLst/>
          </a:prstGeom>
          <a:solidFill>
            <a:srgbClr val="E5E7E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71700" y="4526280"/>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Inter"/>
              </a:defRPr>
            </a:pPr>
            <a:r>
              <a:t>Accent Light</a:t>
            </a:r>
          </a:p>
          <a:p>
            <a:pPr algn="ctr">
              <a:spcAft>
                <a:spcPts val="300"/>
              </a:spcAft>
              <a:defRPr sz="1000" b="0">
                <a:solidFill>
                  <a:srgbClr val="000000"/>
                </a:solidFill>
                <a:latin typeface="Inter"/>
              </a:defRPr>
            </a:pPr>
            <a:r>
              <a:t>#E5E7EB</a:t>
            </a:r>
          </a:p>
          <a:p>
            <a:pPr algn="ctr">
              <a:spcAft>
                <a:spcPts val="300"/>
              </a:spcAft>
              <a:defRPr sz="1000" b="0">
                <a:solidFill>
                  <a:srgbClr val="000000"/>
                </a:solidFill>
                <a:latin typeface="Inter"/>
              </a:defRPr>
            </a:pPr>
            <a:r>
              <a:t>Use Dark Text</a:t>
            </a:r>
          </a:p>
        </p:txBody>
      </p:sp>
      <p:sp>
        <p:nvSpPr>
          <p:cNvPr id="10" name="Rectangle 9"/>
          <p:cNvSpPr/>
          <p:nvPr/>
        </p:nvSpPr>
        <p:spPr>
          <a:xfrm>
            <a:off x="4229100" y="3429000"/>
            <a:ext cx="1828800" cy="914400"/>
          </a:xfrm>
          <a:prstGeom prst="rect">
            <a:avLst/>
          </a:prstGeom>
          <a:solidFill>
            <a:srgbClr val="F59E0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29100" y="4526280"/>
            <a:ext cx="1828800" cy="914400"/>
          </a:xfrm>
          <a:prstGeom prst="rect">
            <a:avLst/>
          </a:prstGeom>
          <a:noFill/>
        </p:spPr>
        <p:txBody>
          <a:bodyPr wrap="square" lIns="0" rIns="0" tIns="0" bIns="0">
            <a:spAutoFit/>
          </a:bodyPr>
          <a:lstStyle/>
          <a:p>
            <a:pPr algn="ctr">
              <a:spcAft>
                <a:spcPts val="300"/>
              </a:spcAft>
              <a:defRPr sz="1000" b="0">
                <a:solidFill>
                  <a:srgbClr val="000000"/>
                </a:solidFill>
                <a:latin typeface="Inter"/>
              </a:defRPr>
            </a:pPr>
            <a:r>
              <a:t>Warning Orange</a:t>
            </a:r>
          </a:p>
          <a:p>
            <a:pPr algn="ctr">
              <a:spcAft>
                <a:spcPts val="300"/>
              </a:spcAft>
              <a:defRPr sz="1000" b="0">
                <a:solidFill>
                  <a:srgbClr val="000000"/>
                </a:solidFill>
                <a:latin typeface="Inter"/>
              </a:defRPr>
            </a:pPr>
            <a:r>
              <a:t>#F59E0B</a:t>
            </a:r>
          </a:p>
          <a:p>
            <a:pPr algn="ctr">
              <a:spcAft>
                <a:spcPts val="300"/>
              </a:spcAft>
              <a:defRPr sz="1000" b="0">
                <a:solidFill>
                  <a:srgbClr val="000000"/>
                </a:solidFill>
                <a:latin typeface="Inter"/>
              </a:defRPr>
            </a:pPr>
            <a:r>
              <a:t>Use Dark Text</a:t>
            </a:r>
          </a:p>
        </p:txBody>
      </p:sp>
      <p:cxnSp>
        <p:nvCxnSpPr>
          <p:cNvPr id="12" name="Connector 11"/>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5560695"/>
            <a:ext cx="5486400" cy="731520"/>
          </a:xfrm>
          <a:prstGeom prst="rect">
            <a:avLst/>
          </a:prstGeom>
          <a:noFill/>
        </p:spPr>
        <p:txBody>
          <a:bodyPr wrap="none">
            <a:spAutoFit/>
          </a:bodyPr>
          <a:lstStyle/>
          <a:p>
            <a:pPr algn="l">
              <a:defRPr sz="2800" b="1">
                <a:solidFill>
                  <a:srgbClr val="4CAF50"/>
                </a:solidFill>
                <a:latin typeface="Source Sans Pro"/>
              </a:defRPr>
            </a:pPr>
            <a:r>
              <a:t>Secondary Colors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000000"/>
                </a:solidFill>
                <a:latin typeface="Inter"/>
              </a:defRPr>
            </a:pPr>
            <a:r>
              <a:t>Primary Color Usage</a:t>
            </a:r>
          </a:p>
          <a:p>
            <a:pPr algn="l">
              <a:spcAft>
                <a:spcPts val="600"/>
              </a:spcAft>
              <a:defRPr sz="1400" b="0">
                <a:solidFill>
                  <a:srgbClr val="000000"/>
                </a:solidFill>
                <a:latin typeface="Inter"/>
              </a:defRPr>
            </a:pPr>
          </a:p>
          <a:p>
            <a:pPr algn="l">
              <a:spcAft>
                <a:spcPts val="600"/>
              </a:spcAft>
              <a:defRPr sz="1400" b="0">
                <a:solidFill>
                  <a:srgbClr val="000000"/>
                </a:solidFill>
                <a:latin typeface="Inter"/>
              </a:defRPr>
            </a:pPr>
            <a:r>
              <a:t>Use for brand-critical elements:</a:t>
            </a:r>
          </a:p>
          <a:p>
            <a:pPr algn="l">
              <a:spcAft>
                <a:spcPts val="600"/>
              </a:spcAft>
              <a:defRPr sz="1400" b="0">
                <a:solidFill>
                  <a:srgbClr val="000000"/>
                </a:solidFill>
                <a:latin typeface="Inter"/>
              </a:defRPr>
            </a:pPr>
            <a:r>
              <a:t>• Logos and main brand marks</a:t>
            </a:r>
          </a:p>
          <a:p>
            <a:pPr algn="l">
              <a:spcAft>
                <a:spcPts val="600"/>
              </a:spcAft>
              <a:defRPr sz="1400" b="0">
                <a:solidFill>
                  <a:srgbClr val="000000"/>
                </a:solidFill>
                <a:latin typeface="Inter"/>
              </a:defRPr>
            </a:pPr>
            <a:r>
              <a:t>• Headlines and key text</a:t>
            </a:r>
          </a:p>
          <a:p>
            <a:pPr algn="l">
              <a:spcAft>
                <a:spcPts val="600"/>
              </a:spcAft>
              <a:defRPr sz="1400" b="0">
                <a:solidFill>
                  <a:srgbClr val="000000"/>
                </a:solidFill>
                <a:latin typeface="Inter"/>
              </a:defRPr>
            </a:pPr>
            <a:r>
              <a:t>• CTA buttons and navigation</a:t>
            </a:r>
          </a:p>
          <a:p>
            <a:pPr algn="l">
              <a:spcAft>
                <a:spcPts val="600"/>
              </a:spcAft>
              <a:defRPr sz="1400" b="0">
                <a:solidFill>
                  <a:srgbClr val="000000"/>
                </a:solidFill>
                <a:latin typeface="Inter"/>
              </a:defRPr>
            </a:pPr>
            <a:r>
              <a:t>• Hero sections</a:t>
            </a:r>
          </a:p>
          <a:p>
            <a:pPr algn="l">
              <a:spcAft>
                <a:spcPts val="600"/>
              </a:spcAft>
              <a:defRPr sz="1400" b="0">
                <a:solidFill>
                  <a:srgbClr val="000000"/>
                </a:solidFill>
                <a:latin typeface="Inter"/>
              </a:defRPr>
            </a:pPr>
          </a:p>
          <a:p>
            <a:pPr algn="l">
              <a:spcAft>
                <a:spcPts val="600"/>
              </a:spcAft>
              <a:defRPr sz="1400" b="0">
                <a:solidFill>
                  <a:srgbClr val="000000"/>
                </a:solidFill>
                <a:latin typeface="Inter"/>
              </a:defRPr>
            </a:pPr>
            <a:r>
              <a:t>Colors: Innovation Green, Empowerment Red, Inspiration Yellow, Performance Grey</a:t>
            </a:r>
          </a:p>
          <a:p>
            <a:pPr algn="l">
              <a:spcAft>
                <a:spcPts val="600"/>
              </a:spcAft>
              <a:defRPr sz="1400" b="0">
                <a:solidFill>
                  <a:srgbClr val="000000"/>
                </a:solidFill>
                <a:latin typeface="Inter"/>
              </a:defRPr>
            </a:pPr>
          </a:p>
          <a:p>
            <a:pPr algn="l">
              <a:spcAft>
                <a:spcPts val="600"/>
              </a:spcAft>
              <a:defRPr sz="1400" b="0">
                <a:solidFill>
                  <a:srgbClr val="000000"/>
                </a:solidFill>
                <a:latin typeface="Inter"/>
              </a:defRPr>
            </a:pPr>
            <a:r>
              <a:t>Best Practices:</a:t>
            </a:r>
          </a:p>
          <a:p>
            <a:pPr algn="l">
              <a:spcAft>
                <a:spcPts val="600"/>
              </a:spcAft>
              <a:defRPr sz="1400" b="0">
                <a:solidFill>
                  <a:srgbClr val="000000"/>
                </a:solidFill>
                <a:latin typeface="Inter"/>
              </a:defRPr>
            </a:pPr>
            <a:r>
              <a:t>- Maximum brand recognition</a:t>
            </a:r>
          </a:p>
          <a:p>
            <a:pPr algn="l">
              <a:spcAft>
                <a:spcPts val="600"/>
              </a:spcAft>
              <a:defRPr sz="1400" b="0">
                <a:solidFill>
                  <a:srgbClr val="000000"/>
                </a:solidFill>
                <a:latin typeface="Inter"/>
              </a:defRPr>
            </a:pPr>
            <a:r>
              <a:t>- Consistent application</a:t>
            </a:r>
          </a:p>
          <a:p>
            <a:pPr algn="l">
              <a:spcAft>
                <a:spcPts val="600"/>
              </a:spcAft>
              <a:defRPr sz="1400" b="0">
                <a:solidFill>
                  <a:srgbClr val="000000"/>
                </a:solidFill>
                <a:latin typeface="Inter"/>
              </a:defRPr>
            </a:pPr>
            <a:r>
              <a:t>- Sufficient contrast</a:t>
            </a:r>
          </a:p>
          <a:p>
            <a:pPr algn="l">
              <a:spcAft>
                <a:spcPts val="600"/>
              </a:spcAft>
              <a:defRPr sz="1400" b="0">
                <a:solidFill>
                  <a:srgbClr val="000000"/>
                </a:solidFill>
                <a:latin typeface="Inter"/>
              </a:defRPr>
            </a:pPr>
            <a:r>
              <a:t>- Accessibility compliance</a:t>
            </a:r>
          </a:p>
        </p:txBody>
      </p:sp>
      <p:cxnSp>
        <p:nvCxnSpPr>
          <p:cNvPr id="3" name="Connector 2"/>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5560695"/>
            <a:ext cx="5486400" cy="731520"/>
          </a:xfrm>
          <a:prstGeom prst="rect">
            <a:avLst/>
          </a:prstGeom>
          <a:noFill/>
        </p:spPr>
        <p:txBody>
          <a:bodyPr wrap="none">
            <a:spAutoFit/>
          </a:bodyPr>
          <a:lstStyle/>
          <a:p>
            <a:pPr algn="l">
              <a:defRPr sz="2800" b="1">
                <a:solidFill>
                  <a:srgbClr val="4CAF50"/>
                </a:solidFill>
                <a:latin typeface="Source Sans Pro"/>
              </a:defRPr>
            </a:pPr>
            <a:r>
              <a:t>Color Usage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000000"/>
                </a:solidFill>
                <a:latin typeface="Inter"/>
              </a:defRPr>
            </a:pPr>
            <a:r>
              <a:t>Secondary Color Usage</a:t>
            </a:r>
          </a:p>
          <a:p>
            <a:pPr algn="l">
              <a:spcAft>
                <a:spcPts val="600"/>
              </a:spcAft>
              <a:defRPr sz="1400" b="0">
                <a:solidFill>
                  <a:srgbClr val="000000"/>
                </a:solidFill>
                <a:latin typeface="Inter"/>
              </a:defRPr>
            </a:pPr>
          </a:p>
          <a:p>
            <a:pPr algn="l">
              <a:spcAft>
                <a:spcPts val="600"/>
              </a:spcAft>
              <a:defRPr sz="1400" b="0">
                <a:solidFill>
                  <a:srgbClr val="000000"/>
                </a:solidFill>
                <a:latin typeface="Inter"/>
              </a:defRPr>
            </a:pPr>
            <a:r>
              <a:t>Use for supporting elements:</a:t>
            </a:r>
          </a:p>
          <a:p>
            <a:pPr algn="l">
              <a:spcAft>
                <a:spcPts val="600"/>
              </a:spcAft>
              <a:defRPr sz="1400" b="0">
                <a:solidFill>
                  <a:srgbClr val="000000"/>
                </a:solidFill>
                <a:latin typeface="Inter"/>
              </a:defRPr>
            </a:pPr>
            <a:r>
              <a:t>• Backgrounds and subtle accents</a:t>
            </a:r>
          </a:p>
          <a:p>
            <a:pPr algn="l">
              <a:spcAft>
                <a:spcPts val="600"/>
              </a:spcAft>
              <a:defRPr sz="1400" b="0">
                <a:solidFill>
                  <a:srgbClr val="000000"/>
                </a:solidFill>
                <a:latin typeface="Inter"/>
              </a:defRPr>
            </a:pPr>
            <a:r>
              <a:t>• Secondary text</a:t>
            </a:r>
          </a:p>
          <a:p>
            <a:pPr algn="l">
              <a:spcAft>
                <a:spcPts val="600"/>
              </a:spcAft>
              <a:defRPr sz="1400" b="0">
                <a:solidFill>
                  <a:srgbClr val="000000"/>
                </a:solidFill>
                <a:latin typeface="Inter"/>
              </a:defRPr>
            </a:pPr>
            <a:r>
              <a:t>• Borders and dividers</a:t>
            </a:r>
          </a:p>
          <a:p>
            <a:pPr algn="l">
              <a:spcAft>
                <a:spcPts val="600"/>
              </a:spcAft>
              <a:defRPr sz="1400" b="0">
                <a:solidFill>
                  <a:srgbClr val="000000"/>
                </a:solidFill>
                <a:latin typeface="Inter"/>
              </a:defRPr>
            </a:pPr>
            <a:r>
              <a:t>• Hover states and icons</a:t>
            </a:r>
          </a:p>
          <a:p>
            <a:pPr algn="l">
              <a:spcAft>
                <a:spcPts val="600"/>
              </a:spcAft>
              <a:defRPr sz="1400" b="0">
                <a:solidFill>
                  <a:srgbClr val="000000"/>
                </a:solidFill>
                <a:latin typeface="Inter"/>
              </a:defRPr>
            </a:pPr>
          </a:p>
          <a:p>
            <a:pPr algn="l">
              <a:spcAft>
                <a:spcPts val="600"/>
              </a:spcAft>
              <a:defRPr sz="1400" b="0">
                <a:solidFill>
                  <a:srgbClr val="000000"/>
                </a:solidFill>
                <a:latin typeface="Inter"/>
              </a:defRPr>
            </a:pPr>
            <a:r>
              <a:t>Colors: Light Background, Medium Gray, Dark Text, Accent Light, Warning Orange</a:t>
            </a:r>
          </a:p>
          <a:p>
            <a:pPr algn="l">
              <a:spcAft>
                <a:spcPts val="600"/>
              </a:spcAft>
              <a:defRPr sz="1400" b="0">
                <a:solidFill>
                  <a:srgbClr val="000000"/>
                </a:solidFill>
                <a:latin typeface="Inter"/>
              </a:defRPr>
            </a:pPr>
          </a:p>
          <a:p>
            <a:pPr algn="l">
              <a:spcAft>
                <a:spcPts val="600"/>
              </a:spcAft>
              <a:defRPr sz="1400" b="0">
                <a:solidFill>
                  <a:srgbClr val="000000"/>
                </a:solidFill>
                <a:latin typeface="Inter"/>
              </a:defRPr>
            </a:pPr>
            <a:r>
              <a:t>Best Practices:</a:t>
            </a:r>
          </a:p>
          <a:p>
            <a:pPr algn="l">
              <a:spcAft>
                <a:spcPts val="600"/>
              </a:spcAft>
              <a:defRPr sz="1400" b="0">
                <a:solidFill>
                  <a:srgbClr val="000000"/>
                </a:solidFill>
                <a:latin typeface="Inter"/>
              </a:defRPr>
            </a:pPr>
            <a:r>
              <a:t>- Create visual hierarchy</a:t>
            </a:r>
          </a:p>
          <a:p>
            <a:pPr algn="l">
              <a:spcAft>
                <a:spcPts val="600"/>
              </a:spcAft>
              <a:defRPr sz="1400" b="0">
                <a:solidFill>
                  <a:srgbClr val="000000"/>
                </a:solidFill>
                <a:latin typeface="Inter"/>
              </a:defRPr>
            </a:pPr>
            <a:r>
              <a:t>- Support, don't compete</a:t>
            </a:r>
          </a:p>
          <a:p>
            <a:pPr algn="l">
              <a:spcAft>
                <a:spcPts val="600"/>
              </a:spcAft>
              <a:defRPr sz="1400" b="0">
                <a:solidFill>
                  <a:srgbClr val="000000"/>
                </a:solidFill>
                <a:latin typeface="Inter"/>
              </a:defRPr>
            </a:pPr>
            <a:r>
              <a:t>- Maintain readability</a:t>
            </a:r>
          </a:p>
          <a:p>
            <a:pPr algn="l">
              <a:spcAft>
                <a:spcPts val="600"/>
              </a:spcAft>
              <a:defRPr sz="1400" b="0">
                <a:solidFill>
                  <a:srgbClr val="000000"/>
                </a:solidFill>
                <a:latin typeface="Inter"/>
              </a:defRPr>
            </a:pPr>
            <a:r>
              <a:t>- Use sparingly</a:t>
            </a:r>
          </a:p>
        </p:txBody>
      </p:sp>
      <p:cxnSp>
        <p:nvCxnSpPr>
          <p:cNvPr id="3" name="Connector 2"/>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5560695"/>
            <a:ext cx="5486400" cy="731520"/>
          </a:xfrm>
          <a:prstGeom prst="rect">
            <a:avLst/>
          </a:prstGeom>
          <a:noFill/>
        </p:spPr>
        <p:txBody>
          <a:bodyPr wrap="none">
            <a:spAutoFit/>
          </a:bodyPr>
          <a:lstStyle/>
          <a:p>
            <a:pPr algn="l">
              <a:defRPr sz="2800" b="1">
                <a:solidFill>
                  <a:srgbClr val="4CAF50"/>
                </a:solidFill>
                <a:latin typeface="Source Sans Pro"/>
              </a:defRPr>
            </a:pPr>
            <a:r>
              <a:t>Color Usage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Primary Font: Source Sans Pro</a:t>
            </a:r>
          </a:p>
          <a:p>
            <a:pPr algn="l">
              <a:spcAft>
                <a:spcPts val="800"/>
              </a:spcAft>
              <a:defRPr sz="2000" b="0">
                <a:solidFill>
                  <a:srgbClr val="000000"/>
                </a:solidFill>
                <a:latin typeface="Inter"/>
              </a:defRPr>
            </a:pPr>
          </a:p>
          <a:p>
            <a:pPr algn="l">
              <a:spcAft>
                <a:spcPts val="800"/>
              </a:spcAft>
              <a:defRPr sz="2000" b="0">
                <a:solidFill>
                  <a:srgbClr val="000000"/>
                </a:solidFill>
                <a:latin typeface="Inter"/>
              </a:defRPr>
            </a:pPr>
            <a:r>
              <a:t>Secondary Font: Inter</a:t>
            </a:r>
          </a:p>
          <a:p>
            <a:pPr algn="l">
              <a:spcAft>
                <a:spcPts val="800"/>
              </a:spcAft>
              <a:defRPr sz="2000" b="0">
                <a:solidFill>
                  <a:srgbClr val="000000"/>
                </a:solidFill>
                <a:latin typeface="Inter"/>
              </a:defRPr>
            </a:pPr>
          </a:p>
          <a:p>
            <a:pPr algn="l">
              <a:spcAft>
                <a:spcPts val="800"/>
              </a:spcAft>
              <a:defRPr sz="2000" b="0">
                <a:solidFill>
                  <a:srgbClr val="000000"/>
                </a:solidFill>
                <a:latin typeface="Inter"/>
              </a:defRPr>
            </a:pPr>
            <a:r>
              <a:t>Font Hierarchy:</a:t>
            </a:r>
          </a:p>
          <a:p>
            <a:pPr algn="l">
              <a:spcAft>
                <a:spcPts val="800"/>
              </a:spcAft>
              <a:defRPr sz="2000" b="0">
                <a:solidFill>
                  <a:srgbClr val="000000"/>
                </a:solidFill>
                <a:latin typeface="Inter"/>
              </a:defRPr>
            </a:pPr>
            <a:r>
              <a:t>• Headlines: Source Sans Pro - Bold, 28-32pt</a:t>
            </a:r>
          </a:p>
          <a:p>
            <a:pPr algn="l">
              <a:spcAft>
                <a:spcPts val="800"/>
              </a:spcAft>
              <a:defRPr sz="2000" b="0">
                <a:solidFill>
                  <a:srgbClr val="000000"/>
                </a:solidFill>
                <a:latin typeface="Inter"/>
              </a:defRPr>
            </a:pPr>
            <a:r>
              <a:t>• Subheadlines: Source Sans Pro - Bold, 20-24pt</a:t>
            </a:r>
          </a:p>
          <a:p>
            <a:pPr algn="l">
              <a:spcAft>
                <a:spcPts val="800"/>
              </a:spcAft>
              <a:defRPr sz="2000" b="0">
                <a:solidFill>
                  <a:srgbClr val="000000"/>
                </a:solidFill>
                <a:latin typeface="Inter"/>
              </a:defRPr>
            </a:pPr>
            <a:r>
              <a:t>• Body Text: Inter - Regular, 16-18pt</a:t>
            </a:r>
          </a:p>
          <a:p>
            <a:pPr algn="l">
              <a:spcAft>
                <a:spcPts val="800"/>
              </a:spcAft>
              <a:defRPr sz="2000" b="0">
                <a:solidFill>
                  <a:srgbClr val="000000"/>
                </a:solidFill>
                <a:latin typeface="Inter"/>
              </a:defRPr>
            </a:pPr>
            <a:r>
              <a:t>• Caption Text: Inter - Regular, 12-14pt</a:t>
            </a:r>
          </a:p>
        </p:txBody>
      </p:sp>
      <p:cxnSp>
        <p:nvCxnSpPr>
          <p:cNvPr id="3" name="Connector 2"/>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4CAF50"/>
                </a:solidFill>
                <a:latin typeface="Source Sans Pro"/>
              </a:defRPr>
            </a:pPr>
            <a:r>
              <a:t>TYPOGRAPHY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74295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Nike - Core Functional Icons Icons</a:t>
            </a:r>
          </a:p>
        </p:txBody>
      </p:sp>
      <p:pic>
        <p:nvPicPr>
          <p:cNvPr id="3" name="Picture 2" descr="nike_icon_home icon_20250902_023438_ea15d482_transparent.png"/>
          <p:cNvPicPr>
            <a:picLocks noChangeAspect="1"/>
          </p:cNvPicPr>
          <p:nvPr/>
        </p:nvPicPr>
        <p:blipFill>
          <a:blip r:embed="rId2"/>
          <a:stretch>
            <a:fillRect/>
          </a:stretch>
        </p:blipFill>
        <p:spPr>
          <a:xfrm>
            <a:off x="2743200" y="2286000"/>
            <a:ext cx="914400" cy="914400"/>
          </a:xfrm>
          <a:prstGeom prst="rect">
            <a:avLst/>
          </a:prstGeom>
        </p:spPr>
      </p:pic>
      <p:sp>
        <p:nvSpPr>
          <p:cNvPr id="4" name="TextBox 3"/>
          <p:cNvSpPr txBox="1"/>
          <p:nvPr/>
        </p:nvSpPr>
        <p:spPr>
          <a:xfrm>
            <a:off x="2743200" y="3291840"/>
            <a:ext cx="914400" cy="365760"/>
          </a:xfrm>
          <a:prstGeom prst="rect">
            <a:avLst/>
          </a:prstGeom>
          <a:noFill/>
        </p:spPr>
        <p:txBody>
          <a:bodyPr wrap="none" lIns="0" rIns="0" tIns="0" bIns="0">
            <a:spAutoFit/>
          </a:bodyPr>
          <a:lstStyle/>
          <a:p>
            <a:pPr algn="ctr">
              <a:defRPr sz="1200" b="0">
                <a:solidFill>
                  <a:srgbClr val="000000"/>
                </a:solidFill>
                <a:latin typeface="Inter"/>
              </a:defRPr>
            </a:pPr>
            <a:r>
              <a:t>Home Icon</a:t>
            </a:r>
          </a:p>
        </p:txBody>
      </p:sp>
      <p:pic>
        <p:nvPicPr>
          <p:cNvPr id="5" name="Picture 4" descr="nike_icon_search magnifying glass icon_20250902_023453_8c899f80_transparent.png"/>
          <p:cNvPicPr>
            <a:picLocks noChangeAspect="1"/>
          </p:cNvPicPr>
          <p:nvPr/>
        </p:nvPicPr>
        <p:blipFill>
          <a:blip r:embed="rId3"/>
          <a:stretch>
            <a:fillRect/>
          </a:stretch>
        </p:blipFill>
        <p:spPr>
          <a:xfrm>
            <a:off x="4572000" y="2286000"/>
            <a:ext cx="914400" cy="914400"/>
          </a:xfrm>
          <a:prstGeom prst="rect">
            <a:avLst/>
          </a:prstGeom>
        </p:spPr>
      </p:pic>
      <p:sp>
        <p:nvSpPr>
          <p:cNvPr id="6" name="TextBox 5"/>
          <p:cNvSpPr txBox="1"/>
          <p:nvPr/>
        </p:nvSpPr>
        <p:spPr>
          <a:xfrm>
            <a:off x="4572000" y="3291840"/>
            <a:ext cx="914400" cy="365760"/>
          </a:xfrm>
          <a:prstGeom prst="rect">
            <a:avLst/>
          </a:prstGeom>
          <a:noFill/>
        </p:spPr>
        <p:txBody>
          <a:bodyPr wrap="none" lIns="0" rIns="0" tIns="0" bIns="0">
            <a:spAutoFit/>
          </a:bodyPr>
          <a:lstStyle/>
          <a:p>
            <a:pPr algn="ctr">
              <a:defRPr sz="1200" b="0">
                <a:solidFill>
                  <a:srgbClr val="000000"/>
                </a:solidFill>
                <a:latin typeface="Inter"/>
              </a:defRPr>
            </a:pPr>
            <a:r>
              <a:t>Search Magnifying Glass Icon</a:t>
            </a:r>
          </a:p>
        </p:txBody>
      </p:sp>
      <p:pic>
        <p:nvPicPr>
          <p:cNvPr id="7" name="Picture 6" descr="nike_icon_menu hamburger lines icon_20250902_023507_205ffd6f_transparent.png"/>
          <p:cNvPicPr>
            <a:picLocks noChangeAspect="1"/>
          </p:cNvPicPr>
          <p:nvPr/>
        </p:nvPicPr>
        <p:blipFill>
          <a:blip r:embed="rId4"/>
          <a:stretch>
            <a:fillRect/>
          </a:stretch>
        </p:blipFill>
        <p:spPr>
          <a:xfrm>
            <a:off x="6400800" y="2286000"/>
            <a:ext cx="914400" cy="914400"/>
          </a:xfrm>
          <a:prstGeom prst="rect">
            <a:avLst/>
          </a:prstGeom>
        </p:spPr>
      </p:pic>
      <p:sp>
        <p:nvSpPr>
          <p:cNvPr id="8" name="TextBox 7"/>
          <p:cNvSpPr txBox="1"/>
          <p:nvPr/>
        </p:nvSpPr>
        <p:spPr>
          <a:xfrm>
            <a:off x="6400800" y="3291840"/>
            <a:ext cx="914400" cy="365760"/>
          </a:xfrm>
          <a:prstGeom prst="rect">
            <a:avLst/>
          </a:prstGeom>
          <a:noFill/>
        </p:spPr>
        <p:txBody>
          <a:bodyPr wrap="none" lIns="0" rIns="0" tIns="0" bIns="0">
            <a:spAutoFit/>
          </a:bodyPr>
          <a:lstStyle/>
          <a:p>
            <a:pPr algn="ctr">
              <a:defRPr sz="1200" b="0">
                <a:solidFill>
                  <a:srgbClr val="000000"/>
                </a:solidFill>
                <a:latin typeface="Inter"/>
              </a:defRPr>
            </a:pPr>
            <a:r>
              <a:t>Menu Hamburger Lines Icon</a:t>
            </a:r>
          </a:p>
        </p:txBody>
      </p:sp>
      <p:pic>
        <p:nvPicPr>
          <p:cNvPr id="9" name="Picture 8" descr="nike_icon_settings gear icon_20250902_023527_6a0b5572_transparent.png"/>
          <p:cNvPicPr>
            <a:picLocks noChangeAspect="1"/>
          </p:cNvPicPr>
          <p:nvPr/>
        </p:nvPicPr>
        <p:blipFill>
          <a:blip r:embed="rId5"/>
          <a:stretch>
            <a:fillRect/>
          </a:stretch>
        </p:blipFill>
        <p:spPr>
          <a:xfrm>
            <a:off x="2743200" y="3657600"/>
            <a:ext cx="914400" cy="914400"/>
          </a:xfrm>
          <a:prstGeom prst="rect">
            <a:avLst/>
          </a:prstGeom>
        </p:spPr>
      </p:pic>
      <p:sp>
        <p:nvSpPr>
          <p:cNvPr id="10" name="TextBox 9"/>
          <p:cNvSpPr txBox="1"/>
          <p:nvPr/>
        </p:nvSpPr>
        <p:spPr>
          <a:xfrm>
            <a:off x="2743200" y="4663440"/>
            <a:ext cx="914400" cy="365760"/>
          </a:xfrm>
          <a:prstGeom prst="rect">
            <a:avLst/>
          </a:prstGeom>
          <a:noFill/>
        </p:spPr>
        <p:txBody>
          <a:bodyPr wrap="none" lIns="0" rIns="0" tIns="0" bIns="0">
            <a:spAutoFit/>
          </a:bodyPr>
          <a:lstStyle/>
          <a:p>
            <a:pPr algn="ctr">
              <a:defRPr sz="1200" b="0">
                <a:solidFill>
                  <a:srgbClr val="000000"/>
                </a:solidFill>
                <a:latin typeface="Inter"/>
              </a:defRPr>
            </a:pPr>
            <a:r>
              <a:t>Settings Gear Icon</a:t>
            </a:r>
          </a:p>
        </p:txBody>
      </p:sp>
      <p:pic>
        <p:nvPicPr>
          <p:cNvPr id="11" name="Picture 10" descr="nike_icon_user profile person icon_20250902_023542_eb301039_transparent.png"/>
          <p:cNvPicPr>
            <a:picLocks noChangeAspect="1"/>
          </p:cNvPicPr>
          <p:nvPr/>
        </p:nvPicPr>
        <p:blipFill>
          <a:blip r:embed="rId6"/>
          <a:stretch>
            <a:fillRect/>
          </a:stretch>
        </p:blipFill>
        <p:spPr>
          <a:xfrm>
            <a:off x="4572000" y="3657600"/>
            <a:ext cx="914400" cy="914400"/>
          </a:xfrm>
          <a:prstGeom prst="rect">
            <a:avLst/>
          </a:prstGeom>
        </p:spPr>
      </p:pic>
      <p:sp>
        <p:nvSpPr>
          <p:cNvPr id="12" name="TextBox 11"/>
          <p:cNvSpPr txBox="1"/>
          <p:nvPr/>
        </p:nvSpPr>
        <p:spPr>
          <a:xfrm>
            <a:off x="4572000" y="4663440"/>
            <a:ext cx="914400" cy="365760"/>
          </a:xfrm>
          <a:prstGeom prst="rect">
            <a:avLst/>
          </a:prstGeom>
          <a:noFill/>
        </p:spPr>
        <p:txBody>
          <a:bodyPr wrap="none" lIns="0" rIns="0" tIns="0" bIns="0">
            <a:spAutoFit/>
          </a:bodyPr>
          <a:lstStyle/>
          <a:p>
            <a:pPr algn="ctr">
              <a:defRPr sz="1200" b="0">
                <a:solidFill>
                  <a:srgbClr val="000000"/>
                </a:solidFill>
                <a:latin typeface="Inter"/>
              </a:defRPr>
            </a:pPr>
            <a:r>
              <a:t>User Profile Person Icon</a:t>
            </a:r>
          </a:p>
        </p:txBody>
      </p:sp>
      <p:pic>
        <p:nvPicPr>
          <p:cNvPr id="13" name="Picture 12" descr="nike_icon_notification bell icon_20250902_023558_2b696e34_transparent.png"/>
          <p:cNvPicPr>
            <a:picLocks noChangeAspect="1"/>
          </p:cNvPicPr>
          <p:nvPr/>
        </p:nvPicPr>
        <p:blipFill>
          <a:blip r:embed="rId7"/>
          <a:stretch>
            <a:fillRect/>
          </a:stretch>
        </p:blipFill>
        <p:spPr>
          <a:xfrm>
            <a:off x="6400800" y="3657600"/>
            <a:ext cx="914400" cy="914400"/>
          </a:xfrm>
          <a:prstGeom prst="rect">
            <a:avLst/>
          </a:prstGeom>
        </p:spPr>
      </p:pic>
      <p:sp>
        <p:nvSpPr>
          <p:cNvPr id="14" name="TextBox 13"/>
          <p:cNvSpPr txBox="1"/>
          <p:nvPr/>
        </p:nvSpPr>
        <p:spPr>
          <a:xfrm>
            <a:off x="6400800" y="4663440"/>
            <a:ext cx="914400" cy="365760"/>
          </a:xfrm>
          <a:prstGeom prst="rect">
            <a:avLst/>
          </a:prstGeom>
          <a:noFill/>
        </p:spPr>
        <p:txBody>
          <a:bodyPr wrap="none" lIns="0" rIns="0" tIns="0" bIns="0">
            <a:spAutoFit/>
          </a:bodyPr>
          <a:lstStyle/>
          <a:p>
            <a:pPr algn="ctr">
              <a:defRPr sz="1200" b="0">
                <a:solidFill>
                  <a:srgbClr val="000000"/>
                </a:solidFill>
                <a:latin typeface="Inter"/>
              </a:defRPr>
            </a:pPr>
            <a:r>
              <a:t>Notification Bell Icon</a:t>
            </a:r>
          </a:p>
        </p:txBody>
      </p:sp>
      <p:cxnSp>
        <p:nvCxnSpPr>
          <p:cNvPr id="15" name="Connector 14"/>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00100" y="5560695"/>
            <a:ext cx="3657600" cy="731520"/>
          </a:xfrm>
          <a:prstGeom prst="rect">
            <a:avLst/>
          </a:prstGeom>
          <a:noFill/>
        </p:spPr>
        <p:txBody>
          <a:bodyPr wrap="none">
            <a:spAutoFit/>
          </a:bodyPr>
          <a:lstStyle/>
          <a:p>
            <a:pPr algn="l">
              <a:defRPr sz="2800" b="1">
                <a:solidFill>
                  <a:srgbClr val="4CAF50"/>
                </a:solidFill>
                <a:latin typeface="Source Sans Pro"/>
              </a:defRPr>
            </a:pPr>
            <a:r>
              <a:t>ICONOGRAPHY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742950"/>
          </a:xfrm>
          <a:prstGeom prst="rect">
            <a:avLst/>
          </a:prstGeom>
          <a:noFill/>
        </p:spPr>
        <p:txBody>
          <a:bodyPr wrap="square" lIns="0" rIns="0" tIns="0" bIns="0">
            <a:spAutoFit/>
          </a:bodyPr>
          <a:lstStyle/>
          <a:p>
            <a:pPr algn="l">
              <a:spcAft>
                <a:spcPts val="800"/>
              </a:spcAft>
              <a:defRPr sz="2000" b="0">
                <a:solidFill>
                  <a:srgbClr val="000000"/>
                </a:solidFill>
                <a:latin typeface="Inter"/>
              </a:defRPr>
            </a:pPr>
            <a:r>
              <a:t>Nike - Sportswear &amp; Apparel (Athletic Footwear, Clothing, Equipment) Industry Icons Icons</a:t>
            </a:r>
          </a:p>
        </p:txBody>
      </p:sp>
      <p:pic>
        <p:nvPicPr>
          <p:cNvPr id="3" name="Picture 2" descr="nike_icon_cloud computing icon_20250902_023657_598a761a_transparent.png"/>
          <p:cNvPicPr>
            <a:picLocks noChangeAspect="1"/>
          </p:cNvPicPr>
          <p:nvPr/>
        </p:nvPicPr>
        <p:blipFill>
          <a:blip r:embed="rId2"/>
          <a:stretch>
            <a:fillRect/>
          </a:stretch>
        </p:blipFill>
        <p:spPr>
          <a:xfrm>
            <a:off x="2743200" y="2286000"/>
            <a:ext cx="914400" cy="914400"/>
          </a:xfrm>
          <a:prstGeom prst="rect">
            <a:avLst/>
          </a:prstGeom>
        </p:spPr>
      </p:pic>
      <p:sp>
        <p:nvSpPr>
          <p:cNvPr id="4" name="TextBox 3"/>
          <p:cNvSpPr txBox="1"/>
          <p:nvPr/>
        </p:nvSpPr>
        <p:spPr>
          <a:xfrm>
            <a:off x="2743200" y="3291840"/>
            <a:ext cx="914400" cy="365760"/>
          </a:xfrm>
          <a:prstGeom prst="rect">
            <a:avLst/>
          </a:prstGeom>
          <a:noFill/>
        </p:spPr>
        <p:txBody>
          <a:bodyPr wrap="none" lIns="0" rIns="0" tIns="0" bIns="0">
            <a:spAutoFit/>
          </a:bodyPr>
          <a:lstStyle/>
          <a:p>
            <a:pPr algn="ctr">
              <a:defRPr sz="1200" b="0">
                <a:solidFill>
                  <a:srgbClr val="000000"/>
                </a:solidFill>
                <a:latin typeface="Inter"/>
              </a:defRPr>
            </a:pPr>
            <a:r>
              <a:t>Cloud Computing Icon</a:t>
            </a:r>
          </a:p>
        </p:txBody>
      </p:sp>
      <p:pic>
        <p:nvPicPr>
          <p:cNvPr id="5" name="Picture 4" descr="nike_icon_server database icon_20250902_023713_d8988584_transparent.png"/>
          <p:cNvPicPr>
            <a:picLocks noChangeAspect="1"/>
          </p:cNvPicPr>
          <p:nvPr/>
        </p:nvPicPr>
        <p:blipFill>
          <a:blip r:embed="rId3"/>
          <a:stretch>
            <a:fillRect/>
          </a:stretch>
        </p:blipFill>
        <p:spPr>
          <a:xfrm>
            <a:off x="4572000" y="2286000"/>
            <a:ext cx="914400" cy="914400"/>
          </a:xfrm>
          <a:prstGeom prst="rect">
            <a:avLst/>
          </a:prstGeom>
        </p:spPr>
      </p:pic>
      <p:sp>
        <p:nvSpPr>
          <p:cNvPr id="6" name="TextBox 5"/>
          <p:cNvSpPr txBox="1"/>
          <p:nvPr/>
        </p:nvSpPr>
        <p:spPr>
          <a:xfrm>
            <a:off x="4572000" y="3291840"/>
            <a:ext cx="914400" cy="365760"/>
          </a:xfrm>
          <a:prstGeom prst="rect">
            <a:avLst/>
          </a:prstGeom>
          <a:noFill/>
        </p:spPr>
        <p:txBody>
          <a:bodyPr wrap="none" lIns="0" rIns="0" tIns="0" bIns="0">
            <a:spAutoFit/>
          </a:bodyPr>
          <a:lstStyle/>
          <a:p>
            <a:pPr algn="ctr">
              <a:defRPr sz="1200" b="0">
                <a:solidFill>
                  <a:srgbClr val="000000"/>
                </a:solidFill>
                <a:latin typeface="Inter"/>
              </a:defRPr>
            </a:pPr>
            <a:r>
              <a:t>Server Database Icon</a:t>
            </a:r>
          </a:p>
        </p:txBody>
      </p:sp>
      <p:pic>
        <p:nvPicPr>
          <p:cNvPr id="7" name="Picture 6" descr="nike_icon_programming code icon_20250902_023729_d62cd31f_transparent.png"/>
          <p:cNvPicPr>
            <a:picLocks noChangeAspect="1"/>
          </p:cNvPicPr>
          <p:nvPr/>
        </p:nvPicPr>
        <p:blipFill>
          <a:blip r:embed="rId4"/>
          <a:stretch>
            <a:fillRect/>
          </a:stretch>
        </p:blipFill>
        <p:spPr>
          <a:xfrm>
            <a:off x="6400800" y="2286000"/>
            <a:ext cx="914400" cy="914400"/>
          </a:xfrm>
          <a:prstGeom prst="rect">
            <a:avLst/>
          </a:prstGeom>
        </p:spPr>
      </p:pic>
      <p:sp>
        <p:nvSpPr>
          <p:cNvPr id="8" name="TextBox 7"/>
          <p:cNvSpPr txBox="1"/>
          <p:nvPr/>
        </p:nvSpPr>
        <p:spPr>
          <a:xfrm>
            <a:off x="6400800" y="3291840"/>
            <a:ext cx="914400" cy="365760"/>
          </a:xfrm>
          <a:prstGeom prst="rect">
            <a:avLst/>
          </a:prstGeom>
          <a:noFill/>
        </p:spPr>
        <p:txBody>
          <a:bodyPr wrap="none" lIns="0" rIns="0" tIns="0" bIns="0">
            <a:spAutoFit/>
          </a:bodyPr>
          <a:lstStyle/>
          <a:p>
            <a:pPr algn="ctr">
              <a:defRPr sz="1200" b="0">
                <a:solidFill>
                  <a:srgbClr val="000000"/>
                </a:solidFill>
                <a:latin typeface="Inter"/>
              </a:defRPr>
            </a:pPr>
            <a:r>
              <a:t>Programming Code Icon</a:t>
            </a:r>
          </a:p>
        </p:txBody>
      </p:sp>
      <p:pic>
        <p:nvPicPr>
          <p:cNvPr id="9" name="Picture 8" descr="nike_icon_network connection icon_20250902_023743_64619b4d_transparent.png"/>
          <p:cNvPicPr>
            <a:picLocks noChangeAspect="1"/>
          </p:cNvPicPr>
          <p:nvPr/>
        </p:nvPicPr>
        <p:blipFill>
          <a:blip r:embed="rId5"/>
          <a:stretch>
            <a:fillRect/>
          </a:stretch>
        </p:blipFill>
        <p:spPr>
          <a:xfrm>
            <a:off x="2743200" y="3657600"/>
            <a:ext cx="914400" cy="914400"/>
          </a:xfrm>
          <a:prstGeom prst="rect">
            <a:avLst/>
          </a:prstGeom>
        </p:spPr>
      </p:pic>
      <p:sp>
        <p:nvSpPr>
          <p:cNvPr id="10" name="TextBox 9"/>
          <p:cNvSpPr txBox="1"/>
          <p:nvPr/>
        </p:nvSpPr>
        <p:spPr>
          <a:xfrm>
            <a:off x="2743200" y="4663440"/>
            <a:ext cx="914400" cy="365760"/>
          </a:xfrm>
          <a:prstGeom prst="rect">
            <a:avLst/>
          </a:prstGeom>
          <a:noFill/>
        </p:spPr>
        <p:txBody>
          <a:bodyPr wrap="none" lIns="0" rIns="0" tIns="0" bIns="0">
            <a:spAutoFit/>
          </a:bodyPr>
          <a:lstStyle/>
          <a:p>
            <a:pPr algn="ctr">
              <a:defRPr sz="1200" b="0">
                <a:solidFill>
                  <a:srgbClr val="000000"/>
                </a:solidFill>
                <a:latin typeface="Inter"/>
              </a:defRPr>
            </a:pPr>
            <a:r>
              <a:t>Network Connection Icon</a:t>
            </a:r>
          </a:p>
        </p:txBody>
      </p:sp>
      <p:pic>
        <p:nvPicPr>
          <p:cNvPr id="11" name="Picture 10" descr="nike_icon_artificial intelligence icon_20250902_023759_3e90671a_transparent.png"/>
          <p:cNvPicPr>
            <a:picLocks noChangeAspect="1"/>
          </p:cNvPicPr>
          <p:nvPr/>
        </p:nvPicPr>
        <p:blipFill>
          <a:blip r:embed="rId6"/>
          <a:stretch>
            <a:fillRect/>
          </a:stretch>
        </p:blipFill>
        <p:spPr>
          <a:xfrm>
            <a:off x="4572000" y="3657600"/>
            <a:ext cx="914400" cy="914400"/>
          </a:xfrm>
          <a:prstGeom prst="rect">
            <a:avLst/>
          </a:prstGeom>
        </p:spPr>
      </p:pic>
      <p:sp>
        <p:nvSpPr>
          <p:cNvPr id="12" name="TextBox 11"/>
          <p:cNvSpPr txBox="1"/>
          <p:nvPr/>
        </p:nvSpPr>
        <p:spPr>
          <a:xfrm>
            <a:off x="4572000" y="4663440"/>
            <a:ext cx="914400" cy="365760"/>
          </a:xfrm>
          <a:prstGeom prst="rect">
            <a:avLst/>
          </a:prstGeom>
          <a:noFill/>
        </p:spPr>
        <p:txBody>
          <a:bodyPr wrap="none" lIns="0" rIns="0" tIns="0" bIns="0">
            <a:spAutoFit/>
          </a:bodyPr>
          <a:lstStyle/>
          <a:p>
            <a:pPr algn="ctr">
              <a:defRPr sz="1200" b="0">
                <a:solidFill>
                  <a:srgbClr val="000000"/>
                </a:solidFill>
                <a:latin typeface="Inter"/>
              </a:defRPr>
            </a:pPr>
            <a:r>
              <a:t>Artificial Intelligence Icon</a:t>
            </a:r>
          </a:p>
        </p:txBody>
      </p:sp>
      <p:pic>
        <p:nvPicPr>
          <p:cNvPr id="13" name="Picture 12" descr="nike_icon_security lock icon_20250902_023815_b48c89b2_transparent.png"/>
          <p:cNvPicPr>
            <a:picLocks noChangeAspect="1"/>
          </p:cNvPicPr>
          <p:nvPr/>
        </p:nvPicPr>
        <p:blipFill>
          <a:blip r:embed="rId7"/>
          <a:stretch>
            <a:fillRect/>
          </a:stretch>
        </p:blipFill>
        <p:spPr>
          <a:xfrm>
            <a:off x="6400800" y="3657600"/>
            <a:ext cx="914400" cy="914400"/>
          </a:xfrm>
          <a:prstGeom prst="rect">
            <a:avLst/>
          </a:prstGeom>
        </p:spPr>
      </p:pic>
      <p:sp>
        <p:nvSpPr>
          <p:cNvPr id="14" name="TextBox 13"/>
          <p:cNvSpPr txBox="1"/>
          <p:nvPr/>
        </p:nvSpPr>
        <p:spPr>
          <a:xfrm>
            <a:off x="6400800" y="4663440"/>
            <a:ext cx="914400" cy="365760"/>
          </a:xfrm>
          <a:prstGeom prst="rect">
            <a:avLst/>
          </a:prstGeom>
          <a:noFill/>
        </p:spPr>
        <p:txBody>
          <a:bodyPr wrap="none" lIns="0" rIns="0" tIns="0" bIns="0">
            <a:spAutoFit/>
          </a:bodyPr>
          <a:lstStyle/>
          <a:p>
            <a:pPr algn="ctr">
              <a:defRPr sz="1200" b="0">
                <a:solidFill>
                  <a:srgbClr val="000000"/>
                </a:solidFill>
                <a:latin typeface="Inter"/>
              </a:defRPr>
            </a:pPr>
            <a:r>
              <a:t>Security Lock Icon</a:t>
            </a:r>
          </a:p>
        </p:txBody>
      </p:sp>
      <p:cxnSp>
        <p:nvCxnSpPr>
          <p:cNvPr id="15" name="Connector 14"/>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00100" y="5560695"/>
            <a:ext cx="3657600" cy="731520"/>
          </a:xfrm>
          <a:prstGeom prst="rect">
            <a:avLst/>
          </a:prstGeom>
          <a:noFill/>
        </p:spPr>
        <p:txBody>
          <a:bodyPr wrap="none">
            <a:spAutoFit/>
          </a:bodyPr>
          <a:lstStyle/>
          <a:p>
            <a:pPr algn="l">
              <a:defRPr sz="2800" b="1">
                <a:solidFill>
                  <a:srgbClr val="4CAF50"/>
                </a:solidFill>
                <a:latin typeface="Source Sans Pro"/>
              </a:defRPr>
            </a:pPr>
            <a:r>
              <a:t>ICONOGRAPHY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00100" y="1051560"/>
            <a:ext cx="6858000" cy="2228850"/>
          </a:xfrm>
          <a:prstGeom prst="rect">
            <a:avLst/>
          </a:prstGeom>
          <a:noFill/>
        </p:spPr>
        <p:txBody>
          <a:bodyPr wrap="square" lIns="0" rIns="0" tIns="0" bIns="0">
            <a:spAutoFit/>
          </a:bodyPr>
          <a:lstStyle/>
          <a:p>
            <a:pPr algn="l">
              <a:spcAft>
                <a:spcPts val="600"/>
              </a:spcAft>
              <a:defRPr sz="1800" b="0">
                <a:solidFill>
                  <a:srgbClr val="000000"/>
                </a:solidFill>
                <a:latin typeface="Inter"/>
              </a:defRPr>
            </a:pPr>
            <a:r>
              <a:t>Style: Minimalist Outline design</a:t>
            </a:r>
          </a:p>
          <a:p>
            <a:pPr algn="l">
              <a:spcAft>
                <a:spcPts val="600"/>
              </a:spcAft>
              <a:defRPr sz="1800" b="0">
                <a:solidFill>
                  <a:srgbClr val="000000"/>
                </a:solidFill>
                <a:latin typeface="Inter"/>
              </a:defRPr>
            </a:pPr>
            <a:r>
              <a:t>Color: #4CAF50 on black background</a:t>
            </a:r>
          </a:p>
          <a:p>
            <a:pPr algn="l">
              <a:spcAft>
                <a:spcPts val="600"/>
              </a:spcAft>
              <a:defRPr sz="1800" b="0">
                <a:solidFill>
                  <a:srgbClr val="000000"/>
                </a:solidFill>
                <a:latin typeface="Inter"/>
              </a:defRPr>
            </a:pPr>
          </a:p>
          <a:p>
            <a:pPr algn="l">
              <a:spcAft>
                <a:spcPts val="600"/>
              </a:spcAft>
              <a:defRPr sz="1800" b="0">
                <a:solidFill>
                  <a:srgbClr val="000000"/>
                </a:solidFill>
                <a:latin typeface="Inter"/>
              </a:defRPr>
            </a:pPr>
            <a:r>
              <a:t>Size Requirements:</a:t>
            </a:r>
          </a:p>
          <a:p>
            <a:pPr algn="l">
              <a:spcAft>
                <a:spcPts val="600"/>
              </a:spcAft>
              <a:defRPr sz="1800" b="0">
                <a:solidFill>
                  <a:srgbClr val="000000"/>
                </a:solidFill>
                <a:latin typeface="Inter"/>
              </a:defRPr>
            </a:pPr>
            <a:r>
              <a:t>• Minimum: 16px web, 0.5" print</a:t>
            </a:r>
          </a:p>
          <a:p>
            <a:pPr algn="l">
              <a:spcAft>
                <a:spcPts val="600"/>
              </a:spcAft>
              <a:defRPr sz="1800" b="0">
                <a:solidFill>
                  <a:srgbClr val="000000"/>
                </a:solidFill>
                <a:latin typeface="Inter"/>
              </a:defRPr>
            </a:pPr>
            <a:r>
              <a:t>• Recommended: 24px+ web, 0.75"+ print</a:t>
            </a:r>
          </a:p>
          <a:p>
            <a:pPr algn="l">
              <a:spcAft>
                <a:spcPts val="600"/>
              </a:spcAft>
              <a:defRPr sz="1800" b="0">
                <a:solidFill>
                  <a:srgbClr val="000000"/>
                </a:solidFill>
                <a:latin typeface="Inter"/>
              </a:defRPr>
            </a:pPr>
          </a:p>
          <a:p>
            <a:pPr algn="l">
              <a:spcAft>
                <a:spcPts val="600"/>
              </a:spcAft>
              <a:defRPr sz="1800" b="0">
                <a:solidFill>
                  <a:srgbClr val="000000"/>
                </a:solidFill>
                <a:latin typeface="Inter"/>
              </a:defRPr>
            </a:pPr>
            <a:r>
              <a:t>Spacing:</a:t>
            </a:r>
          </a:p>
          <a:p>
            <a:pPr algn="l">
              <a:spcAft>
                <a:spcPts val="600"/>
              </a:spcAft>
              <a:defRPr sz="1800" b="0">
                <a:solidFill>
                  <a:srgbClr val="000000"/>
                </a:solidFill>
                <a:latin typeface="Inter"/>
              </a:defRPr>
            </a:pPr>
            <a:r>
              <a:t>• Clear space: 50% of icon width</a:t>
            </a:r>
          </a:p>
          <a:p>
            <a:pPr algn="l">
              <a:spcAft>
                <a:spcPts val="600"/>
              </a:spcAft>
              <a:defRPr sz="1800" b="0">
                <a:solidFill>
                  <a:srgbClr val="000000"/>
                </a:solidFill>
                <a:latin typeface="Inter"/>
              </a:defRPr>
            </a:pPr>
            <a:r>
              <a:t>• Consistent grid alignment</a:t>
            </a:r>
          </a:p>
        </p:txBody>
      </p:sp>
      <p:cxnSp>
        <p:nvCxnSpPr>
          <p:cNvPr id="3" name="Connector 2"/>
          <p:cNvCxnSpPr/>
          <p:nvPr/>
        </p:nvCxnSpPr>
        <p:spPr>
          <a:xfrm>
            <a:off x="457200" y="5286375.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560695"/>
            <a:ext cx="5486400" cy="731520"/>
          </a:xfrm>
          <a:prstGeom prst="rect">
            <a:avLst/>
          </a:prstGeom>
          <a:noFill/>
        </p:spPr>
        <p:txBody>
          <a:bodyPr wrap="none">
            <a:spAutoFit/>
          </a:bodyPr>
          <a:lstStyle/>
          <a:p>
            <a:pPr algn="l">
              <a:defRPr sz="2800" b="1">
                <a:solidFill>
                  <a:srgbClr val="4CAF50"/>
                </a:solidFill>
                <a:latin typeface="Source Sans Pro"/>
              </a:defRPr>
            </a:pPr>
            <a:r>
              <a:t>USAGE GUIDELINES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68680" y="320040"/>
            <a:ext cx="2468880" cy="1463040"/>
          </a:xfrm>
          <a:prstGeom prst="rect">
            <a:avLst/>
          </a:prstGeom>
          <a:solidFill>
            <a:srgbClr val="F8F8F8"/>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ike_illustration_1_20250902_023837_dca0ed1a.png"/>
          <p:cNvPicPr>
            <a:picLocks noChangeAspect="1"/>
          </p:cNvPicPr>
          <p:nvPr/>
        </p:nvPicPr>
        <p:blipFill>
          <a:blip r:embed="rId2"/>
          <a:stretch>
            <a:fillRect/>
          </a:stretch>
        </p:blipFill>
        <p:spPr>
          <a:xfrm>
            <a:off x="914400" y="365760"/>
            <a:ext cx="2377440" cy="1371600"/>
          </a:xfrm>
          <a:prstGeom prst="rect">
            <a:avLst/>
          </a:prstGeom>
        </p:spPr>
      </p:pic>
      <p:sp>
        <p:nvSpPr>
          <p:cNvPr id="4" name="TextBox 3"/>
          <p:cNvSpPr txBox="1"/>
          <p:nvPr/>
        </p:nvSpPr>
        <p:spPr>
          <a:xfrm>
            <a:off x="914400" y="137160"/>
            <a:ext cx="2377440" cy="182880"/>
          </a:xfrm>
          <a:prstGeom prst="rect">
            <a:avLst/>
          </a:prstGeom>
          <a:noFill/>
        </p:spPr>
        <p:txBody>
          <a:bodyPr wrap="none" lIns="0" rIns="0" tIns="0" bIns="0">
            <a:spAutoFit/>
          </a:bodyPr>
          <a:lstStyle/>
          <a:p>
            <a:pPr algn="ctr">
              <a:defRPr sz="800" b="1">
                <a:solidFill>
                  <a:srgbClr val="4CAF50"/>
                </a:solidFill>
                <a:latin typeface="Inter"/>
              </a:defRPr>
            </a:pPr>
            <a:r>
              <a:t>External Focus</a:t>
            </a:r>
          </a:p>
        </p:txBody>
      </p:sp>
      <p:sp>
        <p:nvSpPr>
          <p:cNvPr id="5" name="TextBox 4"/>
          <p:cNvSpPr txBox="1"/>
          <p:nvPr/>
        </p:nvSpPr>
        <p:spPr>
          <a:xfrm>
            <a:off x="914400" y="1810512"/>
            <a:ext cx="2377440" cy="228600"/>
          </a:xfrm>
          <a:prstGeom prst="rect">
            <a:avLst/>
          </a:prstGeom>
          <a:noFill/>
        </p:spPr>
        <p:txBody>
          <a:bodyPr wrap="none" lIns="0" rIns="0" tIns="0" bIns="0">
            <a:spAutoFit/>
          </a:bodyPr>
          <a:lstStyle/>
          <a:p>
            <a:pPr algn="ctr">
              <a:defRPr sz="900" b="0">
                <a:solidFill>
                  <a:srgbClr val="666666"/>
                </a:solidFill>
                <a:latin typeface="Inter"/>
              </a:defRPr>
            </a:pPr>
            <a:r>
              <a:t>Business growth and success visuali...</a:t>
            </a:r>
          </a:p>
        </p:txBody>
      </p:sp>
      <p:sp>
        <p:nvSpPr>
          <p:cNvPr id="6" name="Rectangle 5"/>
          <p:cNvSpPr/>
          <p:nvPr/>
        </p:nvSpPr>
        <p:spPr>
          <a:xfrm>
            <a:off x="3703320" y="320040"/>
            <a:ext cx="2468880" cy="1463040"/>
          </a:xfrm>
          <a:prstGeom prst="rect">
            <a:avLst/>
          </a:prstGeom>
          <a:solidFill>
            <a:srgbClr val="F8F8F8"/>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ike_illustration_2_20250902_023853_6a862464.png"/>
          <p:cNvPicPr>
            <a:picLocks noChangeAspect="1"/>
          </p:cNvPicPr>
          <p:nvPr/>
        </p:nvPicPr>
        <p:blipFill>
          <a:blip r:embed="rId3"/>
          <a:stretch>
            <a:fillRect/>
          </a:stretch>
        </p:blipFill>
        <p:spPr>
          <a:xfrm>
            <a:off x="3749040" y="365760"/>
            <a:ext cx="2377440" cy="1371600"/>
          </a:xfrm>
          <a:prstGeom prst="rect">
            <a:avLst/>
          </a:prstGeom>
        </p:spPr>
      </p:pic>
      <p:sp>
        <p:nvSpPr>
          <p:cNvPr id="8" name="TextBox 7"/>
          <p:cNvSpPr txBox="1"/>
          <p:nvPr/>
        </p:nvSpPr>
        <p:spPr>
          <a:xfrm>
            <a:off x="3749040" y="137160"/>
            <a:ext cx="2377440" cy="182880"/>
          </a:xfrm>
          <a:prstGeom prst="rect">
            <a:avLst/>
          </a:prstGeom>
          <a:noFill/>
        </p:spPr>
        <p:txBody>
          <a:bodyPr wrap="none" lIns="0" rIns="0" tIns="0" bIns="0">
            <a:spAutoFit/>
          </a:bodyPr>
          <a:lstStyle/>
          <a:p>
            <a:pPr algn="ctr">
              <a:defRPr sz="800" b="1">
                <a:solidFill>
                  <a:srgbClr val="4CAF50"/>
                </a:solidFill>
                <a:latin typeface="Inter"/>
              </a:defRPr>
            </a:pPr>
            <a:r>
              <a:t>External Focus</a:t>
            </a:r>
          </a:p>
        </p:txBody>
      </p:sp>
      <p:sp>
        <p:nvSpPr>
          <p:cNvPr id="9" name="TextBox 8"/>
          <p:cNvSpPr txBox="1"/>
          <p:nvPr/>
        </p:nvSpPr>
        <p:spPr>
          <a:xfrm>
            <a:off x="3749040" y="1810512"/>
            <a:ext cx="2377440" cy="228600"/>
          </a:xfrm>
          <a:prstGeom prst="rect">
            <a:avLst/>
          </a:prstGeom>
          <a:noFill/>
        </p:spPr>
        <p:txBody>
          <a:bodyPr wrap="none" lIns="0" rIns="0" tIns="0" bIns="0">
            <a:spAutoFit/>
          </a:bodyPr>
          <a:lstStyle/>
          <a:p>
            <a:pPr algn="ctr">
              <a:defRPr sz="900" b="0">
                <a:solidFill>
                  <a:srgbClr val="666666"/>
                </a:solidFill>
                <a:latin typeface="Inter"/>
              </a:defRPr>
            </a:pPr>
            <a:r>
              <a:t>Professional excellence in Sportswe...</a:t>
            </a:r>
          </a:p>
        </p:txBody>
      </p:sp>
      <p:sp>
        <p:nvSpPr>
          <p:cNvPr id="10" name="Rectangle 9"/>
          <p:cNvSpPr/>
          <p:nvPr/>
        </p:nvSpPr>
        <p:spPr>
          <a:xfrm>
            <a:off x="6537960" y="320040"/>
            <a:ext cx="2468880" cy="1463040"/>
          </a:xfrm>
          <a:prstGeom prst="rect">
            <a:avLst/>
          </a:prstGeom>
          <a:solidFill>
            <a:srgbClr val="F8F8F8"/>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nike_illustration_3_20250902_023910_753b431d.png"/>
          <p:cNvPicPr>
            <a:picLocks noChangeAspect="1"/>
          </p:cNvPicPr>
          <p:nvPr/>
        </p:nvPicPr>
        <p:blipFill>
          <a:blip r:embed="rId4"/>
          <a:stretch>
            <a:fillRect/>
          </a:stretch>
        </p:blipFill>
        <p:spPr>
          <a:xfrm>
            <a:off x="6583680" y="365760"/>
            <a:ext cx="2377440" cy="1371600"/>
          </a:xfrm>
          <a:prstGeom prst="rect">
            <a:avLst/>
          </a:prstGeom>
        </p:spPr>
      </p:pic>
      <p:sp>
        <p:nvSpPr>
          <p:cNvPr id="12" name="TextBox 11"/>
          <p:cNvSpPr txBox="1"/>
          <p:nvPr/>
        </p:nvSpPr>
        <p:spPr>
          <a:xfrm>
            <a:off x="6583680" y="137160"/>
            <a:ext cx="2377440" cy="182880"/>
          </a:xfrm>
          <a:prstGeom prst="rect">
            <a:avLst/>
          </a:prstGeom>
          <a:noFill/>
        </p:spPr>
        <p:txBody>
          <a:bodyPr wrap="none" lIns="0" rIns="0" tIns="0" bIns="0">
            <a:spAutoFit/>
          </a:bodyPr>
          <a:lstStyle/>
          <a:p>
            <a:pPr algn="ctr">
              <a:defRPr sz="800" b="1">
                <a:solidFill>
                  <a:srgbClr val="4CAF50"/>
                </a:solidFill>
                <a:latin typeface="Inter"/>
              </a:defRPr>
            </a:pPr>
            <a:r>
              <a:t>External Focus</a:t>
            </a:r>
          </a:p>
        </p:txBody>
      </p:sp>
      <p:sp>
        <p:nvSpPr>
          <p:cNvPr id="13" name="TextBox 12"/>
          <p:cNvSpPr txBox="1"/>
          <p:nvPr/>
        </p:nvSpPr>
        <p:spPr>
          <a:xfrm>
            <a:off x="6583680" y="1810512"/>
            <a:ext cx="2377440" cy="228600"/>
          </a:xfrm>
          <a:prstGeom prst="rect">
            <a:avLst/>
          </a:prstGeom>
          <a:noFill/>
        </p:spPr>
        <p:txBody>
          <a:bodyPr wrap="none" lIns="0" rIns="0" tIns="0" bIns="0">
            <a:spAutoFit/>
          </a:bodyPr>
          <a:lstStyle/>
          <a:p>
            <a:pPr algn="ctr">
              <a:defRPr sz="900" b="0">
                <a:solidFill>
                  <a:srgbClr val="666666"/>
                </a:solidFill>
                <a:latin typeface="Inter"/>
              </a:defRPr>
            </a:pPr>
            <a:r>
              <a:t>Innovative solutions for Sportswear...</a:t>
            </a:r>
          </a:p>
        </p:txBody>
      </p:sp>
      <p:sp>
        <p:nvSpPr>
          <p:cNvPr id="14" name="Rectangle 13"/>
          <p:cNvSpPr/>
          <p:nvPr/>
        </p:nvSpPr>
        <p:spPr>
          <a:xfrm>
            <a:off x="868680" y="2331720"/>
            <a:ext cx="2468880" cy="1463040"/>
          </a:xfrm>
          <a:prstGeom prst="rect">
            <a:avLst/>
          </a:prstGeom>
          <a:solidFill>
            <a:srgbClr val="F8F8F8"/>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nike_illustration_5_20250902_023946_829ac29d.png"/>
          <p:cNvPicPr>
            <a:picLocks noChangeAspect="1"/>
          </p:cNvPicPr>
          <p:nvPr/>
        </p:nvPicPr>
        <p:blipFill>
          <a:blip r:embed="rId5"/>
          <a:stretch>
            <a:fillRect/>
          </a:stretch>
        </p:blipFill>
        <p:spPr>
          <a:xfrm>
            <a:off x="914400" y="2377440"/>
            <a:ext cx="2377440" cy="1371600"/>
          </a:xfrm>
          <a:prstGeom prst="rect">
            <a:avLst/>
          </a:prstGeom>
        </p:spPr>
      </p:pic>
      <p:sp>
        <p:nvSpPr>
          <p:cNvPr id="16" name="TextBox 15"/>
          <p:cNvSpPr txBox="1"/>
          <p:nvPr/>
        </p:nvSpPr>
        <p:spPr>
          <a:xfrm>
            <a:off x="914400" y="2148840"/>
            <a:ext cx="2377440" cy="182880"/>
          </a:xfrm>
          <a:prstGeom prst="rect">
            <a:avLst/>
          </a:prstGeom>
          <a:noFill/>
        </p:spPr>
        <p:txBody>
          <a:bodyPr wrap="none" lIns="0" rIns="0" tIns="0" bIns="0">
            <a:spAutoFit/>
          </a:bodyPr>
          <a:lstStyle/>
          <a:p>
            <a:pPr algn="ctr">
              <a:defRPr sz="800" b="1">
                <a:solidFill>
                  <a:srgbClr val="4CAF50"/>
                </a:solidFill>
                <a:latin typeface="Inter"/>
              </a:defRPr>
            </a:pPr>
            <a:r>
              <a:t>Internal Focus</a:t>
            </a:r>
          </a:p>
        </p:txBody>
      </p:sp>
      <p:sp>
        <p:nvSpPr>
          <p:cNvPr id="17" name="TextBox 16"/>
          <p:cNvSpPr txBox="1"/>
          <p:nvPr/>
        </p:nvSpPr>
        <p:spPr>
          <a:xfrm>
            <a:off x="914400" y="3822192"/>
            <a:ext cx="2377440" cy="228600"/>
          </a:xfrm>
          <a:prstGeom prst="rect">
            <a:avLst/>
          </a:prstGeom>
          <a:noFill/>
        </p:spPr>
        <p:txBody>
          <a:bodyPr wrap="none" lIns="0" rIns="0" tIns="0" bIns="0">
            <a:spAutoFit/>
          </a:bodyPr>
          <a:lstStyle/>
          <a:p>
            <a:pPr algn="ctr">
              <a:defRPr sz="900" b="0">
                <a:solidFill>
                  <a:srgbClr val="666666"/>
                </a:solidFill>
                <a:latin typeface="Inter"/>
              </a:defRPr>
            </a:pPr>
            <a:r>
              <a:t>Collaborative teamwork and company ...</a:t>
            </a:r>
          </a:p>
        </p:txBody>
      </p:sp>
      <p:sp>
        <p:nvSpPr>
          <p:cNvPr id="18" name="Rectangle 17"/>
          <p:cNvSpPr/>
          <p:nvPr/>
        </p:nvSpPr>
        <p:spPr>
          <a:xfrm>
            <a:off x="3703320" y="2331720"/>
            <a:ext cx="2468880" cy="1463040"/>
          </a:xfrm>
          <a:prstGeom prst="rect">
            <a:avLst/>
          </a:prstGeom>
          <a:solidFill>
            <a:srgbClr val="F8F8F8"/>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nike_illustration_4_20250902_023929_1f28f65c.png"/>
          <p:cNvPicPr>
            <a:picLocks noChangeAspect="1"/>
          </p:cNvPicPr>
          <p:nvPr/>
        </p:nvPicPr>
        <p:blipFill>
          <a:blip r:embed="rId6"/>
          <a:stretch>
            <a:fillRect/>
          </a:stretch>
        </p:blipFill>
        <p:spPr>
          <a:xfrm>
            <a:off x="3749040" y="2377440"/>
            <a:ext cx="2377440" cy="1371600"/>
          </a:xfrm>
          <a:prstGeom prst="rect">
            <a:avLst/>
          </a:prstGeom>
        </p:spPr>
      </p:pic>
      <p:sp>
        <p:nvSpPr>
          <p:cNvPr id="20" name="TextBox 19"/>
          <p:cNvSpPr txBox="1"/>
          <p:nvPr/>
        </p:nvSpPr>
        <p:spPr>
          <a:xfrm>
            <a:off x="3749040" y="2148840"/>
            <a:ext cx="2377440" cy="182880"/>
          </a:xfrm>
          <a:prstGeom prst="rect">
            <a:avLst/>
          </a:prstGeom>
          <a:noFill/>
        </p:spPr>
        <p:txBody>
          <a:bodyPr wrap="none" lIns="0" rIns="0" tIns="0" bIns="0">
            <a:spAutoFit/>
          </a:bodyPr>
          <a:lstStyle/>
          <a:p>
            <a:pPr algn="ctr">
              <a:defRPr sz="800" b="1">
                <a:solidFill>
                  <a:srgbClr val="4CAF50"/>
                </a:solidFill>
                <a:latin typeface="Inter"/>
              </a:defRPr>
            </a:pPr>
            <a:r>
              <a:t>Internal Focus</a:t>
            </a:r>
          </a:p>
        </p:txBody>
      </p:sp>
      <p:sp>
        <p:nvSpPr>
          <p:cNvPr id="21" name="TextBox 20"/>
          <p:cNvSpPr txBox="1"/>
          <p:nvPr/>
        </p:nvSpPr>
        <p:spPr>
          <a:xfrm>
            <a:off x="3749040" y="3822192"/>
            <a:ext cx="2377440" cy="228600"/>
          </a:xfrm>
          <a:prstGeom prst="rect">
            <a:avLst/>
          </a:prstGeom>
          <a:noFill/>
        </p:spPr>
        <p:txBody>
          <a:bodyPr wrap="none" lIns="0" rIns="0" tIns="0" bIns="0">
            <a:spAutoFit/>
          </a:bodyPr>
          <a:lstStyle/>
          <a:p>
            <a:pPr algn="ctr">
              <a:defRPr sz="900" b="0">
                <a:solidFill>
                  <a:srgbClr val="666666"/>
                </a:solidFill>
                <a:latin typeface="Inter"/>
              </a:defRPr>
            </a:pPr>
            <a:r>
              <a:t>Strategic growth and development in...</a:t>
            </a:r>
          </a:p>
        </p:txBody>
      </p:sp>
      <p:sp>
        <p:nvSpPr>
          <p:cNvPr id="22" name="Rectangle 21"/>
          <p:cNvSpPr/>
          <p:nvPr/>
        </p:nvSpPr>
        <p:spPr>
          <a:xfrm>
            <a:off x="6537960" y="2331720"/>
            <a:ext cx="2468880" cy="1463040"/>
          </a:xfrm>
          <a:prstGeom prst="rect">
            <a:avLst/>
          </a:prstGeom>
          <a:solidFill>
            <a:srgbClr val="F8F8F8"/>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nike_illustration_6_20250902_024003_97ddb9cf.png"/>
          <p:cNvPicPr>
            <a:picLocks noChangeAspect="1"/>
          </p:cNvPicPr>
          <p:nvPr/>
        </p:nvPicPr>
        <p:blipFill>
          <a:blip r:embed="rId7"/>
          <a:stretch>
            <a:fillRect/>
          </a:stretch>
        </p:blipFill>
        <p:spPr>
          <a:xfrm>
            <a:off x="6583680" y="2377440"/>
            <a:ext cx="2377440" cy="1371600"/>
          </a:xfrm>
          <a:prstGeom prst="rect">
            <a:avLst/>
          </a:prstGeom>
        </p:spPr>
      </p:pic>
      <p:sp>
        <p:nvSpPr>
          <p:cNvPr id="24" name="TextBox 23"/>
          <p:cNvSpPr txBox="1"/>
          <p:nvPr/>
        </p:nvSpPr>
        <p:spPr>
          <a:xfrm>
            <a:off x="6583680" y="2148840"/>
            <a:ext cx="2377440" cy="182880"/>
          </a:xfrm>
          <a:prstGeom prst="rect">
            <a:avLst/>
          </a:prstGeom>
          <a:noFill/>
        </p:spPr>
        <p:txBody>
          <a:bodyPr wrap="none" lIns="0" rIns="0" tIns="0" bIns="0">
            <a:spAutoFit/>
          </a:bodyPr>
          <a:lstStyle/>
          <a:p>
            <a:pPr algn="ctr">
              <a:defRPr sz="800" b="1">
                <a:solidFill>
                  <a:srgbClr val="4CAF50"/>
                </a:solidFill>
                <a:latin typeface="Inter"/>
              </a:defRPr>
            </a:pPr>
            <a:r>
              <a:t>Internal Focus</a:t>
            </a:r>
          </a:p>
        </p:txBody>
      </p:sp>
      <p:sp>
        <p:nvSpPr>
          <p:cNvPr id="25" name="TextBox 24"/>
          <p:cNvSpPr txBox="1"/>
          <p:nvPr/>
        </p:nvSpPr>
        <p:spPr>
          <a:xfrm>
            <a:off x="6583680" y="3822192"/>
            <a:ext cx="2377440" cy="228600"/>
          </a:xfrm>
          <a:prstGeom prst="rect">
            <a:avLst/>
          </a:prstGeom>
          <a:noFill/>
        </p:spPr>
        <p:txBody>
          <a:bodyPr wrap="none" lIns="0" rIns="0" tIns="0" bIns="0">
            <a:spAutoFit/>
          </a:bodyPr>
          <a:lstStyle/>
          <a:p>
            <a:pPr algn="ctr">
              <a:defRPr sz="900" b="0">
                <a:solidFill>
                  <a:srgbClr val="666666"/>
                </a:solidFill>
                <a:latin typeface="Inter"/>
              </a:defRPr>
            </a:pPr>
            <a:r>
              <a:t>Technology integration and digital ...</a:t>
            </a:r>
          </a:p>
        </p:txBody>
      </p:sp>
      <p:sp>
        <p:nvSpPr>
          <p:cNvPr id="26" name="TextBox 25"/>
          <p:cNvSpPr txBox="1"/>
          <p:nvPr/>
        </p:nvSpPr>
        <p:spPr>
          <a:xfrm>
            <a:off x="914400" y="4663440"/>
            <a:ext cx="7315200" cy="731520"/>
          </a:xfrm>
          <a:prstGeom prst="rect">
            <a:avLst/>
          </a:prstGeom>
          <a:noFill/>
        </p:spPr>
        <p:txBody>
          <a:bodyPr wrap="square" lIns="0" rIns="0" tIns="0" bIns="0">
            <a:spAutoFit/>
          </a:bodyPr>
          <a:lstStyle/>
          <a:p>
            <a:pPr algn="ctr">
              <a:defRPr sz="1000" b="0">
                <a:solidFill>
                  <a:srgbClr val="000000"/>
                </a:solidFill>
                <a:latin typeface="Inter"/>
              </a:defRPr>
            </a:pPr>
            <a:r>
              <a:t>USAGE NOTES: These illustrations define the visual storytelling style of the brand. Use them consistently across presentations, reports, and marketing materials to maintain brand coherence.</a:t>
            </a:r>
          </a:p>
        </p:txBody>
      </p:sp>
      <p:cxnSp>
        <p:nvCxnSpPr>
          <p:cNvPr id="27" name="Connector 26"/>
          <p:cNvCxnSpPr/>
          <p:nvPr/>
        </p:nvCxnSpPr>
        <p:spPr>
          <a:xfrm>
            <a:off x="457200" y="4914900.0"/>
            <a:ext cx="8229600" cy="0.0"/>
          </a:xfrm>
          <a:prstGeom prst="line">
            <a:avLst/>
          </a:prstGeom>
          <a:ln w="25400">
            <a:solidFill>
              <a:srgbClr val="4CAF5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00100" y="5189220"/>
            <a:ext cx="5486400" cy="731520"/>
          </a:xfrm>
          <a:prstGeom prst="rect">
            <a:avLst/>
          </a:prstGeom>
          <a:noFill/>
        </p:spPr>
        <p:txBody>
          <a:bodyPr wrap="none" lIns="0" rIns="0" tIns="0" bIns="0">
            <a:spAutoFit/>
          </a:bodyPr>
          <a:lstStyle/>
          <a:p>
            <a:pPr algn="l">
              <a:defRPr sz="2800" b="1">
                <a:solidFill>
                  <a:srgbClr val="4CAF50"/>
                </a:solidFill>
                <a:latin typeface="Source Sans Pro"/>
              </a:defRPr>
            </a:pPr>
            <a:r>
              <a:t>BRAND ILLUSTRATIONS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