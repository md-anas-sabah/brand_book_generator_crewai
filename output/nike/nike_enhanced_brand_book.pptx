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nike_logo_1_20250829_152454_3a229d85.png"/>
          <p:cNvPicPr>
            <a:picLocks noChangeAspect="1"/>
          </p:cNvPicPr>
          <p:nvPr/>
        </p:nvPicPr>
        <p:blipFill>
          <a:blip r:embed="rId2"/>
          <a:stretch>
            <a:fillRect/>
          </a:stretch>
        </p:blipFill>
        <p:spPr>
          <a:xfrm>
            <a:off x="0" y="0"/>
            <a:ext cx="9144000" cy="6858000"/>
          </a:xfrm>
          <a:prstGeom prst="rect">
            <a:avLst/>
          </a:prstGeom>
        </p:spPr>
      </p:pic>
      <p:cxnSp>
        <p:nvCxnSpPr>
          <p:cNvPr id="3" name="Connector 2"/>
          <p:cNvCxnSpPr/>
          <p:nvPr/>
        </p:nvCxnSpPr>
        <p:spPr>
          <a:xfrm>
            <a:off x="6629400.0" y="5657850.0"/>
            <a:ext cx="2057400.0" cy="0.0"/>
          </a:xfrm>
          <a:prstGeom prst="line">
            <a:avLst/>
          </a:prstGeom>
          <a:ln>
            <a:solidFill>
              <a:srgbClr val="EA580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629400" y="5657850"/>
            <a:ext cx="2057400" cy="1485900"/>
          </a:xfrm>
          <a:prstGeom prst="rect">
            <a:avLst/>
          </a:prstGeom>
          <a:noFill/>
        </p:spPr>
        <p:txBody>
          <a:bodyPr wrap="none" anchor="ctr">
            <a:spAutoFit/>
          </a:bodyPr>
          <a:lstStyle/>
          <a:p>
            <a:pPr algn="ctr">
              <a:defRPr sz="1800" b="0">
                <a:solidFill>
                  <a:srgbClr val="EA580C"/>
                </a:solidFill>
                <a:latin typeface="Source Sans Pro"/>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EA580C"/>
                </a:solidFill>
                <a:latin typeface="Inter"/>
              </a:defRPr>
            </a:pPr>
            <a:r>
              <a:t>INDEX</a:t>
            </a:r>
          </a:p>
        </p:txBody>
      </p:sp>
      <p:cxnSp>
        <p:nvCxnSpPr>
          <p:cNvPr id="3" name="Connector 2"/>
          <p:cNvCxnSpPr/>
          <p:nvPr/>
        </p:nvCxnSpPr>
        <p:spPr>
          <a:xfrm>
            <a:off x="457200" y="1097280"/>
            <a:ext cx="8229600" cy="0"/>
          </a:xfrm>
          <a:prstGeom prst="line">
            <a:avLst/>
          </a:prstGeom>
          <a:ln w="25400">
            <a:solidFill>
              <a:srgbClr val="EA580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Introduction</a:t>
            </a:r>
          </a:p>
        </p:txBody>
      </p:sp>
      <p:cxnSp>
        <p:nvCxnSpPr>
          <p:cNvPr id="5" name="Connector 4"/>
          <p:cNvCxnSpPr/>
          <p:nvPr/>
        </p:nvCxnSpPr>
        <p:spPr>
          <a:xfrm>
            <a:off x="2331719" y="1664208"/>
            <a:ext cx="365760" cy="0"/>
          </a:xfrm>
          <a:prstGeom prst="line">
            <a:avLst/>
          </a:prstGeom>
          <a:ln w="19050">
            <a:solidFill>
              <a:srgbClr val="EA580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EA580C"/>
                </a:solidFill>
                <a:latin typeface="Source Sans Pro"/>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(Vision)</a:t>
            </a:r>
          </a:p>
        </p:txBody>
      </p:sp>
      <p:cxnSp>
        <p:nvCxnSpPr>
          <p:cNvPr id="8" name="Connector 7"/>
          <p:cNvCxnSpPr/>
          <p:nvPr/>
        </p:nvCxnSpPr>
        <p:spPr>
          <a:xfrm>
            <a:off x="2331719" y="2167128"/>
            <a:ext cx="365760" cy="0"/>
          </a:xfrm>
          <a:prstGeom prst="line">
            <a:avLst/>
          </a:prstGeom>
          <a:ln w="19050">
            <a:solidFill>
              <a:srgbClr val="EA580C"/>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EA580C"/>
                </a:solidFill>
                <a:latin typeface="Source Sans Pro"/>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(Mission)</a:t>
            </a:r>
          </a:p>
        </p:txBody>
      </p:sp>
      <p:cxnSp>
        <p:nvCxnSpPr>
          <p:cNvPr id="11" name="Connector 10"/>
          <p:cNvCxnSpPr/>
          <p:nvPr/>
        </p:nvCxnSpPr>
        <p:spPr>
          <a:xfrm>
            <a:off x="2331719" y="2670048"/>
            <a:ext cx="365760" cy="0"/>
          </a:xfrm>
          <a:prstGeom prst="line">
            <a:avLst/>
          </a:prstGeom>
          <a:ln w="19050">
            <a:solidFill>
              <a:srgbClr val="EA580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EA580C"/>
                </a:solidFill>
                <a:latin typeface="Source Sans Pro"/>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(Values)</a:t>
            </a:r>
          </a:p>
        </p:txBody>
      </p:sp>
      <p:cxnSp>
        <p:nvCxnSpPr>
          <p:cNvPr id="14" name="Connector 13"/>
          <p:cNvCxnSpPr/>
          <p:nvPr/>
        </p:nvCxnSpPr>
        <p:spPr>
          <a:xfrm>
            <a:off x="5349239" y="1664208"/>
            <a:ext cx="365760" cy="0"/>
          </a:xfrm>
          <a:prstGeom prst="line">
            <a:avLst/>
          </a:prstGeom>
          <a:ln w="19050">
            <a:solidFill>
              <a:srgbClr val="EA580C"/>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EA580C"/>
                </a:solidFill>
                <a:latin typeface="Source Sans Pro"/>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Story</a:t>
            </a:r>
          </a:p>
        </p:txBody>
      </p:sp>
      <p:cxnSp>
        <p:nvCxnSpPr>
          <p:cNvPr id="17" name="Connector 16"/>
          <p:cNvCxnSpPr/>
          <p:nvPr/>
        </p:nvCxnSpPr>
        <p:spPr>
          <a:xfrm>
            <a:off x="5349239" y="2167128"/>
            <a:ext cx="365760" cy="0"/>
          </a:xfrm>
          <a:prstGeom prst="line">
            <a:avLst/>
          </a:prstGeom>
          <a:ln w="19050">
            <a:solidFill>
              <a:srgbClr val="EA580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EA580C"/>
                </a:solidFill>
                <a:latin typeface="Source Sans Pro"/>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Logo Variations</a:t>
            </a:r>
          </a:p>
        </p:txBody>
      </p:sp>
      <p:cxnSp>
        <p:nvCxnSpPr>
          <p:cNvPr id="20" name="Connector 19"/>
          <p:cNvCxnSpPr/>
          <p:nvPr/>
        </p:nvCxnSpPr>
        <p:spPr>
          <a:xfrm>
            <a:off x="5349239" y="2670048"/>
            <a:ext cx="365760" cy="0"/>
          </a:xfrm>
          <a:prstGeom prst="line">
            <a:avLst/>
          </a:prstGeom>
          <a:ln w="19050">
            <a:solidFill>
              <a:srgbClr val="EA580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EA580C"/>
                </a:solidFill>
                <a:latin typeface="Source Sans Pro"/>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1</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2</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3</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Colors</a:t>
            </a:r>
          </a:p>
        </p:txBody>
      </p:sp>
      <p:cxnSp>
        <p:nvCxnSpPr>
          <p:cNvPr id="26" name="Connector 25"/>
          <p:cNvCxnSpPr/>
          <p:nvPr/>
        </p:nvCxnSpPr>
        <p:spPr>
          <a:xfrm>
            <a:off x="8366759" y="1664208"/>
            <a:ext cx="365760" cy="0"/>
          </a:xfrm>
          <a:prstGeom prst="line">
            <a:avLst/>
          </a:prstGeom>
          <a:ln w="19050">
            <a:solidFill>
              <a:srgbClr val="EA580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EA580C"/>
                </a:solidFill>
                <a:latin typeface="Source Sans Pro"/>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CCCCCC"/>
                </a:solidFill>
                <a:latin typeface="Source Sans Pro"/>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CCCCCC"/>
                </a:solidFill>
                <a:latin typeface="Source Sans Pro"/>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 1/2</a:t>
            </a:r>
          </a:p>
        </p:txBody>
      </p:sp>
      <p:sp>
        <p:nvSpPr>
          <p:cNvPr id="31" name="TextBox 30"/>
          <p:cNvSpPr txBox="1"/>
          <p:nvPr/>
        </p:nvSpPr>
        <p:spPr>
          <a:xfrm>
            <a:off x="6675120" y="260604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 2/2</a:t>
            </a:r>
          </a:p>
        </p:txBody>
      </p:sp>
      <p:sp>
        <p:nvSpPr>
          <p:cNvPr id="32" name="TextBox 31"/>
          <p:cNvSpPr txBox="1"/>
          <p:nvPr/>
        </p:nvSpPr>
        <p:spPr>
          <a:xfrm>
            <a:off x="6492240" y="2971800"/>
            <a:ext cx="1828800" cy="274320"/>
          </a:xfrm>
          <a:prstGeom prst="rect">
            <a:avLst/>
          </a:prstGeom>
          <a:noFill/>
        </p:spPr>
        <p:txBody>
          <a:bodyPr wrap="none" lIns="0" rIns="0" tIns="0" bIns="0">
            <a:spAutoFit/>
          </a:bodyPr>
          <a:lstStyle/>
          <a:p>
            <a:pPr>
              <a:defRPr sz="1200" b="1">
                <a:solidFill>
                  <a:srgbClr val="FFFFFF"/>
                </a:solidFill>
                <a:latin typeface="Source Sans Pro"/>
              </a:defRPr>
            </a:pPr>
            <a:r>
              <a:t>Typography</a:t>
            </a:r>
          </a:p>
        </p:txBody>
      </p:sp>
      <p:cxnSp>
        <p:nvCxnSpPr>
          <p:cNvPr id="33" name="Connector 32"/>
          <p:cNvCxnSpPr/>
          <p:nvPr/>
        </p:nvCxnSpPr>
        <p:spPr>
          <a:xfrm>
            <a:off x="8366759" y="3081528"/>
            <a:ext cx="365760" cy="0"/>
          </a:xfrm>
          <a:prstGeom prst="line">
            <a:avLst/>
          </a:prstGeom>
          <a:ln w="19050">
            <a:solidFill>
              <a:srgbClr val="EA580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778240" y="2971800"/>
            <a:ext cx="274320" cy="274320"/>
          </a:xfrm>
          <a:prstGeom prst="rect">
            <a:avLst/>
          </a:prstGeom>
          <a:noFill/>
        </p:spPr>
        <p:txBody>
          <a:bodyPr wrap="none" lIns="0" tIns="0" bIns="0">
            <a:spAutoFit/>
          </a:bodyPr>
          <a:lstStyle/>
          <a:p>
            <a:pPr>
              <a:defRPr sz="1200" b="1">
                <a:solidFill>
                  <a:srgbClr val="EA580C"/>
                </a:solidFill>
                <a:latin typeface="Source Sans Pro"/>
              </a:defRPr>
            </a:pPr>
            <a:r>
              <a:t>08</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CCCCCC"/>
                </a:solidFill>
                <a:latin typeface="Source Sans Pro"/>
              </a:defRPr>
            </a:pPr>
            <a:r>
              <a:t>Brand Font</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CCCCCC"/>
                </a:solidFill>
                <a:latin typeface="Source Sans Pro"/>
              </a:defRPr>
            </a:pPr>
            <a:r>
              <a:t>Font Usage</a:t>
            </a:r>
          </a:p>
        </p:txBody>
      </p:sp>
      <p:sp>
        <p:nvSpPr>
          <p:cNvPr id="37" name="TextBox 36"/>
          <p:cNvSpPr txBox="1"/>
          <p:nvPr/>
        </p:nvSpPr>
        <p:spPr>
          <a:xfrm>
            <a:off x="6675120" y="3794760"/>
            <a:ext cx="1828800" cy="228600"/>
          </a:xfrm>
          <a:prstGeom prst="rect">
            <a:avLst/>
          </a:prstGeom>
          <a:noFill/>
        </p:spPr>
        <p:txBody>
          <a:bodyPr wrap="none" lIns="0" tIns="0" bIns="0">
            <a:spAutoFit/>
          </a:bodyPr>
          <a:lstStyle/>
          <a:p>
            <a:pPr>
              <a:defRPr sz="900" b="0">
                <a:solidFill>
                  <a:srgbClr val="CCCCCC"/>
                </a:solidFill>
                <a:latin typeface="Source Sans Pro"/>
              </a:defRPr>
            </a:pPr>
            <a:r>
              <a:t>Text Hierarchy</a:t>
            </a:r>
          </a:p>
        </p:txBody>
      </p:sp>
      <p:sp>
        <p:nvSpPr>
          <p:cNvPr id="38" name="TextBox 37"/>
          <p:cNvSpPr txBox="1"/>
          <p:nvPr/>
        </p:nvSpPr>
        <p:spPr>
          <a:xfrm>
            <a:off x="6492240" y="4160520"/>
            <a:ext cx="1828800" cy="274320"/>
          </a:xfrm>
          <a:prstGeom prst="rect">
            <a:avLst/>
          </a:prstGeom>
          <a:noFill/>
        </p:spPr>
        <p:txBody>
          <a:bodyPr wrap="none" lIns="0" rIns="0" tIns="0" bIns="0">
            <a:spAutoFit/>
          </a:bodyPr>
          <a:lstStyle/>
          <a:p>
            <a:pPr>
              <a:defRPr sz="1200" b="1">
                <a:solidFill>
                  <a:srgbClr val="FFFFFF"/>
                </a:solidFill>
                <a:latin typeface="Source Sans Pro"/>
              </a:defRPr>
            </a:pPr>
            <a:r>
              <a:t>Visual Guidelines</a:t>
            </a:r>
          </a:p>
        </p:txBody>
      </p:sp>
      <p:cxnSp>
        <p:nvCxnSpPr>
          <p:cNvPr id="39" name="Connector 38"/>
          <p:cNvCxnSpPr/>
          <p:nvPr/>
        </p:nvCxnSpPr>
        <p:spPr>
          <a:xfrm>
            <a:off x="8366759" y="4270248"/>
            <a:ext cx="365760" cy="0"/>
          </a:xfrm>
          <a:prstGeom prst="line">
            <a:avLst/>
          </a:prstGeom>
          <a:ln w="19050">
            <a:solidFill>
              <a:srgbClr val="EA580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778240" y="4160520"/>
            <a:ext cx="274320" cy="274320"/>
          </a:xfrm>
          <a:prstGeom prst="rect">
            <a:avLst/>
          </a:prstGeom>
          <a:noFill/>
        </p:spPr>
        <p:txBody>
          <a:bodyPr wrap="none" lIns="0" tIns="0" bIns="0">
            <a:spAutoFit/>
          </a:bodyPr>
          <a:lstStyle/>
          <a:p>
            <a:pPr>
              <a:defRPr sz="1200" b="1">
                <a:solidFill>
                  <a:srgbClr val="EA580C"/>
                </a:solidFill>
                <a:latin typeface="Source Sans Pro"/>
              </a:defRPr>
            </a:pPr>
            <a:r>
              <a:t>09</a:t>
            </a:r>
          </a:p>
        </p:txBody>
      </p:sp>
      <p:sp>
        <p:nvSpPr>
          <p:cNvPr id="41" name="TextBox 40"/>
          <p:cNvSpPr txBox="1"/>
          <p:nvPr/>
        </p:nvSpPr>
        <p:spPr>
          <a:xfrm>
            <a:off x="6675120" y="4526280"/>
            <a:ext cx="1828800" cy="228600"/>
          </a:xfrm>
          <a:prstGeom prst="rect">
            <a:avLst/>
          </a:prstGeom>
          <a:noFill/>
        </p:spPr>
        <p:txBody>
          <a:bodyPr wrap="none" lIns="0" tIns="0" bIns="0">
            <a:spAutoFit/>
          </a:bodyPr>
          <a:lstStyle/>
          <a:p>
            <a:pPr>
              <a:defRPr sz="900" b="0">
                <a:solidFill>
                  <a:srgbClr val="CCCCCC"/>
                </a:solidFill>
                <a:latin typeface="Source Sans Pro"/>
              </a:defRPr>
            </a:pPr>
            <a:r>
              <a:t>Visual Style</a:t>
            </a:r>
          </a:p>
        </p:txBody>
      </p:sp>
      <p:sp>
        <p:nvSpPr>
          <p:cNvPr id="42" name="TextBox 41"/>
          <p:cNvSpPr txBox="1"/>
          <p:nvPr/>
        </p:nvSpPr>
        <p:spPr>
          <a:xfrm>
            <a:off x="6675120" y="4754880"/>
            <a:ext cx="1828800" cy="228600"/>
          </a:xfrm>
          <a:prstGeom prst="rect">
            <a:avLst/>
          </a:prstGeom>
          <a:noFill/>
        </p:spPr>
        <p:txBody>
          <a:bodyPr wrap="none" lIns="0" tIns="0" bIns="0">
            <a:spAutoFit/>
          </a:bodyPr>
          <a:lstStyle/>
          <a:p>
            <a:pPr>
              <a:defRPr sz="900" b="0">
                <a:solidFill>
                  <a:srgbClr val="CCCCCC"/>
                </a:solidFill>
                <a:latin typeface="Source Sans Pro"/>
              </a:defRPr>
            </a:pPr>
            <a:r>
              <a:t>Photography</a:t>
            </a:r>
          </a:p>
        </p:txBody>
      </p:sp>
      <p:sp>
        <p:nvSpPr>
          <p:cNvPr id="43" name="TextBox 42"/>
          <p:cNvSpPr txBox="1"/>
          <p:nvPr/>
        </p:nvSpPr>
        <p:spPr>
          <a:xfrm>
            <a:off x="6675120" y="4983480"/>
            <a:ext cx="1828800" cy="228600"/>
          </a:xfrm>
          <a:prstGeom prst="rect">
            <a:avLst/>
          </a:prstGeom>
          <a:noFill/>
        </p:spPr>
        <p:txBody>
          <a:bodyPr wrap="none" lIns="0" tIns="0" bIns="0">
            <a:spAutoFit/>
          </a:bodyPr>
          <a:lstStyle/>
          <a:p>
            <a:pPr>
              <a:defRPr sz="900" b="0">
                <a:solidFill>
                  <a:srgbClr val="CCCCCC"/>
                </a:solidFill>
                <a:latin typeface="Source Sans Pro"/>
              </a:defRPr>
            </a:pPr>
            <a:r>
              <a:t>Imagery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Welcome to Nike's brand identity system presentation, where we encapsulate the essence of innovation, performance, and empowerment in the world of Sportswear, Footwear, Apparel, Lifestyle &amp; Fitness. This system ensures a globally consistent, engaging, and proprietary brand presentation, reflecting our core values of authenticity, excellence, and community. Join us as we showcase how Nike's unique approach and fundamental principles drive our commitment to creating distinctive solutions for athletes, fitness enthusiasts, and fashion-conscious individuals worldwide.</a:t>
            </a:r>
          </a:p>
        </p:txBody>
      </p:sp>
      <p:cxnSp>
        <p:nvCxnSpPr>
          <p:cNvPr id="3" name="Connector 2"/>
          <p:cNvCxnSpPr/>
          <p:nvPr/>
        </p:nvCxnSpPr>
        <p:spPr>
          <a:xfrm>
            <a:off x="457200" y="4914900.0"/>
            <a:ext cx="8229600" cy="0.0"/>
          </a:xfrm>
          <a:prstGeom prst="line">
            <a:avLst/>
          </a:prstGeom>
          <a:ln w="25400">
            <a:solidFill>
              <a:srgbClr val="EA580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EA580C"/>
                </a:solidFill>
                <a:latin typeface="Inter"/>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Nike's vision is to propel athletes, fitness enthusiasts, sports teams, urban youth, lifestyle-focused consumers, fashion-conscious individuals, and individuals seeking performance-driven and stylish sportswear towards a future where limitless potential meets unparalleled innovation. Our ultimate goal is to inspire and motivate individuals to push beyond boundaries, setting new standards of excellence in the Sportswear, Footwear, Apparel, Lifestyle &amp; Fitness industry.</a:t>
            </a:r>
          </a:p>
        </p:txBody>
      </p:sp>
      <p:cxnSp>
        <p:nvCxnSpPr>
          <p:cNvPr id="3" name="Connector 2"/>
          <p:cNvCxnSpPr/>
          <p:nvPr/>
        </p:nvCxnSpPr>
        <p:spPr>
          <a:xfrm>
            <a:off x="457200" y="4914900.0"/>
            <a:ext cx="8229600" cy="0.0"/>
          </a:xfrm>
          <a:prstGeom prst="line">
            <a:avLst/>
          </a:prstGeom>
          <a:ln w="25400">
            <a:solidFill>
              <a:srgbClr val="EA580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EA580C"/>
                </a:solidFill>
                <a:latin typeface="Inter"/>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Nike is dedicated to providing distinctive Sportswear, Footwear, Apparel, Lifestyle &amp; Fitness solutions that empower athletes, fitness enthusiasts, sports teams, urban youth, lifestyle-focused consumers, fashion-conscious individuals, and individuals seeking performance-driven and stylish sportswear. Through our user-centric design approach, we strive to deliver innovative, performance-enhancing products that cater to the unique needs and aspirations of our diverse community.</a:t>
            </a:r>
          </a:p>
        </p:txBody>
      </p:sp>
      <p:cxnSp>
        <p:nvCxnSpPr>
          <p:cNvPr id="3" name="Connector 2"/>
          <p:cNvCxnSpPr/>
          <p:nvPr/>
        </p:nvCxnSpPr>
        <p:spPr>
          <a:xfrm>
            <a:off x="457200" y="4914900.0"/>
            <a:ext cx="8229600" cy="0.0"/>
          </a:xfrm>
          <a:prstGeom prst="line">
            <a:avLst/>
          </a:prstGeom>
          <a:ln w="25400">
            <a:solidFill>
              <a:srgbClr val="EA580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EA580C"/>
                </a:solidFill>
                <a:latin typeface="Inter"/>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At Nike, we are driven by a relentless pursuit of Innovation to constantly challenge the status quo and redefine industry standards. Our commitment to Performance ensures that every product we create delivers superior functionality and quality. Through Inspiration, we ignite the spark of creativity and passion in every athlete and individual we touch. Empowerment lies at the core of our ethos, fostering a culture where diversity thrives, sustainability is prioritized, and authenticity is paramount. We stand for Excellence in everything we do, fostering a sense of Community and fostering Determination to push boundaries and drive positive change.</a:t>
            </a:r>
          </a:p>
        </p:txBody>
      </p:sp>
      <p:cxnSp>
        <p:nvCxnSpPr>
          <p:cNvPr id="3" name="Connector 2"/>
          <p:cNvCxnSpPr/>
          <p:nvPr/>
        </p:nvCxnSpPr>
        <p:spPr>
          <a:xfrm>
            <a:off x="457200" y="4914900.0"/>
            <a:ext cx="8229600" cy="0.0"/>
          </a:xfrm>
          <a:prstGeom prst="line">
            <a:avLst/>
          </a:prstGeom>
          <a:ln w="25400">
            <a:solidFill>
              <a:srgbClr val="EA580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EA580C"/>
                </a:solidFill>
                <a:latin typeface="Inter"/>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In the heart of every athlete beats a passion, a drive, a fire that pushes them to reach new heights, to break boundaries, to conquer their dreams. This passion is what fuels Nike, a brand that has become synonymous with innovation, performance, and empowerment. Nike was born from the idea that every athlete, no matter their background or skill level, deserves the best. It was founded on the belief that with the right tools, the right mindset, and the right gear, anything is possible. From the very beginning, Nike set out to inspire, to push the limits of what was thought to be achievable, to empower athletes to unlock their full potential.</a:t>
            </a:r>
          </a:p>
        </p:txBody>
      </p:sp>
      <p:cxnSp>
        <p:nvCxnSpPr>
          <p:cNvPr id="3" name="Connector 2"/>
          <p:cNvCxnSpPr/>
          <p:nvPr/>
        </p:nvCxnSpPr>
        <p:spPr>
          <a:xfrm>
            <a:off x="457200" y="4914900.0"/>
            <a:ext cx="8229600" cy="0.0"/>
          </a:xfrm>
          <a:prstGeom prst="line">
            <a:avLst/>
          </a:prstGeom>
          <a:ln w="25400">
            <a:solidFill>
              <a:srgbClr val="EA580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EA580C"/>
                </a:solidFill>
                <a:latin typeface="Inter"/>
              </a:defRPr>
            </a:pPr>
            <a:r>
              <a:t>BRAND STORY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At the core of Nike's ethos is a commitment to excellence. Every product, every design, every detail is crafted with precision and care, with the goal of enhancing performance and enabling athletes to push beyond their limits. From cutting-edge footwear that provides unparalleled support and comfort to stylish apparel that seamlessly blends performance and style, Nike is dedicated to equipping athletes with the best tools to succeed. But Nike is more than just a brand – it is a community, a movement, a force for change. Nike celebrates...</a:t>
            </a:r>
          </a:p>
        </p:txBody>
      </p:sp>
      <p:cxnSp>
        <p:nvCxnSpPr>
          <p:cNvPr id="3" name="Connector 2"/>
          <p:cNvCxnSpPr/>
          <p:nvPr/>
        </p:nvCxnSpPr>
        <p:spPr>
          <a:xfrm>
            <a:off x="457200" y="4914900.0"/>
            <a:ext cx="8229600" cy="0.0"/>
          </a:xfrm>
          <a:prstGeom prst="line">
            <a:avLst/>
          </a:prstGeom>
          <a:ln w="25400">
            <a:solidFill>
              <a:srgbClr val="EA580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EA580C"/>
                </a:solidFill>
                <a:latin typeface="Inter"/>
              </a:defRPr>
            </a:pPr>
            <a:r>
              <a:t>BRAND STORY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nike_logo_1_20250829_152454_3a229d85.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Choose for maximum impact and brand recognition in primary applications.</a:t>
            </a:r>
          </a:p>
        </p:txBody>
      </p:sp>
      <p:cxnSp>
        <p:nvCxnSpPr>
          <p:cNvPr id="4" name="Connector 3"/>
          <p:cNvCxnSpPr/>
          <p:nvPr/>
        </p:nvCxnSpPr>
        <p:spPr>
          <a:xfrm>
            <a:off x="457200" y="5286375.0"/>
            <a:ext cx="8229600" cy="0.0"/>
          </a:xfrm>
          <a:prstGeom prst="line">
            <a:avLst/>
          </a:prstGeom>
          <a:ln w="25400">
            <a:solidFill>
              <a:srgbClr val="EA580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EA580C"/>
                </a:solidFill>
                <a:latin typeface="Inter"/>
              </a:defRPr>
            </a:pPr>
            <a:r>
              <a:t>Logo Variation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nike_logo_2_20250829_152514_01a928ea.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Perfect for constrained spaces while maintaining professional brand presence and clarity.</a:t>
            </a:r>
          </a:p>
        </p:txBody>
      </p:sp>
      <p:cxnSp>
        <p:nvCxnSpPr>
          <p:cNvPr id="4" name="Connector 3"/>
          <p:cNvCxnSpPr/>
          <p:nvPr/>
        </p:nvCxnSpPr>
        <p:spPr>
          <a:xfrm>
            <a:off x="457200" y="5286375.0"/>
            <a:ext cx="8229600" cy="0.0"/>
          </a:xfrm>
          <a:prstGeom prst="line">
            <a:avLst/>
          </a:prstGeom>
          <a:ln w="25400">
            <a:solidFill>
              <a:srgbClr val="EA580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EA580C"/>
                </a:solidFill>
                <a:latin typeface="Inter"/>
              </a:defRPr>
            </a:pPr>
            <a:r>
              <a:t>Logo Variation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nike_logo_3_20250829_152532_33b4298a.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Ideal for small sizes, watermarks, and applications requiring simplified brand representation.</a:t>
            </a:r>
          </a:p>
        </p:txBody>
      </p:sp>
      <p:cxnSp>
        <p:nvCxnSpPr>
          <p:cNvPr id="4" name="Connector 3"/>
          <p:cNvCxnSpPr/>
          <p:nvPr/>
        </p:nvCxnSpPr>
        <p:spPr>
          <a:xfrm>
            <a:off x="457200" y="5286375.0"/>
            <a:ext cx="8229600" cy="0.0"/>
          </a:xfrm>
          <a:prstGeom prst="line">
            <a:avLst/>
          </a:prstGeom>
          <a:ln w="25400">
            <a:solidFill>
              <a:srgbClr val="EA580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EA580C"/>
                </a:solidFill>
                <a:latin typeface="Inter"/>
              </a:defRPr>
            </a:pPr>
            <a:r>
              <a:t>Logo Variation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645920"/>
            <a:ext cx="1828800" cy="1371600"/>
          </a:xfrm>
          <a:prstGeom prst="rect">
            <a:avLst/>
          </a:prstGeom>
          <a:solidFill>
            <a:srgbClr val="E6394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54680" y="164592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Empower Red</a:t>
            </a:r>
          </a:p>
          <a:p>
            <a:pPr algn="l">
              <a:spcAft>
                <a:spcPts val="300"/>
              </a:spcAft>
              <a:defRPr sz="1000" b="0">
                <a:solidFill>
                  <a:srgbClr val="FFFFFF"/>
                </a:solidFill>
                <a:latin typeface="Source Sans Pro"/>
              </a:defRPr>
            </a:pPr>
            <a:r>
              <a:t>#E63946</a:t>
            </a:r>
          </a:p>
          <a:p>
            <a:pPr algn="l">
              <a:spcAft>
                <a:spcPts val="300"/>
              </a:spcAft>
              <a:defRPr sz="1000" b="0">
                <a:solidFill>
                  <a:srgbClr val="FFFFFF"/>
                </a:solidFill>
                <a:latin typeface="Source Sans Pro"/>
              </a:defRPr>
            </a:pPr>
            <a:r>
              <a:t>RGB(230, 57, 70)</a:t>
            </a:r>
          </a:p>
          <a:p>
            <a:pPr algn="l">
              <a:spcAft>
                <a:spcPts val="300"/>
              </a:spcAft>
              <a:defRPr sz="1000" b="0">
                <a:solidFill>
                  <a:srgbClr val="FFFFFF"/>
                </a:solidFill>
                <a:latin typeface="Source Sans Pro"/>
              </a:defRPr>
            </a:pPr>
            <a:r>
              <a:t>CMYK(0, 75, 69, 9)</a:t>
            </a:r>
          </a:p>
          <a:p>
            <a:pPr algn="l">
              <a:spcAft>
                <a:spcPts val="300"/>
              </a:spcAft>
              <a:defRPr sz="1000" b="0">
                <a:solidFill>
                  <a:srgbClr val="FFFFFF"/>
                </a:solidFill>
                <a:latin typeface="Source Sans Pro"/>
              </a:defRPr>
            </a:pPr>
            <a:r>
              <a:t>Use Dark Text</a:t>
            </a:r>
          </a:p>
        </p:txBody>
      </p:sp>
      <p:sp>
        <p:nvSpPr>
          <p:cNvPr id="4" name="Rectangle 3"/>
          <p:cNvSpPr/>
          <p:nvPr/>
        </p:nvSpPr>
        <p:spPr>
          <a:xfrm>
            <a:off x="4572000" y="1645920"/>
            <a:ext cx="1828800" cy="1371600"/>
          </a:xfrm>
          <a:prstGeom prst="rect">
            <a:avLst/>
          </a:prstGeom>
          <a:solidFill>
            <a:srgbClr val="6AB04C"/>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4592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Innovation Green</a:t>
            </a:r>
          </a:p>
          <a:p>
            <a:pPr algn="l">
              <a:spcAft>
                <a:spcPts val="300"/>
              </a:spcAft>
              <a:defRPr sz="1000" b="0">
                <a:solidFill>
                  <a:srgbClr val="FFFFFF"/>
                </a:solidFill>
                <a:latin typeface="Source Sans Pro"/>
              </a:defRPr>
            </a:pPr>
            <a:r>
              <a:t>#6AB04C</a:t>
            </a:r>
          </a:p>
          <a:p>
            <a:pPr algn="l">
              <a:spcAft>
                <a:spcPts val="300"/>
              </a:spcAft>
              <a:defRPr sz="1000" b="0">
                <a:solidFill>
                  <a:srgbClr val="FFFFFF"/>
                </a:solidFill>
                <a:latin typeface="Source Sans Pro"/>
              </a:defRPr>
            </a:pPr>
            <a:r>
              <a:t>RGB(106, 176, 76)</a:t>
            </a:r>
          </a:p>
          <a:p>
            <a:pPr algn="l">
              <a:spcAft>
                <a:spcPts val="300"/>
              </a:spcAft>
              <a:defRPr sz="1000" b="0">
                <a:solidFill>
                  <a:srgbClr val="FFFFFF"/>
                </a:solidFill>
                <a:latin typeface="Source Sans Pro"/>
              </a:defRPr>
            </a:pPr>
            <a:r>
              <a:t>CMYK(39, 0, 56, 30)</a:t>
            </a:r>
          </a:p>
          <a:p>
            <a:pPr algn="l">
              <a:spcAft>
                <a:spcPts val="300"/>
              </a:spcAft>
              <a:defRPr sz="1000" b="0">
                <a:solidFill>
                  <a:srgbClr val="FFFFFF"/>
                </a:solidFill>
                <a:latin typeface="Source Sans Pro"/>
              </a:defRPr>
            </a:pPr>
            <a:r>
              <a:t>Use Dark Text</a:t>
            </a:r>
          </a:p>
        </p:txBody>
      </p:sp>
      <p:sp>
        <p:nvSpPr>
          <p:cNvPr id="6" name="Rectangle 5"/>
          <p:cNvSpPr/>
          <p:nvPr/>
        </p:nvSpPr>
        <p:spPr>
          <a:xfrm>
            <a:off x="1143000" y="3726180"/>
            <a:ext cx="1828800" cy="1371600"/>
          </a:xfrm>
          <a:prstGeom prst="rect">
            <a:avLst/>
          </a:prstGeom>
          <a:solidFill>
            <a:srgbClr val="FFD16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54680" y="372618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Inspire Yellow</a:t>
            </a:r>
          </a:p>
          <a:p>
            <a:pPr algn="l">
              <a:spcAft>
                <a:spcPts val="300"/>
              </a:spcAft>
              <a:defRPr sz="1000" b="0">
                <a:solidFill>
                  <a:srgbClr val="FFFFFF"/>
                </a:solidFill>
                <a:latin typeface="Source Sans Pro"/>
              </a:defRPr>
            </a:pPr>
            <a:r>
              <a:t>#FFD166</a:t>
            </a:r>
          </a:p>
          <a:p>
            <a:pPr algn="l">
              <a:spcAft>
                <a:spcPts val="300"/>
              </a:spcAft>
              <a:defRPr sz="1000" b="0">
                <a:solidFill>
                  <a:srgbClr val="FFFFFF"/>
                </a:solidFill>
                <a:latin typeface="Source Sans Pro"/>
              </a:defRPr>
            </a:pPr>
            <a:r>
              <a:t>RGB(255, 209, 102)</a:t>
            </a:r>
          </a:p>
          <a:p>
            <a:pPr algn="l">
              <a:spcAft>
                <a:spcPts val="300"/>
              </a:spcAft>
              <a:defRPr sz="1000" b="0">
                <a:solidFill>
                  <a:srgbClr val="FFFFFF"/>
                </a:solidFill>
                <a:latin typeface="Source Sans Pro"/>
              </a:defRPr>
            </a:pPr>
            <a:r>
              <a:t>CMYK(0, 18, 60, 0)</a:t>
            </a:r>
          </a:p>
          <a:p>
            <a:pPr algn="l">
              <a:spcAft>
                <a:spcPts val="300"/>
              </a:spcAft>
              <a:defRPr sz="1000" b="0">
                <a:solidFill>
                  <a:srgbClr val="FFFFFF"/>
                </a:solidFill>
                <a:latin typeface="Source Sans Pro"/>
              </a:defRPr>
            </a:pPr>
            <a:r>
              <a:t>Use Dark Text</a:t>
            </a:r>
          </a:p>
        </p:txBody>
      </p:sp>
      <p:sp>
        <p:nvSpPr>
          <p:cNvPr id="8" name="Rectangle 7"/>
          <p:cNvSpPr/>
          <p:nvPr/>
        </p:nvSpPr>
        <p:spPr>
          <a:xfrm>
            <a:off x="4572000" y="3726180"/>
            <a:ext cx="1828800" cy="1371600"/>
          </a:xfrm>
          <a:prstGeom prst="rect">
            <a:avLst/>
          </a:prstGeom>
          <a:solidFill>
            <a:srgbClr val="5BC0E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372618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Unity Blue</a:t>
            </a:r>
          </a:p>
          <a:p>
            <a:pPr algn="l">
              <a:spcAft>
                <a:spcPts val="300"/>
              </a:spcAft>
              <a:defRPr sz="1000" b="0">
                <a:solidFill>
                  <a:srgbClr val="FFFFFF"/>
                </a:solidFill>
                <a:latin typeface="Source Sans Pro"/>
              </a:defRPr>
            </a:pPr>
            <a:r>
              <a:t>#5BC0EB</a:t>
            </a:r>
          </a:p>
          <a:p>
            <a:pPr algn="l">
              <a:spcAft>
                <a:spcPts val="300"/>
              </a:spcAft>
              <a:defRPr sz="1000" b="0">
                <a:solidFill>
                  <a:srgbClr val="FFFFFF"/>
                </a:solidFill>
                <a:latin typeface="Source Sans Pro"/>
              </a:defRPr>
            </a:pPr>
            <a:r>
              <a:t>RGB(91, 192, 235)</a:t>
            </a:r>
          </a:p>
          <a:p>
            <a:pPr algn="l">
              <a:spcAft>
                <a:spcPts val="300"/>
              </a:spcAft>
              <a:defRPr sz="1000" b="0">
                <a:solidFill>
                  <a:srgbClr val="FFFFFF"/>
                </a:solidFill>
                <a:latin typeface="Source Sans Pro"/>
              </a:defRPr>
            </a:pPr>
            <a:r>
              <a:t>CMYK(61, 18, 0, 7)</a:t>
            </a:r>
          </a:p>
          <a:p>
            <a:pPr algn="l">
              <a:spcAft>
                <a:spcPts val="300"/>
              </a:spcAft>
              <a:defRPr sz="1000" b="0">
                <a:solidFill>
                  <a:srgbClr val="FFFFFF"/>
                </a:solidFill>
                <a:latin typeface="Source Sans Pro"/>
              </a:defRPr>
            </a:pPr>
            <a:r>
              <a:t>Use Dark Text</a:t>
            </a:r>
          </a:p>
        </p:txBody>
      </p:sp>
      <p:cxnSp>
        <p:nvCxnSpPr>
          <p:cNvPr id="10" name="Connector 9"/>
          <p:cNvCxnSpPr/>
          <p:nvPr/>
        </p:nvCxnSpPr>
        <p:spPr>
          <a:xfrm>
            <a:off x="457200" y="5286375.0"/>
            <a:ext cx="8229600" cy="0.0"/>
          </a:xfrm>
          <a:prstGeom prst="line">
            <a:avLst/>
          </a:prstGeom>
          <a:ln w="25400">
            <a:solidFill>
              <a:srgbClr val="EA580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5560695"/>
            <a:ext cx="5486400" cy="731520"/>
          </a:xfrm>
          <a:prstGeom prst="rect">
            <a:avLst/>
          </a:prstGeom>
          <a:noFill/>
        </p:spPr>
        <p:txBody>
          <a:bodyPr wrap="none">
            <a:spAutoFit/>
          </a:bodyPr>
          <a:lstStyle/>
          <a:p>
            <a:pPr algn="l">
              <a:defRPr sz="2800" b="1">
                <a:solidFill>
                  <a:srgbClr val="EA580C"/>
                </a:solidFill>
                <a:latin typeface="Inter"/>
              </a:defRPr>
            </a:pPr>
            <a:r>
              <a:t>Primary Colors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571625"/>
            <a:ext cx="1828800" cy="914400"/>
          </a:xfrm>
          <a:prstGeom prst="rect">
            <a:avLst/>
          </a:prstGeom>
          <a:solidFill>
            <a:srgbClr val="F8F9F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Light Gray</a:t>
            </a:r>
          </a:p>
          <a:p>
            <a:pPr algn="ctr">
              <a:spcAft>
                <a:spcPts val="300"/>
              </a:spcAft>
              <a:defRPr sz="1000" b="0">
                <a:solidFill>
                  <a:srgbClr val="FFFFFF"/>
                </a:solidFill>
                <a:latin typeface="Source Sans Pro"/>
              </a:defRPr>
            </a:pPr>
            <a:r>
              <a:t>#F8F9FA</a:t>
            </a:r>
          </a:p>
          <a:p>
            <a:pPr algn="ctr">
              <a:spcAft>
                <a:spcPts val="300"/>
              </a:spcAft>
              <a:defRPr sz="1000" b="0">
                <a:solidFill>
                  <a:srgbClr val="FFFFFF"/>
                </a:solidFill>
                <a:latin typeface="Source Sans Pro"/>
              </a:defRPr>
            </a:pPr>
            <a:r>
              <a:t>Use Dark Text</a:t>
            </a:r>
          </a:p>
        </p:txBody>
      </p:sp>
      <p:sp>
        <p:nvSpPr>
          <p:cNvPr id="4" name="Rectangle 3"/>
          <p:cNvSpPr/>
          <p:nvPr/>
        </p:nvSpPr>
        <p:spPr>
          <a:xfrm>
            <a:off x="3200400" y="1571625"/>
            <a:ext cx="1828800" cy="914400"/>
          </a:xfrm>
          <a:prstGeom prst="rect">
            <a:avLst/>
          </a:prstGeom>
          <a:solidFill>
            <a:srgbClr val="001F3F"/>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Deep Navy</a:t>
            </a:r>
          </a:p>
          <a:p>
            <a:pPr algn="ctr">
              <a:spcAft>
                <a:spcPts val="300"/>
              </a:spcAft>
              <a:defRPr sz="1000" b="0">
                <a:solidFill>
                  <a:srgbClr val="FFFFFF"/>
                </a:solidFill>
                <a:latin typeface="Source Sans Pro"/>
              </a:defRPr>
            </a:pPr>
            <a:r>
              <a:t>#001F3F</a:t>
            </a:r>
          </a:p>
          <a:p>
            <a:pPr algn="ctr">
              <a:spcAft>
                <a:spcPts val="300"/>
              </a:spcAft>
              <a:defRPr sz="1000" b="0">
                <a:solidFill>
                  <a:srgbClr val="FFFFFF"/>
                </a:solidFill>
                <a:latin typeface="Source Sans Pro"/>
              </a:defRPr>
            </a:pPr>
            <a:r>
              <a:t>Use Light Text</a:t>
            </a:r>
          </a:p>
        </p:txBody>
      </p:sp>
      <p:sp>
        <p:nvSpPr>
          <p:cNvPr id="6" name="Rectangle 5"/>
          <p:cNvSpPr/>
          <p:nvPr/>
        </p:nvSpPr>
        <p:spPr>
          <a:xfrm>
            <a:off x="5257800" y="1571625"/>
            <a:ext cx="1828800" cy="914400"/>
          </a:xfrm>
          <a:prstGeom prst="rect">
            <a:avLst/>
          </a:prstGeom>
          <a:solidFill>
            <a:srgbClr val="FF9AA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Soft Pink</a:t>
            </a:r>
          </a:p>
          <a:p>
            <a:pPr algn="ctr">
              <a:spcAft>
                <a:spcPts val="300"/>
              </a:spcAft>
              <a:defRPr sz="1000" b="0">
                <a:solidFill>
                  <a:srgbClr val="FFFFFF"/>
                </a:solidFill>
                <a:latin typeface="Source Sans Pro"/>
              </a:defRPr>
            </a:pPr>
            <a:r>
              <a:t>#FF9AA2</a:t>
            </a:r>
          </a:p>
          <a:p>
            <a:pPr algn="ctr">
              <a:spcAft>
                <a:spcPts val="300"/>
              </a:spcAft>
              <a:defRPr sz="1000" b="0">
                <a:solidFill>
                  <a:srgbClr val="FFFFFF"/>
                </a:solidFill>
                <a:latin typeface="Source Sans Pro"/>
              </a:defRPr>
            </a:pPr>
            <a:r>
              <a:t>Use Dark Text</a:t>
            </a:r>
          </a:p>
        </p:txBody>
      </p:sp>
      <p:sp>
        <p:nvSpPr>
          <p:cNvPr id="8" name="Rectangle 7"/>
          <p:cNvSpPr/>
          <p:nvPr/>
        </p:nvSpPr>
        <p:spPr>
          <a:xfrm>
            <a:off x="2171700" y="3429000"/>
            <a:ext cx="1828800" cy="914400"/>
          </a:xfrm>
          <a:prstGeom prst="rect">
            <a:avLst/>
          </a:prstGeom>
          <a:solidFill>
            <a:srgbClr val="A8DADC"/>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17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Sage Green</a:t>
            </a:r>
          </a:p>
          <a:p>
            <a:pPr algn="ctr">
              <a:spcAft>
                <a:spcPts val="300"/>
              </a:spcAft>
              <a:defRPr sz="1000" b="0">
                <a:solidFill>
                  <a:srgbClr val="FFFFFF"/>
                </a:solidFill>
                <a:latin typeface="Source Sans Pro"/>
              </a:defRPr>
            </a:pPr>
            <a:r>
              <a:t>#A8DADC</a:t>
            </a:r>
          </a:p>
          <a:p>
            <a:pPr algn="ctr">
              <a:spcAft>
                <a:spcPts val="300"/>
              </a:spcAft>
              <a:defRPr sz="1000" b="0">
                <a:solidFill>
                  <a:srgbClr val="FFFFFF"/>
                </a:solidFill>
                <a:latin typeface="Source Sans Pro"/>
              </a:defRPr>
            </a:pPr>
            <a:r>
              <a:t>Use Dark Text</a:t>
            </a:r>
          </a:p>
        </p:txBody>
      </p:sp>
      <p:sp>
        <p:nvSpPr>
          <p:cNvPr id="10" name="Rectangle 9"/>
          <p:cNvSpPr/>
          <p:nvPr/>
        </p:nvSpPr>
        <p:spPr>
          <a:xfrm>
            <a:off x="4229100" y="3429000"/>
            <a:ext cx="1828800" cy="914400"/>
          </a:xfrm>
          <a:prstGeom prst="rect">
            <a:avLst/>
          </a:prstGeom>
          <a:solidFill>
            <a:srgbClr val="333333"/>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91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Charcoal</a:t>
            </a:r>
          </a:p>
          <a:p>
            <a:pPr algn="ctr">
              <a:spcAft>
                <a:spcPts val="300"/>
              </a:spcAft>
              <a:defRPr sz="1000" b="0">
                <a:solidFill>
                  <a:srgbClr val="FFFFFF"/>
                </a:solidFill>
                <a:latin typeface="Source Sans Pro"/>
              </a:defRPr>
            </a:pPr>
            <a:r>
              <a:t>#333333</a:t>
            </a:r>
          </a:p>
          <a:p>
            <a:pPr algn="ctr">
              <a:spcAft>
                <a:spcPts val="300"/>
              </a:spcAft>
              <a:defRPr sz="1000" b="0">
                <a:solidFill>
                  <a:srgbClr val="FFFFFF"/>
                </a:solidFill>
                <a:latin typeface="Source Sans Pro"/>
              </a:defRPr>
            </a:pPr>
            <a:r>
              <a:t>Use Light Text</a:t>
            </a:r>
          </a:p>
        </p:txBody>
      </p:sp>
      <p:cxnSp>
        <p:nvCxnSpPr>
          <p:cNvPr id="12" name="Connector 11"/>
          <p:cNvCxnSpPr/>
          <p:nvPr/>
        </p:nvCxnSpPr>
        <p:spPr>
          <a:xfrm>
            <a:off x="457200" y="5286375.0"/>
            <a:ext cx="8229600" cy="0.0"/>
          </a:xfrm>
          <a:prstGeom prst="line">
            <a:avLst/>
          </a:prstGeom>
          <a:ln w="25400">
            <a:solidFill>
              <a:srgbClr val="EA580C"/>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5560695"/>
            <a:ext cx="5486400" cy="731520"/>
          </a:xfrm>
          <a:prstGeom prst="rect">
            <a:avLst/>
          </a:prstGeom>
          <a:noFill/>
        </p:spPr>
        <p:txBody>
          <a:bodyPr wrap="none">
            <a:spAutoFit/>
          </a:bodyPr>
          <a:lstStyle/>
          <a:p>
            <a:pPr algn="l">
              <a:defRPr sz="2800" b="1">
                <a:solidFill>
                  <a:srgbClr val="EA580C"/>
                </a:solidFill>
                <a:latin typeface="Inter"/>
              </a:defRPr>
            </a:pPr>
            <a:r>
              <a:t>Secondary Colors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FFFFFF"/>
                </a:solidFill>
                <a:latin typeface="Source Sans Pro"/>
              </a:defRPr>
            </a:pPr>
            <a:r>
              <a:t>Primary Color Usage</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Use for brand-critical elements:</a:t>
            </a:r>
          </a:p>
          <a:p>
            <a:pPr algn="l">
              <a:spcAft>
                <a:spcPts val="600"/>
              </a:spcAft>
              <a:defRPr sz="1400" b="0">
                <a:solidFill>
                  <a:srgbClr val="FFFFFF"/>
                </a:solidFill>
                <a:latin typeface="Source Sans Pro"/>
              </a:defRPr>
            </a:pPr>
            <a:r>
              <a:t>• Logos and main brand marks</a:t>
            </a:r>
          </a:p>
          <a:p>
            <a:pPr algn="l">
              <a:spcAft>
                <a:spcPts val="600"/>
              </a:spcAft>
              <a:defRPr sz="1400" b="0">
                <a:solidFill>
                  <a:srgbClr val="FFFFFF"/>
                </a:solidFill>
                <a:latin typeface="Source Sans Pro"/>
              </a:defRPr>
            </a:pPr>
            <a:r>
              <a:t>• Headlines and key text</a:t>
            </a:r>
          </a:p>
          <a:p>
            <a:pPr algn="l">
              <a:spcAft>
                <a:spcPts val="600"/>
              </a:spcAft>
              <a:defRPr sz="1400" b="0">
                <a:solidFill>
                  <a:srgbClr val="FFFFFF"/>
                </a:solidFill>
                <a:latin typeface="Source Sans Pro"/>
              </a:defRPr>
            </a:pPr>
            <a:r>
              <a:t>• CTA buttons and navigation</a:t>
            </a:r>
          </a:p>
          <a:p>
            <a:pPr algn="l">
              <a:spcAft>
                <a:spcPts val="600"/>
              </a:spcAft>
              <a:defRPr sz="1400" b="0">
                <a:solidFill>
                  <a:srgbClr val="FFFFFF"/>
                </a:solidFill>
                <a:latin typeface="Source Sans Pro"/>
              </a:defRPr>
            </a:pPr>
            <a:r>
              <a:t>• Hero sections</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Colors: Empower Red, Innovation Green, Inspire Yellow, Unity Blue</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Best Practices:</a:t>
            </a:r>
          </a:p>
          <a:p>
            <a:pPr algn="l">
              <a:spcAft>
                <a:spcPts val="600"/>
              </a:spcAft>
              <a:defRPr sz="1400" b="0">
                <a:solidFill>
                  <a:srgbClr val="FFFFFF"/>
                </a:solidFill>
                <a:latin typeface="Source Sans Pro"/>
              </a:defRPr>
            </a:pPr>
            <a:r>
              <a:t>- Maximum brand recognition</a:t>
            </a:r>
          </a:p>
          <a:p>
            <a:pPr algn="l">
              <a:spcAft>
                <a:spcPts val="600"/>
              </a:spcAft>
              <a:defRPr sz="1400" b="0">
                <a:solidFill>
                  <a:srgbClr val="FFFFFF"/>
                </a:solidFill>
                <a:latin typeface="Source Sans Pro"/>
              </a:defRPr>
            </a:pPr>
            <a:r>
              <a:t>- Consistent application</a:t>
            </a:r>
          </a:p>
          <a:p>
            <a:pPr algn="l">
              <a:spcAft>
                <a:spcPts val="600"/>
              </a:spcAft>
              <a:defRPr sz="1400" b="0">
                <a:solidFill>
                  <a:srgbClr val="FFFFFF"/>
                </a:solidFill>
                <a:latin typeface="Source Sans Pro"/>
              </a:defRPr>
            </a:pPr>
            <a:r>
              <a:t>- Sufficient contrast</a:t>
            </a:r>
          </a:p>
          <a:p>
            <a:pPr algn="l">
              <a:spcAft>
                <a:spcPts val="600"/>
              </a:spcAft>
              <a:defRPr sz="1400" b="0">
                <a:solidFill>
                  <a:srgbClr val="FFFFFF"/>
                </a:solidFill>
                <a:latin typeface="Source Sans Pro"/>
              </a:defRPr>
            </a:pPr>
            <a:r>
              <a:t>- Accessibility compliance</a:t>
            </a:r>
          </a:p>
        </p:txBody>
      </p:sp>
      <p:cxnSp>
        <p:nvCxnSpPr>
          <p:cNvPr id="3" name="Connector 2"/>
          <p:cNvCxnSpPr/>
          <p:nvPr/>
        </p:nvCxnSpPr>
        <p:spPr>
          <a:xfrm>
            <a:off x="457200" y="5286375.0"/>
            <a:ext cx="8229600" cy="0.0"/>
          </a:xfrm>
          <a:prstGeom prst="line">
            <a:avLst/>
          </a:prstGeom>
          <a:ln w="25400">
            <a:solidFill>
              <a:srgbClr val="E6394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E63946"/>
                </a:solidFill>
                <a:latin typeface="Inter"/>
              </a:defRPr>
            </a:pPr>
            <a:r>
              <a:t>Color Usage 1/2</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Nike</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FFFFFF"/>
                </a:solidFill>
                <a:latin typeface="Source Sans Pro"/>
              </a:defRPr>
            </a:pPr>
            <a:r>
              <a:t>Secondary Color Usage</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Use for supporting elements:</a:t>
            </a:r>
          </a:p>
          <a:p>
            <a:pPr algn="l">
              <a:spcAft>
                <a:spcPts val="600"/>
              </a:spcAft>
              <a:defRPr sz="1400" b="0">
                <a:solidFill>
                  <a:srgbClr val="FFFFFF"/>
                </a:solidFill>
                <a:latin typeface="Source Sans Pro"/>
              </a:defRPr>
            </a:pPr>
            <a:r>
              <a:t>• Backgrounds and subtle accents</a:t>
            </a:r>
          </a:p>
          <a:p>
            <a:pPr algn="l">
              <a:spcAft>
                <a:spcPts val="600"/>
              </a:spcAft>
              <a:defRPr sz="1400" b="0">
                <a:solidFill>
                  <a:srgbClr val="FFFFFF"/>
                </a:solidFill>
                <a:latin typeface="Source Sans Pro"/>
              </a:defRPr>
            </a:pPr>
            <a:r>
              <a:t>• Secondary text</a:t>
            </a:r>
          </a:p>
          <a:p>
            <a:pPr algn="l">
              <a:spcAft>
                <a:spcPts val="600"/>
              </a:spcAft>
              <a:defRPr sz="1400" b="0">
                <a:solidFill>
                  <a:srgbClr val="FFFFFF"/>
                </a:solidFill>
                <a:latin typeface="Source Sans Pro"/>
              </a:defRPr>
            </a:pPr>
            <a:r>
              <a:t>• Borders and dividers</a:t>
            </a:r>
          </a:p>
          <a:p>
            <a:pPr algn="l">
              <a:spcAft>
                <a:spcPts val="600"/>
              </a:spcAft>
              <a:defRPr sz="1400" b="0">
                <a:solidFill>
                  <a:srgbClr val="FFFFFF"/>
                </a:solidFill>
                <a:latin typeface="Source Sans Pro"/>
              </a:defRPr>
            </a:pPr>
            <a:r>
              <a:t>• Hover states and icons</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Colors: Light Gray, Deep Navy, Soft Pink, Sage Green, Charcoal</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Best Practices:</a:t>
            </a:r>
          </a:p>
          <a:p>
            <a:pPr algn="l">
              <a:spcAft>
                <a:spcPts val="600"/>
              </a:spcAft>
              <a:defRPr sz="1400" b="0">
                <a:solidFill>
                  <a:srgbClr val="FFFFFF"/>
                </a:solidFill>
                <a:latin typeface="Source Sans Pro"/>
              </a:defRPr>
            </a:pPr>
            <a:r>
              <a:t>- Create visual hierarchy</a:t>
            </a:r>
          </a:p>
          <a:p>
            <a:pPr algn="l">
              <a:spcAft>
                <a:spcPts val="600"/>
              </a:spcAft>
              <a:defRPr sz="1400" b="0">
                <a:solidFill>
                  <a:srgbClr val="FFFFFF"/>
                </a:solidFill>
                <a:latin typeface="Source Sans Pro"/>
              </a:defRPr>
            </a:pPr>
            <a:r>
              <a:t>- Support, don't compete</a:t>
            </a:r>
          </a:p>
          <a:p>
            <a:pPr algn="l">
              <a:spcAft>
                <a:spcPts val="600"/>
              </a:spcAft>
              <a:defRPr sz="1400" b="0">
                <a:solidFill>
                  <a:srgbClr val="FFFFFF"/>
                </a:solidFill>
                <a:latin typeface="Source Sans Pro"/>
              </a:defRPr>
            </a:pPr>
            <a:r>
              <a:t>- Maintain readability</a:t>
            </a:r>
          </a:p>
          <a:p>
            <a:pPr algn="l">
              <a:spcAft>
                <a:spcPts val="600"/>
              </a:spcAft>
              <a:defRPr sz="1400" b="0">
                <a:solidFill>
                  <a:srgbClr val="FFFFFF"/>
                </a:solidFill>
                <a:latin typeface="Source Sans Pro"/>
              </a:defRPr>
            </a:pPr>
            <a:r>
              <a:t>- Use sparingly</a:t>
            </a:r>
          </a:p>
        </p:txBody>
      </p:sp>
      <p:cxnSp>
        <p:nvCxnSpPr>
          <p:cNvPr id="3" name="Connector 2"/>
          <p:cNvCxnSpPr/>
          <p:nvPr/>
        </p:nvCxnSpPr>
        <p:spPr>
          <a:xfrm>
            <a:off x="457200" y="5286375.0"/>
            <a:ext cx="8229600" cy="0.0"/>
          </a:xfrm>
          <a:prstGeom prst="line">
            <a:avLst/>
          </a:prstGeom>
          <a:ln w="25400">
            <a:solidFill>
              <a:srgbClr val="E6394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E63946"/>
                </a:solidFill>
                <a:latin typeface="Inter"/>
              </a:defRPr>
            </a:pPr>
            <a:r>
              <a:t>Color Usage 2/2</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Nike</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FFFFFF"/>
                </a:solidFill>
                <a:latin typeface="Inter"/>
              </a:defRPr>
            </a:pPr>
            <a:r>
              <a:t>Typography</a:t>
            </a:r>
          </a:p>
        </p:txBody>
      </p:sp>
      <p:sp>
        <p:nvSpPr>
          <p:cNvPr id="4" name="TextBox 3"/>
          <p:cNvSpPr txBox="1"/>
          <p:nvPr/>
        </p:nvSpPr>
        <p:spPr>
          <a:xfrm>
            <a:off x="1143000" y="1943100"/>
            <a:ext cx="3429000" cy="742950"/>
          </a:xfrm>
          <a:prstGeom prst="rect">
            <a:avLst/>
          </a:prstGeom>
          <a:noFill/>
        </p:spPr>
        <p:txBody>
          <a:bodyPr wrap="none">
            <a:spAutoFit/>
          </a:bodyPr>
          <a:lstStyle/>
          <a:p>
            <a:pPr>
              <a:defRPr sz="2000" b="0">
                <a:solidFill>
                  <a:srgbClr val="FFFFFF"/>
                </a:solidFill>
                <a:latin typeface="Source Sans Pro"/>
              </a:defRPr>
            </a:pPr>
            <a:r>
              <a:t>Primary Font: Inter</a:t>
            </a:r>
          </a:p>
        </p:txBody>
      </p:sp>
      <p:sp>
        <p:nvSpPr>
          <p:cNvPr id="5" name="TextBox 4"/>
          <p:cNvSpPr txBox="1"/>
          <p:nvPr/>
        </p:nvSpPr>
        <p:spPr>
          <a:xfrm>
            <a:off x="1143000" y="2686050"/>
            <a:ext cx="3429000" cy="742950"/>
          </a:xfrm>
          <a:prstGeom prst="rect">
            <a:avLst/>
          </a:prstGeom>
          <a:noFill/>
        </p:spPr>
        <p:txBody>
          <a:bodyPr wrap="none">
            <a:spAutoFit/>
          </a:bodyPr>
          <a:lstStyle/>
          <a:p>
            <a:pPr>
              <a:defRPr sz="3200" b="1">
                <a:solidFill>
                  <a:srgbClr val="FFFFFF"/>
                </a:solidFill>
                <a:latin typeface="Inter"/>
              </a:defRPr>
            </a:pPr>
            <a:r>
              <a:t>H1 Heading</a:t>
            </a:r>
          </a:p>
        </p:txBody>
      </p:sp>
      <p:sp>
        <p:nvSpPr>
          <p:cNvPr id="6" name="TextBox 5"/>
          <p:cNvSpPr txBox="1"/>
          <p:nvPr/>
        </p:nvSpPr>
        <p:spPr>
          <a:xfrm>
            <a:off x="1143000" y="3429000"/>
            <a:ext cx="3429000" cy="742950"/>
          </a:xfrm>
          <a:prstGeom prst="rect">
            <a:avLst/>
          </a:prstGeom>
          <a:noFill/>
        </p:spPr>
        <p:txBody>
          <a:bodyPr wrap="none">
            <a:spAutoFit/>
          </a:bodyPr>
          <a:lstStyle/>
          <a:p>
            <a:pPr>
              <a:defRPr sz="2400" b="1">
                <a:solidFill>
                  <a:srgbClr val="FFFFFF"/>
                </a:solidFill>
                <a:latin typeface="Inter"/>
              </a:defRPr>
            </a:pPr>
            <a:r>
              <a:t>H2 Heading</a:t>
            </a:r>
          </a:p>
        </p:txBody>
      </p:sp>
      <p:sp>
        <p:nvSpPr>
          <p:cNvPr id="7" name="TextBox 6"/>
          <p:cNvSpPr txBox="1"/>
          <p:nvPr/>
        </p:nvSpPr>
        <p:spPr>
          <a:xfrm>
            <a:off x="1143000" y="4171950"/>
            <a:ext cx="3429000" cy="742950"/>
          </a:xfrm>
          <a:prstGeom prst="rect">
            <a:avLst/>
          </a:prstGeom>
          <a:noFill/>
        </p:spPr>
        <p:txBody>
          <a:bodyPr wrap="none">
            <a:spAutoFit/>
          </a:bodyPr>
          <a:lstStyle/>
          <a:p>
            <a:pPr>
              <a:defRPr sz="2000" b="0">
                <a:solidFill>
                  <a:srgbClr val="FFFFFF"/>
                </a:solidFill>
                <a:latin typeface="Inter"/>
              </a:defRPr>
            </a:pPr>
            <a:r>
              <a:t>H3 Heading</a:t>
            </a:r>
          </a:p>
        </p:txBody>
      </p:sp>
      <p:sp>
        <p:nvSpPr>
          <p:cNvPr id="8" name="TextBox 7"/>
          <p:cNvSpPr txBox="1"/>
          <p:nvPr/>
        </p:nvSpPr>
        <p:spPr>
          <a:xfrm>
            <a:off x="5257800" y="1943100"/>
            <a:ext cx="3429000" cy="742950"/>
          </a:xfrm>
          <a:prstGeom prst="rect">
            <a:avLst/>
          </a:prstGeom>
          <a:noFill/>
        </p:spPr>
        <p:txBody>
          <a:bodyPr wrap="none">
            <a:spAutoFit/>
          </a:bodyPr>
          <a:lstStyle/>
          <a:p>
            <a:pPr>
              <a:defRPr sz="2000" b="0">
                <a:solidFill>
                  <a:srgbClr val="FFFFFF"/>
                </a:solidFill>
                <a:latin typeface="Source Sans Pro"/>
              </a:defRPr>
            </a:pPr>
            <a:r>
              <a:t>Secondary Font: Source Sans Pro</a:t>
            </a:r>
          </a:p>
        </p:txBody>
      </p:sp>
      <p:sp>
        <p:nvSpPr>
          <p:cNvPr id="9" name="TextBox 8"/>
          <p:cNvSpPr txBox="1"/>
          <p:nvPr/>
        </p:nvSpPr>
        <p:spPr>
          <a:xfrm>
            <a:off x="5257800" y="2686050"/>
            <a:ext cx="3429000" cy="742950"/>
          </a:xfrm>
          <a:prstGeom prst="rect">
            <a:avLst/>
          </a:prstGeom>
          <a:noFill/>
        </p:spPr>
        <p:txBody>
          <a:bodyPr wrap="none">
            <a:spAutoFit/>
          </a:bodyPr>
          <a:lstStyle/>
          <a:p>
            <a:pPr>
              <a:defRPr sz="1600" b="0">
                <a:solidFill>
                  <a:srgbClr val="FFFFFF"/>
                </a:solidFill>
                <a:latin typeface="Source Sans Pro"/>
              </a:defRPr>
            </a:pPr>
            <a:r>
              <a:t>Body Text</a:t>
            </a:r>
          </a:p>
        </p:txBody>
      </p:sp>
      <p:sp>
        <p:nvSpPr>
          <p:cNvPr id="10" name="TextBox 9"/>
          <p:cNvSpPr txBox="1"/>
          <p:nvPr/>
        </p:nvSpPr>
        <p:spPr>
          <a:xfrm>
            <a:off x="5257800" y="3429000"/>
            <a:ext cx="3429000" cy="742950"/>
          </a:xfrm>
          <a:prstGeom prst="rect">
            <a:avLst/>
          </a:prstGeom>
          <a:noFill/>
        </p:spPr>
        <p:txBody>
          <a:bodyPr wrap="none">
            <a:spAutoFit/>
          </a:bodyPr>
          <a:lstStyle/>
          <a:p>
            <a:pPr>
              <a:defRPr sz="1600" b="1">
                <a:solidFill>
                  <a:srgbClr val="FFFFFF"/>
                </a:solidFill>
                <a:latin typeface="Source Sans Pro"/>
              </a:defRPr>
            </a:pPr>
            <a:r>
              <a:t>Body Bold</a:t>
            </a:r>
          </a:p>
        </p:txBody>
      </p:sp>
      <p:sp>
        <p:nvSpPr>
          <p:cNvPr id="11" name="TextBox 10"/>
          <p:cNvSpPr txBox="1"/>
          <p:nvPr/>
        </p:nvSpPr>
        <p:spPr>
          <a:xfrm>
            <a:off x="5257800" y="4171950"/>
            <a:ext cx="3429000" cy="742950"/>
          </a:xfrm>
          <a:prstGeom prst="rect">
            <a:avLst/>
          </a:prstGeom>
          <a:noFill/>
        </p:spPr>
        <p:txBody>
          <a:bodyPr wrap="none">
            <a:spAutoFit/>
          </a:bodyPr>
          <a:lstStyle/>
          <a:p>
            <a:pPr>
              <a:defRPr sz="1200" b="0">
                <a:solidFill>
                  <a:srgbClr val="FFFFFF"/>
                </a:solidFill>
                <a:latin typeface="Source Sans Pro"/>
              </a:defRPr>
            </a:pPr>
            <a:r>
              <a:t>Caption Text</a:t>
            </a:r>
          </a:p>
        </p:txBody>
      </p:sp>
      <p:sp>
        <p:nvSpPr>
          <p:cNvPr id="12" name="TextBox 11"/>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Nike</a:t>
            </a:r>
          </a:p>
        </p:txBody>
      </p:sp>
      <p:sp>
        <p:nvSpPr>
          <p:cNvPr id="13" name="TextBox 12"/>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FFFFFF"/>
                </a:solidFill>
                <a:latin typeface="Inter"/>
              </a:defRPr>
            </a:pPr>
            <a:r>
              <a:t>Visual &amp; Photography Guidelines</a:t>
            </a:r>
          </a:p>
        </p:txBody>
      </p:sp>
      <p:sp>
        <p:nvSpPr>
          <p:cNvPr id="4" name="TextBox 3"/>
          <p:cNvSpPr txBox="1"/>
          <p:nvPr/>
        </p:nvSpPr>
        <p:spPr>
          <a:xfrm>
            <a:off x="1143000" y="1943100"/>
            <a:ext cx="3429000" cy="2971800"/>
          </a:xfrm>
          <a:prstGeom prst="rect">
            <a:avLst/>
          </a:prstGeom>
          <a:noFill/>
        </p:spPr>
        <p:txBody>
          <a:bodyPr wrap="square">
            <a:spAutoFit/>
          </a:bodyPr>
          <a:lstStyle/>
          <a:p>
            <a:pPr>
              <a:defRPr sz="1800" b="0">
                <a:solidFill>
                  <a:srgbClr val="FFFFFF"/>
                </a:solidFill>
                <a:latin typeface="Source Sans Pro"/>
              </a:defRPr>
            </a:pPr>
            <a:r>
              <a:t>Visual Style Guidelines:</a:t>
            </a:r>
          </a:p>
          <a:p>
            <a:pPr>
              <a:defRPr sz="1400" b="0">
                <a:solidFill>
                  <a:srgbClr val="FFFFFF"/>
                </a:solidFill>
                <a:latin typeface="Source Sans Pro"/>
              </a:defRPr>
            </a:pPr>
            <a:r>
              <a:t>• Visual style for Nike in Sportswear</a:t>
            </a:r>
          </a:p>
          <a:p>
            <a:pPr>
              <a:defRPr sz="1400" b="0">
                <a:solidFill>
                  <a:srgbClr val="FFFFFF"/>
                </a:solidFill>
                <a:latin typeface="Source Sans Pro"/>
              </a:defRPr>
            </a:pPr>
            <a:r>
              <a:t>• Footwear</a:t>
            </a:r>
          </a:p>
          <a:p>
            <a:pPr>
              <a:defRPr sz="1400" b="0">
                <a:solidFill>
                  <a:srgbClr val="FFFFFF"/>
                </a:solidFill>
                <a:latin typeface="Source Sans Pro"/>
              </a:defRPr>
            </a:pPr>
            <a:r>
              <a:t>• Apparel</a:t>
            </a:r>
          </a:p>
          <a:p>
            <a:pPr>
              <a:defRPr sz="1400" b="0">
                <a:solidFill>
                  <a:srgbClr val="FFFFFF"/>
                </a:solidFill>
                <a:latin typeface="Source Sans Pro"/>
              </a:defRPr>
            </a:pPr>
            <a:r>
              <a:t>• Lifestyle &amp; Fitness: Modern aesthetic</a:t>
            </a:r>
          </a:p>
          <a:p>
            <a:pPr>
              <a:defRPr sz="1400" b="0">
                <a:solidFill>
                  <a:srgbClr val="FFFFFF"/>
                </a:solidFill>
                <a:latin typeface="Source Sans Pro"/>
              </a:defRPr>
            </a:pPr>
            <a:r>
              <a:t>• values: Innovation</a:t>
            </a:r>
          </a:p>
        </p:txBody>
      </p:sp>
      <p:sp>
        <p:nvSpPr>
          <p:cNvPr id="5" name="TextBox 4"/>
          <p:cNvSpPr txBox="1"/>
          <p:nvPr/>
        </p:nvSpPr>
        <p:spPr>
          <a:xfrm>
            <a:off x="5257800" y="1943100"/>
            <a:ext cx="3429000" cy="2971800"/>
          </a:xfrm>
          <a:prstGeom prst="rect">
            <a:avLst/>
          </a:prstGeom>
          <a:noFill/>
        </p:spPr>
        <p:txBody>
          <a:bodyPr wrap="square">
            <a:spAutoFit/>
          </a:bodyPr>
          <a:lstStyle/>
          <a:p>
            <a:pPr>
              <a:defRPr sz="1800" b="0">
                <a:solidFill>
                  <a:srgbClr val="FFFFFF"/>
                </a:solidFill>
                <a:latin typeface="Source Sans Pro"/>
              </a:defRPr>
            </a:pPr>
            <a:r>
              <a:t>Photography Guidelines:</a:t>
            </a:r>
          </a:p>
          <a:p>
            <a:pPr>
              <a:defRPr sz="1400" b="0">
                <a:solidFill>
                  <a:srgbClr val="FFFFFF"/>
                </a:solidFill>
                <a:latin typeface="Source Sans Pro"/>
              </a:defRPr>
            </a:pPr>
            <a:r>
              <a:t>• Photography style for Nike: Modern and Sportswear</a:t>
            </a:r>
          </a:p>
          <a:p>
            <a:pPr>
              <a:defRPr sz="1400" b="0">
                <a:solidFill>
                  <a:srgbClr val="FFFFFF"/>
                </a:solidFill>
                <a:latin typeface="Source Sans Pro"/>
              </a:defRPr>
            </a:pPr>
            <a:r>
              <a:t>• Footwear</a:t>
            </a:r>
          </a:p>
          <a:p>
            <a:pPr>
              <a:defRPr sz="1400" b="0">
                <a:solidFill>
                  <a:srgbClr val="FFFFFF"/>
                </a:solidFill>
                <a:latin typeface="Source Sans Pro"/>
              </a:defRPr>
            </a:pPr>
            <a:r>
              <a:t>• Apparel</a:t>
            </a:r>
          </a:p>
          <a:p>
            <a:pPr>
              <a:defRPr sz="1400" b="0">
                <a:solidFill>
                  <a:srgbClr val="FFFFFF"/>
                </a:solidFill>
                <a:latin typeface="Source Sans Pro"/>
              </a:defRPr>
            </a:pPr>
            <a:r>
              <a:t>• Lifestyle &amp; Fitness feel. Show diversity</a:t>
            </a:r>
          </a:p>
          <a:p>
            <a:pPr>
              <a:defRPr sz="1400" b="0">
                <a:solidFill>
                  <a:srgbClr val="FFFFFF"/>
                </a:solidFill>
                <a:latin typeface="Source Sans Pro"/>
              </a:defRPr>
            </a:pPr>
            <a:r>
              <a:t>• authenticity</a:t>
            </a:r>
          </a:p>
        </p:txBody>
      </p:sp>
      <p:sp>
        <p:nvSpPr>
          <p:cNvPr id="6" name="Rectangle 5"/>
          <p:cNvSpPr/>
          <p:nvPr/>
        </p:nvSpPr>
        <p:spPr>
          <a:xfrm>
            <a:off x="52578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5162550"/>
            <a:ext cx="685800" cy="247650"/>
          </a:xfrm>
          <a:prstGeom prst="rect">
            <a:avLst/>
          </a:prstGeom>
          <a:noFill/>
        </p:spPr>
        <p:txBody>
          <a:bodyPr wrap="none">
            <a:spAutoFit/>
          </a:bodyPr>
          <a:lstStyle/>
          <a:p>
            <a:pPr algn="ctr">
              <a:defRPr sz="800" b="0">
                <a:solidFill>
                  <a:srgbClr val="FFFFFF"/>
                </a:solidFill>
                <a:latin typeface="Source Sans Pro"/>
              </a:defRPr>
            </a:pPr>
            <a:r>
              <a:t>Example</a:t>
            </a:r>
          </a:p>
        </p:txBody>
      </p:sp>
      <p:sp>
        <p:nvSpPr>
          <p:cNvPr id="8" name="Rectangle 7"/>
          <p:cNvSpPr/>
          <p:nvPr/>
        </p:nvSpPr>
        <p:spPr>
          <a:xfrm>
            <a:off x="66294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5162550"/>
            <a:ext cx="685800" cy="247650"/>
          </a:xfrm>
          <a:prstGeom prst="rect">
            <a:avLst/>
          </a:prstGeom>
          <a:noFill/>
        </p:spPr>
        <p:txBody>
          <a:bodyPr wrap="none">
            <a:spAutoFit/>
          </a:bodyPr>
          <a:lstStyle/>
          <a:p>
            <a:pPr algn="ctr">
              <a:defRPr sz="800" b="0">
                <a:solidFill>
                  <a:srgbClr val="FFFFFF"/>
                </a:solidFill>
                <a:latin typeface="Source Sans Pro"/>
              </a:defRPr>
            </a:pPr>
            <a:r>
              <a:t>Example</a:t>
            </a:r>
          </a:p>
        </p:txBody>
      </p:sp>
      <p:sp>
        <p:nvSpPr>
          <p:cNvPr id="10" name="Rectangle 9"/>
          <p:cNvSpPr/>
          <p:nvPr/>
        </p:nvSpPr>
        <p:spPr>
          <a:xfrm>
            <a:off x="80010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5162550"/>
            <a:ext cx="685800" cy="247650"/>
          </a:xfrm>
          <a:prstGeom prst="rect">
            <a:avLst/>
          </a:prstGeom>
          <a:noFill/>
        </p:spPr>
        <p:txBody>
          <a:bodyPr wrap="none">
            <a:spAutoFit/>
          </a:bodyPr>
          <a:lstStyle/>
          <a:p>
            <a:pPr algn="ctr">
              <a:defRPr sz="800" b="0">
                <a:solidFill>
                  <a:srgbClr val="FFFFFF"/>
                </a:solidFill>
                <a:latin typeface="Source Sans Pro"/>
              </a:defRPr>
            </a:pPr>
            <a:r>
              <a:t>Example</a:t>
            </a:r>
          </a:p>
        </p:txBody>
      </p:sp>
      <p:sp>
        <p:nvSpPr>
          <p:cNvPr id="12" name="TextBox 11"/>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Nike</a:t>
            </a:r>
          </a:p>
        </p:txBody>
      </p:sp>
      <p:sp>
        <p:nvSpPr>
          <p:cNvPr id="13" name="TextBox 12"/>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