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 name="Rounded Rectangle 14"/>
          <p:cNvSpPr/>
          <p:nvPr/>
        </p:nvSpPr>
        <p:spPr>
          <a:xfrm>
            <a:off x="6309360" y="4160520"/>
            <a:ext cx="1828800" cy="548640"/>
          </a:xfrm>
          <a:prstGeom prst="round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80560" y="3794760"/>
            <a:ext cx="1828800" cy="548640"/>
          </a:xfrm>
          <a:prstGeom prst="round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651760" y="4343400"/>
            <a:ext cx="1828800" cy="548640"/>
          </a:xfrm>
          <a:prstGeom prst="round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22960" y="4069080"/>
            <a:ext cx="1828800" cy="548640"/>
          </a:xfrm>
          <a:prstGeom prst="roundRect">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9144000" cy="6858000"/>
          </a:xfrm>
          <a:prstGeom prst="rect">
            <a:avLst/>
          </a:prstGeom>
          <a:gradFill rotWithShape="1">
            <a:gsLst>
              <a:gs pos="0">
                <a:srgbClr val="F59E0B"/>
              </a:gs>
              <a:gs pos="100000">
                <a:srgbClr val="374151"/>
              </a:gs>
            </a:gsLst>
            <a:lin scaled="0" ang="189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0" y="457200"/>
            <a:ext cx="2286000" cy="228600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5029200"/>
            <a:ext cx="1371600" cy="1371600"/>
          </a:xfrm>
          <a:prstGeom prst="ellipse">
            <a:avLst/>
          </a:prstGeom>
          <a:solidFill>
            <a:srgbClr val="3741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0" y="5486400"/>
            <a:ext cx="9144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7315200" cy="914400"/>
          </a:xfrm>
          <a:prstGeom prst="rect">
            <a:avLst/>
          </a:prstGeom>
          <a:noFill/>
        </p:spPr>
        <p:txBody>
          <a:bodyPr wrap="square">
            <a:spAutoFit/>
          </a:bodyPr>
          <a:lstStyle/>
          <a:p>
            <a:pPr>
              <a:defRPr sz="4800" b="1">
                <a:solidFill>
                  <a:srgbClr val="FFFFFF"/>
                </a:solidFill>
                <a:latin typeface="Montserrat"/>
              </a:defRPr>
            </a:pPr>
            <a:r>
              <a:t>Nike</a:t>
            </a:r>
          </a:p>
        </p:txBody>
      </p:sp>
      <p:sp>
        <p:nvSpPr>
          <p:cNvPr id="7" name="TextBox 6"/>
          <p:cNvSpPr txBox="1"/>
          <p:nvPr/>
        </p:nvSpPr>
        <p:spPr>
          <a:xfrm>
            <a:off x="914400" y="2743200"/>
            <a:ext cx="7315200" cy="914400"/>
          </a:xfrm>
          <a:prstGeom prst="rect">
            <a:avLst/>
          </a:prstGeom>
          <a:solidFill>
            <a:srgbClr val="FFFFFF"/>
          </a:solidFill>
        </p:spPr>
        <p:txBody>
          <a:bodyPr wrap="square">
            <a:spAutoFit/>
          </a:bodyPr>
          <a:lstStyle/>
          <a:p>
            <a:pPr>
              <a:defRPr sz="2800" b="1">
                <a:solidFill>
                  <a:srgbClr val="FFFFFF"/>
                </a:solidFill>
                <a:latin typeface="Montserrat"/>
              </a:defRPr>
            </a:pPr>
            <a:r>
              <a:t>Brand Book</a:t>
            </a:r>
          </a:p>
        </p:txBody>
      </p:sp>
      <p:sp>
        <p:nvSpPr>
          <p:cNvPr id="8" name="TextBox 7"/>
          <p:cNvSpPr txBox="1"/>
          <p:nvPr/>
        </p:nvSpPr>
        <p:spPr>
          <a:xfrm>
            <a:off x="914400" y="4114800"/>
            <a:ext cx="1645920" cy="457200"/>
          </a:xfrm>
          <a:prstGeom prst="rect">
            <a:avLst/>
          </a:prstGeom>
          <a:noFill/>
        </p:spPr>
        <p:txBody>
          <a:bodyPr wrap="none">
            <a:spAutoFit/>
          </a:bodyPr>
          <a:lstStyle/>
          <a:p>
            <a:pPr>
              <a:defRPr sz="1400" b="1">
                <a:solidFill>
                  <a:srgbClr val="FFFFFF"/>
                </a:solidFill>
                <a:latin typeface="Montserrat"/>
              </a:defRPr>
            </a:pPr>
            <a:r>
              <a:t>innovative</a:t>
            </a:r>
          </a:p>
        </p:txBody>
      </p:sp>
      <p:sp>
        <p:nvSpPr>
          <p:cNvPr id="10" name="TextBox 9"/>
          <p:cNvSpPr txBox="1"/>
          <p:nvPr/>
        </p:nvSpPr>
        <p:spPr>
          <a:xfrm>
            <a:off x="2743200" y="4389120"/>
            <a:ext cx="1645920" cy="457200"/>
          </a:xfrm>
          <a:prstGeom prst="rect">
            <a:avLst/>
          </a:prstGeom>
          <a:noFill/>
        </p:spPr>
        <p:txBody>
          <a:bodyPr wrap="none">
            <a:spAutoFit/>
          </a:bodyPr>
          <a:lstStyle/>
          <a:p>
            <a:pPr>
              <a:defRPr sz="1400" b="1">
                <a:solidFill>
                  <a:srgbClr val="FFFFFF"/>
                </a:solidFill>
                <a:latin typeface="Montserrat"/>
              </a:defRPr>
            </a:pPr>
            <a:r>
              <a:t>forward-thinking</a:t>
            </a:r>
          </a:p>
        </p:txBody>
      </p:sp>
      <p:sp>
        <p:nvSpPr>
          <p:cNvPr id="12" name="TextBox 11"/>
          <p:cNvSpPr txBox="1"/>
          <p:nvPr/>
        </p:nvSpPr>
        <p:spPr>
          <a:xfrm>
            <a:off x="4572000" y="3840480"/>
            <a:ext cx="1645920" cy="457200"/>
          </a:xfrm>
          <a:prstGeom prst="rect">
            <a:avLst/>
          </a:prstGeom>
          <a:noFill/>
        </p:spPr>
        <p:txBody>
          <a:bodyPr wrap="none">
            <a:spAutoFit/>
          </a:bodyPr>
          <a:lstStyle/>
          <a:p>
            <a:pPr>
              <a:defRPr sz="1400" b="1">
                <a:solidFill>
                  <a:srgbClr val="FFFFFF"/>
                </a:solidFill>
                <a:latin typeface="Montserrat"/>
              </a:defRPr>
            </a:pPr>
            <a:r>
              <a:t>creative</a:t>
            </a:r>
          </a:p>
        </p:txBody>
      </p:sp>
      <p:sp>
        <p:nvSpPr>
          <p:cNvPr id="14" name="TextBox 13"/>
          <p:cNvSpPr txBox="1"/>
          <p:nvPr/>
        </p:nvSpPr>
        <p:spPr>
          <a:xfrm>
            <a:off x="6400800" y="4206240"/>
            <a:ext cx="1645920" cy="457200"/>
          </a:xfrm>
          <a:prstGeom prst="rect">
            <a:avLst/>
          </a:prstGeom>
          <a:noFill/>
        </p:spPr>
        <p:txBody>
          <a:bodyPr wrap="none">
            <a:spAutoFit/>
          </a:bodyPr>
          <a:lstStyle/>
          <a:p>
            <a:pPr>
              <a:defRPr sz="1400" b="1">
                <a:solidFill>
                  <a:srgbClr val="FFFFFF"/>
                </a:solidFill>
                <a:latin typeface="Montserrat"/>
              </a:defRPr>
            </a:pPr>
            <a:r>
              <a:t>Innovation</a:t>
            </a:r>
          </a:p>
        </p:txBody>
      </p:sp>
      <p:pic>
        <p:nvPicPr>
          <p:cNvPr id="16" name="Picture 15" descr="nike_logo_1_20250827_000532_2b577f8f.png"/>
          <p:cNvPicPr>
            <a:picLocks noChangeAspect="1"/>
          </p:cNvPicPr>
          <p:nvPr/>
        </p:nvPicPr>
        <p:blipFill>
          <a:blip r:embed="rId2"/>
          <a:stretch>
            <a:fillRect/>
          </a:stretch>
        </p:blipFill>
        <p:spPr>
          <a:xfrm>
            <a:off x="6858000" y="914400"/>
            <a:ext cx="1371600" cy="1371600"/>
          </a:xfrm>
          <a:prstGeom prst="rect">
            <a:avLst/>
          </a:prstGeom>
        </p:spPr>
      </p:pic>
      <p:sp>
        <p:nvSpPr>
          <p:cNvPr id="17" name="Rectangle 16"/>
          <p:cNvSpPr/>
          <p:nvPr/>
        </p:nvSpPr>
        <p:spPr>
          <a:xfrm>
            <a:off x="914400" y="6217920"/>
            <a:ext cx="7315200" cy="91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3200" b="1">
                <a:solidFill>
                  <a:srgbClr val="F59E0B"/>
                </a:solidFill>
              </a:defRPr>
            </a:pPr>
            <a:r>
              <a:t>Table of Contents</a:t>
            </a:r>
          </a:p>
        </p:txBody>
      </p:sp>
      <p:sp>
        <p:nvSpPr>
          <p:cNvPr id="4" name="TextBox 3"/>
          <p:cNvSpPr txBox="1"/>
          <p:nvPr/>
        </p:nvSpPr>
        <p:spPr>
          <a:xfrm>
            <a:off x="914400" y="1828800"/>
            <a:ext cx="7315200" cy="4572000"/>
          </a:xfrm>
          <a:prstGeom prst="rect">
            <a:avLst/>
          </a:prstGeom>
          <a:noFill/>
        </p:spPr>
        <p:txBody>
          <a:bodyPr wrap="square">
            <a:spAutoFit/>
          </a:bodyPr>
          <a:lstStyle/>
          <a:p>
            <a:pPr>
              <a:defRPr sz="1600">
                <a:solidFill>
                  <a:srgbClr val="F59E0B"/>
                </a:solidFill>
              </a:defRPr>
            </a:pPr>
            <a:r>
              <a:rPr>
                <a:solidFill>
                  <a:srgbClr val="F59E0B"/>
                </a:solidFill>
              </a:rPr>
              <a:t>1. Table of Contents</a:t>
            </a:r>
          </a:p>
          <a:p>
            <a:pPr>
              <a:defRPr sz="1600">
                <a:solidFill>
                  <a:srgbClr val="F59E0B"/>
                </a:solidFill>
              </a:defRPr>
            </a:pPr>
            <a:r>
              <a:rPr>
                <a:solidFill>
                  <a:srgbClr val="F59E0B"/>
                </a:solidFill>
              </a:rPr>
              <a:t>2. Company Profile</a:t>
            </a:r>
          </a:p>
          <a:p>
            <a:pPr>
              <a:defRPr sz="1600">
                <a:solidFill>
                  <a:srgbClr val="F59E0B"/>
                </a:solidFill>
              </a:defRPr>
            </a:pPr>
            <a:r>
              <a:rPr>
                <a:solidFill>
                  <a:srgbClr val="F59E0B"/>
                </a:solidFill>
              </a:rPr>
              <a:t>3. Market Analysis &amp; Insights</a:t>
            </a:r>
          </a:p>
          <a:p>
            <a:pPr>
              <a:defRPr sz="1600">
                <a:solidFill>
                  <a:srgbClr val="F59E0B"/>
                </a:solidFill>
              </a:defRPr>
            </a:pPr>
            <a:r>
              <a:rPr>
                <a:solidFill>
                  <a:srgbClr val="F59E0B"/>
                </a:solidFill>
              </a:rPr>
              <a:t>4. Brand Positioning</a:t>
            </a:r>
          </a:p>
          <a:p>
            <a:pPr>
              <a:defRPr sz="1600">
                <a:solidFill>
                  <a:srgbClr val="F59E0B"/>
                </a:solidFill>
              </a:defRPr>
            </a:pPr>
            <a:r>
              <a:rPr>
                <a:solidFill>
                  <a:srgbClr val="F59E0B"/>
                </a:solidFill>
              </a:rPr>
              <a:t>5. Logo Variations</a:t>
            </a:r>
          </a:p>
          <a:p>
            <a:pPr>
              <a:defRPr sz="1600">
                <a:solidFill>
                  <a:srgbClr val="F59E0B"/>
                </a:solidFill>
              </a:defRPr>
            </a:pPr>
            <a:r>
              <a:rPr>
                <a:solidFill>
                  <a:srgbClr val="F59E0B"/>
                </a:solidFill>
              </a:rPr>
              <a:t>6. Color Palette</a:t>
            </a:r>
          </a:p>
          <a:p>
            <a:pPr>
              <a:defRPr sz="1600">
                <a:solidFill>
                  <a:srgbClr val="F59E0B"/>
                </a:solidFill>
              </a:defRPr>
            </a:pPr>
            <a:r>
              <a:rPr>
                <a:solidFill>
                  <a:srgbClr val="F59E0B"/>
                </a:solidFill>
              </a:rPr>
              <a:t>7. Typography</a:t>
            </a:r>
          </a:p>
          <a:p>
            <a:pPr>
              <a:defRPr sz="1600">
                <a:solidFill>
                  <a:srgbClr val="F59E0B"/>
                </a:solidFill>
              </a:defRPr>
            </a:pPr>
            <a:r>
              <a:rPr>
                <a:solidFill>
                  <a:srgbClr val="F59E0B"/>
                </a:solidFill>
              </a:rPr>
              <a:t>8. Visual &amp; Photography Guidelines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3200" b="1">
                <a:solidFill>
                  <a:srgbClr val="F59E0B"/>
                </a:solidFill>
              </a:defRPr>
            </a:pPr>
            <a:r>
              <a:t>Table of Contents (2)</a:t>
            </a:r>
          </a:p>
        </p:txBody>
      </p:sp>
      <p:sp>
        <p:nvSpPr>
          <p:cNvPr id="4" name="TextBox 3"/>
          <p:cNvSpPr txBox="1"/>
          <p:nvPr/>
        </p:nvSpPr>
        <p:spPr>
          <a:xfrm>
            <a:off x="914400" y="1828800"/>
            <a:ext cx="7315200" cy="4572000"/>
          </a:xfrm>
          <a:prstGeom prst="rect">
            <a:avLst/>
          </a:prstGeom>
          <a:noFill/>
        </p:spPr>
        <p:txBody>
          <a:bodyPr wrap="square">
            <a:spAutoFit/>
          </a:bodyPr>
          <a:lstStyle/>
          <a:p>
            <a:pPr>
              <a:defRPr sz="1600">
                <a:solidFill>
                  <a:srgbClr val="F59E0B"/>
                </a:solidFill>
              </a:defRPr>
            </a:pPr>
            <a:r>
              <a:rPr>
                <a:solidFill>
                  <a:srgbClr val="F59E0B"/>
                </a:solidFill>
              </a:rPr>
              <a:t>9. Brand Story &amp; Mission</a:t>
            </a:r>
          </a:p>
          <a:p>
            <a:pPr>
              <a:defRPr sz="1600">
                <a:solidFill>
                  <a:srgbClr val="F59E0B"/>
                </a:solidFill>
              </a:defRPr>
            </a:pPr>
            <a:r>
              <a:rPr>
                <a:solidFill>
                  <a:srgbClr val="F59E0B"/>
                </a:solidFill>
              </a:rPr>
              <a:t>10. Brand Voice &amp; Tone</a:t>
            </a:r>
          </a:p>
          <a:p>
            <a:pPr>
              <a:defRPr sz="1600">
                <a:solidFill>
                  <a:srgbClr val="F59E0B"/>
                </a:solidFill>
              </a:defRPr>
            </a:pPr>
            <a:r>
              <a:rPr>
                <a:solidFill>
                  <a:srgbClr val="F59E0B"/>
                </a:solidFill>
              </a:rPr>
              <a:t>11. Messaging &amp; Value Propositions</a:t>
            </a:r>
          </a:p>
          <a:p>
            <a:pPr>
              <a:defRPr sz="1600">
                <a:solidFill>
                  <a:srgbClr val="F59E0B"/>
                </a:solidFill>
              </a:defRPr>
            </a:pPr>
            <a:r>
              <a:rPr>
                <a:solidFill>
                  <a:srgbClr val="F59E0B"/>
                </a:solidFill>
              </a:rPr>
              <a:t>12. Marketing Copy</a:t>
            </a:r>
          </a:p>
          <a:p>
            <a:pPr>
              <a:defRPr sz="1600">
                <a:solidFill>
                  <a:srgbClr val="F59E0B"/>
                </a:solidFill>
              </a:defRPr>
            </a:pPr>
            <a:r>
              <a:rPr>
                <a:solidFill>
                  <a:srgbClr val="F59E0B"/>
                </a:solidFill>
              </a:rPr>
              <a:t>13. Brand Collateral Templates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Company Profile</a:t>
            </a:r>
          </a:p>
        </p:txBody>
      </p:sp>
      <p:sp>
        <p:nvSpPr>
          <p:cNvPr id="4" name="TextBox 3"/>
          <p:cNvSpPr txBox="1"/>
          <p:nvPr/>
        </p:nvSpPr>
        <p:spPr>
          <a:xfrm>
            <a:off x="914400" y="1828800"/>
            <a:ext cx="7315200" cy="4572000"/>
          </a:xfrm>
          <a:prstGeom prst="rect">
            <a:avLst/>
          </a:prstGeom>
          <a:noFill/>
        </p:spPr>
        <p:txBody>
          <a:bodyPr wrap="square">
            <a:spAutoFit/>
          </a:bodyPr>
          <a:lstStyle/>
          <a:p>
            <a:pPr>
              <a:defRPr sz="1400">
                <a:solidFill>
                  <a:srgbClr val="F59E0B"/>
                </a:solidFill>
              </a:defRPr>
            </a:pPr>
            <a:r>
              <a:rPr>
                <a:solidFill>
                  <a:srgbClr val="F59E0B"/>
                </a:solidFill>
              </a:rPr>
              <a:t>Company: Nike</a:t>
            </a:r>
          </a:p>
          <a:p>
            <a:pPr>
              <a:defRPr sz="1400">
                <a:solidFill>
                  <a:srgbClr val="F59E0B"/>
                </a:solidFill>
              </a:defRPr>
            </a:pPr>
            <a:r>
              <a:rPr>
                <a:solidFill>
                  <a:srgbClr val="F59E0B"/>
                </a:solidFill>
              </a:rPr>
              <a:t>Industry: Sportswear, Footwear, Apparel, Lifestyle &amp; Fitness</a:t>
            </a:r>
          </a:p>
          <a:p>
            <a:pPr>
              <a:defRPr sz="1400">
                <a:solidFill>
                  <a:srgbClr val="F59E0B"/>
                </a:solidFill>
              </a:defRPr>
            </a:pPr>
            <a:r>
              <a:rPr>
                <a:solidFill>
                  <a:srgbClr val="F59E0B"/>
                </a:solidFill>
              </a:rPr>
              <a:t>Target Audience: Athletes, Fitness enthusiasts, Sports teams, Urban youth, Lifestyle-focused consumers, Fashion-conscious individuals, Professional and amateur athletes, People seeking performance-driven and stylish sportswear.</a:t>
            </a:r>
          </a:p>
          <a:p>
            <a:pPr>
              <a:defRPr sz="1400">
                <a:solidFill>
                  <a:srgbClr val="F59E0B"/>
                </a:solidFill>
              </a:defRPr>
            </a:pPr>
          </a:p>
          <a:p>
            <a:pPr>
              <a:defRPr sz="1400">
                <a:solidFill>
                  <a:srgbClr val="F59E0B"/>
                </a:solidFill>
              </a:defRPr>
            </a:pPr>
            <a:r>
              <a:rPr>
                <a:solidFill>
                  <a:srgbClr val="F59E0B"/>
                </a:solidFill>
              </a:rPr>
              <a:t>Core Values:</a:t>
            </a:r>
          </a:p>
          <a:p>
            <a:pPr>
              <a:defRPr sz="1400">
                <a:solidFill>
                  <a:srgbClr val="F59E0B"/>
                </a:solidFill>
              </a:defRPr>
            </a:pPr>
            <a:r>
              <a:rPr>
                <a:solidFill>
                  <a:srgbClr val="F59E0B"/>
                </a:solidFill>
              </a:rPr>
              <a:t>• Innovation</a:t>
            </a:r>
          </a:p>
          <a:p>
            <a:pPr>
              <a:defRPr sz="1400">
                <a:solidFill>
                  <a:srgbClr val="F59E0B"/>
                </a:solidFill>
              </a:defRPr>
            </a:pPr>
            <a:r>
              <a:rPr>
                <a:solidFill>
                  <a:srgbClr val="F59E0B"/>
                </a:solidFill>
              </a:rPr>
              <a:t>• Performance</a:t>
            </a:r>
          </a:p>
          <a:p>
            <a:pPr>
              <a:defRPr sz="1400">
                <a:solidFill>
                  <a:srgbClr val="F59E0B"/>
                </a:solidFill>
              </a:defRPr>
            </a:pPr>
            <a:r>
              <a:rPr>
                <a:solidFill>
                  <a:srgbClr val="F59E0B"/>
                </a:solidFill>
              </a:rPr>
              <a:t>• Inspiration</a:t>
            </a:r>
          </a:p>
          <a:p>
            <a:pPr>
              <a:defRPr sz="1400">
                <a:solidFill>
                  <a:srgbClr val="F59E0B"/>
                </a:solidFill>
              </a:defRPr>
            </a:pPr>
            <a:r>
              <a:rPr>
                <a:solidFill>
                  <a:srgbClr val="F59E0B"/>
                </a:solidFill>
              </a:rPr>
              <a:t>• Empowerment</a:t>
            </a:r>
          </a:p>
          <a:p>
            <a:pPr>
              <a:defRPr sz="1400">
                <a:solidFill>
                  <a:srgbClr val="F59E0B"/>
                </a:solidFill>
              </a:defRPr>
            </a:pPr>
            <a:r>
              <a:rPr>
                <a:solidFill>
                  <a:srgbClr val="F59E0B"/>
                </a:solidFill>
              </a:rPr>
              <a:t>• Diversity</a:t>
            </a:r>
          </a:p>
          <a:p>
            <a:pPr>
              <a:defRPr sz="1400">
                <a:solidFill>
                  <a:srgbClr val="F59E0B"/>
                </a:solidFill>
              </a:defRPr>
            </a:pPr>
            <a:r>
              <a:rPr>
                <a:solidFill>
                  <a:srgbClr val="F59E0B"/>
                </a:solidFill>
              </a:rPr>
              <a:t>• Sustainability</a:t>
            </a:r>
          </a:p>
          <a:p>
            <a:pPr>
              <a:defRPr sz="1400">
                <a:solidFill>
                  <a:srgbClr val="F59E0B"/>
                </a:solidFill>
              </a:defRPr>
            </a:pPr>
            <a:r>
              <a:rPr>
                <a:solidFill>
                  <a:srgbClr val="F59E0B"/>
                </a:solidFill>
              </a:rPr>
              <a:t>• Authenticity</a:t>
            </a:r>
          </a:p>
          <a:p>
            <a:pPr>
              <a:defRPr sz="1400">
                <a:solidFill>
                  <a:srgbClr val="F59E0B"/>
                </a:solidFill>
              </a:defRPr>
            </a:pPr>
            <a:r>
              <a:rPr>
                <a:solidFill>
                  <a:srgbClr val="F59E0B"/>
                </a:solidFill>
              </a:rPr>
              <a:t>• Excellence</a:t>
            </a:r>
          </a:p>
          <a:p>
            <a:pPr>
              <a:defRPr sz="1400">
                <a:solidFill>
                  <a:srgbClr val="F59E0B"/>
                </a:solidFill>
              </a:defRPr>
            </a:pPr>
            <a:r>
              <a:rPr>
                <a:solidFill>
                  <a:srgbClr val="F59E0B"/>
                </a:solidFill>
              </a:rPr>
              <a:t>• Community</a:t>
            </a:r>
          </a:p>
          <a:p>
            <a:pPr>
              <a:defRPr sz="1400">
                <a:solidFill>
                  <a:srgbClr val="F59E0B"/>
                </a:solidFill>
              </a:defRPr>
            </a:pPr>
            <a:r>
              <a:rPr>
                <a:solidFill>
                  <a:srgbClr val="F59E0B"/>
                </a:solidFill>
              </a:rPr>
              <a:t>• Determination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Market Analysis &amp; Insights</a:t>
            </a:r>
          </a:p>
        </p:txBody>
      </p:sp>
      <p:sp>
        <p:nvSpPr>
          <p:cNvPr id="4" name="TextBox 3"/>
          <p:cNvSpPr txBox="1"/>
          <p:nvPr/>
        </p:nvSpPr>
        <p:spPr>
          <a:xfrm>
            <a:off x="914400" y="1828800"/>
            <a:ext cx="7315200" cy="4572000"/>
          </a:xfrm>
          <a:prstGeom prst="rect">
            <a:avLst/>
          </a:prstGeom>
          <a:noFill/>
        </p:spPr>
        <p:txBody>
          <a:bodyPr wrap="square">
            <a:spAutoFit/>
          </a:bodyPr>
          <a:lstStyle/>
          <a:p>
            <a:pPr>
              <a:defRPr sz="1400">
                <a:solidFill>
                  <a:srgbClr val="F59E0B"/>
                </a:solidFill>
              </a:defRPr>
            </a:pPr>
            <a:r>
              <a:rPr>
                <a:solidFill>
                  <a:srgbClr val="F59E0B"/>
                </a:solidFill>
              </a:rPr>
              <a:t>Industry Trends:</a:t>
            </a:r>
          </a:p>
          <a:p>
            <a:pPr>
              <a:defRPr sz="1400">
                <a:solidFill>
                  <a:srgbClr val="F59E0B"/>
                </a:solidFill>
              </a:defRPr>
            </a:pPr>
            <a:r>
              <a:rPr>
                <a:solidFill>
                  <a:srgbClr val="F59E0B"/>
                </a:solidFill>
              </a:rPr>
              <a:t>• Trend 1: Sustainable and Eco-Friendly Fabrics · Trend 2: Smart Activewear with Embedded Technology · Trend 3: Inclusive Sizing and Adaptive Design</a:t>
            </a:r>
          </a:p>
          <a:p>
            <a:pPr>
              <a:defRPr sz="1400">
                <a:solidFill>
                  <a:srgbClr val="F59E0B"/>
                </a:solidFill>
              </a:defRPr>
            </a:pPr>
            <a:r>
              <a:rPr>
                <a:solidFill>
                  <a:srgbClr val="F59E0B"/>
                </a:solidFill>
              </a:rPr>
              <a:t>• Trendy Activewear Accessory Palette (5 color</a:t>
            </a:r>
          </a:p>
          <a:p>
            <a:pPr>
              <a:defRPr sz="1400">
                <a:solidFill>
                  <a:srgbClr val="F59E0B"/>
                </a:solidFill>
              </a:defRPr>
            </a:pPr>
            <a:r>
              <a:rPr>
                <a:solidFill>
                  <a:srgbClr val="F59E0B"/>
                </a:solidFill>
              </a:rPr>
              <a:t>• new website for Squash club Clean, modern design.</a:t>
            </a:r>
          </a:p>
          <a:p>
            <a:pPr>
              <a:defRPr sz="1400">
                <a:solidFill>
                  <a:srgbClr val="F59E0B"/>
                </a:solidFill>
              </a:defRPr>
            </a:pPr>
            <a:r>
              <a:rPr>
                <a:solidFill>
                  <a:srgbClr val="F59E0B"/>
                </a:solidFill>
              </a:rPr>
              <a:t>• Trends Website Design</a:t>
            </a:r>
          </a:p>
          <a:p>
            <a:pPr>
              <a:defRPr sz="1400">
                <a:solidFill>
                  <a:srgbClr val="F59E0B"/>
                </a:solidFill>
              </a:defRPr>
            </a:pPr>
          </a:p>
          <a:p>
            <a:pPr>
              <a:defRPr sz="1400">
                <a:solidFill>
                  <a:srgbClr val="F59E0B"/>
                </a:solidFill>
              </a:defRPr>
            </a:pPr>
            <a:r>
              <a:rPr>
                <a:solidFill>
                  <a:srgbClr val="F59E0B"/>
                </a:solidFill>
              </a:rPr>
              <a:t>Key Competitors:</a:t>
            </a:r>
          </a:p>
          <a:p>
            <a:pPr>
              <a:defRPr sz="1400">
                <a:solidFill>
                  <a:srgbClr val="F59E0B"/>
                </a:solidFill>
              </a:defRPr>
            </a:pPr>
            <a:r>
              <a:rPr>
                <a:solidFill>
                  <a:srgbClr val="F59E0B"/>
                </a:solidFill>
              </a:rPr>
              <a:t>Target Market, DesignRush Home, What Is, Top Sportswear, Top, Custom Fitness</a:t>
            </a:r>
          </a:p>
          <a:p>
            <a:pPr>
              <a:defRPr sz="1400">
                <a:solidFill>
                  <a:srgbClr val="F59E0B"/>
                </a:solidFill>
              </a:defRPr>
            </a:pPr>
          </a:p>
          <a:p>
            <a:pPr>
              <a:defRPr sz="1400">
                <a:solidFill>
                  <a:srgbClr val="F59E0B"/>
                </a:solidFill>
              </a:defRPr>
            </a:pPr>
            <a:r>
              <a:rPr>
                <a:solidFill>
                  <a:srgbClr val="F59E0B"/>
                </a:solidFill>
              </a:rPr>
              <a:t>Popular Design Styles: professional, bold, creative, clean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Brand Positioning</a:t>
            </a:r>
          </a:p>
        </p:txBody>
      </p:sp>
      <p:sp>
        <p:nvSpPr>
          <p:cNvPr id="4" name="TextBox 3"/>
          <p:cNvSpPr txBox="1"/>
          <p:nvPr/>
        </p:nvSpPr>
        <p:spPr>
          <a:xfrm>
            <a:off x="914400" y="1828800"/>
            <a:ext cx="7315200" cy="4572000"/>
          </a:xfrm>
          <a:prstGeom prst="rect">
            <a:avLst/>
          </a:prstGeom>
          <a:noFill/>
        </p:spPr>
        <p:txBody>
          <a:bodyPr wrap="square">
            <a:spAutoFit/>
          </a:bodyPr>
          <a:lstStyle/>
          <a:p>
            <a:pPr>
              <a:defRPr sz="1400">
                <a:solidFill>
                  <a:srgbClr val="F59E0B"/>
                </a:solidFill>
              </a:defRPr>
            </a:pPr>
            <a:r>
              <a:rPr>
                <a:solidFill>
                  <a:srgbClr val="F59E0B"/>
                </a:solidFill>
              </a:rPr>
              <a:t>Unique Value Proposition:</a:t>
            </a:r>
          </a:p>
          <a:p>
            <a:pPr>
              <a:defRPr sz="1400">
                <a:solidFill>
                  <a:srgbClr val="F59E0B"/>
                </a:solidFill>
              </a:defRPr>
            </a:pPr>
            <a:r>
              <a:rPr>
                <a:solidFill>
                  <a:srgbClr val="F59E0B"/>
                </a:solidFill>
              </a:rPr>
              <a:t>Distinctive Sportswear, Footwear, Apparel, Lifestyle &amp; Fitness solution focused on Athletes, Fitness enthusiasts, Sports teams, Urban youth, Lifestyle-focused consumers, Fashion-conscious individuals, Professional and amateur athletes, People seeking performance-driven and stylish sportswear.</a:t>
            </a:r>
          </a:p>
          <a:p>
            <a:pPr>
              <a:defRPr sz="1400">
                <a:solidFill>
                  <a:srgbClr val="F59E0B"/>
                </a:solidFill>
              </a:defRPr>
            </a:pPr>
          </a:p>
          <a:p>
            <a:pPr>
              <a:defRPr sz="1400">
                <a:solidFill>
                  <a:srgbClr val="F59E0B"/>
                </a:solidFill>
              </a:defRPr>
            </a:pPr>
            <a:r>
              <a:rPr>
                <a:solidFill>
                  <a:srgbClr val="F59E0B"/>
                </a:solidFill>
              </a:rPr>
              <a:t>Brand Promise:</a:t>
            </a:r>
          </a:p>
          <a:p>
            <a:pPr>
              <a:defRPr sz="1400">
                <a:solidFill>
                  <a:srgbClr val="F59E0B"/>
                </a:solidFill>
              </a:defRPr>
            </a:pPr>
            <a:r>
              <a:rPr>
                <a:solidFill>
                  <a:srgbClr val="F59E0B"/>
                </a:solidFill>
              </a:rPr>
              <a:t>Empowering Athletes, Fitness enthusiasts, Sports teams, Urban youth, Lifestyle-focused consumers, Fashion-conscious individuals, Professional and amateur athletes, People seeking performance-driven and stylish sportswear. through innovative Sportswear, Footwear, Apparel, Lifestyle &amp; Fitness solutions</a:t>
            </a:r>
          </a:p>
          <a:p>
            <a:pPr>
              <a:defRPr sz="1400">
                <a:solidFill>
                  <a:srgbClr val="F59E0B"/>
                </a:solidFill>
              </a:defRPr>
            </a:pPr>
          </a:p>
          <a:p>
            <a:pPr>
              <a:defRPr sz="1400">
                <a:solidFill>
                  <a:srgbClr val="F59E0B"/>
                </a:solidFill>
              </a:defRPr>
            </a:pPr>
            <a:r>
              <a:rPr>
                <a:solidFill>
                  <a:srgbClr val="F59E0B"/>
                </a:solidFill>
              </a:rPr>
              <a:t>Brand Personality:</a:t>
            </a:r>
          </a:p>
          <a:p>
            <a:pPr>
              <a:defRPr sz="1400">
                <a:solidFill>
                  <a:srgbClr val="F59E0B"/>
                </a:solidFill>
              </a:defRPr>
            </a:pPr>
            <a:r>
              <a:rPr>
                <a:solidFill>
                  <a:srgbClr val="F59E0B"/>
                </a:solidFill>
              </a:rPr>
              <a:t>innovative, forward-thinking, creative, responsible, eco-friendly</a:t>
            </a:r>
          </a:p>
          <a:p>
            <a:pPr>
              <a:defRPr sz="1400">
                <a:solidFill>
                  <a:srgbClr val="F59E0B"/>
                </a:solidFill>
              </a:defRPr>
            </a:pPr>
          </a:p>
          <a:p>
            <a:pPr>
              <a:defRPr sz="1400">
                <a:solidFill>
                  <a:srgbClr val="F59E0B"/>
                </a:solidFill>
              </a:defRPr>
            </a:pPr>
            <a:r>
              <a:rPr>
                <a:solidFill>
                  <a:srgbClr val="F59E0B"/>
                </a:solidFill>
              </a:rPr>
              <a:t>Competitive Advantage:</a:t>
            </a:r>
          </a:p>
          <a:p>
            <a:pPr>
              <a:defRPr sz="1400">
                <a:solidFill>
                  <a:srgbClr val="F59E0B"/>
                </a:solidFill>
              </a:defRPr>
            </a:pPr>
            <a:r>
              <a:rPr>
                <a:solidFill>
                  <a:srgbClr val="F59E0B"/>
                </a:solidFill>
              </a:rPr>
              <a:t>User-centric design approach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Logo Variations (3 designs)</a:t>
            </a:r>
          </a:p>
        </p:txBody>
      </p:sp>
      <p:sp>
        <p:nvSpPr>
          <p:cNvPr id="4" name="Rectangle 3"/>
          <p:cNvSpPr/>
          <p:nvPr/>
        </p:nvSpPr>
        <p:spPr>
          <a:xfrm>
            <a:off x="777240" y="2148840"/>
            <a:ext cx="2286000" cy="2286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ike_logo_1_20250827_000532_2b577f8f.png"/>
          <p:cNvPicPr>
            <a:picLocks noChangeAspect="1"/>
          </p:cNvPicPr>
          <p:nvPr/>
        </p:nvPicPr>
        <p:blipFill>
          <a:blip r:embed="rId2"/>
          <a:stretch>
            <a:fillRect/>
          </a:stretch>
        </p:blipFill>
        <p:spPr>
          <a:xfrm>
            <a:off x="914400" y="2286000"/>
            <a:ext cx="2011680" cy="2011680"/>
          </a:xfrm>
          <a:prstGeom prst="rect">
            <a:avLst/>
          </a:prstGeom>
        </p:spPr>
      </p:pic>
      <p:sp>
        <p:nvSpPr>
          <p:cNvPr id="6" name="Rectangle 5"/>
          <p:cNvSpPr/>
          <p:nvPr/>
        </p:nvSpPr>
        <p:spPr>
          <a:xfrm>
            <a:off x="3154680" y="2148840"/>
            <a:ext cx="2286000" cy="2286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ike_logo_2_20250827_000550_de68f62d.png"/>
          <p:cNvPicPr>
            <a:picLocks noChangeAspect="1"/>
          </p:cNvPicPr>
          <p:nvPr/>
        </p:nvPicPr>
        <p:blipFill>
          <a:blip r:embed="rId3"/>
          <a:stretch>
            <a:fillRect/>
          </a:stretch>
        </p:blipFill>
        <p:spPr>
          <a:xfrm>
            <a:off x="3291840" y="2286000"/>
            <a:ext cx="2011680" cy="2011680"/>
          </a:xfrm>
          <a:prstGeom prst="rect">
            <a:avLst/>
          </a:prstGeom>
        </p:spPr>
      </p:pic>
      <p:sp>
        <p:nvSpPr>
          <p:cNvPr id="8" name="Rectangle 7"/>
          <p:cNvSpPr/>
          <p:nvPr/>
        </p:nvSpPr>
        <p:spPr>
          <a:xfrm>
            <a:off x="5532120" y="2148840"/>
            <a:ext cx="2286000" cy="2286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nike_logo_3_20250827_000608_c4ba05ca.png"/>
          <p:cNvPicPr>
            <a:picLocks noChangeAspect="1"/>
          </p:cNvPicPr>
          <p:nvPr/>
        </p:nvPicPr>
        <p:blipFill>
          <a:blip r:embed="rId4"/>
          <a:stretch>
            <a:fillRect/>
          </a:stretch>
        </p:blipFill>
        <p:spPr>
          <a:xfrm>
            <a:off x="5669280" y="2286000"/>
            <a:ext cx="2011680" cy="20116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Color Palette</a:t>
            </a:r>
          </a:p>
        </p:txBody>
      </p:sp>
      <p:sp>
        <p:nvSpPr>
          <p:cNvPr id="4" name="Rectangle 3"/>
          <p:cNvSpPr/>
          <p:nvPr/>
        </p:nvSpPr>
        <p:spPr>
          <a:xfrm>
            <a:off x="914400" y="1371600"/>
            <a:ext cx="1371600" cy="914400"/>
          </a:xfrm>
          <a:prstGeom prst="rect">
            <a:avLst/>
          </a:prstGeom>
          <a:solidFill>
            <a:srgbClr val="F59E0B"/>
          </a:solidFill>
        </p:spPr>
        <p:style>
          <a:lnRef idx="1">
            <a:schemeClr val="accent1"/>
          </a:lnRef>
          <a:fillRef idx="3">
            <a:schemeClr val="accent1"/>
          </a:fillRef>
          <a:effectRef idx="2">
            <a:schemeClr val="accent1"/>
          </a:effectRef>
          <a:fontRef idx="minor">
            <a:schemeClr val="lt1"/>
          </a:fontRef>
        </p:style>
        <p:txBody>
          <a:bodyPr rtlCol="0" anchor="ctr"/>
          <a:lstStyle/>
          <a:p>
            <a:pPr>
              <a:defRPr sz="1200" b="1">
                <a:solidFill>
                  <a:srgbClr val="FFFFFF"/>
                </a:solidFill>
              </a:defRPr>
            </a:pPr>
            <a:r>
              <a:t>Primary</a:t>
            </a:r>
          </a:p>
          <a:p>
            <a:pPr>
              <a:defRPr sz="1200" b="1">
                <a:solidFill>
                  <a:srgbClr val="FFFFFF"/>
                </a:solidFill>
              </a:defRPr>
            </a:pPr>
            <a:r>
              <a:t>#F59E0B</a:t>
            </a:r>
          </a:p>
        </p:txBody>
      </p:sp>
      <p:sp>
        <p:nvSpPr>
          <p:cNvPr id="5" name="Rectangle 4"/>
          <p:cNvSpPr/>
          <p:nvPr/>
        </p:nvSpPr>
        <p:spPr>
          <a:xfrm>
            <a:off x="2560320" y="1371600"/>
            <a:ext cx="1371600" cy="914400"/>
          </a:xfrm>
          <a:prstGeom prst="rect">
            <a:avLst/>
          </a:prstGeom>
          <a:solidFill>
            <a:srgbClr val="1E40AF"/>
          </a:solidFill>
        </p:spPr>
        <p:style>
          <a:lnRef idx="1">
            <a:schemeClr val="accent1"/>
          </a:lnRef>
          <a:fillRef idx="3">
            <a:schemeClr val="accent1"/>
          </a:fillRef>
          <a:effectRef idx="2">
            <a:schemeClr val="accent1"/>
          </a:effectRef>
          <a:fontRef idx="minor">
            <a:schemeClr val="lt1"/>
          </a:fontRef>
        </p:style>
        <p:txBody>
          <a:bodyPr rtlCol="0" anchor="ctr"/>
          <a:lstStyle/>
          <a:p>
            <a:pPr>
              <a:defRPr sz="1200" b="1">
                <a:solidFill>
                  <a:srgbClr val="FFFFFF"/>
                </a:solidFill>
              </a:defRPr>
            </a:pPr>
            <a:r>
              <a:t>Secondary</a:t>
            </a:r>
          </a:p>
          <a:p>
            <a:pPr>
              <a:defRPr sz="1200" b="1">
                <a:solidFill>
                  <a:srgbClr val="FFFFFF"/>
                </a:solidFill>
              </a:defRPr>
            </a:pPr>
            <a:r>
              <a:t>#1E40AF</a:t>
            </a:r>
          </a:p>
        </p:txBody>
      </p:sp>
      <p:sp>
        <p:nvSpPr>
          <p:cNvPr id="6" name="Rectangle 5"/>
          <p:cNvSpPr/>
          <p:nvPr/>
        </p:nvSpPr>
        <p:spPr>
          <a:xfrm>
            <a:off x="4206240" y="1371600"/>
            <a:ext cx="1371600" cy="914400"/>
          </a:xfrm>
          <a:prstGeom prst="rect">
            <a:avLst/>
          </a:prstGeom>
          <a:solidFill>
            <a:srgbClr val="374151"/>
          </a:solidFill>
        </p:spPr>
        <p:style>
          <a:lnRef idx="1">
            <a:schemeClr val="accent1"/>
          </a:lnRef>
          <a:fillRef idx="3">
            <a:schemeClr val="accent1"/>
          </a:fillRef>
          <a:effectRef idx="2">
            <a:schemeClr val="accent1"/>
          </a:effectRef>
          <a:fontRef idx="minor">
            <a:schemeClr val="lt1"/>
          </a:fontRef>
        </p:style>
        <p:txBody>
          <a:bodyPr rtlCol="0" anchor="ctr"/>
          <a:lstStyle/>
          <a:p>
            <a:pPr>
              <a:defRPr sz="1200" b="1">
                <a:solidFill>
                  <a:srgbClr val="FFFFFF"/>
                </a:solidFill>
              </a:defRPr>
            </a:pPr>
            <a:r>
              <a:t>Accent</a:t>
            </a:r>
          </a:p>
          <a:p>
            <a:pPr>
              <a:defRPr sz="1200" b="1">
                <a:solidFill>
                  <a:srgbClr val="FFFFFF"/>
                </a:solidFill>
              </a:defRPr>
            </a:pPr>
            <a:r>
              <a:t>#374151</a:t>
            </a:r>
          </a:p>
        </p:txBody>
      </p:sp>
      <p:sp>
        <p:nvSpPr>
          <p:cNvPr id="7" name="Rectangle 6"/>
          <p:cNvSpPr/>
          <p:nvPr/>
        </p:nvSpPr>
        <p:spPr>
          <a:xfrm>
            <a:off x="5852160" y="1371600"/>
            <a:ext cx="1371600" cy="914400"/>
          </a:xfrm>
          <a:prstGeom prst="rect">
            <a:avLst/>
          </a:prstGeom>
          <a:solidFill>
            <a:srgbClr val="D97706"/>
          </a:solidFill>
        </p:spPr>
        <p:style>
          <a:lnRef idx="1">
            <a:schemeClr val="accent1"/>
          </a:lnRef>
          <a:fillRef idx="3">
            <a:schemeClr val="accent1"/>
          </a:fillRef>
          <a:effectRef idx="2">
            <a:schemeClr val="accent1"/>
          </a:effectRef>
          <a:fontRef idx="minor">
            <a:schemeClr val="lt1"/>
          </a:fontRef>
        </p:style>
        <p:txBody>
          <a:bodyPr rtlCol="0" anchor="ctr"/>
          <a:lstStyle/>
          <a:p>
            <a:pPr>
              <a:defRPr sz="1200" b="1">
                <a:solidFill>
                  <a:srgbClr val="FFFFFF"/>
                </a:solidFill>
              </a:defRPr>
            </a:pPr>
            <a:r>
              <a:t>Supporting</a:t>
            </a:r>
          </a:p>
          <a:p>
            <a:pPr>
              <a:defRPr sz="1200" b="1">
                <a:solidFill>
                  <a:srgbClr val="FFFFFF"/>
                </a:solidFill>
              </a:defRPr>
            </a:pPr>
            <a:r>
              <a:t>#D97706</a:t>
            </a:r>
          </a:p>
        </p:txBody>
      </p:sp>
      <p:sp>
        <p:nvSpPr>
          <p:cNvPr id="8" name="Rectangle 7"/>
          <p:cNvSpPr/>
          <p:nvPr/>
        </p:nvSpPr>
        <p:spPr>
          <a:xfrm>
            <a:off x="7498080" y="1371600"/>
            <a:ext cx="1371600" cy="914400"/>
          </a:xfrm>
          <a:prstGeom prst="rect">
            <a:avLst/>
          </a:prstGeom>
          <a:solidFill>
            <a:srgbClr val="F59E0B"/>
          </a:solidFill>
        </p:spPr>
        <p:style>
          <a:lnRef idx="1">
            <a:schemeClr val="accent1"/>
          </a:lnRef>
          <a:fillRef idx="3">
            <a:schemeClr val="accent1"/>
          </a:fillRef>
          <a:effectRef idx="2">
            <a:schemeClr val="accent1"/>
          </a:effectRef>
          <a:fontRef idx="minor">
            <a:schemeClr val="lt1"/>
          </a:fontRef>
        </p:style>
        <p:txBody>
          <a:bodyPr rtlCol="0" anchor="ctr"/>
          <a:lstStyle/>
          <a:p>
            <a:pPr>
              <a:defRPr sz="1200" b="1">
                <a:solidFill>
                  <a:srgbClr val="FFFFFF"/>
                </a:solidFill>
              </a:defRPr>
            </a:pPr>
            <a:r>
              <a:t>Hex_codes</a:t>
            </a:r>
          </a:p>
          <a:p>
            <a:pPr>
              <a:defRPr sz="1200" b="1">
                <a:solidFill>
                  <a:srgbClr val="FFFFFF"/>
                </a:solidFill>
              </a:defRPr>
            </a:pPr>
            <a:r>
              <a:t>#F59E0B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Typography</a:t>
            </a:r>
          </a:p>
        </p:txBody>
      </p:sp>
      <p:sp>
        <p:nvSpPr>
          <p:cNvPr id="4" name="TextBox 3"/>
          <p:cNvSpPr txBox="1"/>
          <p:nvPr/>
        </p:nvSpPr>
        <p:spPr>
          <a:xfrm>
            <a:off x="914400" y="1371600"/>
            <a:ext cx="5486400" cy="1828800"/>
          </a:xfrm>
          <a:prstGeom prst="rect">
            <a:avLst/>
          </a:prstGeom>
          <a:noFill/>
        </p:spPr>
        <p:txBody>
          <a:bodyPr wrap="square">
            <a:spAutoFit/>
          </a:bodyPr>
          <a:lstStyle/>
          <a:p>
            <a:pPr>
              <a:defRPr sz="1800">
                <a:solidFill>
                  <a:srgbClr val="F59E0B"/>
                </a:solidFill>
              </a:defRPr>
            </a:pPr>
            <a:r>
              <a:t>Primary Font: Archivo</a:t>
            </a:r>
          </a:p>
          <a:p>
            <a:pPr>
              <a:defRPr sz="1800">
                <a:solidFill>
                  <a:srgbClr val="F59E0B"/>
                </a:solidFill>
              </a:defRPr>
            </a:pPr>
            <a:r>
              <a:t>Secondary Font: Work Sans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Visual &amp; Photography Guidelines</a:t>
            </a:r>
          </a:p>
        </p:txBody>
      </p:sp>
      <p:sp>
        <p:nvSpPr>
          <p:cNvPr id="4" name="TextBox 3"/>
          <p:cNvSpPr txBox="1"/>
          <p:nvPr/>
        </p:nvSpPr>
        <p:spPr>
          <a:xfrm>
            <a:off x="914400" y="1371600"/>
            <a:ext cx="6400800" cy="2286000"/>
          </a:xfrm>
          <a:prstGeom prst="rect">
            <a:avLst/>
          </a:prstGeom>
          <a:noFill/>
        </p:spPr>
        <p:txBody>
          <a:bodyPr wrap="square">
            <a:spAutoFit/>
          </a:bodyPr>
          <a:lstStyle/>
          <a:p>
            <a:pPr>
              <a:defRPr sz="1600">
                <a:solidFill>
                  <a:srgbClr val="F59E0B"/>
                </a:solidFill>
              </a:defRPr>
            </a:pPr>
            <a:r>
              <a:t>Visual Style:</a:t>
            </a:r>
          </a:p>
          <a:p>
            <a:pPr>
              <a:defRPr sz="1600">
                <a:solidFill>
                  <a:srgbClr val="F59E0B"/>
                </a:solidFill>
              </a:defRPr>
            </a:pPr>
            <a:r>
              <a:t>Visual style for Nike in Sportswear, Footwear, Apparel, Lifestyle &amp; Fitness: Modern aesthetic, values: Innovation, Performance, Inspiration, Empowerment, Diversity, Sustainability, Authenticity, Excellence, Community, Determination, audience: Athletes, Fitness enthusiasts, Sports teams, Urban youth, Lifestyle-focused consumers, Fashion-conscious individuals, Professional and amateur athletes, People seeking performance-driven and stylish sportswear.. Use whitespace, on-brand accent color, modern design cues.</a:t>
            </a:r>
          </a:p>
          <a:p>
            <a:pPr>
              <a:defRPr sz="1600">
                <a:solidFill>
                  <a:srgbClr val="F59E0B"/>
                </a:solidFill>
              </a:defRPr>
            </a:pPr>
          </a:p>
          <a:p>
            <a:pPr>
              <a:defRPr sz="1600">
                <a:solidFill>
                  <a:srgbClr val="F59E0B"/>
                </a:solidFill>
              </a:defRPr>
            </a:pPr>
            <a:r>
              <a:t>Photography Style:</a:t>
            </a:r>
          </a:p>
          <a:p>
            <a:pPr>
              <a:defRPr sz="1600">
                <a:solidFill>
                  <a:srgbClr val="F59E0B"/>
                </a:solidFill>
              </a:defRPr>
            </a:pPr>
            <a:r>
              <a:t>Photography style for Nike: Modern and Sportswear, Footwear, Apparel, Lifestyle &amp; Fitness feel. Show diversity, authenticity, and lighting that supports brand values: Innovation, Performance, Inspiration, Empowerment, Diversity, Sustainability, Authenticity, Excellence, Community, Determination. Images should resonate with Athletes, Fitness enthusiasts, Sports teams, Urban youth, Lifestyle-focused consumers, Fashion-conscious individuals, Professional and amateur athletes, People seeking performance-driven and stylish sportswear..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Brand Story &amp; Mission (1)</a:t>
            </a:r>
          </a:p>
        </p:txBody>
      </p:sp>
      <p:sp>
        <p:nvSpPr>
          <p:cNvPr id="4" name="TextBox 3"/>
          <p:cNvSpPr txBox="1"/>
          <p:nvPr/>
        </p:nvSpPr>
        <p:spPr>
          <a:xfrm>
            <a:off x="914400" y="1371600"/>
            <a:ext cx="6400800" cy="2743200"/>
          </a:xfrm>
          <a:prstGeom prst="rect">
            <a:avLst/>
          </a:prstGeom>
          <a:noFill/>
        </p:spPr>
        <p:txBody>
          <a:bodyPr wrap="square">
            <a:spAutoFit/>
          </a:bodyPr>
          <a:lstStyle/>
          <a:p>
            <a:pPr>
              <a:defRPr sz="1600">
                <a:solidFill>
                  <a:srgbClr val="F59E0B"/>
                </a:solidFill>
              </a:defRPr>
            </a:pPr>
            <a:r>
              <a:rPr>
                <a:solidFill>
                  <a:srgbClr val="F59E0B"/>
                </a:solidFill>
              </a:rPr>
              <a:t>In the heart of every athlete beats the relentless drive for excellence, the unyielding determination to push boundaries, and the insatiable thirst for victory. At Nike, we understand this burning passion because it runs through our veins too. Our journey began with a simple mission - to empower athletes and fitness enthusiasts to reach their full potential, to inspire them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Brand Story &amp; Mission (2)</a:t>
            </a:r>
          </a:p>
        </p:txBody>
      </p:sp>
      <p:sp>
        <p:nvSpPr>
          <p:cNvPr id="4" name="TextBox 3"/>
          <p:cNvSpPr txBox="1"/>
          <p:nvPr/>
        </p:nvSpPr>
        <p:spPr>
          <a:xfrm>
            <a:off x="914400" y="1371600"/>
            <a:ext cx="6400800" cy="2743200"/>
          </a:xfrm>
          <a:prstGeom prst="rect">
            <a:avLst/>
          </a:prstGeom>
          <a:noFill/>
        </p:spPr>
        <p:txBody>
          <a:bodyPr wrap="square">
            <a:spAutoFit/>
          </a:bodyPr>
          <a:lstStyle/>
          <a:p>
            <a:pPr>
              <a:defRPr sz="1600">
                <a:solidFill>
                  <a:srgbClr val="F59E0B"/>
                </a:solidFill>
              </a:defRPr>
            </a:pPr>
            <a:r>
              <a:rPr>
                <a:solidFill>
                  <a:srgbClr val="F59E0B"/>
                </a:solidFill>
              </a:rPr>
              <a:t>to dream bigger, and to provide them with the tools they need to conquer any challenge that comes their way. From the courts to the tracks, from the gyms to the streets, Nike has been there every step of the way, fueling the fire within each and every athlete. Innovation is our cornerstone, driving us to constantly push the boundaries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Brand Story &amp; Mission (3)</a:t>
            </a:r>
          </a:p>
        </p:txBody>
      </p:sp>
      <p:sp>
        <p:nvSpPr>
          <p:cNvPr id="4" name="TextBox 3"/>
          <p:cNvSpPr txBox="1"/>
          <p:nvPr/>
        </p:nvSpPr>
        <p:spPr>
          <a:xfrm>
            <a:off x="914400" y="1371600"/>
            <a:ext cx="6400800" cy="2743200"/>
          </a:xfrm>
          <a:prstGeom prst="rect">
            <a:avLst/>
          </a:prstGeom>
          <a:noFill/>
        </p:spPr>
        <p:txBody>
          <a:bodyPr wrap="square">
            <a:spAutoFit/>
          </a:bodyPr>
          <a:lstStyle/>
          <a:p>
            <a:pPr>
              <a:defRPr sz="1600">
                <a:solidFill>
                  <a:srgbClr val="F59E0B"/>
                </a:solidFill>
              </a:defRPr>
            </a:pPr>
            <a:r>
              <a:rPr>
                <a:solidFill>
                  <a:srgbClr val="F59E0B"/>
                </a:solidFill>
              </a:rPr>
              <a:t>of what is possible. Our relentless pursuit of excellence has led us to create groundbreaking technologies that redefine the way athletes perform. From the revolutionary Nike Air cushioning to the game-changing Flyknit material, every product we design is crafted with one goal in mind - to elevate your game to new heights.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Brand Story &amp; Mission (4)</a:t>
            </a:r>
          </a:p>
        </p:txBody>
      </p:sp>
      <p:sp>
        <p:nvSpPr>
          <p:cNvPr id="4" name="TextBox 3"/>
          <p:cNvSpPr txBox="1"/>
          <p:nvPr/>
        </p:nvSpPr>
        <p:spPr>
          <a:xfrm>
            <a:off x="914400" y="1371600"/>
            <a:ext cx="6400800" cy="2743200"/>
          </a:xfrm>
          <a:prstGeom prst="rect">
            <a:avLst/>
          </a:prstGeom>
          <a:noFill/>
        </p:spPr>
        <p:txBody>
          <a:bodyPr wrap="square">
            <a:spAutoFit/>
          </a:bodyPr>
          <a:lstStyle/>
          <a:p>
            <a:pPr>
              <a:defRPr sz="1600">
                <a:solidFill>
                  <a:srgbClr val="F59E0B"/>
                </a:solidFill>
              </a:defRPr>
            </a:pPr>
            <a:r>
              <a:rPr>
                <a:solidFill>
                  <a:srgbClr val="F59E0B"/>
                </a:solidFill>
              </a:rPr>
              <a:t>But our commitment goes beyond just performance. We believe in the power of inspiration, in the strength of diversity, and in the importance of sustainability. We strive to create a community where every athlete, regardless of their background or ability, feels empowered to chase their dreams. We stand for authenticity and inclusivity, celebrating the unique talents and voices that make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Brand Story &amp; Mission (5)</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F59E0B"/>
                </a:solidFill>
              </a:defRPr>
            </a:pPr>
            <a:r>
              <a:rPr>
                <a:solidFill>
                  <a:srgbClr val="F59E0B"/>
                </a:solidFill>
              </a:rPr>
              <a:t>our world colorful and vibrant. At Nike, we are more than just a brand - we are a movement. A movement of individuals who refuse to be bound by limitations, who embrace challenges as opportunities, and who believe that with the right mindset and the right gear, anything is possible.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Brand Story &amp; Mission (6)</a:t>
            </a:r>
          </a:p>
        </p:txBody>
      </p:sp>
      <p:sp>
        <p:nvSpPr>
          <p:cNvPr id="4" name="TextBox 3"/>
          <p:cNvSpPr txBox="1"/>
          <p:nvPr/>
        </p:nvSpPr>
        <p:spPr>
          <a:xfrm>
            <a:off x="914400" y="1371600"/>
            <a:ext cx="6400800" cy="2743200"/>
          </a:xfrm>
          <a:prstGeom prst="rect">
            <a:avLst/>
          </a:prstGeom>
          <a:noFill/>
        </p:spPr>
        <p:txBody>
          <a:bodyPr wrap="square">
            <a:spAutoFit/>
          </a:bodyPr>
          <a:lstStyle/>
          <a:p>
            <a:pPr>
              <a:defRPr sz="1600">
                <a:solidFill>
                  <a:srgbClr val="F59E0B"/>
                </a:solidFill>
              </a:defRPr>
            </a:pPr>
            <a:r>
              <a:rPr>
                <a:solidFill>
                  <a:srgbClr val="F59E0B"/>
                </a:solidFill>
              </a:rPr>
              <a:t>Whether you're a professional athlete seeking that extra edge, a fitness enthusiast looking to crush your personal best, or a fashion-conscious individual who values style and performance, Nike is here to support you every step of the way. So join us, as we lace up our shoes, stretch our limits, and take on the world with courage and determination.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Brand Story &amp; Mission (7)</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F59E0B"/>
                </a:solidFill>
              </a:defRPr>
            </a:pPr>
            <a:r>
              <a:rPr>
                <a:solidFill>
                  <a:srgbClr val="F59E0B"/>
                </a:solidFill>
              </a:rPr>
              <a:t>Together, let's write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Brand Voice &amp; Tone (1)</a:t>
            </a:r>
          </a:p>
        </p:txBody>
      </p:sp>
      <p:sp>
        <p:nvSpPr>
          <p:cNvPr id="4" name="TextBox 3"/>
          <p:cNvSpPr txBox="1"/>
          <p:nvPr/>
        </p:nvSpPr>
        <p:spPr>
          <a:xfrm>
            <a:off x="914400" y="1371600"/>
            <a:ext cx="6400800" cy="2743200"/>
          </a:xfrm>
          <a:prstGeom prst="rect">
            <a:avLst/>
          </a:prstGeom>
          <a:noFill/>
        </p:spPr>
        <p:txBody>
          <a:bodyPr wrap="square">
            <a:spAutoFit/>
          </a:bodyPr>
          <a:lstStyle/>
          <a:p>
            <a:pPr>
              <a:defRPr sz="1600">
                <a:solidFill>
                  <a:srgbClr val="F59E0B"/>
                </a:solidFill>
              </a:defRPr>
            </a:pPr>
            <a:r>
              <a:rPr>
                <a:solidFill>
                  <a:srgbClr val="F59E0B"/>
                </a:solidFill>
              </a:rPr>
              <a:t>Nike's brand voice is dynamic, empowering, and inspiring. It strikes a balance between being authoritative and friendly, reflecting its values of innovation, performance, inspiration, empowerment, diversity, sustainability, authenticity, excellence, community, and determination. The tone is confident, motivating, and inclusive, resonating with athletes, fitness enthusiasts, sports teams, urban youth, lifestyle-focused consumers, fashion-conscious individuals, and professional and amateur athletes alike.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Brand Voice &amp; Tone (2)</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F59E0B"/>
                </a:solidFill>
              </a:defRPr>
            </a:pPr>
            <a:r>
              <a:rPr>
                <a:solidFill>
                  <a:srgbClr val="F59E0B"/>
                </a:solidFill>
              </a:rPr>
              <a:t>It is performance-driven and stylish, appealing to those seeking top-quality sportswear that helps them achieve their goals and express their personal style. Overall, Nike's brand voice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Messaging &amp; Value Propositions (1)</a:t>
            </a:r>
          </a:p>
        </p:txBody>
      </p:sp>
      <p:sp>
        <p:nvSpPr>
          <p:cNvPr id="4" name="TextBox 3"/>
          <p:cNvSpPr txBox="1"/>
          <p:nvPr/>
        </p:nvSpPr>
        <p:spPr>
          <a:xfrm>
            <a:off x="914400" y="1371600"/>
            <a:ext cx="6400800" cy="2743200"/>
          </a:xfrm>
          <a:prstGeom prst="rect">
            <a:avLst/>
          </a:prstGeom>
          <a:noFill/>
        </p:spPr>
        <p:txBody>
          <a:bodyPr wrap="square">
            <a:spAutoFit/>
          </a:bodyPr>
          <a:lstStyle/>
          <a:p>
            <a:pPr>
              <a:defRPr sz="1600">
                <a:solidFill>
                  <a:srgbClr val="F59E0B"/>
                </a:solidFill>
              </a:defRPr>
            </a:pPr>
            <a:r>
              <a:rPr>
                <a:solidFill>
                  <a:srgbClr val="F59E0B"/>
                </a:solidFill>
              </a:rPr>
              <a:t>Messaging Architecture for Nike: Key Value Propositions: 1. For Athletes and Fitness Enthusiasts: "Unleash your full potential with Nike's cutting-edge performance technology, designed to elevate your game and push your limits." 2. For Urban Youth and Lifestyle-focused Consumers: "Stay ahead of the trend with Nike's innovative designs that seamlessly blend style and functionality, perfect for the urban jungle." 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Messaging &amp; Value Propositions (2)</a:t>
            </a:r>
          </a:p>
        </p:txBody>
      </p:sp>
      <p:sp>
        <p:nvSpPr>
          <p:cNvPr id="4" name="TextBox 3"/>
          <p:cNvSpPr txBox="1"/>
          <p:nvPr/>
        </p:nvSpPr>
        <p:spPr>
          <a:xfrm>
            <a:off x="914400" y="1371600"/>
            <a:ext cx="6400800" cy="2743200"/>
          </a:xfrm>
          <a:prstGeom prst="rect">
            <a:avLst/>
          </a:prstGeom>
          <a:noFill/>
        </p:spPr>
        <p:txBody>
          <a:bodyPr wrap="square">
            <a:spAutoFit/>
          </a:bodyPr>
          <a:lstStyle/>
          <a:p>
            <a:pPr>
              <a:defRPr sz="1600">
                <a:solidFill>
                  <a:srgbClr val="F59E0B"/>
                </a:solidFill>
              </a:defRPr>
            </a:pPr>
            <a:r>
              <a:rPr>
                <a:solidFill>
                  <a:srgbClr val="F59E0B"/>
                </a:solidFill>
              </a:rPr>
              <a:t>For Professional and Amateur Athletes: "Dominate the competition with Nike's superior quality and performance-driven gear, trusted by athletes at every level of the game." 4. For People Seeking Performance-Driven Sportswear: "Elevate your workout with Nike's advanced materials and construction, engineered for optimal performance and comfort during every workout." 5. For Fashion-Conscious Individuals: "Make a statement with Nike's trend-setting designs that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Messaging &amp; Value Propositions (3)</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F59E0B"/>
                </a:solidFill>
              </a:defRPr>
            </a:pPr>
            <a:r>
              <a:rPr>
                <a:solidFill>
                  <a:srgbClr val="F59E0B"/>
                </a:solidFill>
              </a:rPr>
              <a:t>effortlessly combine style and performance, keeping you on the cutting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Marketing Copy: Website</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F59E0B"/>
                </a:solidFill>
              </a:defRPr>
            </a:pPr>
            <a:r>
              <a:rPr>
                <a:solidFill>
                  <a:srgbClr val="F59E0B"/>
                </a:solidFill>
              </a:rPr>
              <a:t>"Unleash Your Potential with Nike: Where Innovation, Performance, and Empowerment Meet"</a:t>
            </a:r>
          </a:p>
          <a:p>
            <a:pPr>
              <a:defRPr sz="1800">
                <a:solidFill>
                  <a:srgbClr val="F59E0B"/>
                </a:solidFill>
              </a:defRPr>
            </a:pPr>
            <a:r>
              <a:rPr>
                <a:solidFill>
                  <a:srgbClr val="F59E0B"/>
                </a:solidFill>
              </a:rPr>
              <a:t>"Elevate Your Game with Nike's Authentic, Sustainable, and Community-Driven Sportswear"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Marketing Copy: Email</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F59E0B"/>
                </a:solidFill>
              </a:defRPr>
            </a:pPr>
            <a:r>
              <a:rPr>
                <a:solidFill>
                  <a:srgbClr val="F59E0B"/>
                </a:solidFill>
              </a:rPr>
              <a:t>Subject: Discover the Future of Performance with Nike's Innovative Sportswear</a:t>
            </a:r>
          </a:p>
          <a:p>
            <a:pPr>
              <a:defRPr sz="1800">
                <a:solidFill>
                  <a:srgbClr val="F59E0B"/>
                </a:solidFill>
              </a:defRPr>
            </a:pPr>
          </a:p>
          <a:p>
            <a:pPr>
              <a:defRPr sz="1800">
                <a:solidFill>
                  <a:srgbClr val="F59E0B"/>
                </a:solidFill>
              </a:defRPr>
            </a:pPr>
            <a:r>
              <a:rPr>
                <a:solidFill>
                  <a:srgbClr val="F59E0B"/>
                </a:solidFill>
              </a:rPr>
              <a:t>Preview text: Explore the intersection of excellence, sustainability, and empowerment in Nike's latest collection, designed to inspire and support athletes, fitness enthusiasts, and fashion-conscious individuals alike.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Marketing Copy: Social Media</a:t>
            </a:r>
          </a:p>
        </p:txBody>
      </p:sp>
      <p:sp>
        <p:nvSpPr>
          <p:cNvPr id="4" name="TextBox 3"/>
          <p:cNvSpPr txBox="1"/>
          <p:nvPr/>
        </p:nvSpPr>
        <p:spPr>
          <a:xfrm>
            <a:off x="914400" y="1371600"/>
            <a:ext cx="6400800" cy="2743200"/>
          </a:xfrm>
          <a:prstGeom prst="rect">
            <a:avLst/>
          </a:prstGeom>
          <a:noFill/>
        </p:spPr>
        <p:txBody>
          <a:bodyPr wrap="square">
            <a:spAutoFit/>
          </a:bodyPr>
          <a:lstStyle/>
          <a:p>
            <a:pPr>
              <a:defRPr sz="1600">
                <a:solidFill>
                  <a:srgbClr val="F59E0B"/>
                </a:solidFill>
              </a:defRPr>
            </a:pPr>
            <a:r>
              <a:rPr>
                <a:solidFill>
                  <a:srgbClr val="F59E0B"/>
                </a:solidFill>
              </a:rPr>
              <a:t>"Step into the future of fitness and style with Nike! 🏃‍♂️🔥 From the track to the streets, our innovative gear is designed to empower your performance and inspire greatness. Join the diverse community of athletes, enthusiasts, and trendsetters who choose excellence in every step. #JustDoIt #NikeInnovates"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Marketing Copy: Ad Copy</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F59E0B"/>
                </a:solidFill>
              </a:defRPr>
            </a:pPr>
            <a:r>
              <a:rPr>
                <a:solidFill>
                  <a:srgbClr val="F59E0B"/>
                </a:solidFill>
              </a:rPr>
              <a:t>"Gear up like a pro with Nike's cutting-edge sportswear and footwear! Elevate your game, dominate the streets, and conquer every workout in style. Shop now and unleash your full potential with Nike! Just do it. #Nike #JustDoIt"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Collateral: Business Card</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F59E0B"/>
                </a:solidFill>
              </a:defRPr>
            </a:pPr>
            <a:r>
              <a:rPr>
                <a:solidFill>
                  <a:srgbClr val="F59E0B"/>
                </a:solidFill>
              </a:rPr>
              <a:t>Simple, clean business card layout for Nike in Sportswear, Footwear, Apparel, Lifestyle &amp; Fitness. Emphasize clarity, logo, and minimal info.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Collateral: Letterhead</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F59E0B"/>
                </a:solidFill>
              </a:defRPr>
            </a:pPr>
            <a:r>
              <a:rPr>
                <a:solidFill>
                  <a:srgbClr val="F59E0B"/>
                </a:solidFill>
              </a:rPr>
              <a:t>Letterhead with Nike branding, address, and subtle color accent from brand palette.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Collateral: Email Signature</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F59E0B"/>
                </a:solidFill>
              </a:defRPr>
            </a:pPr>
            <a:r>
              <a:rPr>
                <a:solidFill>
                  <a:srgbClr val="F59E0B"/>
                </a:solidFill>
              </a:rPr>
              <a:t>Professional email signature for Nike with logo, name, title, and key contact details.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Collateral: Presentation Template</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F59E0B"/>
                </a:solidFill>
              </a:defRPr>
            </a:pPr>
            <a:r>
              <a:rPr>
                <a:solidFill>
                  <a:srgbClr val="F59E0B"/>
                </a:solidFill>
              </a:rPr>
              <a:t>PPT cover slide and content slide layouts using Nike palette and fonts.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914400" y="457200"/>
            <a:ext cx="7315200" cy="914400"/>
          </a:xfrm>
          <a:prstGeom prst="rect">
            <a:avLst/>
          </a:prstGeom>
          <a:noFill/>
        </p:spPr>
        <p:txBody>
          <a:bodyPr wrap="none">
            <a:spAutoFit/>
          </a:bodyPr>
          <a:lstStyle/>
          <a:p>
            <a:pPr>
              <a:defRPr sz="2800" b="1">
                <a:solidFill>
                  <a:srgbClr val="F59E0B"/>
                </a:solidFill>
              </a:defRPr>
            </a:pPr>
            <a:r>
              <a:t>Collateral: Social Templates</a:t>
            </a:r>
          </a:p>
        </p:txBody>
      </p:sp>
      <p:sp>
        <p:nvSpPr>
          <p:cNvPr id="4" name="TextBox 3"/>
          <p:cNvSpPr txBox="1"/>
          <p:nvPr/>
        </p:nvSpPr>
        <p:spPr>
          <a:xfrm>
            <a:off x="914400" y="1371600"/>
            <a:ext cx="6400800" cy="2743200"/>
          </a:xfrm>
          <a:prstGeom prst="rect">
            <a:avLst/>
          </a:prstGeom>
          <a:noFill/>
        </p:spPr>
        <p:txBody>
          <a:bodyPr wrap="square">
            <a:spAutoFit/>
          </a:bodyPr>
          <a:lstStyle/>
          <a:p>
            <a:pPr>
              <a:defRPr sz="1800">
                <a:solidFill>
                  <a:srgbClr val="F59E0B"/>
                </a:solidFill>
              </a:defRPr>
            </a:pPr>
            <a:r>
              <a:rPr>
                <a:solidFill>
                  <a:srgbClr val="F59E0B"/>
                </a:solidFill>
              </a:rPr>
              <a:t>Instagram/Facebook post and story templates reflecting Nike's style and values.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