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7680960" cy="1828800"/>
          </a:xfrm>
          <a:prstGeom prst="rect">
            <a:avLst/>
          </a:prstGeom>
          <a:noFill/>
        </p:spPr>
        <p:txBody>
          <a:bodyPr wrap="none">
            <a:spAutoFit/>
          </a:bodyPr>
          <a:lstStyle/>
          <a:p>
            <a:pPr algn="ctr">
              <a:defRPr sz="7200" b="1">
                <a:solidFill>
                  <a:srgbClr val="FFFFFF"/>
                </a:solidFill>
                <a:latin typeface="Montserrat"/>
              </a:defRPr>
            </a:pPr>
            <a:r>
              <a:t>CHAAYOS</a:t>
            </a:r>
          </a:p>
        </p:txBody>
      </p:sp>
      <p:sp>
        <p:nvSpPr>
          <p:cNvPr id="4" name="TextBox 3"/>
          <p:cNvSpPr txBox="1"/>
          <p:nvPr/>
        </p:nvSpPr>
        <p:spPr>
          <a:xfrm>
            <a:off x="731520" y="4389120"/>
            <a:ext cx="7680960" cy="731520"/>
          </a:xfrm>
          <a:prstGeom prst="rect">
            <a:avLst/>
          </a:prstGeom>
          <a:noFill/>
        </p:spPr>
        <p:txBody>
          <a:bodyPr wrap="none">
            <a:spAutoFit/>
          </a:bodyPr>
          <a:lstStyle/>
          <a:p>
            <a:pPr algn="ctr">
              <a:defRPr sz="2400" b="1">
                <a:solidFill>
                  <a:srgbClr val="2563EB"/>
                </a:solidFill>
                <a:latin typeface="Montserrat"/>
              </a:defRPr>
            </a:pPr>
            <a:r>
              <a:t>BRAND IDENTITY SYSTEM</a:t>
            </a:r>
          </a:p>
        </p:txBody>
      </p:sp>
      <p:sp>
        <p:nvSpPr>
          <p:cNvPr id="5" name="Rectangle 4"/>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INDEX</a:t>
            </a:r>
          </a:p>
        </p:txBody>
      </p:sp>
      <p:sp>
        <p:nvSpPr>
          <p:cNvPr id="4" name="TextBox 3"/>
          <p:cNvSpPr txBox="1"/>
          <p:nvPr/>
        </p:nvSpPr>
        <p:spPr>
          <a:xfrm>
            <a:off x="731520" y="1371600"/>
            <a:ext cx="3657600" cy="3657600"/>
          </a:xfrm>
          <a:prstGeom prst="rect">
            <a:avLst/>
          </a:prstGeom>
          <a:noFill/>
        </p:spPr>
        <p:txBody>
          <a:bodyPr wrap="none">
            <a:spAutoFit/>
          </a:bodyPr>
          <a:lstStyle/>
          <a:p>
            <a:pPr>
              <a:lnSpc>
                <a:spcPct val="160000"/>
              </a:lnSpc>
              <a:defRPr sz="1800">
                <a:solidFill>
                  <a:srgbClr val="FFFFFF"/>
                </a:solidFill>
                <a:latin typeface="Open Sans"/>
              </a:defRPr>
            </a:pPr>
            <a:r>
              <a:t>Introduction                   01</a:t>
            </a:r>
          </a:p>
          <a:p>
            <a:r>
              <a:t>Brand Story                    03</a:t>
            </a:r>
          </a:p>
          <a:p>
            <a:r>
              <a:t>Brand Colors                   05</a:t>
            </a:r>
          </a:p>
          <a:p>
            <a:r>
              <a:t>Visual Language                07</a:t>
            </a:r>
          </a:p>
          <a:p>
            <a:r>
              <a:t>Applications                   09</a:t>
            </a:r>
          </a:p>
        </p:txBody>
      </p:sp>
      <p:sp>
        <p:nvSpPr>
          <p:cNvPr id="5" name="TextBox 4"/>
          <p:cNvSpPr txBox="1"/>
          <p:nvPr/>
        </p:nvSpPr>
        <p:spPr>
          <a:xfrm>
            <a:off x="4754880" y="1371600"/>
            <a:ext cx="3657600" cy="3657600"/>
          </a:xfrm>
          <a:prstGeom prst="rect">
            <a:avLst/>
          </a:prstGeom>
          <a:noFill/>
        </p:spPr>
        <p:txBody>
          <a:bodyPr wrap="none">
            <a:spAutoFit/>
          </a:bodyPr>
          <a:lstStyle/>
          <a:p>
            <a:pPr>
              <a:lnSpc>
                <a:spcPct val="160000"/>
              </a:lnSpc>
              <a:defRPr sz="1800">
                <a:solidFill>
                  <a:srgbClr val="FFFFFF"/>
                </a:solidFill>
                <a:latin typeface="Open Sans"/>
              </a:defRPr>
            </a:pPr>
            <a:r>
              <a:t>Brand Purpose                  02</a:t>
            </a:r>
          </a:p>
          <a:p>
            <a:r>
              <a:t>Logo                           04</a:t>
            </a:r>
          </a:p>
          <a:p>
            <a:r>
              <a:t>Typography                     06</a:t>
            </a:r>
          </a:p>
          <a:p>
            <a:r>
              <a:t>Brand Voice                    08</a:t>
            </a:r>
          </a:p>
        </p:txBody>
      </p:sp>
      <p:sp>
        <p:nvSpPr>
          <p:cNvPr id="6" name="Rectangle 5"/>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INTRODUCTION</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The following brand identity system for Chaayos is thoughtfully crafted to present our brand in an international, engaging, consistent, recognisable and proprietary way. Unique in form, versatile in its application and unified by a fundamental principle.</a:t>
            </a:r>
          </a:p>
          <a:p/>
          <a:p>
            <a:r>
              <a:t>Industry: Food &amp; Beverage (F&amp;B), Quick Service Restaurants (QSR), Café/Tea Retail</a:t>
            </a:r>
          </a:p>
          <a:p>
            <a:r>
              <a:t>Target Audience: Urban millennials, Young professionals, Office-goers, Students, Tea enthusiasts, Digital-savvy consumers, Health-conscious individuals, People seeking a modern chai café experience.</a:t>
            </a:r>
          </a:p>
        </p:txBody>
      </p:sp>
      <p:sp>
        <p:nvSpPr>
          <p:cNvPr id="5" name="Rectangle 4"/>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BRAND PURPOSE</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Distinctive Food &amp; Beverage (F&amp;B), Quick Service Restaurants (QSR), Café/Tea Retail solution focused on Urban millennials, Young professionals, Office-goers, Students, Tea enthusiasts, Digital-savvy consumers, Health-conscious individuals, People seeking a modern chai café experience.</a:t>
            </a:r>
          </a:p>
        </p:txBody>
      </p:sp>
      <p:sp>
        <p:nvSpPr>
          <p:cNvPr id="5" name="Rectangle 4"/>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LOGO</a:t>
            </a:r>
          </a:p>
        </p:txBody>
      </p:sp>
      <p:pic>
        <p:nvPicPr>
          <p:cNvPr id="4" name="Picture 3" descr="chaayos_logo_1_20250826_174056_0c3120d5.png"/>
          <p:cNvPicPr>
            <a:picLocks noChangeAspect="1"/>
          </p:cNvPicPr>
          <p:nvPr/>
        </p:nvPicPr>
        <p:blipFill>
          <a:blip r:embed="rId2"/>
          <a:stretch>
            <a:fillRect/>
          </a:stretch>
        </p:blipFill>
        <p:spPr>
          <a:xfrm>
            <a:off x="1371600" y="2286000"/>
            <a:ext cx="1828800" cy="1828800"/>
          </a:xfrm>
          <a:prstGeom prst="rect">
            <a:avLst/>
          </a:prstGeom>
        </p:spPr>
      </p:pic>
      <p:pic>
        <p:nvPicPr>
          <p:cNvPr id="5" name="Picture 4" descr="chaayos_logo_2_20250826_174115_c5a468b1.png"/>
          <p:cNvPicPr>
            <a:picLocks noChangeAspect="1"/>
          </p:cNvPicPr>
          <p:nvPr/>
        </p:nvPicPr>
        <p:blipFill>
          <a:blip r:embed="rId3"/>
          <a:stretch>
            <a:fillRect/>
          </a:stretch>
        </p:blipFill>
        <p:spPr>
          <a:xfrm>
            <a:off x="3657600" y="2286000"/>
            <a:ext cx="1828800" cy="1828800"/>
          </a:xfrm>
          <a:prstGeom prst="rect">
            <a:avLst/>
          </a:prstGeom>
        </p:spPr>
      </p:pic>
      <p:pic>
        <p:nvPicPr>
          <p:cNvPr id="6" name="Picture 5" descr="chaayos_logo_3_20250826_174211_6cb67f41.png"/>
          <p:cNvPicPr>
            <a:picLocks noChangeAspect="1"/>
          </p:cNvPicPr>
          <p:nvPr/>
        </p:nvPicPr>
        <p:blipFill>
          <a:blip r:embed="rId4"/>
          <a:stretch>
            <a:fillRect/>
          </a:stretch>
        </p:blipFill>
        <p:spPr>
          <a:xfrm>
            <a:off x="5943600" y="2286000"/>
            <a:ext cx="1828800" cy="1828800"/>
          </a:xfrm>
          <a:prstGeom prst="rect">
            <a:avLst/>
          </a:prstGeom>
        </p:spPr>
      </p:pic>
      <p:sp>
        <p:nvSpPr>
          <p:cNvPr id="7" name="Rectangle 6"/>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BRAND COLORS</a:t>
            </a:r>
          </a:p>
        </p:txBody>
      </p:sp>
      <p:sp>
        <p:nvSpPr>
          <p:cNvPr id="4" name="Rectangle 3"/>
          <p:cNvSpPr/>
          <p:nvPr/>
        </p:nvSpPr>
        <p:spPr>
          <a:xfrm>
            <a:off x="914400" y="2286000"/>
            <a:ext cx="1645920" cy="1645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645920" cy="548640"/>
          </a:xfrm>
          <a:prstGeom prst="rect">
            <a:avLst/>
          </a:prstGeom>
          <a:noFill/>
        </p:spPr>
        <p:txBody>
          <a:bodyPr wrap="none">
            <a:spAutoFit/>
          </a:bodyPr>
          <a:lstStyle/>
          <a:p>
            <a:pPr algn="ctr">
              <a:defRPr sz="1200" b="1">
                <a:solidFill>
                  <a:srgbClr val="FFFFFF"/>
                </a:solidFill>
                <a:latin typeface="Open Sans"/>
              </a:defRPr>
            </a:pPr>
            <a:r>
              <a:t>PRIMARY</a:t>
            </a:r>
          </a:p>
          <a:p>
            <a:r>
              <a:t>#DC2626</a:t>
            </a:r>
          </a:p>
        </p:txBody>
      </p:sp>
      <p:sp>
        <p:nvSpPr>
          <p:cNvPr id="6" name="Rectangle 5"/>
          <p:cNvSpPr/>
          <p:nvPr/>
        </p:nvSpPr>
        <p:spPr>
          <a:xfrm>
            <a:off x="2834640" y="2286000"/>
            <a:ext cx="1645920" cy="1645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4023360"/>
            <a:ext cx="1645920" cy="548640"/>
          </a:xfrm>
          <a:prstGeom prst="rect">
            <a:avLst/>
          </a:prstGeom>
          <a:noFill/>
        </p:spPr>
        <p:txBody>
          <a:bodyPr wrap="none">
            <a:spAutoFit/>
          </a:bodyPr>
          <a:lstStyle/>
          <a:p>
            <a:pPr algn="ctr">
              <a:defRPr sz="1200" b="1">
                <a:solidFill>
                  <a:srgbClr val="FFFFFF"/>
                </a:solidFill>
                <a:latin typeface="Open Sans"/>
              </a:defRPr>
            </a:pPr>
            <a:r>
              <a:t>SECONDARY</a:t>
            </a:r>
          </a:p>
          <a:p>
            <a:r>
              <a:t>#059669</a:t>
            </a:r>
          </a:p>
        </p:txBody>
      </p:sp>
      <p:sp>
        <p:nvSpPr>
          <p:cNvPr id="8" name="Rectangle 7"/>
          <p:cNvSpPr/>
          <p:nvPr/>
        </p:nvSpPr>
        <p:spPr>
          <a:xfrm>
            <a:off x="4754880" y="2286000"/>
            <a:ext cx="1645920" cy="1645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4023360"/>
            <a:ext cx="1645920" cy="548640"/>
          </a:xfrm>
          <a:prstGeom prst="rect">
            <a:avLst/>
          </a:prstGeom>
          <a:noFill/>
        </p:spPr>
        <p:txBody>
          <a:bodyPr wrap="none">
            <a:spAutoFit/>
          </a:bodyPr>
          <a:lstStyle/>
          <a:p>
            <a:pPr algn="ctr">
              <a:defRPr sz="1200" b="1">
                <a:solidFill>
                  <a:srgbClr val="FFFFFF"/>
                </a:solidFill>
                <a:latin typeface="Open Sans"/>
              </a:defRPr>
            </a:pPr>
            <a:r>
              <a:t>ACCENT</a:t>
            </a:r>
          </a:p>
          <a:p>
            <a:r>
              <a:t>#2563EB</a:t>
            </a:r>
          </a:p>
        </p:txBody>
      </p:sp>
      <p:sp>
        <p:nvSpPr>
          <p:cNvPr id="10" name="Rectangle 9"/>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TYPOGRAPHY</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Primary Font: Inter</a:t>
            </a:r>
          </a:p>
          <a:p>
            <a:r>
              <a:t>Secondary Font: Source Sans Pro</a:t>
            </a:r>
          </a:p>
          <a:p/>
          <a:p>
            <a:r>
              <a:t>Contemporary, highly legible fonts optimized for digital interfaces</a:t>
            </a:r>
          </a:p>
        </p:txBody>
      </p:sp>
      <p:sp>
        <p:nvSpPr>
          <p:cNvPr id="5" name="Rectangle 4"/>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2563EB"/>
                </a:solidFill>
                <a:latin typeface="Montserrat"/>
              </a:defRPr>
            </a:pPr>
            <a:r>
              <a:t>BRAND VOICE</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The brand voice for Chaayos is friendly, warm, and inviting. It strikes a balance between being modern and traditional, reflecting the values of innovation, personalization, customer delight, quality, community, convenience, authenticity, and consistency. </a:t>
            </a:r>
          </a:p>
          <a:p/>
          <a:p>
            <a:r>
              <a:t>The tone is engaging, approachable, and customer-focused, catering to urban millennials, young professionals, office-goers, students, tea enthusiasts, digital-savvy consumers, and health-conscious individuals. It conveys a sense of modernity while also cherishing the traditional aspects of chai culture.</a:t>
            </a:r>
          </a:p>
          <a:p/>
          <a:p>
            <a:r>
              <a:t>Chaayos aims to create a space where customers feel welcomed</a:t>
            </a:r>
          </a:p>
        </p:txBody>
      </p:sp>
      <p:sp>
        <p:nvSpPr>
          <p:cNvPr id="5" name="Rectangle 4"/>
          <p:cNvSpPr/>
          <p:nvPr/>
        </p:nvSpPr>
        <p:spPr>
          <a:xfrm>
            <a:off x="731520" y="6217920"/>
            <a:ext cx="76809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2563EB"/>
                </a:solidFill>
                <a:latin typeface="Open Sans"/>
              </a:defRPr>
            </a:pPr>
            <a: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