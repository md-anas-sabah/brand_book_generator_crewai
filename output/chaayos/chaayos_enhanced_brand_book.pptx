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image" Target="../media/image28.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image" Target="../media/image30.jpg"/><Relationship Id="rId4" Type="http://schemas.openxmlformats.org/officeDocument/2006/relationships/image" Target="../media/image31.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1_20250904_022851_3cb662a1.png"/>
          <p:cNvPicPr>
            <a:picLocks noChangeAspect="1"/>
          </p:cNvPicPr>
          <p:nvPr/>
        </p:nvPicPr>
        <p:blipFill>
          <a:blip r:embed="rId2"/>
          <a:stretch>
            <a:fillRect/>
          </a:stretch>
        </p:blipFill>
        <p:spPr>
          <a:xfrm>
            <a:off x="0" y="0"/>
            <a:ext cx="9144000" cy="6858000"/>
          </a:xfrm>
          <a:prstGeom prst="rect">
            <a:avLst/>
          </a:prstGeom>
        </p:spPr>
      </p:pic>
      <p:cxnSp>
        <p:nvCxnSpPr>
          <p:cNvPr id="3" name="Connector 2"/>
          <p:cNvCxnSpPr/>
          <p:nvPr/>
        </p:nvCxnSpPr>
        <p:spPr>
          <a:xfrm>
            <a:off x="6629400.0" y="5657850.0"/>
            <a:ext cx="2057400.0" cy="0.0"/>
          </a:xfrm>
          <a:prstGeom prst="line">
            <a:avLst/>
          </a:prstGeom>
          <a:ln>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629400" y="5657850"/>
            <a:ext cx="2057400" cy="1485900"/>
          </a:xfrm>
          <a:prstGeom prst="rect">
            <a:avLst/>
          </a:prstGeom>
          <a:noFill/>
        </p:spPr>
        <p:txBody>
          <a:bodyPr wrap="none" anchor="ctr">
            <a:spAutoFit/>
          </a:bodyPr>
          <a:lstStyle/>
          <a:p>
            <a:pPr algn="ctr">
              <a:defRPr sz="1800" b="0">
                <a:solidFill>
                  <a:srgbClr val="059669"/>
                </a:solidFill>
                <a:latin typeface="Inter"/>
              </a:defRPr>
            </a:pPr>
            <a:r>
              <a:t>Brand Identity System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457200"/>
            <a:ext cx="2743200" cy="731520"/>
          </a:xfrm>
          <a:prstGeom prst="rect">
            <a:avLst/>
          </a:prstGeom>
          <a:noFill/>
        </p:spPr>
        <p:txBody>
          <a:bodyPr wrap="none">
            <a:spAutoFit/>
          </a:bodyPr>
          <a:lstStyle/>
          <a:p>
            <a:pPr>
              <a:defRPr sz="2800" b="1">
                <a:solidFill>
                  <a:srgbClr val="059669"/>
                </a:solidFill>
                <a:latin typeface="Source Sans Pro"/>
              </a:defRPr>
            </a:pPr>
            <a:r>
              <a:t>INDEX</a:t>
            </a:r>
          </a:p>
        </p:txBody>
      </p:sp>
      <p:cxnSp>
        <p:nvCxnSpPr>
          <p:cNvPr id="3" name="Connector 2"/>
          <p:cNvCxnSpPr/>
          <p:nvPr/>
        </p:nvCxnSpPr>
        <p:spPr>
          <a:xfrm>
            <a:off x="457200" y="1097280"/>
            <a:ext cx="8229600" cy="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54480"/>
            <a:ext cx="1828800" cy="274320"/>
          </a:xfrm>
          <a:prstGeom prst="rect">
            <a:avLst/>
          </a:prstGeom>
          <a:noFill/>
        </p:spPr>
        <p:txBody>
          <a:bodyPr wrap="none" lIns="0" rIns="0" tIns="0" bIns="0">
            <a:spAutoFit/>
          </a:bodyPr>
          <a:lstStyle/>
          <a:p>
            <a:pPr>
              <a:defRPr sz="1200" b="1">
                <a:solidFill>
                  <a:srgbClr val="000000"/>
                </a:solidFill>
                <a:latin typeface="Inter"/>
              </a:defRPr>
            </a:pPr>
            <a:r>
              <a:t>Introduction</a:t>
            </a:r>
          </a:p>
        </p:txBody>
      </p:sp>
      <p:cxnSp>
        <p:nvCxnSpPr>
          <p:cNvPr id="5" name="Connector 4"/>
          <p:cNvCxnSpPr/>
          <p:nvPr/>
        </p:nvCxnSpPr>
        <p:spPr>
          <a:xfrm>
            <a:off x="2331719" y="166420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0" y="1554480"/>
            <a:ext cx="274320" cy="274320"/>
          </a:xfrm>
          <a:prstGeom prst="rect">
            <a:avLst/>
          </a:prstGeom>
          <a:noFill/>
        </p:spPr>
        <p:txBody>
          <a:bodyPr wrap="none" lIns="0" tIns="0" bIns="0">
            <a:spAutoFit/>
          </a:bodyPr>
          <a:lstStyle/>
          <a:p>
            <a:pPr>
              <a:defRPr sz="1200" b="1">
                <a:solidFill>
                  <a:srgbClr val="059669"/>
                </a:solidFill>
                <a:latin typeface="Inter"/>
              </a:defRPr>
            </a:pPr>
            <a:r>
              <a:t>01</a:t>
            </a:r>
          </a:p>
        </p:txBody>
      </p:sp>
      <p:sp>
        <p:nvSpPr>
          <p:cNvPr id="7" name="TextBox 6"/>
          <p:cNvSpPr txBox="1"/>
          <p:nvPr/>
        </p:nvSpPr>
        <p:spPr>
          <a:xfrm>
            <a:off x="457200" y="2057400"/>
            <a:ext cx="1828800" cy="274320"/>
          </a:xfrm>
          <a:prstGeom prst="rect">
            <a:avLst/>
          </a:prstGeom>
          <a:noFill/>
        </p:spPr>
        <p:txBody>
          <a:bodyPr wrap="none" lIns="0" rIns="0" tIns="0" bIns="0">
            <a:spAutoFit/>
          </a:bodyPr>
          <a:lstStyle/>
          <a:p>
            <a:pPr>
              <a:defRPr sz="1200" b="1">
                <a:solidFill>
                  <a:srgbClr val="000000"/>
                </a:solidFill>
                <a:latin typeface="Inter"/>
              </a:defRPr>
            </a:pPr>
            <a:r>
              <a:t>Brand Purpose (Vision)</a:t>
            </a:r>
          </a:p>
        </p:txBody>
      </p:sp>
      <p:cxnSp>
        <p:nvCxnSpPr>
          <p:cNvPr id="8" name="Connector 7"/>
          <p:cNvCxnSpPr/>
          <p:nvPr/>
        </p:nvCxnSpPr>
        <p:spPr>
          <a:xfrm>
            <a:off x="2331719" y="216712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057400"/>
            <a:ext cx="274320" cy="274320"/>
          </a:xfrm>
          <a:prstGeom prst="rect">
            <a:avLst/>
          </a:prstGeom>
          <a:noFill/>
        </p:spPr>
        <p:txBody>
          <a:bodyPr wrap="none" lIns="0" tIns="0" bIns="0">
            <a:spAutoFit/>
          </a:bodyPr>
          <a:lstStyle/>
          <a:p>
            <a:pPr>
              <a:defRPr sz="1200" b="1">
                <a:solidFill>
                  <a:srgbClr val="059669"/>
                </a:solidFill>
                <a:latin typeface="Inter"/>
              </a:defRPr>
            </a:pPr>
            <a:r>
              <a:t>02</a:t>
            </a:r>
          </a:p>
        </p:txBody>
      </p:sp>
      <p:sp>
        <p:nvSpPr>
          <p:cNvPr id="10" name="TextBox 9"/>
          <p:cNvSpPr txBox="1"/>
          <p:nvPr/>
        </p:nvSpPr>
        <p:spPr>
          <a:xfrm>
            <a:off x="457200" y="2560320"/>
            <a:ext cx="1828800" cy="274320"/>
          </a:xfrm>
          <a:prstGeom prst="rect">
            <a:avLst/>
          </a:prstGeom>
          <a:noFill/>
        </p:spPr>
        <p:txBody>
          <a:bodyPr wrap="none" lIns="0" rIns="0" tIns="0" bIns="0">
            <a:spAutoFit/>
          </a:bodyPr>
          <a:lstStyle/>
          <a:p>
            <a:pPr>
              <a:defRPr sz="1200" b="1">
                <a:solidFill>
                  <a:srgbClr val="000000"/>
                </a:solidFill>
                <a:latin typeface="Inter"/>
              </a:defRPr>
            </a:pPr>
            <a:r>
              <a:t>Brand Purpose (Mission)</a:t>
            </a:r>
          </a:p>
        </p:txBody>
      </p:sp>
      <p:cxnSp>
        <p:nvCxnSpPr>
          <p:cNvPr id="11" name="Connector 10"/>
          <p:cNvCxnSpPr/>
          <p:nvPr/>
        </p:nvCxnSpPr>
        <p:spPr>
          <a:xfrm>
            <a:off x="2331719" y="267004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743200" y="2560320"/>
            <a:ext cx="274320" cy="274320"/>
          </a:xfrm>
          <a:prstGeom prst="rect">
            <a:avLst/>
          </a:prstGeom>
          <a:noFill/>
        </p:spPr>
        <p:txBody>
          <a:bodyPr wrap="none" lIns="0" tIns="0" bIns="0">
            <a:spAutoFit/>
          </a:bodyPr>
          <a:lstStyle/>
          <a:p>
            <a:pPr>
              <a:defRPr sz="1200" b="1">
                <a:solidFill>
                  <a:srgbClr val="059669"/>
                </a:solidFill>
                <a:latin typeface="Inter"/>
              </a:defRPr>
            </a:pPr>
            <a:r>
              <a:t>03</a:t>
            </a:r>
          </a:p>
        </p:txBody>
      </p:sp>
      <p:sp>
        <p:nvSpPr>
          <p:cNvPr id="13" name="TextBox 12"/>
          <p:cNvSpPr txBox="1"/>
          <p:nvPr/>
        </p:nvSpPr>
        <p:spPr>
          <a:xfrm>
            <a:off x="3474720" y="1554480"/>
            <a:ext cx="1828800" cy="274320"/>
          </a:xfrm>
          <a:prstGeom prst="rect">
            <a:avLst/>
          </a:prstGeom>
          <a:noFill/>
        </p:spPr>
        <p:txBody>
          <a:bodyPr wrap="none" lIns="0" rIns="0" tIns="0" bIns="0">
            <a:spAutoFit/>
          </a:bodyPr>
          <a:lstStyle/>
          <a:p>
            <a:pPr>
              <a:defRPr sz="1200" b="1">
                <a:solidFill>
                  <a:srgbClr val="000000"/>
                </a:solidFill>
                <a:latin typeface="Inter"/>
              </a:defRPr>
            </a:pPr>
            <a:r>
              <a:t>Brand Purpose (Values)</a:t>
            </a:r>
          </a:p>
        </p:txBody>
      </p:sp>
      <p:cxnSp>
        <p:nvCxnSpPr>
          <p:cNvPr id="14" name="Connector 13"/>
          <p:cNvCxnSpPr/>
          <p:nvPr/>
        </p:nvCxnSpPr>
        <p:spPr>
          <a:xfrm>
            <a:off x="5349239" y="166420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60720" y="1554480"/>
            <a:ext cx="274320" cy="274320"/>
          </a:xfrm>
          <a:prstGeom prst="rect">
            <a:avLst/>
          </a:prstGeom>
          <a:noFill/>
        </p:spPr>
        <p:txBody>
          <a:bodyPr wrap="none" lIns="0" tIns="0" bIns="0">
            <a:spAutoFit/>
          </a:bodyPr>
          <a:lstStyle/>
          <a:p>
            <a:pPr>
              <a:defRPr sz="1200" b="1">
                <a:solidFill>
                  <a:srgbClr val="059669"/>
                </a:solidFill>
                <a:latin typeface="Inter"/>
              </a:defRPr>
            </a:pPr>
            <a:r>
              <a:t>04</a:t>
            </a:r>
          </a:p>
        </p:txBody>
      </p:sp>
      <p:sp>
        <p:nvSpPr>
          <p:cNvPr id="16" name="TextBox 15"/>
          <p:cNvSpPr txBox="1"/>
          <p:nvPr/>
        </p:nvSpPr>
        <p:spPr>
          <a:xfrm>
            <a:off x="3474720" y="2057400"/>
            <a:ext cx="1828800" cy="274320"/>
          </a:xfrm>
          <a:prstGeom prst="rect">
            <a:avLst/>
          </a:prstGeom>
          <a:noFill/>
        </p:spPr>
        <p:txBody>
          <a:bodyPr wrap="none" lIns="0" rIns="0" tIns="0" bIns="0">
            <a:spAutoFit/>
          </a:bodyPr>
          <a:lstStyle/>
          <a:p>
            <a:pPr>
              <a:defRPr sz="1200" b="1">
                <a:solidFill>
                  <a:srgbClr val="000000"/>
                </a:solidFill>
                <a:latin typeface="Inter"/>
              </a:defRPr>
            </a:pPr>
            <a:r>
              <a:t>Brand Story</a:t>
            </a:r>
          </a:p>
        </p:txBody>
      </p:sp>
      <p:cxnSp>
        <p:nvCxnSpPr>
          <p:cNvPr id="17" name="Connector 16"/>
          <p:cNvCxnSpPr/>
          <p:nvPr/>
        </p:nvCxnSpPr>
        <p:spPr>
          <a:xfrm>
            <a:off x="5349239" y="216712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0" y="2057400"/>
            <a:ext cx="274320" cy="274320"/>
          </a:xfrm>
          <a:prstGeom prst="rect">
            <a:avLst/>
          </a:prstGeom>
          <a:noFill/>
        </p:spPr>
        <p:txBody>
          <a:bodyPr wrap="none" lIns="0" tIns="0" bIns="0">
            <a:spAutoFit/>
          </a:bodyPr>
          <a:lstStyle/>
          <a:p>
            <a:pPr>
              <a:defRPr sz="1200" b="1">
                <a:solidFill>
                  <a:srgbClr val="059669"/>
                </a:solidFill>
                <a:latin typeface="Inter"/>
              </a:defRPr>
            </a:pPr>
            <a:r>
              <a:t>05</a:t>
            </a:r>
          </a:p>
        </p:txBody>
      </p:sp>
      <p:sp>
        <p:nvSpPr>
          <p:cNvPr id="19" name="TextBox 18"/>
          <p:cNvSpPr txBox="1"/>
          <p:nvPr/>
        </p:nvSpPr>
        <p:spPr>
          <a:xfrm>
            <a:off x="3474720" y="2560320"/>
            <a:ext cx="1828800" cy="274320"/>
          </a:xfrm>
          <a:prstGeom prst="rect">
            <a:avLst/>
          </a:prstGeom>
          <a:noFill/>
        </p:spPr>
        <p:txBody>
          <a:bodyPr wrap="none" lIns="0" rIns="0" tIns="0" bIns="0">
            <a:spAutoFit/>
          </a:bodyPr>
          <a:lstStyle/>
          <a:p>
            <a:pPr>
              <a:defRPr sz="1200" b="1">
                <a:solidFill>
                  <a:srgbClr val="000000"/>
                </a:solidFill>
                <a:latin typeface="Inter"/>
              </a:defRPr>
            </a:pPr>
            <a:r>
              <a:t>Logo Variations</a:t>
            </a:r>
          </a:p>
        </p:txBody>
      </p:sp>
      <p:cxnSp>
        <p:nvCxnSpPr>
          <p:cNvPr id="20" name="Connector 19"/>
          <p:cNvCxnSpPr/>
          <p:nvPr/>
        </p:nvCxnSpPr>
        <p:spPr>
          <a:xfrm>
            <a:off x="5349239" y="267004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2560320"/>
            <a:ext cx="274320" cy="274320"/>
          </a:xfrm>
          <a:prstGeom prst="rect">
            <a:avLst/>
          </a:prstGeom>
          <a:noFill/>
        </p:spPr>
        <p:txBody>
          <a:bodyPr wrap="none" lIns="0" tIns="0" bIns="0">
            <a:spAutoFit/>
          </a:bodyPr>
          <a:lstStyle/>
          <a:p>
            <a:pPr>
              <a:defRPr sz="1200" b="1">
                <a:solidFill>
                  <a:srgbClr val="059669"/>
                </a:solidFill>
                <a:latin typeface="Inter"/>
              </a:defRPr>
            </a:pPr>
            <a:r>
              <a:t>06</a:t>
            </a:r>
          </a:p>
        </p:txBody>
      </p:sp>
      <p:sp>
        <p:nvSpPr>
          <p:cNvPr id="22" name="TextBox 21"/>
          <p:cNvSpPr txBox="1"/>
          <p:nvPr/>
        </p:nvSpPr>
        <p:spPr>
          <a:xfrm>
            <a:off x="3657600" y="2926079"/>
            <a:ext cx="1828800" cy="228600"/>
          </a:xfrm>
          <a:prstGeom prst="rect">
            <a:avLst/>
          </a:prstGeom>
          <a:noFill/>
        </p:spPr>
        <p:txBody>
          <a:bodyPr wrap="none" lIns="0" tIns="0" bIns="0">
            <a:spAutoFit/>
          </a:bodyPr>
          <a:lstStyle/>
          <a:p>
            <a:pPr>
              <a:defRPr sz="900" b="0">
                <a:solidFill>
                  <a:srgbClr val="666666"/>
                </a:solidFill>
                <a:latin typeface="Inter"/>
              </a:defRPr>
            </a:pPr>
            <a:r>
              <a:t>Variation 1</a:t>
            </a:r>
          </a:p>
        </p:txBody>
      </p:sp>
      <p:sp>
        <p:nvSpPr>
          <p:cNvPr id="23" name="TextBox 22"/>
          <p:cNvSpPr txBox="1"/>
          <p:nvPr/>
        </p:nvSpPr>
        <p:spPr>
          <a:xfrm>
            <a:off x="3657600" y="3154679"/>
            <a:ext cx="1828800" cy="228600"/>
          </a:xfrm>
          <a:prstGeom prst="rect">
            <a:avLst/>
          </a:prstGeom>
          <a:noFill/>
        </p:spPr>
        <p:txBody>
          <a:bodyPr wrap="none" lIns="0" tIns="0" bIns="0">
            <a:spAutoFit/>
          </a:bodyPr>
          <a:lstStyle/>
          <a:p>
            <a:pPr>
              <a:defRPr sz="900" b="0">
                <a:solidFill>
                  <a:srgbClr val="666666"/>
                </a:solidFill>
                <a:latin typeface="Inter"/>
              </a:defRPr>
            </a:pPr>
            <a:r>
              <a:t>Variation 2</a:t>
            </a:r>
          </a:p>
        </p:txBody>
      </p:sp>
      <p:sp>
        <p:nvSpPr>
          <p:cNvPr id="24" name="TextBox 23"/>
          <p:cNvSpPr txBox="1"/>
          <p:nvPr/>
        </p:nvSpPr>
        <p:spPr>
          <a:xfrm>
            <a:off x="3657600" y="3383279"/>
            <a:ext cx="1828800" cy="228600"/>
          </a:xfrm>
          <a:prstGeom prst="rect">
            <a:avLst/>
          </a:prstGeom>
          <a:noFill/>
        </p:spPr>
        <p:txBody>
          <a:bodyPr wrap="none" lIns="0" tIns="0" bIns="0">
            <a:spAutoFit/>
          </a:bodyPr>
          <a:lstStyle/>
          <a:p>
            <a:pPr>
              <a:defRPr sz="900" b="0">
                <a:solidFill>
                  <a:srgbClr val="666666"/>
                </a:solidFill>
                <a:latin typeface="Inter"/>
              </a:defRPr>
            </a:pPr>
            <a:r>
              <a:t>Variation 3</a:t>
            </a:r>
          </a:p>
        </p:txBody>
      </p:sp>
      <p:sp>
        <p:nvSpPr>
          <p:cNvPr id="25" name="TextBox 24"/>
          <p:cNvSpPr txBox="1"/>
          <p:nvPr/>
        </p:nvSpPr>
        <p:spPr>
          <a:xfrm>
            <a:off x="6492240" y="1554480"/>
            <a:ext cx="1828800" cy="274320"/>
          </a:xfrm>
          <a:prstGeom prst="rect">
            <a:avLst/>
          </a:prstGeom>
          <a:noFill/>
        </p:spPr>
        <p:txBody>
          <a:bodyPr wrap="none" lIns="0" rIns="0" tIns="0" bIns="0">
            <a:spAutoFit/>
          </a:bodyPr>
          <a:lstStyle/>
          <a:p>
            <a:pPr>
              <a:defRPr sz="1200" b="1">
                <a:solidFill>
                  <a:srgbClr val="000000"/>
                </a:solidFill>
                <a:latin typeface="Inter"/>
              </a:defRPr>
            </a:pPr>
            <a:r>
              <a:t>Brand Colors</a:t>
            </a:r>
          </a:p>
        </p:txBody>
      </p:sp>
      <p:cxnSp>
        <p:nvCxnSpPr>
          <p:cNvPr id="26" name="Connector 25"/>
          <p:cNvCxnSpPr/>
          <p:nvPr/>
        </p:nvCxnSpPr>
        <p:spPr>
          <a:xfrm>
            <a:off x="8366759" y="166420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778240" y="1554480"/>
            <a:ext cx="274320" cy="274320"/>
          </a:xfrm>
          <a:prstGeom prst="rect">
            <a:avLst/>
          </a:prstGeom>
          <a:noFill/>
        </p:spPr>
        <p:txBody>
          <a:bodyPr wrap="none" lIns="0" tIns="0" bIns="0">
            <a:spAutoFit/>
          </a:bodyPr>
          <a:lstStyle/>
          <a:p>
            <a:pPr>
              <a:defRPr sz="1200" b="1">
                <a:solidFill>
                  <a:srgbClr val="059669"/>
                </a:solidFill>
                <a:latin typeface="Inter"/>
              </a:defRPr>
            </a:pPr>
            <a:r>
              <a:t>07</a:t>
            </a:r>
          </a:p>
        </p:txBody>
      </p:sp>
      <p:sp>
        <p:nvSpPr>
          <p:cNvPr id="28" name="TextBox 27"/>
          <p:cNvSpPr txBox="1"/>
          <p:nvPr/>
        </p:nvSpPr>
        <p:spPr>
          <a:xfrm>
            <a:off x="6675120" y="1920240"/>
            <a:ext cx="1828800" cy="228600"/>
          </a:xfrm>
          <a:prstGeom prst="rect">
            <a:avLst/>
          </a:prstGeom>
          <a:noFill/>
        </p:spPr>
        <p:txBody>
          <a:bodyPr wrap="none" lIns="0" tIns="0" bIns="0">
            <a:spAutoFit/>
          </a:bodyPr>
          <a:lstStyle/>
          <a:p>
            <a:pPr>
              <a:defRPr sz="900" b="0">
                <a:solidFill>
                  <a:srgbClr val="666666"/>
                </a:solidFill>
                <a:latin typeface="Inter"/>
              </a:defRPr>
            </a:pPr>
            <a:r>
              <a:t>Primary Colors</a:t>
            </a:r>
          </a:p>
        </p:txBody>
      </p:sp>
      <p:sp>
        <p:nvSpPr>
          <p:cNvPr id="29" name="TextBox 28"/>
          <p:cNvSpPr txBox="1"/>
          <p:nvPr/>
        </p:nvSpPr>
        <p:spPr>
          <a:xfrm>
            <a:off x="6675120" y="2148840"/>
            <a:ext cx="1828800" cy="228600"/>
          </a:xfrm>
          <a:prstGeom prst="rect">
            <a:avLst/>
          </a:prstGeom>
          <a:noFill/>
        </p:spPr>
        <p:txBody>
          <a:bodyPr wrap="none" lIns="0" tIns="0" bIns="0">
            <a:spAutoFit/>
          </a:bodyPr>
          <a:lstStyle/>
          <a:p>
            <a:pPr>
              <a:defRPr sz="900" b="0">
                <a:solidFill>
                  <a:srgbClr val="666666"/>
                </a:solidFill>
                <a:latin typeface="Inter"/>
              </a:defRPr>
            </a:pPr>
            <a:r>
              <a:t>Secondary Colors</a:t>
            </a:r>
          </a:p>
        </p:txBody>
      </p:sp>
      <p:sp>
        <p:nvSpPr>
          <p:cNvPr id="30" name="TextBox 29"/>
          <p:cNvSpPr txBox="1"/>
          <p:nvPr/>
        </p:nvSpPr>
        <p:spPr>
          <a:xfrm>
            <a:off x="6675120" y="2377440"/>
            <a:ext cx="1828800" cy="228600"/>
          </a:xfrm>
          <a:prstGeom prst="rect">
            <a:avLst/>
          </a:prstGeom>
          <a:noFill/>
        </p:spPr>
        <p:txBody>
          <a:bodyPr wrap="none" lIns="0" tIns="0" bIns="0">
            <a:spAutoFit/>
          </a:bodyPr>
          <a:lstStyle/>
          <a:p>
            <a:pPr>
              <a:defRPr sz="900" b="0">
                <a:solidFill>
                  <a:srgbClr val="666666"/>
                </a:solidFill>
                <a:latin typeface="Inter"/>
              </a:defRPr>
            </a:pPr>
            <a:r>
              <a:t>Color Usage 1/2</a:t>
            </a:r>
          </a:p>
        </p:txBody>
      </p:sp>
      <p:sp>
        <p:nvSpPr>
          <p:cNvPr id="31" name="TextBox 30"/>
          <p:cNvSpPr txBox="1"/>
          <p:nvPr/>
        </p:nvSpPr>
        <p:spPr>
          <a:xfrm>
            <a:off x="6675120" y="2606040"/>
            <a:ext cx="1828800" cy="228600"/>
          </a:xfrm>
          <a:prstGeom prst="rect">
            <a:avLst/>
          </a:prstGeom>
          <a:noFill/>
        </p:spPr>
        <p:txBody>
          <a:bodyPr wrap="none" lIns="0" tIns="0" bIns="0">
            <a:spAutoFit/>
          </a:bodyPr>
          <a:lstStyle/>
          <a:p>
            <a:pPr>
              <a:defRPr sz="900" b="0">
                <a:solidFill>
                  <a:srgbClr val="666666"/>
                </a:solidFill>
                <a:latin typeface="Inter"/>
              </a:defRPr>
            </a:pPr>
            <a:r>
              <a:t>Color Usage 2/2</a:t>
            </a:r>
          </a:p>
        </p:txBody>
      </p:sp>
      <p:sp>
        <p:nvSpPr>
          <p:cNvPr id="32" name="TextBox 31"/>
          <p:cNvSpPr txBox="1"/>
          <p:nvPr/>
        </p:nvSpPr>
        <p:spPr>
          <a:xfrm>
            <a:off x="6492240" y="2971800"/>
            <a:ext cx="1828800" cy="274320"/>
          </a:xfrm>
          <a:prstGeom prst="rect">
            <a:avLst/>
          </a:prstGeom>
          <a:noFill/>
        </p:spPr>
        <p:txBody>
          <a:bodyPr wrap="none" lIns="0" rIns="0" tIns="0" bIns="0">
            <a:spAutoFit/>
          </a:bodyPr>
          <a:lstStyle/>
          <a:p>
            <a:pPr>
              <a:defRPr sz="1200" b="1">
                <a:solidFill>
                  <a:srgbClr val="000000"/>
                </a:solidFill>
                <a:latin typeface="Inter"/>
              </a:defRPr>
            </a:pPr>
            <a:r>
              <a:t>Typography</a:t>
            </a:r>
          </a:p>
        </p:txBody>
      </p:sp>
      <p:cxnSp>
        <p:nvCxnSpPr>
          <p:cNvPr id="33" name="Connector 32"/>
          <p:cNvCxnSpPr/>
          <p:nvPr/>
        </p:nvCxnSpPr>
        <p:spPr>
          <a:xfrm>
            <a:off x="8366759" y="308152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778240" y="2971800"/>
            <a:ext cx="274320" cy="274320"/>
          </a:xfrm>
          <a:prstGeom prst="rect">
            <a:avLst/>
          </a:prstGeom>
          <a:noFill/>
        </p:spPr>
        <p:txBody>
          <a:bodyPr wrap="none" lIns="0" tIns="0" bIns="0">
            <a:spAutoFit/>
          </a:bodyPr>
          <a:lstStyle/>
          <a:p>
            <a:pPr>
              <a:defRPr sz="1200" b="1">
                <a:solidFill>
                  <a:srgbClr val="059669"/>
                </a:solidFill>
                <a:latin typeface="Inter"/>
              </a:defRPr>
            </a:pPr>
            <a:r>
              <a:t>08</a:t>
            </a:r>
          </a:p>
        </p:txBody>
      </p:sp>
      <p:sp>
        <p:nvSpPr>
          <p:cNvPr id="35" name="TextBox 34"/>
          <p:cNvSpPr txBox="1"/>
          <p:nvPr/>
        </p:nvSpPr>
        <p:spPr>
          <a:xfrm>
            <a:off x="6675120" y="3337560"/>
            <a:ext cx="1828800" cy="228600"/>
          </a:xfrm>
          <a:prstGeom prst="rect">
            <a:avLst/>
          </a:prstGeom>
          <a:noFill/>
        </p:spPr>
        <p:txBody>
          <a:bodyPr wrap="none" lIns="0" tIns="0" bIns="0">
            <a:spAutoFit/>
          </a:bodyPr>
          <a:lstStyle/>
          <a:p>
            <a:pPr>
              <a:defRPr sz="900" b="0">
                <a:solidFill>
                  <a:srgbClr val="666666"/>
                </a:solidFill>
                <a:latin typeface="Inter"/>
              </a:defRPr>
            </a:pPr>
            <a:r>
              <a:t>Brand Font</a:t>
            </a:r>
          </a:p>
        </p:txBody>
      </p:sp>
      <p:sp>
        <p:nvSpPr>
          <p:cNvPr id="36" name="TextBox 35"/>
          <p:cNvSpPr txBox="1"/>
          <p:nvPr/>
        </p:nvSpPr>
        <p:spPr>
          <a:xfrm>
            <a:off x="6675120" y="3566160"/>
            <a:ext cx="1828800" cy="228600"/>
          </a:xfrm>
          <a:prstGeom prst="rect">
            <a:avLst/>
          </a:prstGeom>
          <a:noFill/>
        </p:spPr>
        <p:txBody>
          <a:bodyPr wrap="none" lIns="0" tIns="0" bIns="0">
            <a:spAutoFit/>
          </a:bodyPr>
          <a:lstStyle/>
          <a:p>
            <a:pPr>
              <a:defRPr sz="900" b="0">
                <a:solidFill>
                  <a:srgbClr val="666666"/>
                </a:solidFill>
                <a:latin typeface="Inter"/>
              </a:defRPr>
            </a:pPr>
            <a:r>
              <a:t>Font Usage</a:t>
            </a:r>
          </a:p>
        </p:txBody>
      </p:sp>
      <p:sp>
        <p:nvSpPr>
          <p:cNvPr id="37" name="TextBox 36"/>
          <p:cNvSpPr txBox="1"/>
          <p:nvPr/>
        </p:nvSpPr>
        <p:spPr>
          <a:xfrm>
            <a:off x="6675120" y="3794760"/>
            <a:ext cx="1828800" cy="228600"/>
          </a:xfrm>
          <a:prstGeom prst="rect">
            <a:avLst/>
          </a:prstGeom>
          <a:noFill/>
        </p:spPr>
        <p:txBody>
          <a:bodyPr wrap="none" lIns="0" tIns="0" bIns="0">
            <a:spAutoFit/>
          </a:bodyPr>
          <a:lstStyle/>
          <a:p>
            <a:pPr>
              <a:defRPr sz="900" b="0">
                <a:solidFill>
                  <a:srgbClr val="666666"/>
                </a:solidFill>
                <a:latin typeface="Inter"/>
              </a:defRPr>
            </a:pPr>
            <a:r>
              <a:t>Text Hierarchy</a:t>
            </a:r>
          </a:p>
        </p:txBody>
      </p:sp>
      <p:sp>
        <p:nvSpPr>
          <p:cNvPr id="38" name="TextBox 37"/>
          <p:cNvSpPr txBox="1"/>
          <p:nvPr/>
        </p:nvSpPr>
        <p:spPr>
          <a:xfrm>
            <a:off x="6492240" y="4160520"/>
            <a:ext cx="1828800" cy="274320"/>
          </a:xfrm>
          <a:prstGeom prst="rect">
            <a:avLst/>
          </a:prstGeom>
          <a:noFill/>
        </p:spPr>
        <p:txBody>
          <a:bodyPr wrap="none" lIns="0" rIns="0" tIns="0" bIns="0">
            <a:spAutoFit/>
          </a:bodyPr>
          <a:lstStyle/>
          <a:p>
            <a:pPr>
              <a:defRPr sz="1200" b="1">
                <a:solidFill>
                  <a:srgbClr val="000000"/>
                </a:solidFill>
                <a:latin typeface="Inter"/>
              </a:defRPr>
            </a:pPr>
            <a:r>
              <a:t>Imagery &amp; Visuals</a:t>
            </a:r>
          </a:p>
        </p:txBody>
      </p:sp>
      <p:cxnSp>
        <p:nvCxnSpPr>
          <p:cNvPr id="39" name="Connector 38"/>
          <p:cNvCxnSpPr/>
          <p:nvPr/>
        </p:nvCxnSpPr>
        <p:spPr>
          <a:xfrm>
            <a:off x="8366759" y="427024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778240" y="4160520"/>
            <a:ext cx="274320" cy="274320"/>
          </a:xfrm>
          <a:prstGeom prst="rect">
            <a:avLst/>
          </a:prstGeom>
          <a:noFill/>
        </p:spPr>
        <p:txBody>
          <a:bodyPr wrap="none" lIns="0" tIns="0" bIns="0">
            <a:spAutoFit/>
          </a:bodyPr>
          <a:lstStyle/>
          <a:p>
            <a:pPr>
              <a:defRPr sz="1200" b="1">
                <a:solidFill>
                  <a:srgbClr val="059669"/>
                </a:solidFill>
                <a:latin typeface="Inter"/>
              </a:defRPr>
            </a:pPr>
            <a:r>
              <a:t>09</a:t>
            </a:r>
          </a:p>
        </p:txBody>
      </p:sp>
      <p:sp>
        <p:nvSpPr>
          <p:cNvPr id="41" name="TextBox 40"/>
          <p:cNvSpPr txBox="1"/>
          <p:nvPr/>
        </p:nvSpPr>
        <p:spPr>
          <a:xfrm>
            <a:off x="6675120" y="4526280"/>
            <a:ext cx="1828800" cy="228600"/>
          </a:xfrm>
          <a:prstGeom prst="rect">
            <a:avLst/>
          </a:prstGeom>
          <a:noFill/>
        </p:spPr>
        <p:txBody>
          <a:bodyPr wrap="none" lIns="0" tIns="0" bIns="0">
            <a:spAutoFit/>
          </a:bodyPr>
          <a:lstStyle/>
          <a:p>
            <a:pPr>
              <a:defRPr sz="900" b="0">
                <a:solidFill>
                  <a:srgbClr val="666666"/>
                </a:solidFill>
                <a:latin typeface="Inter"/>
              </a:defRPr>
            </a:pPr>
            <a:r>
              <a:t>Iconography</a:t>
            </a:r>
          </a:p>
        </p:txBody>
      </p:sp>
      <p:sp>
        <p:nvSpPr>
          <p:cNvPr id="42" name="TextBox 41"/>
          <p:cNvSpPr txBox="1"/>
          <p:nvPr/>
        </p:nvSpPr>
        <p:spPr>
          <a:xfrm>
            <a:off x="6675120" y="4754880"/>
            <a:ext cx="1828800" cy="228600"/>
          </a:xfrm>
          <a:prstGeom prst="rect">
            <a:avLst/>
          </a:prstGeom>
          <a:noFill/>
        </p:spPr>
        <p:txBody>
          <a:bodyPr wrap="none" lIns="0" tIns="0" bIns="0">
            <a:spAutoFit/>
          </a:bodyPr>
          <a:lstStyle/>
          <a:p>
            <a:pPr>
              <a:defRPr sz="900" b="0">
                <a:solidFill>
                  <a:srgbClr val="666666"/>
                </a:solidFill>
                <a:latin typeface="Inter"/>
              </a:defRPr>
            </a:pPr>
            <a:r>
              <a:t>Merchandise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Step into the world of Chaayos, where traditional chai culture meets modern innovation. As India's premier tea café destination, we craft every cup with precision and passion, offering a perfect blend of authenticity and contemporary comfort. Our globally recognized brand stands on the pillars of personalization, consistency, and an unwavering commitment to quality. From bustling professionals to leisurely tea connoisseurs, we create a vibrant space where conversations flow as freely as our signature brews, serving up more than just chai – we're crafting daily moments of joy and connection across our ever-growing family of cafés.</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059669"/>
                </a:solidFill>
                <a:latin typeface="Source Sans Pro"/>
              </a:defRPr>
            </a:pPr>
            <a:r>
              <a:t>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At Chaayos, we envision a world where every cup of tea sparks innovation, connects communities, and brings warmth to the hearts of Urban youth, Working professionals, Tea enthusiasts, Families, Students, and Millennials. Our ultimate goal is to redefine the tea experience, inspiring creativity and delight in every sip.</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Source Sans Pro"/>
              </a:defRPr>
            </a:pPr>
            <a:r>
              <a:t>BRAND PURPOSE (VISION)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Chaayos is dedicated to crafting unique and authentic Food &amp; Beverage solutions tailored to the diverse tastes of Urban youth, Working professionals, Tea enthusiasts, Families, Students, and Millennials. We strive to provide a premium tea café and quick-service restaurant experience that is innovative, reliable, and focused on customer satisfaction.</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Source Sans Pro"/>
              </a:defRPr>
            </a:pPr>
            <a:r>
              <a:t>BRAND PURPOSE (MISSION)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Our foundation at Chaayos is built on the pillars of Warmth, Innovation, Authenticity, Customer Delight, Community, Quality, and Personalization. We infuse these values into every aspect of our tea café and quick-service restaurants, creating spaces that not only serve exceptional tea but also foster a sense of belonging, creativity, and joy for all who walk through our doors.</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Source Sans Pro"/>
              </a:defRPr>
            </a:pPr>
            <a:r>
              <a:t>BRAND PURPOSE (VALUES)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In the bustling streets of modern cities, where the rhythm of life never seems to slow down, there exists a sanctuary for the urban youth, working professionals, tea enthusiasts, families, students, and millennials - Chaayos. Born out of a deep passion for tea and a desire to revolutionize the way people experience this beloved beverage, Chaayos stands as a beacon of warmth, innovation, and authenticity in a sea of generic cafes and restaurants. At the heart of Chaayos lies a commitment to customer delight, where every sip of tea is crafted with precision and care, ensuring a moment of pure bliss with each cup.</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Source Sans Pro"/>
              </a:defRPr>
            </a:pPr>
            <a:r>
              <a:t>BRAND STORY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Our mission is simple yet profound - to empower individuals through our innovative food and beverage solutions, creating a space where communities thrive and connections are forged over a steaming cup of chai. Step into a Chaayos outlet, and you will be greeted by the aroma of freshly brewed teas, the sound of laughter and conversation, and the sight of vibrant decor that invites you to unwind and relax. Our menu, carefully curated to cater to the diverse tastes of our patrons, offers a unique blend of traditional and contemporary flavors, each dish prepared with the...</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Source Sans Pro"/>
              </a:defRPr>
            </a:pPr>
            <a:r>
              <a:t>BRAND STORY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1_20250904_022851_3cb662a1.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Inter"/>
              </a:defRPr>
            </a:pPr>
            <a:r>
              <a:t>Choose for maximum impact and brand recognition in primary applications.</a:t>
            </a:r>
          </a:p>
        </p:txBody>
      </p:sp>
      <p:cxnSp>
        <p:nvCxnSpPr>
          <p:cNvPr id="4" name="Connector 3"/>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059669"/>
                </a:solidFill>
                <a:latin typeface="Source Sans Pro"/>
              </a:defRPr>
            </a:pPr>
            <a:r>
              <a:t>Logo Variation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2_20250904_022906_819b3c22.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Inter"/>
              </a:defRPr>
            </a:pPr>
            <a:r>
              <a:t>Perfect for constrained spaces while maintaining professional brand presence and clarity.</a:t>
            </a:r>
          </a:p>
        </p:txBody>
      </p:sp>
      <p:cxnSp>
        <p:nvCxnSpPr>
          <p:cNvPr id="4" name="Connector 3"/>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059669"/>
                </a:solidFill>
                <a:latin typeface="Source Sans Pro"/>
              </a:defRPr>
            </a:pPr>
            <a:r>
              <a:t>Logo Variation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3_20250904_022920_c3bf13fe.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Inter"/>
              </a:defRPr>
            </a:pPr>
            <a:r>
              <a:t>Ideal for small sizes, watermarks, and applications requiring simplified brand representation.</a:t>
            </a:r>
          </a:p>
        </p:txBody>
      </p:sp>
      <p:cxnSp>
        <p:nvCxnSpPr>
          <p:cNvPr id="4" name="Connector 3"/>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059669"/>
                </a:solidFill>
                <a:latin typeface="Source Sans Pro"/>
              </a:defRPr>
            </a:pPr>
            <a:r>
              <a:t>Logo Variation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143000" y="1645920"/>
            <a:ext cx="1828800" cy="1371600"/>
          </a:xfrm>
          <a:prstGeom prst="rect">
            <a:avLst/>
          </a:prstGeom>
          <a:solidFill>
            <a:srgbClr val="05966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54680" y="164592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Inter"/>
              </a:defRPr>
            </a:pPr>
            <a:r>
              <a:t>Logo Primary</a:t>
            </a:r>
          </a:p>
          <a:p>
            <a:pPr algn="l">
              <a:spcAft>
                <a:spcPts val="300"/>
              </a:spcAft>
              <a:defRPr sz="1000" b="0">
                <a:solidFill>
                  <a:srgbClr val="000000"/>
                </a:solidFill>
                <a:latin typeface="Inter"/>
              </a:defRPr>
            </a:pPr>
            <a:r>
              <a:t>#059669</a:t>
            </a:r>
          </a:p>
          <a:p>
            <a:pPr algn="l">
              <a:spcAft>
                <a:spcPts val="300"/>
              </a:spcAft>
              <a:defRPr sz="1000" b="0">
                <a:solidFill>
                  <a:srgbClr val="000000"/>
                </a:solidFill>
                <a:latin typeface="Inter"/>
              </a:defRPr>
            </a:pPr>
            <a:r>
              <a:t>RGB(5, 150, 105)</a:t>
            </a:r>
          </a:p>
          <a:p>
            <a:pPr algn="l">
              <a:spcAft>
                <a:spcPts val="300"/>
              </a:spcAft>
              <a:defRPr sz="1000" b="0">
                <a:solidFill>
                  <a:srgbClr val="000000"/>
                </a:solidFill>
                <a:latin typeface="Inter"/>
              </a:defRPr>
            </a:pPr>
            <a:r>
              <a:t>CMYK(96, 0, 30, 41)</a:t>
            </a:r>
          </a:p>
          <a:p>
            <a:pPr algn="l">
              <a:spcAft>
                <a:spcPts val="300"/>
              </a:spcAft>
              <a:defRPr sz="1000" b="0">
                <a:solidFill>
                  <a:srgbClr val="000000"/>
                </a:solidFill>
                <a:latin typeface="Inter"/>
              </a:defRPr>
            </a:pPr>
            <a:r>
              <a:t>Use Dark Text</a:t>
            </a:r>
          </a:p>
        </p:txBody>
      </p:sp>
      <p:sp>
        <p:nvSpPr>
          <p:cNvPr id="4" name="Rectangle 3"/>
          <p:cNvSpPr/>
          <p:nvPr/>
        </p:nvSpPr>
        <p:spPr>
          <a:xfrm>
            <a:off x="4572000" y="1645920"/>
            <a:ext cx="1828800" cy="1371600"/>
          </a:xfrm>
          <a:prstGeom prst="rect">
            <a:avLst/>
          </a:prstGeom>
          <a:solidFill>
            <a:srgbClr val="2E86A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164592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Inter"/>
              </a:defRPr>
            </a:pPr>
            <a:r>
              <a:t>Primary Blue</a:t>
            </a:r>
          </a:p>
          <a:p>
            <a:pPr algn="l">
              <a:spcAft>
                <a:spcPts val="300"/>
              </a:spcAft>
              <a:defRPr sz="1000" b="0">
                <a:solidFill>
                  <a:srgbClr val="000000"/>
                </a:solidFill>
                <a:latin typeface="Inter"/>
              </a:defRPr>
            </a:pPr>
            <a:r>
              <a:t>#2E86AB</a:t>
            </a:r>
          </a:p>
          <a:p>
            <a:pPr algn="l">
              <a:spcAft>
                <a:spcPts val="300"/>
              </a:spcAft>
              <a:defRPr sz="1000" b="0">
                <a:solidFill>
                  <a:srgbClr val="000000"/>
                </a:solidFill>
                <a:latin typeface="Inter"/>
              </a:defRPr>
            </a:pPr>
            <a:r>
              <a:t>RGB(46, 134, 171)</a:t>
            </a:r>
          </a:p>
          <a:p>
            <a:pPr algn="l">
              <a:spcAft>
                <a:spcPts val="300"/>
              </a:spcAft>
              <a:defRPr sz="1000" b="0">
                <a:solidFill>
                  <a:srgbClr val="000000"/>
                </a:solidFill>
                <a:latin typeface="Inter"/>
              </a:defRPr>
            </a:pPr>
            <a:r>
              <a:t>CMYK(73, 21, 0, 32)</a:t>
            </a:r>
          </a:p>
          <a:p>
            <a:pPr algn="l">
              <a:spcAft>
                <a:spcPts val="300"/>
              </a:spcAft>
              <a:defRPr sz="1000" b="0">
                <a:solidFill>
                  <a:srgbClr val="000000"/>
                </a:solidFill>
                <a:latin typeface="Inter"/>
              </a:defRPr>
            </a:pPr>
            <a:r>
              <a:t>Use Dark Text</a:t>
            </a:r>
          </a:p>
        </p:txBody>
      </p:sp>
      <p:sp>
        <p:nvSpPr>
          <p:cNvPr id="6" name="Rectangle 5"/>
          <p:cNvSpPr/>
          <p:nvPr/>
        </p:nvSpPr>
        <p:spPr>
          <a:xfrm>
            <a:off x="1143000" y="3726180"/>
            <a:ext cx="1828800" cy="1371600"/>
          </a:xfrm>
          <a:prstGeom prst="rect">
            <a:avLst/>
          </a:prstGeom>
          <a:solidFill>
            <a:srgbClr val="24A19C"/>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54680" y="372618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Inter"/>
              </a:defRPr>
            </a:pPr>
            <a:r>
              <a:t>Accent Teal</a:t>
            </a:r>
          </a:p>
          <a:p>
            <a:pPr algn="l">
              <a:spcAft>
                <a:spcPts val="300"/>
              </a:spcAft>
              <a:defRPr sz="1000" b="0">
                <a:solidFill>
                  <a:srgbClr val="000000"/>
                </a:solidFill>
                <a:latin typeface="Inter"/>
              </a:defRPr>
            </a:pPr>
            <a:r>
              <a:t>#24A19C</a:t>
            </a:r>
          </a:p>
          <a:p>
            <a:pPr algn="l">
              <a:spcAft>
                <a:spcPts val="300"/>
              </a:spcAft>
              <a:defRPr sz="1000" b="0">
                <a:solidFill>
                  <a:srgbClr val="000000"/>
                </a:solidFill>
                <a:latin typeface="Inter"/>
              </a:defRPr>
            </a:pPr>
            <a:r>
              <a:t>RGB(36, 161, 156)</a:t>
            </a:r>
          </a:p>
          <a:p>
            <a:pPr algn="l">
              <a:spcAft>
                <a:spcPts val="300"/>
              </a:spcAft>
              <a:defRPr sz="1000" b="0">
                <a:solidFill>
                  <a:srgbClr val="000000"/>
                </a:solidFill>
                <a:latin typeface="Inter"/>
              </a:defRPr>
            </a:pPr>
            <a:r>
              <a:t>CMYK(77, 0, 3, 36)</a:t>
            </a:r>
          </a:p>
          <a:p>
            <a:pPr algn="l">
              <a:spcAft>
                <a:spcPts val="300"/>
              </a:spcAft>
              <a:defRPr sz="1000" b="0">
                <a:solidFill>
                  <a:srgbClr val="000000"/>
                </a:solidFill>
                <a:latin typeface="Inter"/>
              </a:defRPr>
            </a:pPr>
            <a:r>
              <a:t>Use Dark Text</a:t>
            </a:r>
          </a:p>
        </p:txBody>
      </p:sp>
      <p:sp>
        <p:nvSpPr>
          <p:cNvPr id="8" name="Rectangle 7"/>
          <p:cNvSpPr/>
          <p:nvPr/>
        </p:nvSpPr>
        <p:spPr>
          <a:xfrm>
            <a:off x="4572000" y="3726180"/>
            <a:ext cx="1828800" cy="1371600"/>
          </a:xfrm>
          <a:prstGeom prst="rect">
            <a:avLst/>
          </a:prstGeom>
          <a:solidFill>
            <a:srgbClr val="1B365D"/>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372618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Inter"/>
              </a:defRPr>
            </a:pPr>
            <a:r>
              <a:t>Deep Navy</a:t>
            </a:r>
          </a:p>
          <a:p>
            <a:pPr algn="l">
              <a:spcAft>
                <a:spcPts val="300"/>
              </a:spcAft>
              <a:defRPr sz="1000" b="0">
                <a:solidFill>
                  <a:srgbClr val="000000"/>
                </a:solidFill>
                <a:latin typeface="Inter"/>
              </a:defRPr>
            </a:pPr>
            <a:r>
              <a:t>#1B365D</a:t>
            </a:r>
          </a:p>
          <a:p>
            <a:pPr algn="l">
              <a:spcAft>
                <a:spcPts val="300"/>
              </a:spcAft>
              <a:defRPr sz="1000" b="0">
                <a:solidFill>
                  <a:srgbClr val="000000"/>
                </a:solidFill>
                <a:latin typeface="Inter"/>
              </a:defRPr>
            </a:pPr>
            <a:r>
              <a:t>RGB(27, 54, 93)</a:t>
            </a:r>
          </a:p>
          <a:p>
            <a:pPr algn="l">
              <a:spcAft>
                <a:spcPts val="300"/>
              </a:spcAft>
              <a:defRPr sz="1000" b="0">
                <a:solidFill>
                  <a:srgbClr val="000000"/>
                </a:solidFill>
                <a:latin typeface="Inter"/>
              </a:defRPr>
            </a:pPr>
            <a:r>
              <a:t>CMYK(70, 41, 0, 63)</a:t>
            </a:r>
          </a:p>
          <a:p>
            <a:pPr algn="l">
              <a:spcAft>
                <a:spcPts val="300"/>
              </a:spcAft>
              <a:defRPr sz="1000" b="0">
                <a:solidFill>
                  <a:srgbClr val="000000"/>
                </a:solidFill>
                <a:latin typeface="Inter"/>
              </a:defRPr>
            </a:pPr>
            <a:r>
              <a:t>Use Light Text</a:t>
            </a:r>
          </a:p>
        </p:txBody>
      </p:sp>
      <p:cxnSp>
        <p:nvCxnSpPr>
          <p:cNvPr id="10" name="Connector 9"/>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5560695"/>
            <a:ext cx="5486400" cy="731520"/>
          </a:xfrm>
          <a:prstGeom prst="rect">
            <a:avLst/>
          </a:prstGeom>
          <a:noFill/>
        </p:spPr>
        <p:txBody>
          <a:bodyPr wrap="none">
            <a:spAutoFit/>
          </a:bodyPr>
          <a:lstStyle/>
          <a:p>
            <a:pPr algn="l">
              <a:defRPr sz="2800" b="1">
                <a:solidFill>
                  <a:srgbClr val="059669"/>
                </a:solidFill>
                <a:latin typeface="Source Sans Pro"/>
              </a:defRPr>
            </a:pPr>
            <a:r>
              <a:t>Primary Colors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143000" y="1571625"/>
            <a:ext cx="1828800" cy="914400"/>
          </a:xfrm>
          <a:prstGeom prst="rect">
            <a:avLst/>
          </a:prstGeom>
          <a:solidFill>
            <a:srgbClr val="8AE1D0"/>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Inter"/>
              </a:defRPr>
            </a:pPr>
            <a:r>
              <a:t>Light Mint</a:t>
            </a:r>
          </a:p>
          <a:p>
            <a:pPr algn="ctr">
              <a:spcAft>
                <a:spcPts val="300"/>
              </a:spcAft>
              <a:defRPr sz="1000" b="0">
                <a:solidFill>
                  <a:srgbClr val="000000"/>
                </a:solidFill>
                <a:latin typeface="Inter"/>
              </a:defRPr>
            </a:pPr>
            <a:r>
              <a:t>#8AE1D0</a:t>
            </a:r>
          </a:p>
          <a:p>
            <a:pPr algn="ctr">
              <a:spcAft>
                <a:spcPts val="300"/>
              </a:spcAft>
              <a:defRPr sz="1000" b="0">
                <a:solidFill>
                  <a:srgbClr val="000000"/>
                </a:solidFill>
                <a:latin typeface="Inter"/>
              </a:defRPr>
            </a:pPr>
            <a:r>
              <a:t>Use Dark Text</a:t>
            </a:r>
          </a:p>
        </p:txBody>
      </p:sp>
      <p:sp>
        <p:nvSpPr>
          <p:cNvPr id="4" name="Rectangle 3"/>
          <p:cNvSpPr/>
          <p:nvPr/>
        </p:nvSpPr>
        <p:spPr>
          <a:xfrm>
            <a:off x="3200400" y="1571625"/>
            <a:ext cx="1828800" cy="914400"/>
          </a:xfrm>
          <a:prstGeom prst="rect">
            <a:avLst/>
          </a:prstGeom>
          <a:solidFill>
            <a:srgbClr val="0F7267"/>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Inter"/>
              </a:defRPr>
            </a:pPr>
            <a:r>
              <a:t>Dark Teal</a:t>
            </a:r>
          </a:p>
          <a:p>
            <a:pPr algn="ctr">
              <a:spcAft>
                <a:spcPts val="300"/>
              </a:spcAft>
              <a:defRPr sz="1000" b="0">
                <a:solidFill>
                  <a:srgbClr val="000000"/>
                </a:solidFill>
                <a:latin typeface="Inter"/>
              </a:defRPr>
            </a:pPr>
            <a:r>
              <a:t>#0F7267</a:t>
            </a:r>
          </a:p>
          <a:p>
            <a:pPr algn="ctr">
              <a:spcAft>
                <a:spcPts val="300"/>
              </a:spcAft>
              <a:defRPr sz="1000" b="0">
                <a:solidFill>
                  <a:srgbClr val="000000"/>
                </a:solidFill>
                <a:latin typeface="Inter"/>
              </a:defRPr>
            </a:pPr>
            <a:r>
              <a:t>Use Light Text</a:t>
            </a:r>
          </a:p>
        </p:txBody>
      </p:sp>
      <p:sp>
        <p:nvSpPr>
          <p:cNvPr id="6" name="Rectangle 5"/>
          <p:cNvSpPr/>
          <p:nvPr/>
        </p:nvSpPr>
        <p:spPr>
          <a:xfrm>
            <a:off x="5257800" y="1571625"/>
            <a:ext cx="1828800" cy="914400"/>
          </a:xfrm>
          <a:prstGeom prst="rect">
            <a:avLst/>
          </a:prstGeom>
          <a:solidFill>
            <a:srgbClr val="FFA69E"/>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Inter"/>
              </a:defRPr>
            </a:pPr>
            <a:r>
              <a:t>Soft Coral</a:t>
            </a:r>
          </a:p>
          <a:p>
            <a:pPr algn="ctr">
              <a:spcAft>
                <a:spcPts val="300"/>
              </a:spcAft>
              <a:defRPr sz="1000" b="0">
                <a:solidFill>
                  <a:srgbClr val="000000"/>
                </a:solidFill>
                <a:latin typeface="Inter"/>
              </a:defRPr>
            </a:pPr>
            <a:r>
              <a:t>#FFA69E</a:t>
            </a:r>
          </a:p>
          <a:p>
            <a:pPr algn="ctr">
              <a:spcAft>
                <a:spcPts val="300"/>
              </a:spcAft>
              <a:defRPr sz="1000" b="0">
                <a:solidFill>
                  <a:srgbClr val="000000"/>
                </a:solidFill>
                <a:latin typeface="Inter"/>
              </a:defRPr>
            </a:pPr>
            <a:r>
              <a:t>Use Dark Text</a:t>
            </a:r>
          </a:p>
        </p:txBody>
      </p:sp>
      <p:sp>
        <p:nvSpPr>
          <p:cNvPr id="8" name="Rectangle 7"/>
          <p:cNvSpPr/>
          <p:nvPr/>
        </p:nvSpPr>
        <p:spPr>
          <a:xfrm>
            <a:off x="2171700" y="3429000"/>
            <a:ext cx="1828800" cy="914400"/>
          </a:xfrm>
          <a:prstGeom prst="rect">
            <a:avLst/>
          </a:prstGeom>
          <a:solidFill>
            <a:srgbClr val="B3A0C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71700" y="4526280"/>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Inter"/>
              </a:defRPr>
            </a:pPr>
            <a:r>
              <a:t>Light Lavender</a:t>
            </a:r>
          </a:p>
          <a:p>
            <a:pPr algn="ctr">
              <a:spcAft>
                <a:spcPts val="300"/>
              </a:spcAft>
              <a:defRPr sz="1000" b="0">
                <a:solidFill>
                  <a:srgbClr val="000000"/>
                </a:solidFill>
                <a:latin typeface="Inter"/>
              </a:defRPr>
            </a:pPr>
            <a:r>
              <a:t>#B3A0C9</a:t>
            </a:r>
          </a:p>
          <a:p>
            <a:pPr algn="ctr">
              <a:spcAft>
                <a:spcPts val="300"/>
              </a:spcAft>
              <a:defRPr sz="1000" b="0">
                <a:solidFill>
                  <a:srgbClr val="000000"/>
                </a:solidFill>
                <a:latin typeface="Inter"/>
              </a:defRPr>
            </a:pPr>
            <a:r>
              <a:t>Use Dark Text</a:t>
            </a:r>
          </a:p>
        </p:txBody>
      </p:sp>
      <p:sp>
        <p:nvSpPr>
          <p:cNvPr id="10" name="Rectangle 9"/>
          <p:cNvSpPr/>
          <p:nvPr/>
        </p:nvSpPr>
        <p:spPr>
          <a:xfrm>
            <a:off x="4229100" y="3429000"/>
            <a:ext cx="1828800" cy="914400"/>
          </a:xfrm>
          <a:prstGeom prst="rect">
            <a:avLst/>
          </a:prstGeom>
          <a:solidFill>
            <a:srgbClr val="333333"/>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29100" y="4526280"/>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Inter"/>
              </a:defRPr>
            </a:pPr>
            <a:r>
              <a:t>Charcoal</a:t>
            </a:r>
          </a:p>
          <a:p>
            <a:pPr algn="ctr">
              <a:spcAft>
                <a:spcPts val="300"/>
              </a:spcAft>
              <a:defRPr sz="1000" b="0">
                <a:solidFill>
                  <a:srgbClr val="000000"/>
                </a:solidFill>
                <a:latin typeface="Inter"/>
              </a:defRPr>
            </a:pPr>
            <a:r>
              <a:t>#333333</a:t>
            </a:r>
          </a:p>
          <a:p>
            <a:pPr algn="ctr">
              <a:spcAft>
                <a:spcPts val="300"/>
              </a:spcAft>
              <a:defRPr sz="1000" b="0">
                <a:solidFill>
                  <a:srgbClr val="000000"/>
                </a:solidFill>
                <a:latin typeface="Inter"/>
              </a:defRPr>
            </a:pPr>
            <a:r>
              <a:t>Use Light Text</a:t>
            </a:r>
          </a:p>
        </p:txBody>
      </p:sp>
      <p:cxnSp>
        <p:nvCxnSpPr>
          <p:cNvPr id="12" name="Connector 11"/>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5560695"/>
            <a:ext cx="5486400" cy="731520"/>
          </a:xfrm>
          <a:prstGeom prst="rect">
            <a:avLst/>
          </a:prstGeom>
          <a:noFill/>
        </p:spPr>
        <p:txBody>
          <a:bodyPr wrap="none">
            <a:spAutoFit/>
          </a:bodyPr>
          <a:lstStyle/>
          <a:p>
            <a:pPr algn="l">
              <a:defRPr sz="2800" b="1">
                <a:solidFill>
                  <a:srgbClr val="059669"/>
                </a:solidFill>
                <a:latin typeface="Source Sans Pro"/>
              </a:defRPr>
            </a:pPr>
            <a:r>
              <a:t>Secondary Colors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000000"/>
                </a:solidFill>
                <a:latin typeface="Inter"/>
              </a:defRPr>
            </a:pPr>
            <a:r>
              <a:t>Primary Color Usage</a:t>
            </a:r>
          </a:p>
          <a:p>
            <a:pPr algn="l">
              <a:spcAft>
                <a:spcPts val="600"/>
              </a:spcAft>
              <a:defRPr sz="1400" b="0">
                <a:solidFill>
                  <a:srgbClr val="000000"/>
                </a:solidFill>
                <a:latin typeface="Inter"/>
              </a:defRPr>
            </a:pPr>
          </a:p>
          <a:p>
            <a:pPr algn="l">
              <a:spcAft>
                <a:spcPts val="600"/>
              </a:spcAft>
              <a:defRPr sz="1400" b="0">
                <a:solidFill>
                  <a:srgbClr val="000000"/>
                </a:solidFill>
                <a:latin typeface="Inter"/>
              </a:defRPr>
            </a:pPr>
            <a:r>
              <a:t>Use for brand-critical elements:</a:t>
            </a:r>
          </a:p>
          <a:p>
            <a:pPr algn="l">
              <a:spcAft>
                <a:spcPts val="600"/>
              </a:spcAft>
              <a:defRPr sz="1400" b="0">
                <a:solidFill>
                  <a:srgbClr val="000000"/>
                </a:solidFill>
                <a:latin typeface="Inter"/>
              </a:defRPr>
            </a:pPr>
            <a:r>
              <a:t>• Logos and main brand marks</a:t>
            </a:r>
          </a:p>
          <a:p>
            <a:pPr algn="l">
              <a:spcAft>
                <a:spcPts val="600"/>
              </a:spcAft>
              <a:defRPr sz="1400" b="0">
                <a:solidFill>
                  <a:srgbClr val="000000"/>
                </a:solidFill>
                <a:latin typeface="Inter"/>
              </a:defRPr>
            </a:pPr>
            <a:r>
              <a:t>• Headlines and key text</a:t>
            </a:r>
          </a:p>
          <a:p>
            <a:pPr algn="l">
              <a:spcAft>
                <a:spcPts val="600"/>
              </a:spcAft>
              <a:defRPr sz="1400" b="0">
                <a:solidFill>
                  <a:srgbClr val="000000"/>
                </a:solidFill>
                <a:latin typeface="Inter"/>
              </a:defRPr>
            </a:pPr>
            <a:r>
              <a:t>• CTA buttons and navigation</a:t>
            </a:r>
          </a:p>
          <a:p>
            <a:pPr algn="l">
              <a:spcAft>
                <a:spcPts val="600"/>
              </a:spcAft>
              <a:defRPr sz="1400" b="0">
                <a:solidFill>
                  <a:srgbClr val="000000"/>
                </a:solidFill>
                <a:latin typeface="Inter"/>
              </a:defRPr>
            </a:pPr>
            <a:r>
              <a:t>• Hero sections</a:t>
            </a:r>
          </a:p>
          <a:p>
            <a:pPr algn="l">
              <a:spcAft>
                <a:spcPts val="600"/>
              </a:spcAft>
              <a:defRPr sz="1400" b="0">
                <a:solidFill>
                  <a:srgbClr val="000000"/>
                </a:solidFill>
                <a:latin typeface="Inter"/>
              </a:defRPr>
            </a:pPr>
          </a:p>
          <a:p>
            <a:pPr algn="l">
              <a:spcAft>
                <a:spcPts val="600"/>
              </a:spcAft>
              <a:defRPr sz="1400" b="0">
                <a:solidFill>
                  <a:srgbClr val="000000"/>
                </a:solidFill>
                <a:latin typeface="Inter"/>
              </a:defRPr>
            </a:pPr>
            <a:r>
              <a:t>Colors: Logo Primary, Primary Blue, Accent Teal, Deep Navy</a:t>
            </a:r>
          </a:p>
          <a:p>
            <a:pPr algn="l">
              <a:spcAft>
                <a:spcPts val="600"/>
              </a:spcAft>
              <a:defRPr sz="1400" b="0">
                <a:solidFill>
                  <a:srgbClr val="000000"/>
                </a:solidFill>
                <a:latin typeface="Inter"/>
              </a:defRPr>
            </a:pPr>
          </a:p>
          <a:p>
            <a:pPr algn="l">
              <a:spcAft>
                <a:spcPts val="600"/>
              </a:spcAft>
              <a:defRPr sz="1400" b="0">
                <a:solidFill>
                  <a:srgbClr val="000000"/>
                </a:solidFill>
                <a:latin typeface="Inter"/>
              </a:defRPr>
            </a:pPr>
            <a:r>
              <a:t>Best Practices:</a:t>
            </a:r>
          </a:p>
          <a:p>
            <a:pPr algn="l">
              <a:spcAft>
                <a:spcPts val="600"/>
              </a:spcAft>
              <a:defRPr sz="1400" b="0">
                <a:solidFill>
                  <a:srgbClr val="000000"/>
                </a:solidFill>
                <a:latin typeface="Inter"/>
              </a:defRPr>
            </a:pPr>
            <a:r>
              <a:t>- Maximum brand recognition</a:t>
            </a:r>
          </a:p>
          <a:p>
            <a:pPr algn="l">
              <a:spcAft>
                <a:spcPts val="600"/>
              </a:spcAft>
              <a:defRPr sz="1400" b="0">
                <a:solidFill>
                  <a:srgbClr val="000000"/>
                </a:solidFill>
                <a:latin typeface="Inter"/>
              </a:defRPr>
            </a:pPr>
            <a:r>
              <a:t>- Consistent application</a:t>
            </a:r>
          </a:p>
          <a:p>
            <a:pPr algn="l">
              <a:spcAft>
                <a:spcPts val="600"/>
              </a:spcAft>
              <a:defRPr sz="1400" b="0">
                <a:solidFill>
                  <a:srgbClr val="000000"/>
                </a:solidFill>
                <a:latin typeface="Inter"/>
              </a:defRPr>
            </a:pPr>
            <a:r>
              <a:t>- Sufficient contrast</a:t>
            </a:r>
          </a:p>
          <a:p>
            <a:pPr algn="l">
              <a:spcAft>
                <a:spcPts val="600"/>
              </a:spcAft>
              <a:defRPr sz="1400" b="0">
                <a:solidFill>
                  <a:srgbClr val="000000"/>
                </a:solidFill>
                <a:latin typeface="Inter"/>
              </a:defRPr>
            </a:pPr>
            <a:r>
              <a:t>- Accessibility compliance</a:t>
            </a:r>
          </a:p>
        </p:txBody>
      </p:sp>
      <p:cxnSp>
        <p:nvCxnSpPr>
          <p:cNvPr id="3" name="Connector 2"/>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059669"/>
                </a:solidFill>
                <a:latin typeface="Source Sans Pro"/>
              </a:defRPr>
            </a:pPr>
            <a:r>
              <a:t>Color Usage 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000000"/>
                </a:solidFill>
                <a:latin typeface="Inter"/>
              </a:defRPr>
            </a:pPr>
            <a:r>
              <a:t>Secondary Color Usage</a:t>
            </a:r>
          </a:p>
          <a:p>
            <a:pPr algn="l">
              <a:spcAft>
                <a:spcPts val="600"/>
              </a:spcAft>
              <a:defRPr sz="1400" b="0">
                <a:solidFill>
                  <a:srgbClr val="000000"/>
                </a:solidFill>
                <a:latin typeface="Inter"/>
              </a:defRPr>
            </a:pPr>
          </a:p>
          <a:p>
            <a:pPr algn="l">
              <a:spcAft>
                <a:spcPts val="600"/>
              </a:spcAft>
              <a:defRPr sz="1400" b="0">
                <a:solidFill>
                  <a:srgbClr val="000000"/>
                </a:solidFill>
                <a:latin typeface="Inter"/>
              </a:defRPr>
            </a:pPr>
            <a:r>
              <a:t>Use for supporting elements:</a:t>
            </a:r>
          </a:p>
          <a:p>
            <a:pPr algn="l">
              <a:spcAft>
                <a:spcPts val="600"/>
              </a:spcAft>
              <a:defRPr sz="1400" b="0">
                <a:solidFill>
                  <a:srgbClr val="000000"/>
                </a:solidFill>
                <a:latin typeface="Inter"/>
              </a:defRPr>
            </a:pPr>
            <a:r>
              <a:t>• Backgrounds and subtle accents</a:t>
            </a:r>
          </a:p>
          <a:p>
            <a:pPr algn="l">
              <a:spcAft>
                <a:spcPts val="600"/>
              </a:spcAft>
              <a:defRPr sz="1400" b="0">
                <a:solidFill>
                  <a:srgbClr val="000000"/>
                </a:solidFill>
                <a:latin typeface="Inter"/>
              </a:defRPr>
            </a:pPr>
            <a:r>
              <a:t>• Secondary text</a:t>
            </a:r>
          </a:p>
          <a:p>
            <a:pPr algn="l">
              <a:spcAft>
                <a:spcPts val="600"/>
              </a:spcAft>
              <a:defRPr sz="1400" b="0">
                <a:solidFill>
                  <a:srgbClr val="000000"/>
                </a:solidFill>
                <a:latin typeface="Inter"/>
              </a:defRPr>
            </a:pPr>
            <a:r>
              <a:t>• Borders and dividers</a:t>
            </a:r>
          </a:p>
          <a:p>
            <a:pPr algn="l">
              <a:spcAft>
                <a:spcPts val="600"/>
              </a:spcAft>
              <a:defRPr sz="1400" b="0">
                <a:solidFill>
                  <a:srgbClr val="000000"/>
                </a:solidFill>
                <a:latin typeface="Inter"/>
              </a:defRPr>
            </a:pPr>
            <a:r>
              <a:t>• Hover states and icons</a:t>
            </a:r>
          </a:p>
          <a:p>
            <a:pPr algn="l">
              <a:spcAft>
                <a:spcPts val="600"/>
              </a:spcAft>
              <a:defRPr sz="1400" b="0">
                <a:solidFill>
                  <a:srgbClr val="000000"/>
                </a:solidFill>
                <a:latin typeface="Inter"/>
              </a:defRPr>
            </a:pPr>
          </a:p>
          <a:p>
            <a:pPr algn="l">
              <a:spcAft>
                <a:spcPts val="600"/>
              </a:spcAft>
              <a:defRPr sz="1400" b="0">
                <a:solidFill>
                  <a:srgbClr val="000000"/>
                </a:solidFill>
                <a:latin typeface="Inter"/>
              </a:defRPr>
            </a:pPr>
            <a:r>
              <a:t>Colors: Light Mint, Dark Teal, Soft Coral, Light Lavender, Charcoal</a:t>
            </a:r>
          </a:p>
          <a:p>
            <a:pPr algn="l">
              <a:spcAft>
                <a:spcPts val="600"/>
              </a:spcAft>
              <a:defRPr sz="1400" b="0">
                <a:solidFill>
                  <a:srgbClr val="000000"/>
                </a:solidFill>
                <a:latin typeface="Inter"/>
              </a:defRPr>
            </a:pPr>
          </a:p>
          <a:p>
            <a:pPr algn="l">
              <a:spcAft>
                <a:spcPts val="600"/>
              </a:spcAft>
              <a:defRPr sz="1400" b="0">
                <a:solidFill>
                  <a:srgbClr val="000000"/>
                </a:solidFill>
                <a:latin typeface="Inter"/>
              </a:defRPr>
            </a:pPr>
            <a:r>
              <a:t>Best Practices:</a:t>
            </a:r>
          </a:p>
          <a:p>
            <a:pPr algn="l">
              <a:spcAft>
                <a:spcPts val="600"/>
              </a:spcAft>
              <a:defRPr sz="1400" b="0">
                <a:solidFill>
                  <a:srgbClr val="000000"/>
                </a:solidFill>
                <a:latin typeface="Inter"/>
              </a:defRPr>
            </a:pPr>
            <a:r>
              <a:t>- Create visual hierarchy</a:t>
            </a:r>
          </a:p>
          <a:p>
            <a:pPr algn="l">
              <a:spcAft>
                <a:spcPts val="600"/>
              </a:spcAft>
              <a:defRPr sz="1400" b="0">
                <a:solidFill>
                  <a:srgbClr val="000000"/>
                </a:solidFill>
                <a:latin typeface="Inter"/>
              </a:defRPr>
            </a:pPr>
            <a:r>
              <a:t>- Support, don't compete</a:t>
            </a:r>
          </a:p>
          <a:p>
            <a:pPr algn="l">
              <a:spcAft>
                <a:spcPts val="600"/>
              </a:spcAft>
              <a:defRPr sz="1400" b="0">
                <a:solidFill>
                  <a:srgbClr val="000000"/>
                </a:solidFill>
                <a:latin typeface="Inter"/>
              </a:defRPr>
            </a:pPr>
            <a:r>
              <a:t>- Maintain readability</a:t>
            </a:r>
          </a:p>
          <a:p>
            <a:pPr algn="l">
              <a:spcAft>
                <a:spcPts val="600"/>
              </a:spcAft>
              <a:defRPr sz="1400" b="0">
                <a:solidFill>
                  <a:srgbClr val="000000"/>
                </a:solidFill>
                <a:latin typeface="Inter"/>
              </a:defRPr>
            </a:pPr>
            <a:r>
              <a:t>- Use sparingly</a:t>
            </a:r>
          </a:p>
        </p:txBody>
      </p:sp>
      <p:cxnSp>
        <p:nvCxnSpPr>
          <p:cNvPr id="3" name="Connector 2"/>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059669"/>
                </a:solidFill>
                <a:latin typeface="Source Sans Pro"/>
              </a:defRPr>
            </a:pPr>
            <a:r>
              <a:t>Color Usage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Primary Font: Source Sans Pro</a:t>
            </a:r>
          </a:p>
          <a:p>
            <a:pPr algn="l">
              <a:spcAft>
                <a:spcPts val="800"/>
              </a:spcAft>
              <a:defRPr sz="2000" b="0">
                <a:solidFill>
                  <a:srgbClr val="000000"/>
                </a:solidFill>
                <a:latin typeface="Inter"/>
              </a:defRPr>
            </a:pPr>
          </a:p>
          <a:p>
            <a:pPr algn="l">
              <a:spcAft>
                <a:spcPts val="800"/>
              </a:spcAft>
              <a:defRPr sz="2000" b="0">
                <a:solidFill>
                  <a:srgbClr val="000000"/>
                </a:solidFill>
                <a:latin typeface="Inter"/>
              </a:defRPr>
            </a:pPr>
            <a:r>
              <a:t>Secondary Font: Inter</a:t>
            </a:r>
          </a:p>
          <a:p>
            <a:pPr algn="l">
              <a:spcAft>
                <a:spcPts val="800"/>
              </a:spcAft>
              <a:defRPr sz="2000" b="0">
                <a:solidFill>
                  <a:srgbClr val="000000"/>
                </a:solidFill>
                <a:latin typeface="Inter"/>
              </a:defRPr>
            </a:pPr>
          </a:p>
          <a:p>
            <a:pPr algn="l">
              <a:spcAft>
                <a:spcPts val="800"/>
              </a:spcAft>
              <a:defRPr sz="2000" b="0">
                <a:solidFill>
                  <a:srgbClr val="000000"/>
                </a:solidFill>
                <a:latin typeface="Inter"/>
              </a:defRPr>
            </a:pPr>
            <a:r>
              <a:t>Font Hierarchy:</a:t>
            </a:r>
          </a:p>
          <a:p>
            <a:pPr algn="l">
              <a:spcAft>
                <a:spcPts val="800"/>
              </a:spcAft>
              <a:defRPr sz="2000" b="0">
                <a:solidFill>
                  <a:srgbClr val="000000"/>
                </a:solidFill>
                <a:latin typeface="Inter"/>
              </a:defRPr>
            </a:pPr>
            <a:r>
              <a:t>• Headlines: Source Sans Pro - Bold, 28-32pt</a:t>
            </a:r>
          </a:p>
          <a:p>
            <a:pPr algn="l">
              <a:spcAft>
                <a:spcPts val="800"/>
              </a:spcAft>
              <a:defRPr sz="2000" b="0">
                <a:solidFill>
                  <a:srgbClr val="000000"/>
                </a:solidFill>
                <a:latin typeface="Inter"/>
              </a:defRPr>
            </a:pPr>
            <a:r>
              <a:t>• Subheadlines: Source Sans Pro - Bold, 20-24pt</a:t>
            </a:r>
          </a:p>
          <a:p>
            <a:pPr algn="l">
              <a:spcAft>
                <a:spcPts val="800"/>
              </a:spcAft>
              <a:defRPr sz="2000" b="0">
                <a:solidFill>
                  <a:srgbClr val="000000"/>
                </a:solidFill>
                <a:latin typeface="Inter"/>
              </a:defRPr>
            </a:pPr>
            <a:r>
              <a:t>• Body Text: Inter - Regular, 16-18pt</a:t>
            </a:r>
          </a:p>
          <a:p>
            <a:pPr algn="l">
              <a:spcAft>
                <a:spcPts val="800"/>
              </a:spcAft>
              <a:defRPr sz="2000" b="0">
                <a:solidFill>
                  <a:srgbClr val="000000"/>
                </a:solidFill>
                <a:latin typeface="Inter"/>
              </a:defRPr>
            </a:pPr>
            <a:r>
              <a:t>• Caption Text: Inter - Regular, 12-14pt</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059669"/>
                </a:solidFill>
                <a:latin typeface="Source Sans Pro"/>
              </a:defRPr>
            </a:pPr>
            <a:r>
              <a:t>TYPOGRAPHY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74295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Chaayos - Core Functional Icons</a:t>
            </a:r>
          </a:p>
        </p:txBody>
      </p:sp>
      <p:pic>
        <p:nvPicPr>
          <p:cNvPr id="3" name="Picture 2" descr="mdi_home_059669.png"/>
          <p:cNvPicPr>
            <a:picLocks noChangeAspect="1"/>
          </p:cNvPicPr>
          <p:nvPr/>
        </p:nvPicPr>
        <p:blipFill>
          <a:blip r:embed="rId2"/>
          <a:stretch>
            <a:fillRect/>
          </a:stretch>
        </p:blipFill>
        <p:spPr>
          <a:xfrm>
            <a:off x="722376" y="1645920"/>
            <a:ext cx="822960" cy="822960"/>
          </a:xfrm>
          <a:prstGeom prst="rect">
            <a:avLst/>
          </a:prstGeom>
        </p:spPr>
      </p:pic>
      <p:pic>
        <p:nvPicPr>
          <p:cNvPr id="4" name="Picture 3" descr="mdi_account_059669.png"/>
          <p:cNvPicPr>
            <a:picLocks noChangeAspect="1"/>
          </p:cNvPicPr>
          <p:nvPr/>
        </p:nvPicPr>
        <p:blipFill>
          <a:blip r:embed="rId3"/>
          <a:stretch>
            <a:fillRect/>
          </a:stretch>
        </p:blipFill>
        <p:spPr>
          <a:xfrm>
            <a:off x="2441448" y="1645920"/>
            <a:ext cx="822960" cy="822960"/>
          </a:xfrm>
          <a:prstGeom prst="rect">
            <a:avLst/>
          </a:prstGeom>
        </p:spPr>
      </p:pic>
      <p:pic>
        <p:nvPicPr>
          <p:cNvPr id="5" name="Picture 4" descr="mdi_cog_059669.png"/>
          <p:cNvPicPr>
            <a:picLocks noChangeAspect="1"/>
          </p:cNvPicPr>
          <p:nvPr/>
        </p:nvPicPr>
        <p:blipFill>
          <a:blip r:embed="rId4"/>
          <a:stretch>
            <a:fillRect/>
          </a:stretch>
        </p:blipFill>
        <p:spPr>
          <a:xfrm>
            <a:off x="4160520" y="1645920"/>
            <a:ext cx="822960" cy="822960"/>
          </a:xfrm>
          <a:prstGeom prst="rect">
            <a:avLst/>
          </a:prstGeom>
        </p:spPr>
      </p:pic>
      <p:pic>
        <p:nvPicPr>
          <p:cNvPr id="6" name="Picture 5" descr="mdi_briefcase_059669.png"/>
          <p:cNvPicPr>
            <a:picLocks noChangeAspect="1"/>
          </p:cNvPicPr>
          <p:nvPr/>
        </p:nvPicPr>
        <p:blipFill>
          <a:blip r:embed="rId5"/>
          <a:stretch>
            <a:fillRect/>
          </a:stretch>
        </p:blipFill>
        <p:spPr>
          <a:xfrm>
            <a:off x="5879592" y="1645920"/>
            <a:ext cx="822960" cy="822960"/>
          </a:xfrm>
          <a:prstGeom prst="rect">
            <a:avLst/>
          </a:prstGeom>
        </p:spPr>
      </p:pic>
      <p:pic>
        <p:nvPicPr>
          <p:cNvPr id="7" name="Picture 6" descr="mdi_office-building_059669.png"/>
          <p:cNvPicPr>
            <a:picLocks noChangeAspect="1"/>
          </p:cNvPicPr>
          <p:nvPr/>
        </p:nvPicPr>
        <p:blipFill>
          <a:blip r:embed="rId6"/>
          <a:stretch>
            <a:fillRect/>
          </a:stretch>
        </p:blipFill>
        <p:spPr>
          <a:xfrm>
            <a:off x="7598664" y="1645920"/>
            <a:ext cx="822960" cy="822960"/>
          </a:xfrm>
          <a:prstGeom prst="rect">
            <a:avLst/>
          </a:prstGeom>
        </p:spPr>
      </p:pic>
      <p:pic>
        <p:nvPicPr>
          <p:cNvPr id="8" name="Picture 7" descr="mdi_handshake_059669.png"/>
          <p:cNvPicPr>
            <a:picLocks noChangeAspect="1"/>
          </p:cNvPicPr>
          <p:nvPr/>
        </p:nvPicPr>
        <p:blipFill>
          <a:blip r:embed="rId7"/>
          <a:stretch>
            <a:fillRect/>
          </a:stretch>
        </p:blipFill>
        <p:spPr>
          <a:xfrm>
            <a:off x="722376" y="2743200"/>
            <a:ext cx="822960" cy="822960"/>
          </a:xfrm>
          <a:prstGeom prst="rect">
            <a:avLst/>
          </a:prstGeom>
        </p:spPr>
      </p:pic>
      <p:pic>
        <p:nvPicPr>
          <p:cNvPr id="9" name="Picture 8" descr="mdi_chart-line_059669.png"/>
          <p:cNvPicPr>
            <a:picLocks noChangeAspect="1"/>
          </p:cNvPicPr>
          <p:nvPr/>
        </p:nvPicPr>
        <p:blipFill>
          <a:blip r:embed="rId8"/>
          <a:stretch>
            <a:fillRect/>
          </a:stretch>
        </p:blipFill>
        <p:spPr>
          <a:xfrm>
            <a:off x="2441448" y="2743200"/>
            <a:ext cx="822960" cy="822960"/>
          </a:xfrm>
          <a:prstGeom prst="rect">
            <a:avLst/>
          </a:prstGeom>
        </p:spPr>
      </p:pic>
      <p:pic>
        <p:nvPicPr>
          <p:cNvPr id="10" name="Picture 9" descr="mdi_presentation_059669.png"/>
          <p:cNvPicPr>
            <a:picLocks noChangeAspect="1"/>
          </p:cNvPicPr>
          <p:nvPr/>
        </p:nvPicPr>
        <p:blipFill>
          <a:blip r:embed="rId9"/>
          <a:stretch>
            <a:fillRect/>
          </a:stretch>
        </p:blipFill>
        <p:spPr>
          <a:xfrm>
            <a:off x="4160520" y="2743200"/>
            <a:ext cx="822960" cy="822960"/>
          </a:xfrm>
          <a:prstGeom prst="rect">
            <a:avLst/>
          </a:prstGeom>
        </p:spPr>
      </p:pic>
      <p:pic>
        <p:nvPicPr>
          <p:cNvPr id="11" name="Picture 10" descr="mdi_calendar_059669.png"/>
          <p:cNvPicPr>
            <a:picLocks noChangeAspect="1"/>
          </p:cNvPicPr>
          <p:nvPr/>
        </p:nvPicPr>
        <p:blipFill>
          <a:blip r:embed="rId10"/>
          <a:stretch>
            <a:fillRect/>
          </a:stretch>
        </p:blipFill>
        <p:spPr>
          <a:xfrm>
            <a:off x="5879592" y="2743200"/>
            <a:ext cx="822960" cy="822960"/>
          </a:xfrm>
          <a:prstGeom prst="rect">
            <a:avLst/>
          </a:prstGeom>
        </p:spPr>
      </p:pic>
      <p:pic>
        <p:nvPicPr>
          <p:cNvPr id="12" name="Picture 11" descr="mdi_email_059669.png"/>
          <p:cNvPicPr>
            <a:picLocks noChangeAspect="1"/>
          </p:cNvPicPr>
          <p:nvPr/>
        </p:nvPicPr>
        <p:blipFill>
          <a:blip r:embed="rId11"/>
          <a:stretch>
            <a:fillRect/>
          </a:stretch>
        </p:blipFill>
        <p:spPr>
          <a:xfrm>
            <a:off x="7598664" y="2743200"/>
            <a:ext cx="822960" cy="822960"/>
          </a:xfrm>
          <a:prstGeom prst="rect">
            <a:avLst/>
          </a:prstGeom>
        </p:spPr>
      </p:pic>
      <p:pic>
        <p:nvPicPr>
          <p:cNvPr id="13" name="Picture 12" descr="mdi_lightbulb_059669.png"/>
          <p:cNvPicPr>
            <a:picLocks noChangeAspect="1"/>
          </p:cNvPicPr>
          <p:nvPr/>
        </p:nvPicPr>
        <p:blipFill>
          <a:blip r:embed="rId12"/>
          <a:stretch>
            <a:fillRect/>
          </a:stretch>
        </p:blipFill>
        <p:spPr>
          <a:xfrm>
            <a:off x="722376" y="3840480"/>
            <a:ext cx="822960" cy="822960"/>
          </a:xfrm>
          <a:prstGeom prst="rect">
            <a:avLst/>
          </a:prstGeom>
        </p:spPr>
      </p:pic>
      <p:pic>
        <p:nvPicPr>
          <p:cNvPr id="14" name="Picture 13" descr="mdi_rocket_059669.png"/>
          <p:cNvPicPr>
            <a:picLocks noChangeAspect="1"/>
          </p:cNvPicPr>
          <p:nvPr/>
        </p:nvPicPr>
        <p:blipFill>
          <a:blip r:embed="rId13"/>
          <a:stretch>
            <a:fillRect/>
          </a:stretch>
        </p:blipFill>
        <p:spPr>
          <a:xfrm>
            <a:off x="2441448" y="3840480"/>
            <a:ext cx="822960" cy="822960"/>
          </a:xfrm>
          <a:prstGeom prst="rect">
            <a:avLst/>
          </a:prstGeom>
        </p:spPr>
      </p:pic>
      <p:pic>
        <p:nvPicPr>
          <p:cNvPr id="15" name="Picture 14" descr="mdi_account-group_059669.png"/>
          <p:cNvPicPr>
            <a:picLocks noChangeAspect="1"/>
          </p:cNvPicPr>
          <p:nvPr/>
        </p:nvPicPr>
        <p:blipFill>
          <a:blip r:embed="rId14"/>
          <a:stretch>
            <a:fillRect/>
          </a:stretch>
        </p:blipFill>
        <p:spPr>
          <a:xfrm>
            <a:off x="4160520" y="3840480"/>
            <a:ext cx="822960" cy="822960"/>
          </a:xfrm>
          <a:prstGeom prst="rect">
            <a:avLst/>
          </a:prstGeom>
        </p:spPr>
      </p:pic>
      <p:pic>
        <p:nvPicPr>
          <p:cNvPr id="16" name="Picture 15" descr="mdi_star_059669.png"/>
          <p:cNvPicPr>
            <a:picLocks noChangeAspect="1"/>
          </p:cNvPicPr>
          <p:nvPr/>
        </p:nvPicPr>
        <p:blipFill>
          <a:blip r:embed="rId15"/>
          <a:stretch>
            <a:fillRect/>
          </a:stretch>
        </p:blipFill>
        <p:spPr>
          <a:xfrm>
            <a:off x="5879592" y="3840480"/>
            <a:ext cx="822960" cy="822960"/>
          </a:xfrm>
          <a:prstGeom prst="rect">
            <a:avLst/>
          </a:prstGeom>
        </p:spPr>
      </p:pic>
      <p:cxnSp>
        <p:nvCxnSpPr>
          <p:cNvPr id="17" name="Connector 16"/>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00100" y="5560695"/>
            <a:ext cx="3657600" cy="731520"/>
          </a:xfrm>
          <a:prstGeom prst="rect">
            <a:avLst/>
          </a:prstGeom>
          <a:noFill/>
        </p:spPr>
        <p:txBody>
          <a:bodyPr wrap="none">
            <a:spAutoFit/>
          </a:bodyPr>
          <a:lstStyle/>
          <a:p>
            <a:pPr algn="l">
              <a:defRPr sz="2800" b="1">
                <a:solidFill>
                  <a:srgbClr val="059669"/>
                </a:solidFill>
                <a:latin typeface="Source Sans Pro"/>
              </a:defRPr>
            </a:pPr>
            <a:r>
              <a:t>ICONOGRAPHY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74295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Chaayos - Food &amp; Beverage (Tea Cafés, Quick-Service Restaurants) Industry Icons</a:t>
            </a:r>
          </a:p>
        </p:txBody>
      </p:sp>
      <p:pic>
        <p:nvPicPr>
          <p:cNvPr id="3" name="Picture 2" descr="mdi_linkedin_059669.png"/>
          <p:cNvPicPr>
            <a:picLocks noChangeAspect="1"/>
          </p:cNvPicPr>
          <p:nvPr/>
        </p:nvPicPr>
        <p:blipFill>
          <a:blip r:embed="rId2"/>
          <a:stretch>
            <a:fillRect/>
          </a:stretch>
        </p:blipFill>
        <p:spPr>
          <a:xfrm>
            <a:off x="722376" y="1645920"/>
            <a:ext cx="822960" cy="822960"/>
          </a:xfrm>
          <a:prstGeom prst="rect">
            <a:avLst/>
          </a:prstGeom>
        </p:spPr>
      </p:pic>
      <p:pic>
        <p:nvPicPr>
          <p:cNvPr id="4" name="Picture 3" descr="mdi_microsoft_059669.png"/>
          <p:cNvPicPr>
            <a:picLocks noChangeAspect="1"/>
          </p:cNvPicPr>
          <p:nvPr/>
        </p:nvPicPr>
        <p:blipFill>
          <a:blip r:embed="rId3"/>
          <a:stretch>
            <a:fillRect/>
          </a:stretch>
        </p:blipFill>
        <p:spPr>
          <a:xfrm>
            <a:off x="2441448" y="1645920"/>
            <a:ext cx="822960" cy="822960"/>
          </a:xfrm>
          <a:prstGeom prst="rect">
            <a:avLst/>
          </a:prstGeom>
        </p:spPr>
      </p:pic>
      <p:pic>
        <p:nvPicPr>
          <p:cNvPr id="5" name="Picture 4" descr="mdi_google_059669.png"/>
          <p:cNvPicPr>
            <a:picLocks noChangeAspect="1"/>
          </p:cNvPicPr>
          <p:nvPr/>
        </p:nvPicPr>
        <p:blipFill>
          <a:blip r:embed="rId4"/>
          <a:stretch>
            <a:fillRect/>
          </a:stretch>
        </p:blipFill>
        <p:spPr>
          <a:xfrm>
            <a:off x="4160520" y="1645920"/>
            <a:ext cx="822960" cy="822960"/>
          </a:xfrm>
          <a:prstGeom prst="rect">
            <a:avLst/>
          </a:prstGeom>
        </p:spPr>
      </p:pic>
      <p:pic>
        <p:nvPicPr>
          <p:cNvPr id="6" name="Picture 5" descr="mdi_slack_059669.png"/>
          <p:cNvPicPr>
            <a:picLocks noChangeAspect="1"/>
          </p:cNvPicPr>
          <p:nvPr/>
        </p:nvPicPr>
        <p:blipFill>
          <a:blip r:embed="rId5"/>
          <a:stretch>
            <a:fillRect/>
          </a:stretch>
        </p:blipFill>
        <p:spPr>
          <a:xfrm>
            <a:off x="5879592" y="1645920"/>
            <a:ext cx="822960" cy="822960"/>
          </a:xfrm>
          <a:prstGeom prst="rect">
            <a:avLst/>
          </a:prstGeom>
        </p:spPr>
      </p:pic>
      <p:pic>
        <p:nvPicPr>
          <p:cNvPr id="7" name="Picture 6" descr="mdi_dropbox_059669.png"/>
          <p:cNvPicPr>
            <a:picLocks noChangeAspect="1"/>
          </p:cNvPicPr>
          <p:nvPr/>
        </p:nvPicPr>
        <p:blipFill>
          <a:blip r:embed="rId6"/>
          <a:stretch>
            <a:fillRect/>
          </a:stretch>
        </p:blipFill>
        <p:spPr>
          <a:xfrm>
            <a:off x="7598664" y="1645920"/>
            <a:ext cx="822960" cy="822960"/>
          </a:xfrm>
          <a:prstGeom prst="rect">
            <a:avLst/>
          </a:prstGeom>
        </p:spPr>
      </p:pic>
      <p:pic>
        <p:nvPicPr>
          <p:cNvPr id="8" name="Picture 7" descr="mdi_onedrive_059669.png"/>
          <p:cNvPicPr>
            <a:picLocks noChangeAspect="1"/>
          </p:cNvPicPr>
          <p:nvPr/>
        </p:nvPicPr>
        <p:blipFill>
          <a:blip r:embed="rId7"/>
          <a:stretch>
            <a:fillRect/>
          </a:stretch>
        </p:blipFill>
        <p:spPr>
          <a:xfrm>
            <a:off x="722376" y="2743200"/>
            <a:ext cx="822960" cy="822960"/>
          </a:xfrm>
          <a:prstGeom prst="rect">
            <a:avLst/>
          </a:prstGeom>
        </p:spPr>
      </p:pic>
      <p:pic>
        <p:nvPicPr>
          <p:cNvPr id="9" name="Picture 8" descr="mdi_facebook_059669.png"/>
          <p:cNvPicPr>
            <a:picLocks noChangeAspect="1"/>
          </p:cNvPicPr>
          <p:nvPr/>
        </p:nvPicPr>
        <p:blipFill>
          <a:blip r:embed="rId8"/>
          <a:stretch>
            <a:fillRect/>
          </a:stretch>
        </p:blipFill>
        <p:spPr>
          <a:xfrm>
            <a:off x="2441448" y="2743200"/>
            <a:ext cx="822960" cy="822960"/>
          </a:xfrm>
          <a:prstGeom prst="rect">
            <a:avLst/>
          </a:prstGeom>
        </p:spPr>
      </p:pic>
      <p:pic>
        <p:nvPicPr>
          <p:cNvPr id="10" name="Picture 9" descr="mdi_twitter_059669.png"/>
          <p:cNvPicPr>
            <a:picLocks noChangeAspect="1"/>
          </p:cNvPicPr>
          <p:nvPr/>
        </p:nvPicPr>
        <p:blipFill>
          <a:blip r:embed="rId9"/>
          <a:stretch>
            <a:fillRect/>
          </a:stretch>
        </p:blipFill>
        <p:spPr>
          <a:xfrm>
            <a:off x="4160520" y="2743200"/>
            <a:ext cx="822960" cy="822960"/>
          </a:xfrm>
          <a:prstGeom prst="rect">
            <a:avLst/>
          </a:prstGeom>
        </p:spPr>
      </p:pic>
      <p:pic>
        <p:nvPicPr>
          <p:cNvPr id="11" name="Picture 10" descr="mdi_lightbulb_059669.png"/>
          <p:cNvPicPr>
            <a:picLocks noChangeAspect="1"/>
          </p:cNvPicPr>
          <p:nvPr/>
        </p:nvPicPr>
        <p:blipFill>
          <a:blip r:embed="rId10"/>
          <a:stretch>
            <a:fillRect/>
          </a:stretch>
        </p:blipFill>
        <p:spPr>
          <a:xfrm>
            <a:off x="5879592" y="2743200"/>
            <a:ext cx="822960" cy="822960"/>
          </a:xfrm>
          <a:prstGeom prst="rect">
            <a:avLst/>
          </a:prstGeom>
        </p:spPr>
      </p:pic>
      <p:pic>
        <p:nvPicPr>
          <p:cNvPr id="12" name="Picture 11" descr="mdi_rocket_059669.png"/>
          <p:cNvPicPr>
            <a:picLocks noChangeAspect="1"/>
          </p:cNvPicPr>
          <p:nvPr/>
        </p:nvPicPr>
        <p:blipFill>
          <a:blip r:embed="rId11"/>
          <a:stretch>
            <a:fillRect/>
          </a:stretch>
        </p:blipFill>
        <p:spPr>
          <a:xfrm>
            <a:off x="7598664" y="2743200"/>
            <a:ext cx="822960" cy="822960"/>
          </a:xfrm>
          <a:prstGeom prst="rect">
            <a:avLst/>
          </a:prstGeom>
        </p:spPr>
      </p:pic>
      <p:pic>
        <p:nvPicPr>
          <p:cNvPr id="13" name="Picture 12" descr="mdi_account-group_059669.png"/>
          <p:cNvPicPr>
            <a:picLocks noChangeAspect="1"/>
          </p:cNvPicPr>
          <p:nvPr/>
        </p:nvPicPr>
        <p:blipFill>
          <a:blip r:embed="rId12"/>
          <a:stretch>
            <a:fillRect/>
          </a:stretch>
        </p:blipFill>
        <p:spPr>
          <a:xfrm>
            <a:off x="722376" y="3840480"/>
            <a:ext cx="822960" cy="822960"/>
          </a:xfrm>
          <a:prstGeom prst="rect">
            <a:avLst/>
          </a:prstGeom>
        </p:spPr>
      </p:pic>
      <p:pic>
        <p:nvPicPr>
          <p:cNvPr id="14" name="Picture 13" descr="mdi_star_059669.png"/>
          <p:cNvPicPr>
            <a:picLocks noChangeAspect="1"/>
          </p:cNvPicPr>
          <p:nvPr/>
        </p:nvPicPr>
        <p:blipFill>
          <a:blip r:embed="rId13"/>
          <a:stretch>
            <a:fillRect/>
          </a:stretch>
        </p:blipFill>
        <p:spPr>
          <a:xfrm>
            <a:off x="2441448" y="3840480"/>
            <a:ext cx="822960" cy="822960"/>
          </a:xfrm>
          <a:prstGeom prst="rect">
            <a:avLst/>
          </a:prstGeom>
        </p:spPr>
      </p:pic>
      <p:cxnSp>
        <p:nvCxnSpPr>
          <p:cNvPr id="15" name="Connector 14"/>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00100" y="5560695"/>
            <a:ext cx="3657600" cy="731520"/>
          </a:xfrm>
          <a:prstGeom prst="rect">
            <a:avLst/>
          </a:prstGeom>
          <a:noFill/>
        </p:spPr>
        <p:txBody>
          <a:bodyPr wrap="none">
            <a:spAutoFit/>
          </a:bodyPr>
          <a:lstStyle/>
          <a:p>
            <a:pPr algn="l">
              <a:defRPr sz="2800" b="1">
                <a:solidFill>
                  <a:srgbClr val="059669"/>
                </a:solidFill>
                <a:latin typeface="Source Sans Pro"/>
              </a:defRPr>
            </a:pPr>
            <a:r>
              <a:t>ICONOGRAPHY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228850"/>
          </a:xfrm>
          <a:prstGeom prst="rect">
            <a:avLst/>
          </a:prstGeom>
          <a:noFill/>
        </p:spPr>
        <p:txBody>
          <a:bodyPr wrap="square" lIns="0" rIns="0" tIns="0" bIns="0">
            <a:spAutoFit/>
          </a:bodyPr>
          <a:lstStyle/>
          <a:p>
            <a:pPr algn="l">
              <a:spcAft>
                <a:spcPts val="600"/>
              </a:spcAft>
              <a:defRPr sz="1800" b="0">
                <a:solidFill>
                  <a:srgbClr val="000000"/>
                </a:solidFill>
                <a:latin typeface="Inter"/>
              </a:defRPr>
            </a:pPr>
            <a:r>
              <a:t>Style: Minimalist design</a:t>
            </a:r>
          </a:p>
          <a:p>
            <a:pPr algn="l">
              <a:spcAft>
                <a:spcPts val="600"/>
              </a:spcAft>
              <a:defRPr sz="1800" b="0">
                <a:solidFill>
                  <a:srgbClr val="000000"/>
                </a:solidFill>
                <a:latin typeface="Inter"/>
              </a:defRPr>
            </a:pPr>
            <a:r>
              <a:t>Color: #059669 on black background</a:t>
            </a:r>
          </a:p>
          <a:p>
            <a:pPr algn="l">
              <a:spcAft>
                <a:spcPts val="600"/>
              </a:spcAft>
              <a:defRPr sz="1800" b="0">
                <a:solidFill>
                  <a:srgbClr val="000000"/>
                </a:solidFill>
                <a:latin typeface="Inter"/>
              </a:defRPr>
            </a:pPr>
          </a:p>
          <a:p>
            <a:pPr algn="l">
              <a:spcAft>
                <a:spcPts val="600"/>
              </a:spcAft>
              <a:defRPr sz="1800" b="0">
                <a:solidFill>
                  <a:srgbClr val="000000"/>
                </a:solidFill>
                <a:latin typeface="Inter"/>
              </a:defRPr>
            </a:pPr>
            <a:r>
              <a:t>Size Requirements:</a:t>
            </a:r>
          </a:p>
          <a:p>
            <a:pPr algn="l">
              <a:spcAft>
                <a:spcPts val="600"/>
              </a:spcAft>
              <a:defRPr sz="1800" b="0">
                <a:solidFill>
                  <a:srgbClr val="000000"/>
                </a:solidFill>
                <a:latin typeface="Inter"/>
              </a:defRPr>
            </a:pPr>
            <a:r>
              <a:t>• Minimum: 16px web, 0.5" print</a:t>
            </a:r>
          </a:p>
          <a:p>
            <a:pPr algn="l">
              <a:spcAft>
                <a:spcPts val="600"/>
              </a:spcAft>
              <a:defRPr sz="1800" b="0">
                <a:solidFill>
                  <a:srgbClr val="000000"/>
                </a:solidFill>
                <a:latin typeface="Inter"/>
              </a:defRPr>
            </a:pPr>
            <a:r>
              <a:t>• Recommended: 24px+ web, 0.75"+ print</a:t>
            </a:r>
          </a:p>
          <a:p>
            <a:pPr algn="l">
              <a:spcAft>
                <a:spcPts val="600"/>
              </a:spcAft>
              <a:defRPr sz="1800" b="0">
                <a:solidFill>
                  <a:srgbClr val="000000"/>
                </a:solidFill>
                <a:latin typeface="Inter"/>
              </a:defRPr>
            </a:pPr>
          </a:p>
          <a:p>
            <a:pPr algn="l">
              <a:spcAft>
                <a:spcPts val="600"/>
              </a:spcAft>
              <a:defRPr sz="1800" b="0">
                <a:solidFill>
                  <a:srgbClr val="000000"/>
                </a:solidFill>
                <a:latin typeface="Inter"/>
              </a:defRPr>
            </a:pPr>
            <a:r>
              <a:t>Spacing:</a:t>
            </a:r>
          </a:p>
          <a:p>
            <a:pPr algn="l">
              <a:spcAft>
                <a:spcPts val="600"/>
              </a:spcAft>
              <a:defRPr sz="1800" b="0">
                <a:solidFill>
                  <a:srgbClr val="000000"/>
                </a:solidFill>
                <a:latin typeface="Inter"/>
              </a:defRPr>
            </a:pPr>
            <a:r>
              <a:t>• Clear space: 50% of icon width</a:t>
            </a:r>
          </a:p>
          <a:p>
            <a:pPr algn="l">
              <a:spcAft>
                <a:spcPts val="600"/>
              </a:spcAft>
              <a:defRPr sz="1800" b="0">
                <a:solidFill>
                  <a:srgbClr val="000000"/>
                </a:solidFill>
                <a:latin typeface="Inter"/>
              </a:defRPr>
            </a:pPr>
            <a:r>
              <a:t>• Consistent grid alignment</a:t>
            </a:r>
          </a:p>
        </p:txBody>
      </p:sp>
      <p:cxnSp>
        <p:nvCxnSpPr>
          <p:cNvPr id="3" name="Connector 2"/>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560695"/>
            <a:ext cx="5486400" cy="731520"/>
          </a:xfrm>
          <a:prstGeom prst="rect">
            <a:avLst/>
          </a:prstGeom>
          <a:noFill/>
        </p:spPr>
        <p:txBody>
          <a:bodyPr wrap="none">
            <a:spAutoFit/>
          </a:bodyPr>
          <a:lstStyle/>
          <a:p>
            <a:pPr algn="l">
              <a:defRPr sz="2800" b="1">
                <a:solidFill>
                  <a:srgbClr val="059669"/>
                </a:solidFill>
                <a:latin typeface="Source Sans Pro"/>
              </a:defRPr>
            </a:pPr>
            <a:r>
              <a:t>USAGE GUIDELINES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tshirt_white_20250904_023035_1c861664.png"/>
          <p:cNvPicPr>
            <a:picLocks noChangeAspect="1"/>
          </p:cNvPicPr>
          <p:nvPr/>
        </p:nvPicPr>
        <p:blipFill>
          <a:blip r:embed="rId2"/>
          <a:stretch>
            <a:fillRect/>
          </a:stretch>
        </p:blipFill>
        <p:spPr>
          <a:xfrm>
            <a:off x="411480" y="2286000"/>
            <a:ext cx="2286000" cy="2926080"/>
          </a:xfrm>
          <a:prstGeom prst="rect">
            <a:avLst/>
          </a:prstGeom>
        </p:spPr>
      </p:pic>
      <p:pic>
        <p:nvPicPr>
          <p:cNvPr id="3" name="Picture 2" descr="chaayos_tshirt_black_20250904_023044_7bd0f7b9.png"/>
          <p:cNvPicPr>
            <a:picLocks noChangeAspect="1"/>
          </p:cNvPicPr>
          <p:nvPr/>
        </p:nvPicPr>
        <p:blipFill>
          <a:blip r:embed="rId3"/>
          <a:stretch>
            <a:fillRect/>
          </a:stretch>
        </p:blipFill>
        <p:spPr>
          <a:xfrm>
            <a:off x="3429000" y="2286000"/>
            <a:ext cx="2286000" cy="2926080"/>
          </a:xfrm>
          <a:prstGeom prst="rect">
            <a:avLst/>
          </a:prstGeom>
        </p:spPr>
      </p:pic>
      <p:pic>
        <p:nvPicPr>
          <p:cNvPr id="4" name="Picture 3" descr="chaayos_tshirt_yellow_20250904_023053_bedc7c02.png"/>
          <p:cNvPicPr>
            <a:picLocks noChangeAspect="1"/>
          </p:cNvPicPr>
          <p:nvPr/>
        </p:nvPicPr>
        <p:blipFill>
          <a:blip r:embed="rId4"/>
          <a:stretch>
            <a:fillRect/>
          </a:stretch>
        </p:blipFill>
        <p:spPr>
          <a:xfrm>
            <a:off x="6446520" y="2286000"/>
            <a:ext cx="2286000" cy="2926080"/>
          </a:xfrm>
          <a:prstGeom prst="rect">
            <a:avLst/>
          </a:prstGeom>
        </p:spPr>
      </p:pic>
      <p:cxnSp>
        <p:nvCxnSpPr>
          <p:cNvPr id="5" name="Connector 4"/>
          <p:cNvCxnSpPr/>
          <p:nvPr/>
        </p:nvCxnSpPr>
        <p:spPr>
          <a:xfrm>
            <a:off x="457200" y="5286375.0"/>
            <a:ext cx="8229600" cy="0.0"/>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00100" y="5560695"/>
            <a:ext cx="5486400" cy="731520"/>
          </a:xfrm>
          <a:prstGeom prst="rect">
            <a:avLst/>
          </a:prstGeom>
          <a:noFill/>
        </p:spPr>
        <p:txBody>
          <a:bodyPr wrap="none">
            <a:spAutoFit/>
          </a:bodyPr>
          <a:lstStyle/>
          <a:p>
            <a:pPr algn="l">
              <a:defRPr sz="2800" b="1">
                <a:solidFill>
                  <a:srgbClr val="000000"/>
                </a:solidFill>
                <a:latin typeface="Source Sans Pro"/>
              </a:defRPr>
            </a:pPr>
            <a:r>
              <a:t>BRAND APPAREL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mug_white_20250904_023103_1ab9ddd9.png"/>
          <p:cNvPicPr>
            <a:picLocks noChangeAspect="1"/>
          </p:cNvPicPr>
          <p:nvPr/>
        </p:nvPicPr>
        <p:blipFill>
          <a:blip r:embed="rId2"/>
          <a:stretch>
            <a:fillRect/>
          </a:stretch>
        </p:blipFill>
        <p:spPr>
          <a:xfrm>
            <a:off x="411480" y="2286000"/>
            <a:ext cx="2286000" cy="2926080"/>
          </a:xfrm>
          <a:prstGeom prst="rect">
            <a:avLst/>
          </a:prstGeom>
        </p:spPr>
      </p:pic>
      <p:pic>
        <p:nvPicPr>
          <p:cNvPr id="3" name="Picture 2" descr="chaayos_mug_black_20250904_023112_16741d2d.png"/>
          <p:cNvPicPr>
            <a:picLocks noChangeAspect="1"/>
          </p:cNvPicPr>
          <p:nvPr/>
        </p:nvPicPr>
        <p:blipFill>
          <a:blip r:embed="rId3"/>
          <a:stretch>
            <a:fillRect/>
          </a:stretch>
        </p:blipFill>
        <p:spPr>
          <a:xfrm>
            <a:off x="3429000" y="2286000"/>
            <a:ext cx="2286000" cy="2926080"/>
          </a:xfrm>
          <a:prstGeom prst="rect">
            <a:avLst/>
          </a:prstGeom>
        </p:spPr>
      </p:pic>
      <p:pic>
        <p:nvPicPr>
          <p:cNvPr id="4" name="Picture 3" descr="chaayos_mug_primary_20250904_023120_44d92003.png"/>
          <p:cNvPicPr>
            <a:picLocks noChangeAspect="1"/>
          </p:cNvPicPr>
          <p:nvPr/>
        </p:nvPicPr>
        <p:blipFill>
          <a:blip r:embed="rId4"/>
          <a:stretch>
            <a:fillRect/>
          </a:stretch>
        </p:blipFill>
        <p:spPr>
          <a:xfrm>
            <a:off x="6446520" y="2286000"/>
            <a:ext cx="2286000" cy="2926080"/>
          </a:xfrm>
          <a:prstGeom prst="rect">
            <a:avLst/>
          </a:prstGeom>
        </p:spPr>
      </p:pic>
      <p:cxnSp>
        <p:nvCxnSpPr>
          <p:cNvPr id="5" name="Connector 4"/>
          <p:cNvCxnSpPr/>
          <p:nvPr/>
        </p:nvCxnSpPr>
        <p:spPr>
          <a:xfrm>
            <a:off x="457200" y="5286375.0"/>
            <a:ext cx="8229600" cy="0.0"/>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00100" y="5560695"/>
            <a:ext cx="5486400" cy="731520"/>
          </a:xfrm>
          <a:prstGeom prst="rect">
            <a:avLst/>
          </a:prstGeom>
          <a:noFill/>
        </p:spPr>
        <p:txBody>
          <a:bodyPr wrap="none">
            <a:spAutoFit/>
          </a:bodyPr>
          <a:lstStyle/>
          <a:p>
            <a:pPr algn="l">
              <a:defRPr sz="2800" b="1">
                <a:solidFill>
                  <a:srgbClr val="000000"/>
                </a:solidFill>
                <a:latin typeface="Source Sans Pro"/>
              </a:defRPr>
            </a:pPr>
            <a:r>
              <a:t>BRAND MUGS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