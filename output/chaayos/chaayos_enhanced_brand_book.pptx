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jpg"/><Relationship Id="rId4" Type="http://schemas.openxmlformats.org/officeDocument/2006/relationships/image" Target="../media/image28.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image" Target="../media/image30.jpg"/><Relationship Id="rId4" Type="http://schemas.openxmlformats.org/officeDocument/2006/relationships/image" Target="../media/image31.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1_20251010_133827_0294b6a2.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810EB1"/>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810EB1"/>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810EB1"/>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810EB1"/>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810EB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810EB1"/>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810EB1"/>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810EB1"/>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810EB1"/>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810EB1"/>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810EB1"/>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810EB1"/>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000000"/>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810EB1"/>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810EB1"/>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666666"/>
                </a:solidFill>
                <a:latin typeface="Source Sans Pro"/>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000000"/>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810EB1"/>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810EB1"/>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666666"/>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666666"/>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666666"/>
                </a:solidFill>
                <a:latin typeface="Source Sans Pro"/>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666666"/>
                </a:solidFill>
                <a:latin typeface="Source Sans Pro"/>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000000"/>
                </a:solidFill>
                <a:latin typeface="Source Sans Pro"/>
              </a:defRPr>
            </a:pPr>
            <a:r>
              <a:t>Typography</a:t>
            </a:r>
          </a:p>
        </p:txBody>
      </p:sp>
      <p:cxnSp>
        <p:nvCxnSpPr>
          <p:cNvPr id="33" name="Connector 32"/>
          <p:cNvCxnSpPr/>
          <p:nvPr/>
        </p:nvCxnSpPr>
        <p:spPr>
          <a:xfrm>
            <a:off x="8366759" y="3081528"/>
            <a:ext cx="365760" cy="0"/>
          </a:xfrm>
          <a:prstGeom prst="line">
            <a:avLst/>
          </a:prstGeom>
          <a:ln w="19050">
            <a:solidFill>
              <a:srgbClr val="810EB1"/>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810EB1"/>
                </a:solidFill>
                <a:latin typeface="Source Sans Pro"/>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666666"/>
                </a:solidFill>
                <a:latin typeface="Source Sans Pro"/>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666666"/>
                </a:solidFill>
                <a:latin typeface="Source Sans Pro"/>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666666"/>
                </a:solidFill>
                <a:latin typeface="Source Sans Pro"/>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000000"/>
                </a:solidFill>
                <a:latin typeface="Source Sans Pro"/>
              </a:defRPr>
            </a:pPr>
            <a:r>
              <a:t>Imagery &amp; Visuals</a:t>
            </a:r>
          </a:p>
        </p:txBody>
      </p:sp>
      <p:cxnSp>
        <p:nvCxnSpPr>
          <p:cNvPr id="39" name="Connector 38"/>
          <p:cNvCxnSpPr/>
          <p:nvPr/>
        </p:nvCxnSpPr>
        <p:spPr>
          <a:xfrm>
            <a:off x="8366759" y="4270248"/>
            <a:ext cx="365760" cy="0"/>
          </a:xfrm>
          <a:prstGeom prst="line">
            <a:avLst/>
          </a:prstGeom>
          <a:ln w="19050">
            <a:solidFill>
              <a:srgbClr val="810EB1"/>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810EB1"/>
                </a:solidFill>
                <a:latin typeface="Source Sans Pro"/>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666666"/>
                </a:solidFill>
                <a:latin typeface="Source Sans Pro"/>
              </a:defRPr>
            </a:pPr>
            <a:r>
              <a:t>Iconography</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666666"/>
                </a:solidFill>
                <a:latin typeface="Source Sans Pro"/>
              </a:defRPr>
            </a:pPr>
            <a:r>
              <a:t>Merchandise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Welcome to Chaayos' brand identity system, where traditional chai meets modern innovation in the quick-service café landscape. Our meticulously crafted system delivers an internationally recognizable and consistently premium experience, while maintaining our distinctive position in the Food &amp; Beverage sector. Through our proprietary brewing technology and personalization platform, we've revolutionized the art of serving India's favorite beverage. We pride ourselves on creating engaging spaces where urban professionals, students, and chai enthusiasts come together to enjoy perfectly customized cups of tea, backed by our unwavering commitment to quality and authenticity.</a:t>
            </a:r>
          </a:p>
        </p:txBody>
      </p:sp>
      <p:cxnSp>
        <p:nvCxnSpPr>
          <p:cNvPr id="3" name="Connector 2"/>
          <p:cNvCxnSpPr/>
          <p:nvPr/>
        </p:nvCxnSpPr>
        <p:spPr>
          <a:xfrm>
            <a:off x="457200" y="4914900.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810EB1"/>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At Chaayos, our vision is to revolutionize the chai experience for urban working professionals, college students, and tea aficionados by offering a sanctuary of hygienic, personalized, and innovative tea solutions that cater to the diverse tastes and preferences of our discerning customers. We aspire to be the go-to destination that blends tradition with modernity, creating moments of relaxation and joy through each sip.</a:t>
            </a:r>
          </a:p>
        </p:txBody>
      </p:sp>
      <p:cxnSp>
        <p:nvCxnSpPr>
          <p:cNvPr id="3" name="Connector 2"/>
          <p:cNvCxnSpPr/>
          <p:nvPr/>
        </p:nvCxnSpPr>
        <p:spPr>
          <a:xfrm>
            <a:off x="457200" y="4914900.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810EB1"/>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Our mission at Chaayos is to redefine the Quick Service Tea Café industry by providing top-tier quality, customizable chai experiences that prioritize customer satisfaction, uphold the highest standards of hygiene, and showcase relentless innovation in every cup. We aim to elevate the tea-drinking culture, offering a premium and trustworthy space where tea lovers can unwind, reconnect with tradition, and celebrate the art of personalized tea crafting.</a:t>
            </a:r>
          </a:p>
        </p:txBody>
      </p:sp>
      <p:cxnSp>
        <p:nvCxnSpPr>
          <p:cNvPr id="3" name="Connector 2"/>
          <p:cNvCxnSpPr/>
          <p:nvPr/>
        </p:nvCxnSpPr>
        <p:spPr>
          <a:xfrm>
            <a:off x="457200" y="4914900.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810EB1"/>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At Chaayos, we embody the essence of personalization by curating chai experiences tailored to individual preferences, ensuring every cup tells a unique story. Our commitment to quality is unwavering, sourcing the finest ingredients to deliver an unparalleled taste that resonates with our health-conscious customers. Innovation drives us forward, as we constantly seek new ways to enhance customer experience through technology and user-centric design. Hygiene is our priority, guaranteeing a safe and clean environment for our customers to indulge in their favorite brews. We honor tradition by infusing timeless tea rituals into our modern setting, creating a harmonious blend of old and new. Lastly, we provide a space for relaxation, where urban professionals and students alike can unwind, recharge, and find solace in the simple pleasure of a perfect cup of chai.</a:t>
            </a:r>
          </a:p>
        </p:txBody>
      </p:sp>
      <p:cxnSp>
        <p:nvCxnSpPr>
          <p:cNvPr id="3" name="Connector 2"/>
          <p:cNvCxnSpPr/>
          <p:nvPr/>
        </p:nvCxnSpPr>
        <p:spPr>
          <a:xfrm>
            <a:off x="457200" y="4914900.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810EB1"/>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In the bustling streets of urban India, where the aroma of freshly brewed chai dances in the air, there stands a haven for tea aficionados – Chaayos. Born out of a passion for chai and a desire to revolutionize the way we experience this beloved beverage, Chaayos is not just a tea café; it's a sanctuary for those who seek comfort, innovation, and a touch of tradition in every sip. Picture this: You, a busy urban professional, tired from a long day at work, craving for a moment of respite. You step into Chaayos, greeted by the warm and inviting aroma of masala chai and freshly baked snacks.</a:t>
            </a:r>
          </a:p>
        </p:txBody>
      </p:sp>
      <p:cxnSp>
        <p:nvCxnSpPr>
          <p:cNvPr id="3" name="Connector 2"/>
          <p:cNvCxnSpPr/>
          <p:nvPr/>
        </p:nvCxnSpPr>
        <p:spPr>
          <a:xfrm>
            <a:off x="457200" y="4914900.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810EB1"/>
                </a:solidFill>
                <a:latin typeface="Inter"/>
              </a:defRPr>
            </a:pPr>
            <a:r>
              <a:t>BRAND STORY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The ambiance is modern yet cozy, a perfect blend of old-world charm and contemporary sophistication. As you approach the counter, you are met with a plethora of options to customize your chai – from the strength of the brew to the choice of spices and sweeteners. This is not just tea; this is your tea, tailored to suit your taste buds and rejuvenate your senses. At Chaayos, we understand that tea is not just a beverage; it's an experience. That's why we source the finest tea leaves, herbs, and spices, ensuring that...</a:t>
            </a:r>
          </a:p>
        </p:txBody>
      </p:sp>
      <p:cxnSp>
        <p:nvCxnSpPr>
          <p:cNvPr id="3" name="Connector 2"/>
          <p:cNvCxnSpPr/>
          <p:nvPr/>
        </p:nvCxnSpPr>
        <p:spPr>
          <a:xfrm>
            <a:off x="457200" y="4914900.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810EB1"/>
                </a:solidFill>
                <a:latin typeface="Inter"/>
              </a:defRPr>
            </a:pPr>
            <a:r>
              <a:t>BRAND STORY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1_20251010_133827_0294b6a2.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810EB1"/>
                </a:solidFill>
                <a:latin typeface="Inter"/>
              </a:defRPr>
            </a:pPr>
            <a:r>
              <a:t>Logo Variation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2_20251010_133840_a7b6afc1.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810EB1"/>
                </a:solidFill>
                <a:latin typeface="Inter"/>
              </a:defRPr>
            </a:pPr>
            <a:r>
              <a:t>Logo Variation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logo_3_20251010_133852_16ece7d4.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000000"/>
                </a:solidFill>
                <a:latin typeface="Source Sans Pro"/>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810EB1"/>
                </a:solidFill>
                <a:latin typeface="Inter"/>
              </a:defRPr>
            </a:pPr>
            <a:r>
              <a:t>Logo Variation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810EB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Chaayos Purple</a:t>
            </a:r>
          </a:p>
          <a:p>
            <a:pPr algn="l">
              <a:spcAft>
                <a:spcPts val="300"/>
              </a:spcAft>
              <a:defRPr sz="1000" b="0">
                <a:solidFill>
                  <a:srgbClr val="000000"/>
                </a:solidFill>
                <a:latin typeface="Source Sans Pro"/>
              </a:defRPr>
            </a:pPr>
            <a:r>
              <a:t>#810eb1</a:t>
            </a:r>
          </a:p>
          <a:p>
            <a:pPr algn="l">
              <a:spcAft>
                <a:spcPts val="300"/>
              </a:spcAft>
              <a:defRPr sz="1000" b="0">
                <a:solidFill>
                  <a:srgbClr val="000000"/>
                </a:solidFill>
                <a:latin typeface="Source Sans Pro"/>
              </a:defRPr>
            </a:pPr>
            <a:r>
              <a:t>RGB(129, 14, 177)</a:t>
            </a:r>
          </a:p>
          <a:p>
            <a:pPr algn="l">
              <a:spcAft>
                <a:spcPts val="300"/>
              </a:spcAft>
              <a:defRPr sz="1000" b="0">
                <a:solidFill>
                  <a:srgbClr val="000000"/>
                </a:solidFill>
                <a:latin typeface="Source Sans Pro"/>
              </a:defRPr>
            </a:pPr>
            <a:r>
              <a:t>CMYK(27, 92, 0, 30)</a:t>
            </a:r>
          </a:p>
          <a:p>
            <a:pPr algn="l">
              <a:spcAft>
                <a:spcPts val="300"/>
              </a:spcAft>
              <a:defRPr sz="1000" b="0">
                <a:solidFill>
                  <a:srgbClr val="000000"/>
                </a:solidFill>
                <a:latin typeface="Source Sans Pro"/>
              </a:defRPr>
            </a:pPr>
            <a:r>
              <a:t>Use Light Text</a:t>
            </a:r>
          </a:p>
        </p:txBody>
      </p:sp>
      <p:sp>
        <p:nvSpPr>
          <p:cNvPr id="4" name="Rectangle 3"/>
          <p:cNvSpPr/>
          <p:nvPr/>
        </p:nvSpPr>
        <p:spPr>
          <a:xfrm>
            <a:off x="4572000" y="1645920"/>
            <a:ext cx="1828800" cy="1371600"/>
          </a:xfrm>
          <a:prstGeom prst="rect">
            <a:avLst/>
          </a:prstGeom>
          <a:solidFill>
            <a:srgbClr val="2CB1BC"/>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Tranquil Teal</a:t>
            </a:r>
          </a:p>
          <a:p>
            <a:pPr algn="l">
              <a:spcAft>
                <a:spcPts val="300"/>
              </a:spcAft>
              <a:defRPr sz="1000" b="0">
                <a:solidFill>
                  <a:srgbClr val="000000"/>
                </a:solidFill>
                <a:latin typeface="Source Sans Pro"/>
              </a:defRPr>
            </a:pPr>
            <a:r>
              <a:t>#2CB1BC</a:t>
            </a:r>
          </a:p>
          <a:p>
            <a:pPr algn="l">
              <a:spcAft>
                <a:spcPts val="300"/>
              </a:spcAft>
              <a:defRPr sz="1000" b="0">
                <a:solidFill>
                  <a:srgbClr val="000000"/>
                </a:solidFill>
                <a:latin typeface="Source Sans Pro"/>
              </a:defRPr>
            </a:pPr>
            <a:r>
              <a:t>RGB(44, 177, 188)</a:t>
            </a:r>
          </a:p>
          <a:p>
            <a:pPr algn="l">
              <a:spcAft>
                <a:spcPts val="300"/>
              </a:spcAft>
              <a:defRPr sz="1000" b="0">
                <a:solidFill>
                  <a:srgbClr val="000000"/>
                </a:solidFill>
                <a:latin typeface="Source Sans Pro"/>
              </a:defRPr>
            </a:pPr>
            <a:r>
              <a:t>CMYK(76, 5, 0, 26)</a:t>
            </a:r>
          </a:p>
          <a:p>
            <a:pPr algn="l">
              <a:spcAft>
                <a:spcPts val="300"/>
              </a:spcAft>
              <a:defRPr sz="1000" b="0">
                <a:solidFill>
                  <a:srgbClr val="000000"/>
                </a:solidFill>
                <a:latin typeface="Source Sans Pro"/>
              </a:defRPr>
            </a:pPr>
            <a:r>
              <a:t>Use Dark Text</a:t>
            </a:r>
          </a:p>
        </p:txBody>
      </p:sp>
      <p:sp>
        <p:nvSpPr>
          <p:cNvPr id="6" name="Rectangle 5"/>
          <p:cNvSpPr/>
          <p:nvPr/>
        </p:nvSpPr>
        <p:spPr>
          <a:xfrm>
            <a:off x="1143000" y="3726180"/>
            <a:ext cx="1828800" cy="1371600"/>
          </a:xfrm>
          <a:prstGeom prst="rect">
            <a:avLst/>
          </a:prstGeom>
          <a:solidFill>
            <a:srgbClr val="6ED2B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Fresh Mint</a:t>
            </a:r>
          </a:p>
          <a:p>
            <a:pPr algn="l">
              <a:spcAft>
                <a:spcPts val="300"/>
              </a:spcAft>
              <a:defRPr sz="1000" b="0">
                <a:solidFill>
                  <a:srgbClr val="000000"/>
                </a:solidFill>
                <a:latin typeface="Source Sans Pro"/>
              </a:defRPr>
            </a:pPr>
            <a:r>
              <a:t>#6ED2B1</a:t>
            </a:r>
          </a:p>
          <a:p>
            <a:pPr algn="l">
              <a:spcAft>
                <a:spcPts val="300"/>
              </a:spcAft>
              <a:defRPr sz="1000" b="0">
                <a:solidFill>
                  <a:srgbClr val="000000"/>
                </a:solidFill>
                <a:latin typeface="Source Sans Pro"/>
              </a:defRPr>
            </a:pPr>
            <a:r>
              <a:t>RGB(110, 210, 177)</a:t>
            </a:r>
          </a:p>
          <a:p>
            <a:pPr algn="l">
              <a:spcAft>
                <a:spcPts val="300"/>
              </a:spcAft>
              <a:defRPr sz="1000" b="0">
                <a:solidFill>
                  <a:srgbClr val="000000"/>
                </a:solidFill>
                <a:latin typeface="Source Sans Pro"/>
              </a:defRPr>
            </a:pPr>
            <a:r>
              <a:t>CMYK(47, 0, 15, 17)</a:t>
            </a:r>
          </a:p>
          <a:p>
            <a:pPr algn="l">
              <a:spcAft>
                <a:spcPts val="300"/>
              </a:spcAft>
              <a:defRPr sz="1000" b="0">
                <a:solidFill>
                  <a:srgbClr val="000000"/>
                </a:solidFill>
                <a:latin typeface="Source Sans Pro"/>
              </a:defRPr>
            </a:pPr>
            <a:r>
              <a:t>Use Dark Text</a:t>
            </a:r>
          </a:p>
        </p:txBody>
      </p:sp>
      <p:sp>
        <p:nvSpPr>
          <p:cNvPr id="8" name="Rectangle 7"/>
          <p:cNvSpPr/>
          <p:nvPr/>
        </p:nvSpPr>
        <p:spPr>
          <a:xfrm>
            <a:off x="4572000" y="3726180"/>
            <a:ext cx="1828800" cy="1371600"/>
          </a:xfrm>
          <a:prstGeom prst="rect">
            <a:avLst/>
          </a:prstGeom>
          <a:solidFill>
            <a:srgbClr val="C17C4E"/>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726180"/>
            <a:ext cx="3017520" cy="1371600"/>
          </a:xfrm>
          <a:prstGeom prst="rect">
            <a:avLst/>
          </a:prstGeom>
          <a:noFill/>
        </p:spPr>
        <p:txBody>
          <a:bodyPr wrap="square" lIns="0" rIns="0" tIns="0" bIns="0">
            <a:spAutoFit/>
          </a:bodyPr>
          <a:lstStyle/>
          <a:p>
            <a:pPr algn="l">
              <a:spcAft>
                <a:spcPts val="300"/>
              </a:spcAft>
              <a:defRPr sz="1000" b="0">
                <a:solidFill>
                  <a:srgbClr val="000000"/>
                </a:solidFill>
                <a:latin typeface="Source Sans Pro"/>
              </a:defRPr>
            </a:pPr>
            <a:r>
              <a:t>Earthy Spice</a:t>
            </a:r>
          </a:p>
          <a:p>
            <a:pPr algn="l">
              <a:spcAft>
                <a:spcPts val="300"/>
              </a:spcAft>
              <a:defRPr sz="1000" b="0">
                <a:solidFill>
                  <a:srgbClr val="000000"/>
                </a:solidFill>
                <a:latin typeface="Source Sans Pro"/>
              </a:defRPr>
            </a:pPr>
            <a:r>
              <a:t>#C17C4E</a:t>
            </a:r>
          </a:p>
          <a:p>
            <a:pPr algn="l">
              <a:spcAft>
                <a:spcPts val="300"/>
              </a:spcAft>
              <a:defRPr sz="1000" b="0">
                <a:solidFill>
                  <a:srgbClr val="000000"/>
                </a:solidFill>
                <a:latin typeface="Source Sans Pro"/>
              </a:defRPr>
            </a:pPr>
            <a:r>
              <a:t>RGB(193, 124, 78)</a:t>
            </a:r>
          </a:p>
          <a:p>
            <a:pPr algn="l">
              <a:spcAft>
                <a:spcPts val="300"/>
              </a:spcAft>
              <a:defRPr sz="1000" b="0">
                <a:solidFill>
                  <a:srgbClr val="000000"/>
                </a:solidFill>
                <a:latin typeface="Source Sans Pro"/>
              </a:defRPr>
            </a:pPr>
            <a:r>
              <a:t>CMYK(0, 35, 59, 24)</a:t>
            </a:r>
          </a:p>
          <a:p>
            <a:pPr algn="l">
              <a:spcAft>
                <a:spcPts val="300"/>
              </a:spcAft>
              <a:defRPr sz="1000" b="0">
                <a:solidFill>
                  <a:srgbClr val="000000"/>
                </a:solidFill>
                <a:latin typeface="Source Sans Pro"/>
              </a:defRPr>
            </a:pPr>
            <a:r>
              <a:t>Use Dark Text</a:t>
            </a:r>
          </a:p>
        </p:txBody>
      </p:sp>
      <p:cxnSp>
        <p:nvCxnSpPr>
          <p:cNvPr id="10" name="Connector 9"/>
          <p:cNvCxnSpPr/>
          <p:nvPr/>
        </p:nvCxnSpPr>
        <p:spPr>
          <a:xfrm>
            <a:off x="457200" y="5286375.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5560695"/>
            <a:ext cx="5486400" cy="731520"/>
          </a:xfrm>
          <a:prstGeom prst="rect">
            <a:avLst/>
          </a:prstGeom>
          <a:noFill/>
        </p:spPr>
        <p:txBody>
          <a:bodyPr wrap="none">
            <a:spAutoFit/>
          </a:bodyPr>
          <a:lstStyle/>
          <a:p>
            <a:pPr algn="l">
              <a:defRPr sz="2800" b="1">
                <a:solidFill>
                  <a:srgbClr val="810EB1"/>
                </a:solidFill>
                <a:latin typeface="Inter"/>
              </a:defRPr>
            </a:pPr>
            <a:r>
              <a:t>Primary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4F6B88"/>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Mystic Blue</a:t>
            </a:r>
          </a:p>
          <a:p>
            <a:pPr algn="ctr">
              <a:spcAft>
                <a:spcPts val="300"/>
              </a:spcAft>
              <a:defRPr sz="1000" b="0">
                <a:solidFill>
                  <a:srgbClr val="000000"/>
                </a:solidFill>
                <a:latin typeface="Source Sans Pro"/>
              </a:defRPr>
            </a:pPr>
            <a:r>
              <a:t>#4F6B88</a:t>
            </a:r>
          </a:p>
          <a:p>
            <a:pPr algn="ctr">
              <a:spcAft>
                <a:spcPts val="300"/>
              </a:spcAft>
              <a:defRPr sz="1000" b="0">
                <a:solidFill>
                  <a:srgbClr val="000000"/>
                </a:solidFill>
                <a:latin typeface="Source Sans Pro"/>
              </a:defRPr>
            </a:pPr>
            <a:r>
              <a:t>Use Light Text</a:t>
            </a:r>
          </a:p>
        </p:txBody>
      </p:sp>
      <p:sp>
        <p:nvSpPr>
          <p:cNvPr id="4" name="Rectangle 3"/>
          <p:cNvSpPr/>
          <p:nvPr/>
        </p:nvSpPr>
        <p:spPr>
          <a:xfrm>
            <a:off x="3200400" y="1571625"/>
            <a:ext cx="1828800" cy="914400"/>
          </a:xfrm>
          <a:prstGeom prst="rect">
            <a:avLst/>
          </a:prstGeom>
          <a:solidFill>
            <a:srgbClr val="F7C7A7"/>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Soft Peach</a:t>
            </a:r>
          </a:p>
          <a:p>
            <a:pPr algn="ctr">
              <a:spcAft>
                <a:spcPts val="300"/>
              </a:spcAft>
              <a:defRPr sz="1000" b="0">
                <a:solidFill>
                  <a:srgbClr val="000000"/>
                </a:solidFill>
                <a:latin typeface="Source Sans Pro"/>
              </a:defRPr>
            </a:pPr>
            <a:r>
              <a:t>#F7C7A7</a:t>
            </a:r>
          </a:p>
          <a:p>
            <a:pPr algn="ctr">
              <a:spcAft>
                <a:spcPts val="300"/>
              </a:spcAft>
              <a:defRPr sz="1000" b="0">
                <a:solidFill>
                  <a:srgbClr val="000000"/>
                </a:solidFill>
                <a:latin typeface="Source Sans Pro"/>
              </a:defRPr>
            </a:pPr>
            <a:r>
              <a:t>Use Dark Text</a:t>
            </a:r>
          </a:p>
        </p:txBody>
      </p:sp>
      <p:sp>
        <p:nvSpPr>
          <p:cNvPr id="6" name="Rectangle 5"/>
          <p:cNvSpPr/>
          <p:nvPr/>
        </p:nvSpPr>
        <p:spPr>
          <a:xfrm>
            <a:off x="5257800" y="1571625"/>
            <a:ext cx="1828800" cy="914400"/>
          </a:xfrm>
          <a:prstGeom prst="rect">
            <a:avLst/>
          </a:prstGeom>
          <a:solidFill>
            <a:srgbClr val="8FB78D"/>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Sage Green</a:t>
            </a:r>
          </a:p>
          <a:p>
            <a:pPr algn="ctr">
              <a:spcAft>
                <a:spcPts val="300"/>
              </a:spcAft>
              <a:defRPr sz="1000" b="0">
                <a:solidFill>
                  <a:srgbClr val="000000"/>
                </a:solidFill>
                <a:latin typeface="Source Sans Pro"/>
              </a:defRPr>
            </a:pPr>
            <a:r>
              <a:t>#8FB78D</a:t>
            </a:r>
          </a:p>
          <a:p>
            <a:pPr algn="ctr">
              <a:spcAft>
                <a:spcPts val="300"/>
              </a:spcAft>
              <a:defRPr sz="1000" b="0">
                <a:solidFill>
                  <a:srgbClr val="000000"/>
                </a:solidFill>
                <a:latin typeface="Source Sans Pro"/>
              </a:defRPr>
            </a:pPr>
            <a:r>
              <a:t>Use Dark Text</a:t>
            </a:r>
          </a:p>
        </p:txBody>
      </p:sp>
      <p:sp>
        <p:nvSpPr>
          <p:cNvPr id="8" name="Rectangle 7"/>
          <p:cNvSpPr/>
          <p:nvPr/>
        </p:nvSpPr>
        <p:spPr>
          <a:xfrm>
            <a:off x="2171700" y="3429000"/>
            <a:ext cx="1828800" cy="914400"/>
          </a:xfrm>
          <a:prstGeom prst="rect">
            <a:avLst/>
          </a:prstGeom>
          <a:solidFill>
            <a:srgbClr val="C18C94"/>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Dusty Rose</a:t>
            </a:r>
          </a:p>
          <a:p>
            <a:pPr algn="ctr">
              <a:spcAft>
                <a:spcPts val="300"/>
              </a:spcAft>
              <a:defRPr sz="1000" b="0">
                <a:solidFill>
                  <a:srgbClr val="000000"/>
                </a:solidFill>
                <a:latin typeface="Source Sans Pro"/>
              </a:defRPr>
            </a:pPr>
            <a:r>
              <a:t>#C18C94</a:t>
            </a:r>
          </a:p>
          <a:p>
            <a:pPr algn="ctr">
              <a:spcAft>
                <a:spcPts val="300"/>
              </a:spcAft>
              <a:defRPr sz="1000" b="0">
                <a:solidFill>
                  <a:srgbClr val="000000"/>
                </a:solidFill>
                <a:latin typeface="Source Sans Pro"/>
              </a:defRPr>
            </a:pPr>
            <a:r>
              <a:t>Use Dark Text</a:t>
            </a:r>
          </a:p>
        </p:txBody>
      </p:sp>
      <p:sp>
        <p:nvSpPr>
          <p:cNvPr id="10" name="Rectangle 9"/>
          <p:cNvSpPr/>
          <p:nvPr/>
        </p:nvSpPr>
        <p:spPr>
          <a:xfrm>
            <a:off x="4229100" y="3429000"/>
            <a:ext cx="1828800" cy="914400"/>
          </a:xfrm>
          <a:prstGeom prst="rect">
            <a:avLst/>
          </a:prstGeom>
          <a:solidFill>
            <a:srgbClr val="444444"/>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000000"/>
                </a:solidFill>
                <a:latin typeface="Source Sans Pro"/>
              </a:defRPr>
            </a:pPr>
            <a:r>
              <a:t>Charcoal Gray</a:t>
            </a:r>
          </a:p>
          <a:p>
            <a:pPr algn="ctr">
              <a:spcAft>
                <a:spcPts val="300"/>
              </a:spcAft>
              <a:defRPr sz="1000" b="0">
                <a:solidFill>
                  <a:srgbClr val="000000"/>
                </a:solidFill>
                <a:latin typeface="Source Sans Pro"/>
              </a:defRPr>
            </a:pPr>
            <a:r>
              <a:t>#444444</a:t>
            </a:r>
          </a:p>
          <a:p>
            <a:pPr algn="ctr">
              <a:spcAft>
                <a:spcPts val="300"/>
              </a:spcAft>
              <a:defRPr sz="1000" b="0">
                <a:solidFill>
                  <a:srgbClr val="000000"/>
                </a:solidFill>
                <a:latin typeface="Source Sans Pro"/>
              </a:defRPr>
            </a:pPr>
            <a:r>
              <a:t>Use Light Text</a:t>
            </a:r>
          </a:p>
        </p:txBody>
      </p:sp>
      <p:cxnSp>
        <p:nvCxnSpPr>
          <p:cNvPr id="12" name="Connector 11"/>
          <p:cNvCxnSpPr/>
          <p:nvPr/>
        </p:nvCxnSpPr>
        <p:spPr>
          <a:xfrm>
            <a:off x="457200" y="5286375.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810EB1"/>
                </a:solidFill>
                <a:latin typeface="Inter"/>
              </a:defRPr>
            </a:pPr>
            <a:r>
              <a:t>Secondary Colors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Source Sans Pro"/>
              </a:defRPr>
            </a:pPr>
            <a:r>
              <a:t>Primary Color Usage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Use for brand-critical elements:</a:t>
            </a:r>
          </a:p>
          <a:p>
            <a:pPr algn="l">
              <a:spcAft>
                <a:spcPts val="600"/>
              </a:spcAft>
              <a:defRPr sz="1400" b="0">
                <a:solidFill>
                  <a:srgbClr val="000000"/>
                </a:solidFill>
                <a:latin typeface="Source Sans Pro"/>
              </a:defRPr>
            </a:pPr>
            <a:r>
              <a:t>• Logos and main brand marks</a:t>
            </a:r>
          </a:p>
          <a:p>
            <a:pPr algn="l">
              <a:spcAft>
                <a:spcPts val="600"/>
              </a:spcAft>
              <a:defRPr sz="1400" b="0">
                <a:solidFill>
                  <a:srgbClr val="000000"/>
                </a:solidFill>
                <a:latin typeface="Source Sans Pro"/>
              </a:defRPr>
            </a:pPr>
            <a:r>
              <a:t>• Headlines and key text</a:t>
            </a:r>
          </a:p>
          <a:p>
            <a:pPr algn="l">
              <a:spcAft>
                <a:spcPts val="600"/>
              </a:spcAft>
              <a:defRPr sz="1400" b="0">
                <a:solidFill>
                  <a:srgbClr val="000000"/>
                </a:solidFill>
                <a:latin typeface="Source Sans Pro"/>
              </a:defRPr>
            </a:pPr>
            <a:r>
              <a:t>• CTA buttons and navigation</a:t>
            </a:r>
          </a:p>
          <a:p>
            <a:pPr algn="l">
              <a:spcAft>
                <a:spcPts val="600"/>
              </a:spcAft>
              <a:defRPr sz="1400" b="0">
                <a:solidFill>
                  <a:srgbClr val="000000"/>
                </a:solidFill>
                <a:latin typeface="Source Sans Pro"/>
              </a:defRPr>
            </a:pPr>
            <a:r>
              <a:t>• Hero sections</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Colors: Chaayos Purple, Tranquil Teal, Fresh Mint, Earthy Spice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Best Practices:</a:t>
            </a:r>
          </a:p>
          <a:p>
            <a:pPr algn="l">
              <a:spcAft>
                <a:spcPts val="600"/>
              </a:spcAft>
              <a:defRPr sz="1400" b="0">
                <a:solidFill>
                  <a:srgbClr val="000000"/>
                </a:solidFill>
                <a:latin typeface="Source Sans Pro"/>
              </a:defRPr>
            </a:pPr>
            <a:r>
              <a:t>- Maximum brand recognition</a:t>
            </a:r>
          </a:p>
          <a:p>
            <a:pPr algn="l">
              <a:spcAft>
                <a:spcPts val="600"/>
              </a:spcAft>
              <a:defRPr sz="1400" b="0">
                <a:solidFill>
                  <a:srgbClr val="000000"/>
                </a:solidFill>
                <a:latin typeface="Source Sans Pro"/>
              </a:defRPr>
            </a:pPr>
            <a:r>
              <a:t>- Consistent application</a:t>
            </a:r>
          </a:p>
          <a:p>
            <a:pPr algn="l">
              <a:spcAft>
                <a:spcPts val="600"/>
              </a:spcAft>
              <a:defRPr sz="1400" b="0">
                <a:solidFill>
                  <a:srgbClr val="000000"/>
                </a:solidFill>
                <a:latin typeface="Source Sans Pro"/>
              </a:defRPr>
            </a:pPr>
            <a:r>
              <a:t>- Sufficient contrast</a:t>
            </a:r>
          </a:p>
          <a:p>
            <a:pPr algn="l">
              <a:spcAft>
                <a:spcPts val="600"/>
              </a:spcAft>
              <a:defRPr sz="1400" b="0">
                <a:solidFill>
                  <a:srgbClr val="000000"/>
                </a:solidFill>
                <a:latin typeface="Source Sans Pro"/>
              </a:defRPr>
            </a:pPr>
            <a:r>
              <a:t>- Accessibility compliance</a:t>
            </a:r>
          </a:p>
        </p:txBody>
      </p:sp>
      <p:cxnSp>
        <p:nvCxnSpPr>
          <p:cNvPr id="3" name="Connector 2"/>
          <p:cNvCxnSpPr/>
          <p:nvPr/>
        </p:nvCxnSpPr>
        <p:spPr>
          <a:xfrm>
            <a:off x="457200" y="5286375.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810EB1"/>
                </a:solidFill>
                <a:latin typeface="Inter"/>
              </a:defRPr>
            </a:pPr>
            <a:r>
              <a:t>Color Usage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000000"/>
                </a:solidFill>
                <a:latin typeface="Source Sans Pro"/>
              </a:defRPr>
            </a:pPr>
            <a:r>
              <a:t>Secondary Color Usage</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Use for supporting elements:</a:t>
            </a:r>
          </a:p>
          <a:p>
            <a:pPr algn="l">
              <a:spcAft>
                <a:spcPts val="600"/>
              </a:spcAft>
              <a:defRPr sz="1400" b="0">
                <a:solidFill>
                  <a:srgbClr val="000000"/>
                </a:solidFill>
                <a:latin typeface="Source Sans Pro"/>
              </a:defRPr>
            </a:pPr>
            <a:r>
              <a:t>• Backgrounds and subtle accents</a:t>
            </a:r>
          </a:p>
          <a:p>
            <a:pPr algn="l">
              <a:spcAft>
                <a:spcPts val="600"/>
              </a:spcAft>
              <a:defRPr sz="1400" b="0">
                <a:solidFill>
                  <a:srgbClr val="000000"/>
                </a:solidFill>
                <a:latin typeface="Source Sans Pro"/>
              </a:defRPr>
            </a:pPr>
            <a:r>
              <a:t>• Secondary text</a:t>
            </a:r>
          </a:p>
          <a:p>
            <a:pPr algn="l">
              <a:spcAft>
                <a:spcPts val="600"/>
              </a:spcAft>
              <a:defRPr sz="1400" b="0">
                <a:solidFill>
                  <a:srgbClr val="000000"/>
                </a:solidFill>
                <a:latin typeface="Source Sans Pro"/>
              </a:defRPr>
            </a:pPr>
            <a:r>
              <a:t>• Borders and dividers</a:t>
            </a:r>
          </a:p>
          <a:p>
            <a:pPr algn="l">
              <a:spcAft>
                <a:spcPts val="600"/>
              </a:spcAft>
              <a:defRPr sz="1400" b="0">
                <a:solidFill>
                  <a:srgbClr val="000000"/>
                </a:solidFill>
                <a:latin typeface="Source Sans Pro"/>
              </a:defRPr>
            </a:pPr>
            <a:r>
              <a:t>• Hover states and icons</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Colors: Mystic Blue, Soft Peach, Sage Green, Dusty Rose, Charcoal Gray</a:t>
            </a:r>
          </a:p>
          <a:p>
            <a:pPr algn="l">
              <a:spcAft>
                <a:spcPts val="600"/>
              </a:spcAft>
              <a:defRPr sz="1400" b="0">
                <a:solidFill>
                  <a:srgbClr val="000000"/>
                </a:solidFill>
                <a:latin typeface="Source Sans Pro"/>
              </a:defRPr>
            </a:pPr>
          </a:p>
          <a:p>
            <a:pPr algn="l">
              <a:spcAft>
                <a:spcPts val="600"/>
              </a:spcAft>
              <a:defRPr sz="1400" b="0">
                <a:solidFill>
                  <a:srgbClr val="000000"/>
                </a:solidFill>
                <a:latin typeface="Source Sans Pro"/>
              </a:defRPr>
            </a:pPr>
            <a:r>
              <a:t>Best Practices:</a:t>
            </a:r>
          </a:p>
          <a:p>
            <a:pPr algn="l">
              <a:spcAft>
                <a:spcPts val="600"/>
              </a:spcAft>
              <a:defRPr sz="1400" b="0">
                <a:solidFill>
                  <a:srgbClr val="000000"/>
                </a:solidFill>
                <a:latin typeface="Source Sans Pro"/>
              </a:defRPr>
            </a:pPr>
            <a:r>
              <a:t>- Create visual hierarchy</a:t>
            </a:r>
          </a:p>
          <a:p>
            <a:pPr algn="l">
              <a:spcAft>
                <a:spcPts val="600"/>
              </a:spcAft>
              <a:defRPr sz="1400" b="0">
                <a:solidFill>
                  <a:srgbClr val="000000"/>
                </a:solidFill>
                <a:latin typeface="Source Sans Pro"/>
              </a:defRPr>
            </a:pPr>
            <a:r>
              <a:t>- Support, don't compete</a:t>
            </a:r>
          </a:p>
          <a:p>
            <a:pPr algn="l">
              <a:spcAft>
                <a:spcPts val="600"/>
              </a:spcAft>
              <a:defRPr sz="1400" b="0">
                <a:solidFill>
                  <a:srgbClr val="000000"/>
                </a:solidFill>
                <a:latin typeface="Source Sans Pro"/>
              </a:defRPr>
            </a:pPr>
            <a:r>
              <a:t>- Maintain readability</a:t>
            </a:r>
          </a:p>
          <a:p>
            <a:pPr algn="l">
              <a:spcAft>
                <a:spcPts val="600"/>
              </a:spcAft>
              <a:defRPr sz="1400" b="0">
                <a:solidFill>
                  <a:srgbClr val="000000"/>
                </a:solidFill>
                <a:latin typeface="Source Sans Pro"/>
              </a:defRPr>
            </a:pPr>
            <a:r>
              <a:t>- Use sparingly</a:t>
            </a:r>
          </a:p>
        </p:txBody>
      </p:sp>
      <p:cxnSp>
        <p:nvCxnSpPr>
          <p:cNvPr id="3" name="Connector 2"/>
          <p:cNvCxnSpPr/>
          <p:nvPr/>
        </p:nvCxnSpPr>
        <p:spPr>
          <a:xfrm>
            <a:off x="457200" y="5286375.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810EB1"/>
                </a:solidFill>
                <a:latin typeface="Inter"/>
              </a:defRPr>
            </a:pPr>
            <a:r>
              <a:t>Color Usage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Primary Font: Inter</a:t>
            </a:r>
          </a:p>
          <a:p>
            <a:pPr algn="l">
              <a:spcAft>
                <a:spcPts val="800"/>
              </a:spcAft>
              <a:defRPr sz="2000" b="0">
                <a:solidFill>
                  <a:srgbClr val="000000"/>
                </a:solidFill>
                <a:latin typeface="Source Sans Pro"/>
              </a:defRPr>
            </a:pPr>
          </a:p>
          <a:p>
            <a:pPr algn="l">
              <a:spcAft>
                <a:spcPts val="800"/>
              </a:spcAft>
              <a:defRPr sz="2000" b="0">
                <a:solidFill>
                  <a:srgbClr val="000000"/>
                </a:solidFill>
                <a:latin typeface="Source Sans Pro"/>
              </a:defRPr>
            </a:pPr>
            <a:r>
              <a:t>Secondary Font: Source Sans Pro</a:t>
            </a:r>
          </a:p>
          <a:p>
            <a:pPr algn="l">
              <a:spcAft>
                <a:spcPts val="800"/>
              </a:spcAft>
              <a:defRPr sz="2000" b="0">
                <a:solidFill>
                  <a:srgbClr val="000000"/>
                </a:solidFill>
                <a:latin typeface="Source Sans Pro"/>
              </a:defRPr>
            </a:pPr>
          </a:p>
          <a:p>
            <a:pPr algn="l">
              <a:spcAft>
                <a:spcPts val="800"/>
              </a:spcAft>
              <a:defRPr sz="2000" b="0">
                <a:solidFill>
                  <a:srgbClr val="000000"/>
                </a:solidFill>
                <a:latin typeface="Source Sans Pro"/>
              </a:defRPr>
            </a:pPr>
            <a:r>
              <a:t>Font Hierarchy:</a:t>
            </a:r>
          </a:p>
          <a:p>
            <a:pPr algn="l">
              <a:spcAft>
                <a:spcPts val="800"/>
              </a:spcAft>
              <a:defRPr sz="2000" b="0">
                <a:solidFill>
                  <a:srgbClr val="000000"/>
                </a:solidFill>
                <a:latin typeface="Source Sans Pro"/>
              </a:defRPr>
            </a:pPr>
            <a:r>
              <a:t>• Headlines: Inter - Bold, 28-32pt</a:t>
            </a:r>
          </a:p>
          <a:p>
            <a:pPr algn="l">
              <a:spcAft>
                <a:spcPts val="800"/>
              </a:spcAft>
              <a:defRPr sz="2000" b="0">
                <a:solidFill>
                  <a:srgbClr val="000000"/>
                </a:solidFill>
                <a:latin typeface="Source Sans Pro"/>
              </a:defRPr>
            </a:pPr>
            <a:r>
              <a:t>• Subheadlines: Inter - Bold, 20-24pt</a:t>
            </a:r>
          </a:p>
          <a:p>
            <a:pPr algn="l">
              <a:spcAft>
                <a:spcPts val="800"/>
              </a:spcAft>
              <a:defRPr sz="2000" b="0">
                <a:solidFill>
                  <a:srgbClr val="000000"/>
                </a:solidFill>
                <a:latin typeface="Source Sans Pro"/>
              </a:defRPr>
            </a:pPr>
            <a:r>
              <a:t>• Body Text: Source Sans Pro - Regular, 16-18pt</a:t>
            </a:r>
          </a:p>
          <a:p>
            <a:pPr algn="l">
              <a:spcAft>
                <a:spcPts val="800"/>
              </a:spcAft>
              <a:defRPr sz="2000" b="0">
                <a:solidFill>
                  <a:srgbClr val="000000"/>
                </a:solidFill>
                <a:latin typeface="Source Sans Pro"/>
              </a:defRPr>
            </a:pPr>
            <a:r>
              <a:t>• Caption Text: Source Sans Pro - Regular, 12-14pt</a:t>
            </a:r>
          </a:p>
        </p:txBody>
      </p:sp>
      <p:cxnSp>
        <p:nvCxnSpPr>
          <p:cNvPr id="3" name="Connector 2"/>
          <p:cNvCxnSpPr/>
          <p:nvPr/>
        </p:nvCxnSpPr>
        <p:spPr>
          <a:xfrm>
            <a:off x="457200" y="4914900.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810EB1"/>
                </a:solidFill>
                <a:latin typeface="Inter"/>
              </a:defRPr>
            </a:pPr>
            <a:r>
              <a:t>TYPOGRAPHY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Chaayos - Core Functional Icons</a:t>
            </a:r>
          </a:p>
        </p:txBody>
      </p:sp>
      <p:pic>
        <p:nvPicPr>
          <p:cNvPr id="3" name="Picture 2" descr="mdi_home_810eb1.png"/>
          <p:cNvPicPr>
            <a:picLocks noChangeAspect="1"/>
          </p:cNvPicPr>
          <p:nvPr/>
        </p:nvPicPr>
        <p:blipFill>
          <a:blip r:embed="rId2"/>
          <a:stretch>
            <a:fillRect/>
          </a:stretch>
        </p:blipFill>
        <p:spPr>
          <a:xfrm>
            <a:off x="722376" y="1645920"/>
            <a:ext cx="822960" cy="822960"/>
          </a:xfrm>
          <a:prstGeom prst="rect">
            <a:avLst/>
          </a:prstGeom>
        </p:spPr>
      </p:pic>
      <p:pic>
        <p:nvPicPr>
          <p:cNvPr id="4" name="Picture 3" descr="mdi_account_810eb1.png"/>
          <p:cNvPicPr>
            <a:picLocks noChangeAspect="1"/>
          </p:cNvPicPr>
          <p:nvPr/>
        </p:nvPicPr>
        <p:blipFill>
          <a:blip r:embed="rId3"/>
          <a:stretch>
            <a:fillRect/>
          </a:stretch>
        </p:blipFill>
        <p:spPr>
          <a:xfrm>
            <a:off x="2441448" y="1645920"/>
            <a:ext cx="822960" cy="822960"/>
          </a:xfrm>
          <a:prstGeom prst="rect">
            <a:avLst/>
          </a:prstGeom>
        </p:spPr>
      </p:pic>
      <p:pic>
        <p:nvPicPr>
          <p:cNvPr id="5" name="Picture 4" descr="mdi_cog_810eb1.png"/>
          <p:cNvPicPr>
            <a:picLocks noChangeAspect="1"/>
          </p:cNvPicPr>
          <p:nvPr/>
        </p:nvPicPr>
        <p:blipFill>
          <a:blip r:embed="rId4"/>
          <a:stretch>
            <a:fillRect/>
          </a:stretch>
        </p:blipFill>
        <p:spPr>
          <a:xfrm>
            <a:off x="4160520" y="1645920"/>
            <a:ext cx="822960" cy="822960"/>
          </a:xfrm>
          <a:prstGeom prst="rect">
            <a:avLst/>
          </a:prstGeom>
        </p:spPr>
      </p:pic>
      <p:pic>
        <p:nvPicPr>
          <p:cNvPr id="6" name="Picture 5" descr="mdi_briefcase_810eb1.png"/>
          <p:cNvPicPr>
            <a:picLocks noChangeAspect="1"/>
          </p:cNvPicPr>
          <p:nvPr/>
        </p:nvPicPr>
        <p:blipFill>
          <a:blip r:embed="rId5"/>
          <a:stretch>
            <a:fillRect/>
          </a:stretch>
        </p:blipFill>
        <p:spPr>
          <a:xfrm>
            <a:off x="5879592" y="1645920"/>
            <a:ext cx="822960" cy="822960"/>
          </a:xfrm>
          <a:prstGeom prst="rect">
            <a:avLst/>
          </a:prstGeom>
        </p:spPr>
      </p:pic>
      <p:pic>
        <p:nvPicPr>
          <p:cNvPr id="7" name="Picture 6" descr="mdi_office-building_810eb1.png"/>
          <p:cNvPicPr>
            <a:picLocks noChangeAspect="1"/>
          </p:cNvPicPr>
          <p:nvPr/>
        </p:nvPicPr>
        <p:blipFill>
          <a:blip r:embed="rId6"/>
          <a:stretch>
            <a:fillRect/>
          </a:stretch>
        </p:blipFill>
        <p:spPr>
          <a:xfrm>
            <a:off x="7598664" y="1645920"/>
            <a:ext cx="822960" cy="822960"/>
          </a:xfrm>
          <a:prstGeom prst="rect">
            <a:avLst/>
          </a:prstGeom>
        </p:spPr>
      </p:pic>
      <p:pic>
        <p:nvPicPr>
          <p:cNvPr id="8" name="Picture 7" descr="mdi_handshake_810eb1.png"/>
          <p:cNvPicPr>
            <a:picLocks noChangeAspect="1"/>
          </p:cNvPicPr>
          <p:nvPr/>
        </p:nvPicPr>
        <p:blipFill>
          <a:blip r:embed="rId7"/>
          <a:stretch>
            <a:fillRect/>
          </a:stretch>
        </p:blipFill>
        <p:spPr>
          <a:xfrm>
            <a:off x="722376" y="2743200"/>
            <a:ext cx="822960" cy="822960"/>
          </a:xfrm>
          <a:prstGeom prst="rect">
            <a:avLst/>
          </a:prstGeom>
        </p:spPr>
      </p:pic>
      <p:pic>
        <p:nvPicPr>
          <p:cNvPr id="9" name="Picture 8" descr="mdi_chart-line_810eb1.png"/>
          <p:cNvPicPr>
            <a:picLocks noChangeAspect="1"/>
          </p:cNvPicPr>
          <p:nvPr/>
        </p:nvPicPr>
        <p:blipFill>
          <a:blip r:embed="rId8"/>
          <a:stretch>
            <a:fillRect/>
          </a:stretch>
        </p:blipFill>
        <p:spPr>
          <a:xfrm>
            <a:off x="2441448" y="2743200"/>
            <a:ext cx="822960" cy="822960"/>
          </a:xfrm>
          <a:prstGeom prst="rect">
            <a:avLst/>
          </a:prstGeom>
        </p:spPr>
      </p:pic>
      <p:pic>
        <p:nvPicPr>
          <p:cNvPr id="10" name="Picture 9" descr="mdi_presentation_810eb1.png"/>
          <p:cNvPicPr>
            <a:picLocks noChangeAspect="1"/>
          </p:cNvPicPr>
          <p:nvPr/>
        </p:nvPicPr>
        <p:blipFill>
          <a:blip r:embed="rId9"/>
          <a:stretch>
            <a:fillRect/>
          </a:stretch>
        </p:blipFill>
        <p:spPr>
          <a:xfrm>
            <a:off x="4160520" y="2743200"/>
            <a:ext cx="822960" cy="822960"/>
          </a:xfrm>
          <a:prstGeom prst="rect">
            <a:avLst/>
          </a:prstGeom>
        </p:spPr>
      </p:pic>
      <p:pic>
        <p:nvPicPr>
          <p:cNvPr id="11" name="Picture 10" descr="mdi_calendar_810eb1.png"/>
          <p:cNvPicPr>
            <a:picLocks noChangeAspect="1"/>
          </p:cNvPicPr>
          <p:nvPr/>
        </p:nvPicPr>
        <p:blipFill>
          <a:blip r:embed="rId10"/>
          <a:stretch>
            <a:fillRect/>
          </a:stretch>
        </p:blipFill>
        <p:spPr>
          <a:xfrm>
            <a:off x="5879592" y="2743200"/>
            <a:ext cx="822960" cy="822960"/>
          </a:xfrm>
          <a:prstGeom prst="rect">
            <a:avLst/>
          </a:prstGeom>
        </p:spPr>
      </p:pic>
      <p:pic>
        <p:nvPicPr>
          <p:cNvPr id="12" name="Picture 11" descr="mdi_email_810eb1.png"/>
          <p:cNvPicPr>
            <a:picLocks noChangeAspect="1"/>
          </p:cNvPicPr>
          <p:nvPr/>
        </p:nvPicPr>
        <p:blipFill>
          <a:blip r:embed="rId11"/>
          <a:stretch>
            <a:fillRect/>
          </a:stretch>
        </p:blipFill>
        <p:spPr>
          <a:xfrm>
            <a:off x="7598664" y="2743200"/>
            <a:ext cx="822960" cy="822960"/>
          </a:xfrm>
          <a:prstGeom prst="rect">
            <a:avLst/>
          </a:prstGeom>
        </p:spPr>
      </p:pic>
      <p:pic>
        <p:nvPicPr>
          <p:cNvPr id="13" name="Picture 12" descr="mdi_lightbulb_810eb1.png"/>
          <p:cNvPicPr>
            <a:picLocks noChangeAspect="1"/>
          </p:cNvPicPr>
          <p:nvPr/>
        </p:nvPicPr>
        <p:blipFill>
          <a:blip r:embed="rId12"/>
          <a:stretch>
            <a:fillRect/>
          </a:stretch>
        </p:blipFill>
        <p:spPr>
          <a:xfrm>
            <a:off x="722376" y="3840480"/>
            <a:ext cx="822960" cy="822960"/>
          </a:xfrm>
          <a:prstGeom prst="rect">
            <a:avLst/>
          </a:prstGeom>
        </p:spPr>
      </p:pic>
      <p:pic>
        <p:nvPicPr>
          <p:cNvPr id="14" name="Picture 13" descr="mdi_rocket_810eb1.png"/>
          <p:cNvPicPr>
            <a:picLocks noChangeAspect="1"/>
          </p:cNvPicPr>
          <p:nvPr/>
        </p:nvPicPr>
        <p:blipFill>
          <a:blip r:embed="rId13"/>
          <a:stretch>
            <a:fillRect/>
          </a:stretch>
        </p:blipFill>
        <p:spPr>
          <a:xfrm>
            <a:off x="2441448" y="3840480"/>
            <a:ext cx="822960" cy="822960"/>
          </a:xfrm>
          <a:prstGeom prst="rect">
            <a:avLst/>
          </a:prstGeom>
        </p:spPr>
      </p:pic>
      <p:pic>
        <p:nvPicPr>
          <p:cNvPr id="15" name="Picture 14" descr="mdi_star_810eb1.png"/>
          <p:cNvPicPr>
            <a:picLocks noChangeAspect="1"/>
          </p:cNvPicPr>
          <p:nvPr/>
        </p:nvPicPr>
        <p:blipFill>
          <a:blip r:embed="rId14"/>
          <a:stretch>
            <a:fillRect/>
          </a:stretch>
        </p:blipFill>
        <p:spPr>
          <a:xfrm>
            <a:off x="4160520" y="3840480"/>
            <a:ext cx="822960" cy="822960"/>
          </a:xfrm>
          <a:prstGeom prst="rect">
            <a:avLst/>
          </a:prstGeom>
        </p:spPr>
      </p:pic>
      <p:pic>
        <p:nvPicPr>
          <p:cNvPr id="16" name="Picture 15" descr="mdi_medal_810eb1.png"/>
          <p:cNvPicPr>
            <a:picLocks noChangeAspect="1"/>
          </p:cNvPicPr>
          <p:nvPr/>
        </p:nvPicPr>
        <p:blipFill>
          <a:blip r:embed="rId15"/>
          <a:stretch>
            <a:fillRect/>
          </a:stretch>
        </p:blipFill>
        <p:spPr>
          <a:xfrm>
            <a:off x="5879592" y="3840480"/>
            <a:ext cx="822960" cy="822960"/>
          </a:xfrm>
          <a:prstGeom prst="rect">
            <a:avLst/>
          </a:prstGeom>
        </p:spPr>
      </p:pic>
      <p:pic>
        <p:nvPicPr>
          <p:cNvPr id="17" name="Picture 16" descr="mdi_briefcase_810eb1.png"/>
          <p:cNvPicPr>
            <a:picLocks noChangeAspect="1"/>
          </p:cNvPicPr>
          <p:nvPr/>
        </p:nvPicPr>
        <p:blipFill>
          <a:blip r:embed="rId5"/>
          <a:stretch>
            <a:fillRect/>
          </a:stretch>
        </p:blipFill>
        <p:spPr>
          <a:xfrm>
            <a:off x="7598664" y="3840480"/>
            <a:ext cx="822960" cy="822960"/>
          </a:xfrm>
          <a:prstGeom prst="rect">
            <a:avLst/>
          </a:prstGeom>
        </p:spPr>
      </p:pic>
      <p:cxnSp>
        <p:nvCxnSpPr>
          <p:cNvPr id="18" name="Connector 17"/>
          <p:cNvCxnSpPr/>
          <p:nvPr/>
        </p:nvCxnSpPr>
        <p:spPr>
          <a:xfrm>
            <a:off x="457200" y="5286375.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00100" y="5560695"/>
            <a:ext cx="3657600" cy="731520"/>
          </a:xfrm>
          <a:prstGeom prst="rect">
            <a:avLst/>
          </a:prstGeom>
          <a:noFill/>
        </p:spPr>
        <p:txBody>
          <a:bodyPr wrap="none">
            <a:spAutoFit/>
          </a:bodyPr>
          <a:lstStyle/>
          <a:p>
            <a:pPr algn="l">
              <a:defRPr sz="2800" b="1">
                <a:solidFill>
                  <a:srgbClr val="810EB1"/>
                </a:solidFill>
                <a:latin typeface="Inter"/>
              </a:defRPr>
            </a:pPr>
            <a:r>
              <a:t>ICONOGRAPHY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000000"/>
                </a:solidFill>
                <a:latin typeface="Source Sans Pro"/>
              </a:defRPr>
            </a:pPr>
            <a:r>
              <a:t>Chaayos - Food &amp; Beverage / Qsr (Quick Service Tea Café) Industry Icons</a:t>
            </a:r>
          </a:p>
        </p:txBody>
      </p:sp>
      <p:pic>
        <p:nvPicPr>
          <p:cNvPr id="3" name="Picture 2" descr="mdi_linkedin_810eb1.png"/>
          <p:cNvPicPr>
            <a:picLocks noChangeAspect="1"/>
          </p:cNvPicPr>
          <p:nvPr/>
        </p:nvPicPr>
        <p:blipFill>
          <a:blip r:embed="rId2"/>
          <a:stretch>
            <a:fillRect/>
          </a:stretch>
        </p:blipFill>
        <p:spPr>
          <a:xfrm>
            <a:off x="722376" y="1645920"/>
            <a:ext cx="822960" cy="822960"/>
          </a:xfrm>
          <a:prstGeom prst="rect">
            <a:avLst/>
          </a:prstGeom>
        </p:spPr>
      </p:pic>
      <p:pic>
        <p:nvPicPr>
          <p:cNvPr id="4" name="Picture 3" descr="mdi_microsoft_810eb1.png"/>
          <p:cNvPicPr>
            <a:picLocks noChangeAspect="1"/>
          </p:cNvPicPr>
          <p:nvPr/>
        </p:nvPicPr>
        <p:blipFill>
          <a:blip r:embed="rId3"/>
          <a:stretch>
            <a:fillRect/>
          </a:stretch>
        </p:blipFill>
        <p:spPr>
          <a:xfrm>
            <a:off x="2441448" y="1645920"/>
            <a:ext cx="822960" cy="822960"/>
          </a:xfrm>
          <a:prstGeom prst="rect">
            <a:avLst/>
          </a:prstGeom>
        </p:spPr>
      </p:pic>
      <p:pic>
        <p:nvPicPr>
          <p:cNvPr id="5" name="Picture 4" descr="mdi_google_810eb1.png"/>
          <p:cNvPicPr>
            <a:picLocks noChangeAspect="1"/>
          </p:cNvPicPr>
          <p:nvPr/>
        </p:nvPicPr>
        <p:blipFill>
          <a:blip r:embed="rId4"/>
          <a:stretch>
            <a:fillRect/>
          </a:stretch>
        </p:blipFill>
        <p:spPr>
          <a:xfrm>
            <a:off x="4160520" y="1645920"/>
            <a:ext cx="822960" cy="822960"/>
          </a:xfrm>
          <a:prstGeom prst="rect">
            <a:avLst/>
          </a:prstGeom>
        </p:spPr>
      </p:pic>
      <p:pic>
        <p:nvPicPr>
          <p:cNvPr id="6" name="Picture 5" descr="mdi_slack_810eb1.png"/>
          <p:cNvPicPr>
            <a:picLocks noChangeAspect="1"/>
          </p:cNvPicPr>
          <p:nvPr/>
        </p:nvPicPr>
        <p:blipFill>
          <a:blip r:embed="rId5"/>
          <a:stretch>
            <a:fillRect/>
          </a:stretch>
        </p:blipFill>
        <p:spPr>
          <a:xfrm>
            <a:off x="5879592" y="1645920"/>
            <a:ext cx="822960" cy="822960"/>
          </a:xfrm>
          <a:prstGeom prst="rect">
            <a:avLst/>
          </a:prstGeom>
        </p:spPr>
      </p:pic>
      <p:pic>
        <p:nvPicPr>
          <p:cNvPr id="7" name="Picture 6" descr="mdi_dropbox_810eb1.png"/>
          <p:cNvPicPr>
            <a:picLocks noChangeAspect="1"/>
          </p:cNvPicPr>
          <p:nvPr/>
        </p:nvPicPr>
        <p:blipFill>
          <a:blip r:embed="rId6"/>
          <a:stretch>
            <a:fillRect/>
          </a:stretch>
        </p:blipFill>
        <p:spPr>
          <a:xfrm>
            <a:off x="7598664" y="1645920"/>
            <a:ext cx="822960" cy="822960"/>
          </a:xfrm>
          <a:prstGeom prst="rect">
            <a:avLst/>
          </a:prstGeom>
        </p:spPr>
      </p:pic>
      <p:pic>
        <p:nvPicPr>
          <p:cNvPr id="8" name="Picture 7" descr="mdi_onedrive_810eb1.png"/>
          <p:cNvPicPr>
            <a:picLocks noChangeAspect="1"/>
          </p:cNvPicPr>
          <p:nvPr/>
        </p:nvPicPr>
        <p:blipFill>
          <a:blip r:embed="rId7"/>
          <a:stretch>
            <a:fillRect/>
          </a:stretch>
        </p:blipFill>
        <p:spPr>
          <a:xfrm>
            <a:off x="722376" y="2743200"/>
            <a:ext cx="822960" cy="822960"/>
          </a:xfrm>
          <a:prstGeom prst="rect">
            <a:avLst/>
          </a:prstGeom>
        </p:spPr>
      </p:pic>
      <p:pic>
        <p:nvPicPr>
          <p:cNvPr id="9" name="Picture 8" descr="mdi_facebook_810eb1.png"/>
          <p:cNvPicPr>
            <a:picLocks noChangeAspect="1"/>
          </p:cNvPicPr>
          <p:nvPr/>
        </p:nvPicPr>
        <p:blipFill>
          <a:blip r:embed="rId8"/>
          <a:stretch>
            <a:fillRect/>
          </a:stretch>
        </p:blipFill>
        <p:spPr>
          <a:xfrm>
            <a:off x="2441448" y="2743200"/>
            <a:ext cx="822960" cy="822960"/>
          </a:xfrm>
          <a:prstGeom prst="rect">
            <a:avLst/>
          </a:prstGeom>
        </p:spPr>
      </p:pic>
      <p:pic>
        <p:nvPicPr>
          <p:cNvPr id="10" name="Picture 9" descr="mdi_twitter_810eb1.png"/>
          <p:cNvPicPr>
            <a:picLocks noChangeAspect="1"/>
          </p:cNvPicPr>
          <p:nvPr/>
        </p:nvPicPr>
        <p:blipFill>
          <a:blip r:embed="rId9"/>
          <a:stretch>
            <a:fillRect/>
          </a:stretch>
        </p:blipFill>
        <p:spPr>
          <a:xfrm>
            <a:off x="4160520" y="2743200"/>
            <a:ext cx="822960" cy="822960"/>
          </a:xfrm>
          <a:prstGeom prst="rect">
            <a:avLst/>
          </a:prstGeom>
        </p:spPr>
      </p:pic>
      <p:pic>
        <p:nvPicPr>
          <p:cNvPr id="11" name="Picture 10" descr="mdi_lightbulb_810eb1.png"/>
          <p:cNvPicPr>
            <a:picLocks noChangeAspect="1"/>
          </p:cNvPicPr>
          <p:nvPr/>
        </p:nvPicPr>
        <p:blipFill>
          <a:blip r:embed="rId10"/>
          <a:stretch>
            <a:fillRect/>
          </a:stretch>
        </p:blipFill>
        <p:spPr>
          <a:xfrm>
            <a:off x="5879592" y="2743200"/>
            <a:ext cx="822960" cy="822960"/>
          </a:xfrm>
          <a:prstGeom prst="rect">
            <a:avLst/>
          </a:prstGeom>
        </p:spPr>
      </p:pic>
      <p:pic>
        <p:nvPicPr>
          <p:cNvPr id="12" name="Picture 11" descr="mdi_rocket_810eb1.png"/>
          <p:cNvPicPr>
            <a:picLocks noChangeAspect="1"/>
          </p:cNvPicPr>
          <p:nvPr/>
        </p:nvPicPr>
        <p:blipFill>
          <a:blip r:embed="rId11"/>
          <a:stretch>
            <a:fillRect/>
          </a:stretch>
        </p:blipFill>
        <p:spPr>
          <a:xfrm>
            <a:off x="7598664" y="2743200"/>
            <a:ext cx="822960" cy="822960"/>
          </a:xfrm>
          <a:prstGeom prst="rect">
            <a:avLst/>
          </a:prstGeom>
        </p:spPr>
      </p:pic>
      <p:pic>
        <p:nvPicPr>
          <p:cNvPr id="13" name="Picture 12" descr="mdi_star_810eb1.png"/>
          <p:cNvPicPr>
            <a:picLocks noChangeAspect="1"/>
          </p:cNvPicPr>
          <p:nvPr/>
        </p:nvPicPr>
        <p:blipFill>
          <a:blip r:embed="rId12"/>
          <a:stretch>
            <a:fillRect/>
          </a:stretch>
        </p:blipFill>
        <p:spPr>
          <a:xfrm>
            <a:off x="722376" y="3840480"/>
            <a:ext cx="822960" cy="822960"/>
          </a:xfrm>
          <a:prstGeom prst="rect">
            <a:avLst/>
          </a:prstGeom>
        </p:spPr>
      </p:pic>
      <p:pic>
        <p:nvPicPr>
          <p:cNvPr id="14" name="Picture 13" descr="mdi_medal_810eb1.png"/>
          <p:cNvPicPr>
            <a:picLocks noChangeAspect="1"/>
          </p:cNvPicPr>
          <p:nvPr/>
        </p:nvPicPr>
        <p:blipFill>
          <a:blip r:embed="rId13"/>
          <a:stretch>
            <a:fillRect/>
          </a:stretch>
        </p:blipFill>
        <p:spPr>
          <a:xfrm>
            <a:off x="2441448" y="3840480"/>
            <a:ext cx="822960" cy="822960"/>
          </a:xfrm>
          <a:prstGeom prst="rect">
            <a:avLst/>
          </a:prstGeom>
        </p:spPr>
      </p:pic>
      <p:pic>
        <p:nvPicPr>
          <p:cNvPr id="15" name="Picture 14" descr="mdi_briefcase_810eb1.png"/>
          <p:cNvPicPr>
            <a:picLocks noChangeAspect="1"/>
          </p:cNvPicPr>
          <p:nvPr/>
        </p:nvPicPr>
        <p:blipFill>
          <a:blip r:embed="rId14"/>
          <a:stretch>
            <a:fillRect/>
          </a:stretch>
        </p:blipFill>
        <p:spPr>
          <a:xfrm>
            <a:off x="4160520" y="3840480"/>
            <a:ext cx="822960" cy="822960"/>
          </a:xfrm>
          <a:prstGeom prst="rect">
            <a:avLst/>
          </a:prstGeom>
        </p:spPr>
      </p:pic>
      <p:cxnSp>
        <p:nvCxnSpPr>
          <p:cNvPr id="16" name="Connector 15"/>
          <p:cNvCxnSpPr/>
          <p:nvPr/>
        </p:nvCxnSpPr>
        <p:spPr>
          <a:xfrm>
            <a:off x="457200" y="5286375.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00100" y="5560695"/>
            <a:ext cx="3657600" cy="731520"/>
          </a:xfrm>
          <a:prstGeom prst="rect">
            <a:avLst/>
          </a:prstGeom>
          <a:noFill/>
        </p:spPr>
        <p:txBody>
          <a:bodyPr wrap="none">
            <a:spAutoFit/>
          </a:bodyPr>
          <a:lstStyle/>
          <a:p>
            <a:pPr algn="l">
              <a:defRPr sz="2800" b="1">
                <a:solidFill>
                  <a:srgbClr val="810EB1"/>
                </a:solidFill>
                <a:latin typeface="Inter"/>
              </a:defRPr>
            </a:pPr>
            <a:r>
              <a:t>ICONOGRAPHY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00100" y="1051560"/>
            <a:ext cx="6858000" cy="2228850"/>
          </a:xfrm>
          <a:prstGeom prst="rect">
            <a:avLst/>
          </a:prstGeom>
          <a:noFill/>
        </p:spPr>
        <p:txBody>
          <a:bodyPr wrap="square" lIns="0" rIns="0" tIns="0" bIns="0">
            <a:spAutoFit/>
          </a:bodyPr>
          <a:lstStyle/>
          <a:p>
            <a:pPr algn="l">
              <a:spcAft>
                <a:spcPts val="600"/>
              </a:spcAft>
              <a:defRPr sz="1800" b="0">
                <a:solidFill>
                  <a:srgbClr val="000000"/>
                </a:solidFill>
                <a:latin typeface="Source Sans Pro"/>
              </a:defRPr>
            </a:pPr>
            <a:r>
              <a:t>Style: Minimalist design</a:t>
            </a:r>
          </a:p>
          <a:p>
            <a:pPr algn="l">
              <a:spcAft>
                <a:spcPts val="600"/>
              </a:spcAft>
              <a:defRPr sz="1800" b="0">
                <a:solidFill>
                  <a:srgbClr val="000000"/>
                </a:solidFill>
                <a:latin typeface="Source Sans Pro"/>
              </a:defRPr>
            </a:pPr>
            <a:r>
              <a:t>Color: #810eb1 on black background</a:t>
            </a:r>
          </a:p>
          <a:p>
            <a:pPr algn="l">
              <a:spcAft>
                <a:spcPts val="600"/>
              </a:spcAft>
              <a:defRPr sz="1800" b="0">
                <a:solidFill>
                  <a:srgbClr val="000000"/>
                </a:solidFill>
                <a:latin typeface="Source Sans Pro"/>
              </a:defRPr>
            </a:pPr>
          </a:p>
          <a:p>
            <a:pPr algn="l">
              <a:spcAft>
                <a:spcPts val="600"/>
              </a:spcAft>
              <a:defRPr sz="1800" b="0">
                <a:solidFill>
                  <a:srgbClr val="000000"/>
                </a:solidFill>
                <a:latin typeface="Source Sans Pro"/>
              </a:defRPr>
            </a:pPr>
            <a:r>
              <a:t>Size Requirements:</a:t>
            </a:r>
          </a:p>
          <a:p>
            <a:pPr algn="l">
              <a:spcAft>
                <a:spcPts val="600"/>
              </a:spcAft>
              <a:defRPr sz="1800" b="0">
                <a:solidFill>
                  <a:srgbClr val="000000"/>
                </a:solidFill>
                <a:latin typeface="Source Sans Pro"/>
              </a:defRPr>
            </a:pPr>
            <a:r>
              <a:t>• Minimum: 16px web, 0.5" print</a:t>
            </a:r>
          </a:p>
          <a:p>
            <a:pPr algn="l">
              <a:spcAft>
                <a:spcPts val="600"/>
              </a:spcAft>
              <a:defRPr sz="1800" b="0">
                <a:solidFill>
                  <a:srgbClr val="000000"/>
                </a:solidFill>
                <a:latin typeface="Source Sans Pro"/>
              </a:defRPr>
            </a:pPr>
            <a:r>
              <a:t>• Recommended: 24px+ web, 0.75"+ print</a:t>
            </a:r>
          </a:p>
          <a:p>
            <a:pPr algn="l">
              <a:spcAft>
                <a:spcPts val="600"/>
              </a:spcAft>
              <a:defRPr sz="1800" b="0">
                <a:solidFill>
                  <a:srgbClr val="000000"/>
                </a:solidFill>
                <a:latin typeface="Source Sans Pro"/>
              </a:defRPr>
            </a:pPr>
          </a:p>
          <a:p>
            <a:pPr algn="l">
              <a:spcAft>
                <a:spcPts val="600"/>
              </a:spcAft>
              <a:defRPr sz="1800" b="0">
                <a:solidFill>
                  <a:srgbClr val="000000"/>
                </a:solidFill>
                <a:latin typeface="Source Sans Pro"/>
              </a:defRPr>
            </a:pPr>
            <a:r>
              <a:t>Spacing:</a:t>
            </a:r>
          </a:p>
          <a:p>
            <a:pPr algn="l">
              <a:spcAft>
                <a:spcPts val="600"/>
              </a:spcAft>
              <a:defRPr sz="1800" b="0">
                <a:solidFill>
                  <a:srgbClr val="000000"/>
                </a:solidFill>
                <a:latin typeface="Source Sans Pro"/>
              </a:defRPr>
            </a:pPr>
            <a:r>
              <a:t>• Clear space: 50% of icon width</a:t>
            </a:r>
          </a:p>
          <a:p>
            <a:pPr algn="l">
              <a:spcAft>
                <a:spcPts val="600"/>
              </a:spcAft>
              <a:defRPr sz="1800" b="0">
                <a:solidFill>
                  <a:srgbClr val="000000"/>
                </a:solidFill>
                <a:latin typeface="Source Sans Pro"/>
              </a:defRPr>
            </a:pPr>
            <a:r>
              <a:t>• Consistent grid alignment</a:t>
            </a:r>
          </a:p>
        </p:txBody>
      </p:sp>
      <p:cxnSp>
        <p:nvCxnSpPr>
          <p:cNvPr id="3" name="Connector 2"/>
          <p:cNvCxnSpPr/>
          <p:nvPr/>
        </p:nvCxnSpPr>
        <p:spPr>
          <a:xfrm>
            <a:off x="457200" y="5286375.0"/>
            <a:ext cx="8229600" cy="0.0"/>
          </a:xfrm>
          <a:prstGeom prst="line">
            <a:avLst/>
          </a:prstGeom>
          <a:ln w="25400">
            <a:solidFill>
              <a:srgbClr val="810EB1"/>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560695"/>
            <a:ext cx="5486400" cy="731520"/>
          </a:xfrm>
          <a:prstGeom prst="rect">
            <a:avLst/>
          </a:prstGeom>
          <a:noFill/>
        </p:spPr>
        <p:txBody>
          <a:bodyPr wrap="none">
            <a:spAutoFit/>
          </a:bodyPr>
          <a:lstStyle/>
          <a:p>
            <a:pPr algn="l">
              <a:defRPr sz="2800" b="1">
                <a:solidFill>
                  <a:srgbClr val="810EB1"/>
                </a:solidFill>
                <a:latin typeface="Inter"/>
              </a:defRPr>
            </a:pPr>
            <a:r>
              <a:t>USAGE GUIDELINES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tshirt_white_20251010_134009_cf82914a.png"/>
          <p:cNvPicPr>
            <a:picLocks noChangeAspect="1"/>
          </p:cNvPicPr>
          <p:nvPr/>
        </p:nvPicPr>
        <p:blipFill>
          <a:blip r:embed="rId2"/>
          <a:stretch>
            <a:fillRect/>
          </a:stretch>
        </p:blipFill>
        <p:spPr>
          <a:xfrm>
            <a:off x="411480" y="2286000"/>
            <a:ext cx="2286000" cy="2926080"/>
          </a:xfrm>
          <a:prstGeom prst="rect">
            <a:avLst/>
          </a:prstGeom>
        </p:spPr>
      </p:pic>
      <p:pic>
        <p:nvPicPr>
          <p:cNvPr id="3" name="Picture 2" descr="chaayos_tshirt_black_20251010_134020_ab18b491.png"/>
          <p:cNvPicPr>
            <a:picLocks noChangeAspect="1"/>
          </p:cNvPicPr>
          <p:nvPr/>
        </p:nvPicPr>
        <p:blipFill>
          <a:blip r:embed="rId3"/>
          <a:stretch>
            <a:fillRect/>
          </a:stretch>
        </p:blipFill>
        <p:spPr>
          <a:xfrm>
            <a:off x="3429000" y="2286000"/>
            <a:ext cx="2286000" cy="2926080"/>
          </a:xfrm>
          <a:prstGeom prst="rect">
            <a:avLst/>
          </a:prstGeom>
        </p:spPr>
      </p:pic>
      <p:pic>
        <p:nvPicPr>
          <p:cNvPr id="4" name="Picture 3" descr="chaayos_tshirt_yellow_20251010_134032_ddc6aff9.png"/>
          <p:cNvPicPr>
            <a:picLocks noChangeAspect="1"/>
          </p:cNvPicPr>
          <p:nvPr/>
        </p:nvPicPr>
        <p:blipFill>
          <a:blip r:embed="rId4"/>
          <a:stretch>
            <a:fillRect/>
          </a:stretch>
        </p:blipFill>
        <p:spPr>
          <a:xfrm>
            <a:off x="6446520" y="2286000"/>
            <a:ext cx="2286000" cy="2926080"/>
          </a:xfrm>
          <a:prstGeom prst="rect">
            <a:avLst/>
          </a:prstGeom>
        </p:spPr>
      </p:pic>
      <p:cxnSp>
        <p:nvCxnSpPr>
          <p:cNvPr id="5" name="Connector 4"/>
          <p:cNvCxnSpPr/>
          <p:nvPr/>
        </p:nvCxnSpPr>
        <p:spPr>
          <a:xfrm>
            <a:off x="457200" y="5286375.0"/>
            <a:ext cx="8229600" cy="0.0"/>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00100" y="5560695"/>
            <a:ext cx="5486400" cy="731520"/>
          </a:xfrm>
          <a:prstGeom prst="rect">
            <a:avLst/>
          </a:prstGeom>
          <a:noFill/>
        </p:spPr>
        <p:txBody>
          <a:bodyPr wrap="none">
            <a:spAutoFit/>
          </a:bodyPr>
          <a:lstStyle/>
          <a:p>
            <a:pPr algn="l">
              <a:defRPr sz="2800" b="1">
                <a:solidFill>
                  <a:srgbClr val="000000"/>
                </a:solidFill>
                <a:latin typeface="Inter"/>
              </a:defRPr>
            </a:pPr>
            <a:r>
              <a:t>BRAND APPAREL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chaayos_mug_white_20251010_134041_2467b2ef.png"/>
          <p:cNvPicPr>
            <a:picLocks noChangeAspect="1"/>
          </p:cNvPicPr>
          <p:nvPr/>
        </p:nvPicPr>
        <p:blipFill>
          <a:blip r:embed="rId2"/>
          <a:stretch>
            <a:fillRect/>
          </a:stretch>
        </p:blipFill>
        <p:spPr>
          <a:xfrm>
            <a:off x="411480" y="2286000"/>
            <a:ext cx="2286000" cy="2926080"/>
          </a:xfrm>
          <a:prstGeom prst="rect">
            <a:avLst/>
          </a:prstGeom>
        </p:spPr>
      </p:pic>
      <p:pic>
        <p:nvPicPr>
          <p:cNvPr id="3" name="Picture 2" descr="chaayos_mug_black_20251010_134050_47e38f38.png"/>
          <p:cNvPicPr>
            <a:picLocks noChangeAspect="1"/>
          </p:cNvPicPr>
          <p:nvPr/>
        </p:nvPicPr>
        <p:blipFill>
          <a:blip r:embed="rId3"/>
          <a:stretch>
            <a:fillRect/>
          </a:stretch>
        </p:blipFill>
        <p:spPr>
          <a:xfrm>
            <a:off x="3429000" y="2286000"/>
            <a:ext cx="2286000" cy="2926080"/>
          </a:xfrm>
          <a:prstGeom prst="rect">
            <a:avLst/>
          </a:prstGeom>
        </p:spPr>
      </p:pic>
      <p:pic>
        <p:nvPicPr>
          <p:cNvPr id="4" name="Picture 3" descr="chaayos_mug_primary_20251010_134101_fc27586c.png"/>
          <p:cNvPicPr>
            <a:picLocks noChangeAspect="1"/>
          </p:cNvPicPr>
          <p:nvPr/>
        </p:nvPicPr>
        <p:blipFill>
          <a:blip r:embed="rId4"/>
          <a:stretch>
            <a:fillRect/>
          </a:stretch>
        </p:blipFill>
        <p:spPr>
          <a:xfrm>
            <a:off x="6446520" y="2286000"/>
            <a:ext cx="2286000" cy="2926080"/>
          </a:xfrm>
          <a:prstGeom prst="rect">
            <a:avLst/>
          </a:prstGeom>
        </p:spPr>
      </p:pic>
      <p:cxnSp>
        <p:nvCxnSpPr>
          <p:cNvPr id="5" name="Connector 4"/>
          <p:cNvCxnSpPr/>
          <p:nvPr/>
        </p:nvCxnSpPr>
        <p:spPr>
          <a:xfrm>
            <a:off x="457200" y="5286375.0"/>
            <a:ext cx="8229600" cy="0.0"/>
          </a:xfrm>
          <a:prstGeom prst="line">
            <a:avLst/>
          </a:prstGeom>
          <a:ln w="25400">
            <a:solidFill>
              <a:srgbClr val="00000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00100" y="5560695"/>
            <a:ext cx="5486400" cy="731520"/>
          </a:xfrm>
          <a:prstGeom prst="rect">
            <a:avLst/>
          </a:prstGeom>
          <a:noFill/>
        </p:spPr>
        <p:txBody>
          <a:bodyPr wrap="none">
            <a:spAutoFit/>
          </a:bodyPr>
          <a:lstStyle/>
          <a:p>
            <a:pPr algn="l">
              <a:defRPr sz="2800" b="1">
                <a:solidFill>
                  <a:srgbClr val="000000"/>
                </a:solidFill>
                <a:latin typeface="Inter"/>
              </a:defRPr>
            </a:pPr>
            <a:r>
              <a:t>BRAND MUGS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