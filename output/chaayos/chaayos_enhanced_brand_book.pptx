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 Id="rId15"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jpg"/><Relationship Id="rId4" Type="http://schemas.openxmlformats.org/officeDocument/2006/relationships/image" Target="../media/image35.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logo_1_20251010_184754_1629dc05.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065F46"/>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065F46"/>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000000"/>
                </a:solidFill>
                <a:latin typeface="Source Sans Pro"/>
              </a:defRPr>
            </a:pPr>
            <a:r>
              <a:t>Introduction</a:t>
            </a:r>
          </a:p>
        </p:txBody>
      </p:sp>
      <p:cxnSp>
        <p:nvCxnSpPr>
          <p:cNvPr id="5" name="Connector 4"/>
          <p:cNvCxnSpPr/>
          <p:nvPr/>
        </p:nvCxnSpPr>
        <p:spPr>
          <a:xfrm>
            <a:off x="2331719" y="166420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065F46"/>
                </a:solidFill>
                <a:latin typeface="Source Sans Pro"/>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Purpose (Vision)</a:t>
            </a:r>
          </a:p>
        </p:txBody>
      </p:sp>
      <p:cxnSp>
        <p:nvCxnSpPr>
          <p:cNvPr id="8" name="Connector 7"/>
          <p:cNvCxnSpPr/>
          <p:nvPr/>
        </p:nvCxnSpPr>
        <p:spPr>
          <a:xfrm>
            <a:off x="2331719" y="216712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065F46"/>
                </a:solidFill>
                <a:latin typeface="Source Sans Pro"/>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Purpose (Mission)</a:t>
            </a:r>
          </a:p>
        </p:txBody>
      </p:sp>
      <p:cxnSp>
        <p:nvCxnSpPr>
          <p:cNvPr id="11" name="Connector 10"/>
          <p:cNvCxnSpPr/>
          <p:nvPr/>
        </p:nvCxnSpPr>
        <p:spPr>
          <a:xfrm>
            <a:off x="2331719" y="267004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065F46"/>
                </a:solidFill>
                <a:latin typeface="Source Sans Pro"/>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Purpose (Values)</a:t>
            </a:r>
          </a:p>
        </p:txBody>
      </p:sp>
      <p:cxnSp>
        <p:nvCxnSpPr>
          <p:cNvPr id="14" name="Connector 13"/>
          <p:cNvCxnSpPr/>
          <p:nvPr/>
        </p:nvCxnSpPr>
        <p:spPr>
          <a:xfrm>
            <a:off x="5349239" y="166420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065F46"/>
                </a:solidFill>
                <a:latin typeface="Source Sans Pro"/>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Story</a:t>
            </a:r>
          </a:p>
        </p:txBody>
      </p:sp>
      <p:cxnSp>
        <p:nvCxnSpPr>
          <p:cNvPr id="17" name="Connector 16"/>
          <p:cNvCxnSpPr/>
          <p:nvPr/>
        </p:nvCxnSpPr>
        <p:spPr>
          <a:xfrm>
            <a:off x="5349239" y="216712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065F46"/>
                </a:solidFill>
                <a:latin typeface="Source Sans Pro"/>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000000"/>
                </a:solidFill>
                <a:latin typeface="Source Sans Pro"/>
              </a:defRPr>
            </a:pPr>
            <a:r>
              <a:t>Logo Variations</a:t>
            </a:r>
          </a:p>
        </p:txBody>
      </p:sp>
      <p:cxnSp>
        <p:nvCxnSpPr>
          <p:cNvPr id="20" name="Connector 19"/>
          <p:cNvCxnSpPr/>
          <p:nvPr/>
        </p:nvCxnSpPr>
        <p:spPr>
          <a:xfrm>
            <a:off x="5349239" y="267004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065F46"/>
                </a:solidFill>
                <a:latin typeface="Source Sans Pro"/>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666666"/>
                </a:solidFill>
                <a:latin typeface="Source Sans Pro"/>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666666"/>
                </a:solidFill>
                <a:latin typeface="Source Sans Pro"/>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666666"/>
                </a:solidFill>
                <a:latin typeface="Source Sans Pro"/>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000000"/>
                </a:solidFill>
                <a:latin typeface="Source Sans Pro"/>
              </a:defRPr>
            </a:pPr>
            <a:r>
              <a:t>Brand Colors</a:t>
            </a:r>
          </a:p>
        </p:txBody>
      </p:sp>
      <p:cxnSp>
        <p:nvCxnSpPr>
          <p:cNvPr id="26" name="Connector 25"/>
          <p:cNvCxnSpPr/>
          <p:nvPr/>
        </p:nvCxnSpPr>
        <p:spPr>
          <a:xfrm>
            <a:off x="8366759" y="166420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065F46"/>
                </a:solidFill>
                <a:latin typeface="Source Sans Pro"/>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666666"/>
                </a:solidFill>
                <a:latin typeface="Source Sans Pro"/>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666666"/>
                </a:solidFill>
                <a:latin typeface="Source Sans Pro"/>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666666"/>
                </a:solidFill>
                <a:latin typeface="Source Sans Pro"/>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666666"/>
                </a:solidFill>
                <a:latin typeface="Source Sans Pro"/>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000000"/>
                </a:solidFill>
                <a:latin typeface="Source Sans Pro"/>
              </a:defRPr>
            </a:pPr>
            <a:r>
              <a:t>Typography</a:t>
            </a:r>
          </a:p>
        </p:txBody>
      </p:sp>
      <p:cxnSp>
        <p:nvCxnSpPr>
          <p:cNvPr id="33" name="Connector 32"/>
          <p:cNvCxnSpPr/>
          <p:nvPr/>
        </p:nvCxnSpPr>
        <p:spPr>
          <a:xfrm>
            <a:off x="8366759" y="308152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065F46"/>
                </a:solidFill>
                <a:latin typeface="Source Sans Pro"/>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666666"/>
                </a:solidFill>
                <a:latin typeface="Source Sans Pro"/>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666666"/>
                </a:solidFill>
                <a:latin typeface="Source Sans Pro"/>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666666"/>
                </a:solidFill>
                <a:latin typeface="Source Sans Pro"/>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000000"/>
                </a:solidFill>
                <a:latin typeface="Source Sans Pro"/>
              </a:defRPr>
            </a:pPr>
            <a:r>
              <a:t>Imagery &amp; Visuals</a:t>
            </a:r>
          </a:p>
        </p:txBody>
      </p:sp>
      <p:cxnSp>
        <p:nvCxnSpPr>
          <p:cNvPr id="39" name="Connector 38"/>
          <p:cNvCxnSpPr/>
          <p:nvPr/>
        </p:nvCxnSpPr>
        <p:spPr>
          <a:xfrm>
            <a:off x="8366759" y="4270248"/>
            <a:ext cx="365760" cy="0"/>
          </a:xfrm>
          <a:prstGeom prst="line">
            <a:avLst/>
          </a:prstGeom>
          <a:ln w="19050">
            <a:solidFill>
              <a:srgbClr val="065F4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065F46"/>
                </a:solidFill>
                <a:latin typeface="Source Sans Pro"/>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666666"/>
                </a:solidFill>
                <a:latin typeface="Source Sans Pro"/>
              </a:defRPr>
            </a:pPr>
            <a:r>
              <a:t>Illustrations</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666666"/>
                </a:solidFill>
                <a:latin typeface="Source Sans Pro"/>
              </a:defRPr>
            </a:pPr>
            <a:r>
              <a:t>Iconography</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666666"/>
                </a:solidFill>
                <a:latin typeface="Source Sans Pro"/>
              </a:defRPr>
            </a:pPr>
            <a:r>
              <a:t>Merchandise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Welcome to Chaayos's brand identity system, where tradition meets innovation in the modern tea café experience. As pioneers in the premium beverage segment, we've crafted a distinct identity that seamlessly blends authentic chai culture with cutting-edge personalization technology. Our comprehensive system delivers an internationally appealing, consistently engaging, and uniquely recognizable brand presence across all touchpoints. By harmonizing age-old chai wisdom with contemporary café culture, we create memorable experiences for urban professionals and tea enthusiasts who value both heritage and innovation in their daily chai ritual.</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3657600" cy="731520"/>
          </a:xfrm>
          <a:prstGeom prst="rect">
            <a:avLst/>
          </a:prstGeom>
          <a:noFill/>
        </p:spPr>
        <p:txBody>
          <a:bodyPr wrap="none">
            <a:spAutoFit/>
          </a:bodyPr>
          <a:lstStyle/>
          <a:p>
            <a:pPr algn="l">
              <a:defRPr sz="2800" b="1">
                <a:solidFill>
                  <a:srgbClr val="065F46"/>
                </a:solidFill>
                <a:latin typeface="Inter"/>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At Chaayos, our vision is to redefine the tea experience for Urban working professionals, college students, and tea aficionados by creating a hub of innovation and relaxation. We aspire to be the beacon of premium, customizable chai solutions that cater to the diverse tastes of our health-conscious and tech-savvy customers, setting new standards for hygienic and personalized tea experiences.</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Chaayos is dedicated to providing a distinctive Food &amp; Beverage / Quick Service Tea Café experience that blends tradition with innovation. We aim to empower our customers by offering high-quality, personalized tea options in a hygienic environment while leveraging user-centric design to continuously enhance their chai experience. Our mission is to be the go-to destination for those seeking a premium and trustworthy tea café experience.</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At Chaayos, we embody a culture that celebrates Personalization through our customizable tea offerings, ensuring Quality in every sip, and fostering Innovation in our menu and service offerings. We prioritize Hygiene to provide a safe and clean environment for our customers, while focusing on enhancing Customer Experience through reliable and trustworthy service. Grounded in Tradition, we strive to create a space where our customers can Relax and unwind while enjoying their favorite cup of chai.</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In the bustling streets of urban India, where the aroma of chai fills the air and the clinking of cups signals a moment of pause in the chaos, there stands a haven for tea enthusiasts - Chaayos. Imagine a place where every cup tells a story, where tradition meets innovation, and where each sip is a journey through flavors and memories. This is where urban working professionals, college students, and tea lovers from all walks of life come together to experience a chai revolution like no other. At Chaayos, we believe in the power of personalization.</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BRAND STORY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We understand that every tea lover is unique, with their own preferences and tastes. That's why we offer a wide range of customizable chai options, from classic Masala Chai to exotic blends like Kashmiri Kahwa, allowing our customers to create their perfect cup of tea, just the way they like it. But it's not just about the tea; it's about the experience. From the moment you step into a Chaayos café, you are greeted with warmth and a sense of familiarity. Our cozy ambiance and friendly staff make you feel right at home, whether you're catching up with friends, studying for exams, or taking...</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BRAND STORY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logo_1_20251010_184754_1629dc05.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Source Sans Pro"/>
              </a:defRPr>
            </a:pPr>
            <a:r>
              <a:t>Choose for maximum impact and brand recognition in primary applications.</a:t>
            </a:r>
          </a:p>
        </p:txBody>
      </p:sp>
      <p:cxnSp>
        <p:nvCxnSpPr>
          <p:cNvPr id="4" name="Connector 3"/>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Logo Variation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logo_2_20251010_184808_38ad0160.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Source Sans Pro"/>
              </a:defRPr>
            </a:pPr>
            <a:r>
              <a:t>Perfect for constrained spaces while maintaining professional brand presence and clarity.</a:t>
            </a:r>
          </a:p>
        </p:txBody>
      </p:sp>
      <p:cxnSp>
        <p:nvCxnSpPr>
          <p:cNvPr id="4" name="Connector 3"/>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Logo Variation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logo_3_20251010_184822_6f5ca7a8.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Source Sans Pro"/>
              </a:defRPr>
            </a:pPr>
            <a:r>
              <a:t>Ideal for small sizes, watermarks, and applications requiring simplified brand representation.</a:t>
            </a:r>
          </a:p>
        </p:txBody>
      </p:sp>
      <p:cxnSp>
        <p:nvCxnSpPr>
          <p:cNvPr id="4" name="Connector 3"/>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Logo Variation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065F4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Chaayos Green</a:t>
            </a:r>
          </a:p>
          <a:p>
            <a:pPr algn="l">
              <a:spcAft>
                <a:spcPts val="300"/>
              </a:spcAft>
              <a:defRPr sz="1000" b="0">
                <a:solidFill>
                  <a:srgbClr val="000000"/>
                </a:solidFill>
                <a:latin typeface="Source Sans Pro"/>
              </a:defRPr>
            </a:pPr>
            <a:r>
              <a:t>#065F46</a:t>
            </a:r>
          </a:p>
          <a:p>
            <a:pPr algn="l">
              <a:spcAft>
                <a:spcPts val="300"/>
              </a:spcAft>
              <a:defRPr sz="1000" b="0">
                <a:solidFill>
                  <a:srgbClr val="000000"/>
                </a:solidFill>
                <a:latin typeface="Source Sans Pro"/>
              </a:defRPr>
            </a:pPr>
            <a:r>
              <a:t>RGB(6, 95, 70)</a:t>
            </a:r>
          </a:p>
          <a:p>
            <a:pPr algn="l">
              <a:spcAft>
                <a:spcPts val="300"/>
              </a:spcAft>
              <a:defRPr sz="1000" b="0">
                <a:solidFill>
                  <a:srgbClr val="000000"/>
                </a:solidFill>
                <a:latin typeface="Source Sans Pro"/>
              </a:defRPr>
            </a:pPr>
            <a:r>
              <a:t>CMYK(93, 0, 26, 62)</a:t>
            </a:r>
          </a:p>
          <a:p>
            <a:pPr algn="l">
              <a:spcAft>
                <a:spcPts val="300"/>
              </a:spcAft>
              <a:defRPr sz="1000" b="0">
                <a:solidFill>
                  <a:srgbClr val="000000"/>
                </a:solidFill>
                <a:latin typeface="Source Sans Pro"/>
              </a:defRPr>
            </a:pPr>
            <a:r>
              <a:t>Use Light Text</a:t>
            </a:r>
          </a:p>
        </p:txBody>
      </p:sp>
      <p:sp>
        <p:nvSpPr>
          <p:cNvPr id="4" name="Rectangle 3"/>
          <p:cNvSpPr/>
          <p:nvPr/>
        </p:nvSpPr>
        <p:spPr>
          <a:xfrm>
            <a:off x="4572000" y="1645920"/>
            <a:ext cx="1828800" cy="1371600"/>
          </a:xfrm>
          <a:prstGeom prst="rect">
            <a:avLst/>
          </a:prstGeom>
          <a:solidFill>
            <a:srgbClr val="A0522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Masala Chai Brown</a:t>
            </a:r>
          </a:p>
          <a:p>
            <a:pPr algn="l">
              <a:spcAft>
                <a:spcPts val="300"/>
              </a:spcAft>
              <a:defRPr sz="1000" b="0">
                <a:solidFill>
                  <a:srgbClr val="000000"/>
                </a:solidFill>
                <a:latin typeface="Source Sans Pro"/>
              </a:defRPr>
            </a:pPr>
            <a:r>
              <a:t>#A0522D</a:t>
            </a:r>
          </a:p>
          <a:p>
            <a:pPr algn="l">
              <a:spcAft>
                <a:spcPts val="300"/>
              </a:spcAft>
              <a:defRPr sz="1000" b="0">
                <a:solidFill>
                  <a:srgbClr val="000000"/>
                </a:solidFill>
                <a:latin typeface="Source Sans Pro"/>
              </a:defRPr>
            </a:pPr>
            <a:r>
              <a:t>RGB(160, 82, 45)</a:t>
            </a:r>
          </a:p>
          <a:p>
            <a:pPr algn="l">
              <a:spcAft>
                <a:spcPts val="300"/>
              </a:spcAft>
              <a:defRPr sz="1000" b="0">
                <a:solidFill>
                  <a:srgbClr val="000000"/>
                </a:solidFill>
                <a:latin typeface="Source Sans Pro"/>
              </a:defRPr>
            </a:pPr>
            <a:r>
              <a:t>CMYK(0, 48, 71, 37)</a:t>
            </a:r>
          </a:p>
          <a:p>
            <a:pPr algn="l">
              <a:spcAft>
                <a:spcPts val="300"/>
              </a:spcAft>
              <a:defRPr sz="1000" b="0">
                <a:solidFill>
                  <a:srgbClr val="000000"/>
                </a:solidFill>
                <a:latin typeface="Source Sans Pro"/>
              </a:defRPr>
            </a:pPr>
            <a:r>
              <a:t>Use Light Text</a:t>
            </a:r>
          </a:p>
        </p:txBody>
      </p:sp>
      <p:sp>
        <p:nvSpPr>
          <p:cNvPr id="6" name="Rectangle 5"/>
          <p:cNvSpPr/>
          <p:nvPr/>
        </p:nvSpPr>
        <p:spPr>
          <a:xfrm>
            <a:off x="1143000" y="3726180"/>
            <a:ext cx="1828800" cy="1371600"/>
          </a:xfrm>
          <a:prstGeom prst="rect">
            <a:avLst/>
          </a:prstGeom>
          <a:solidFill>
            <a:srgbClr val="5E819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Earl Grey Blue</a:t>
            </a:r>
          </a:p>
          <a:p>
            <a:pPr algn="l">
              <a:spcAft>
                <a:spcPts val="300"/>
              </a:spcAft>
              <a:defRPr sz="1000" b="0">
                <a:solidFill>
                  <a:srgbClr val="000000"/>
                </a:solidFill>
                <a:latin typeface="Source Sans Pro"/>
              </a:defRPr>
            </a:pPr>
            <a:r>
              <a:t>#5E819D</a:t>
            </a:r>
          </a:p>
          <a:p>
            <a:pPr algn="l">
              <a:spcAft>
                <a:spcPts val="300"/>
              </a:spcAft>
              <a:defRPr sz="1000" b="0">
                <a:solidFill>
                  <a:srgbClr val="000000"/>
                </a:solidFill>
                <a:latin typeface="Source Sans Pro"/>
              </a:defRPr>
            </a:pPr>
            <a:r>
              <a:t>RGB(94, 129, 157)</a:t>
            </a:r>
          </a:p>
          <a:p>
            <a:pPr algn="l">
              <a:spcAft>
                <a:spcPts val="300"/>
              </a:spcAft>
              <a:defRPr sz="1000" b="0">
                <a:solidFill>
                  <a:srgbClr val="000000"/>
                </a:solidFill>
                <a:latin typeface="Source Sans Pro"/>
              </a:defRPr>
            </a:pPr>
            <a:r>
              <a:t>CMYK(40, 17, 0, 38)</a:t>
            </a:r>
          </a:p>
          <a:p>
            <a:pPr algn="l">
              <a:spcAft>
                <a:spcPts val="300"/>
              </a:spcAft>
              <a:defRPr sz="1000" b="0">
                <a:solidFill>
                  <a:srgbClr val="000000"/>
                </a:solidFill>
                <a:latin typeface="Source Sans Pro"/>
              </a:defRPr>
            </a:pPr>
            <a:r>
              <a:t>Use Dark Text</a:t>
            </a:r>
          </a:p>
        </p:txBody>
      </p:sp>
      <p:sp>
        <p:nvSpPr>
          <p:cNvPr id="8" name="Rectangle 7"/>
          <p:cNvSpPr/>
          <p:nvPr/>
        </p:nvSpPr>
        <p:spPr>
          <a:xfrm>
            <a:off x="4572000" y="3726180"/>
            <a:ext cx="1828800" cy="1371600"/>
          </a:xfrm>
          <a:prstGeom prst="rect">
            <a:avLst/>
          </a:prstGeom>
          <a:solidFill>
            <a:srgbClr val="D4AF3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Source Sans Pro"/>
              </a:defRPr>
            </a:pPr>
            <a:r>
              <a:t>Golden Brew</a:t>
            </a:r>
          </a:p>
          <a:p>
            <a:pPr algn="l">
              <a:spcAft>
                <a:spcPts val="300"/>
              </a:spcAft>
              <a:defRPr sz="1000" b="0">
                <a:solidFill>
                  <a:srgbClr val="000000"/>
                </a:solidFill>
                <a:latin typeface="Source Sans Pro"/>
              </a:defRPr>
            </a:pPr>
            <a:r>
              <a:t>#D4AF37</a:t>
            </a:r>
          </a:p>
          <a:p>
            <a:pPr algn="l">
              <a:spcAft>
                <a:spcPts val="300"/>
              </a:spcAft>
              <a:defRPr sz="1000" b="0">
                <a:solidFill>
                  <a:srgbClr val="000000"/>
                </a:solidFill>
                <a:latin typeface="Source Sans Pro"/>
              </a:defRPr>
            </a:pPr>
            <a:r>
              <a:t>RGB(212, 175, 55)</a:t>
            </a:r>
          </a:p>
          <a:p>
            <a:pPr algn="l">
              <a:spcAft>
                <a:spcPts val="300"/>
              </a:spcAft>
              <a:defRPr sz="1000" b="0">
                <a:solidFill>
                  <a:srgbClr val="000000"/>
                </a:solidFill>
                <a:latin typeface="Source Sans Pro"/>
              </a:defRPr>
            </a:pPr>
            <a:r>
              <a:t>CMYK(0, 17, 74, 16)</a:t>
            </a:r>
          </a:p>
          <a:p>
            <a:pPr algn="l">
              <a:spcAft>
                <a:spcPts val="300"/>
              </a:spcAft>
              <a:defRPr sz="1000" b="0">
                <a:solidFill>
                  <a:srgbClr val="000000"/>
                </a:solidFill>
                <a:latin typeface="Source Sans Pro"/>
              </a:defRPr>
            </a:pPr>
            <a:r>
              <a:t>Use Dark Text</a:t>
            </a:r>
          </a:p>
        </p:txBody>
      </p:sp>
      <p:cxnSp>
        <p:nvCxnSpPr>
          <p:cNvPr id="10" name="Connector 9"/>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6217920"/>
            <a:ext cx="5486400" cy="731520"/>
          </a:xfrm>
          <a:prstGeom prst="rect">
            <a:avLst/>
          </a:prstGeom>
          <a:noFill/>
        </p:spPr>
        <p:txBody>
          <a:bodyPr wrap="none">
            <a:spAutoFit/>
          </a:bodyPr>
          <a:lstStyle/>
          <a:p>
            <a:pPr algn="l">
              <a:defRPr sz="2800" b="1">
                <a:solidFill>
                  <a:srgbClr val="065F46"/>
                </a:solidFill>
                <a:latin typeface="Inter"/>
              </a:defRPr>
            </a:pPr>
            <a:r>
              <a:t>Primary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7ED5B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Mint Green</a:t>
            </a:r>
          </a:p>
          <a:p>
            <a:pPr algn="ctr">
              <a:spcAft>
                <a:spcPts val="300"/>
              </a:spcAft>
              <a:defRPr sz="1000" b="0">
                <a:solidFill>
                  <a:srgbClr val="000000"/>
                </a:solidFill>
                <a:latin typeface="Source Sans Pro"/>
              </a:defRPr>
            </a:pPr>
            <a:r>
              <a:t>#7ED5B8</a:t>
            </a:r>
          </a:p>
          <a:p>
            <a:pPr algn="ctr">
              <a:spcAft>
                <a:spcPts val="300"/>
              </a:spcAft>
              <a:defRPr sz="1000" b="0">
                <a:solidFill>
                  <a:srgbClr val="000000"/>
                </a:solidFill>
                <a:latin typeface="Source Sans Pro"/>
              </a:defRPr>
            </a:pPr>
            <a:r>
              <a:t>Use Dark Text</a:t>
            </a:r>
          </a:p>
        </p:txBody>
      </p:sp>
      <p:sp>
        <p:nvSpPr>
          <p:cNvPr id="4" name="Rectangle 3"/>
          <p:cNvSpPr/>
          <p:nvPr/>
        </p:nvSpPr>
        <p:spPr>
          <a:xfrm>
            <a:off x="3200400" y="1571625"/>
            <a:ext cx="1828800" cy="914400"/>
          </a:xfrm>
          <a:prstGeom prst="rect">
            <a:avLst/>
          </a:prstGeom>
          <a:solidFill>
            <a:srgbClr val="C15B3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Terracotta</a:t>
            </a:r>
          </a:p>
          <a:p>
            <a:pPr algn="ctr">
              <a:spcAft>
                <a:spcPts val="300"/>
              </a:spcAft>
              <a:defRPr sz="1000" b="0">
                <a:solidFill>
                  <a:srgbClr val="000000"/>
                </a:solidFill>
                <a:latin typeface="Source Sans Pro"/>
              </a:defRPr>
            </a:pPr>
            <a:r>
              <a:t>#C15B32</a:t>
            </a:r>
          </a:p>
          <a:p>
            <a:pPr algn="ctr">
              <a:spcAft>
                <a:spcPts val="300"/>
              </a:spcAft>
              <a:defRPr sz="1000" b="0">
                <a:solidFill>
                  <a:srgbClr val="000000"/>
                </a:solidFill>
                <a:latin typeface="Source Sans Pro"/>
              </a:defRPr>
            </a:pPr>
            <a:r>
              <a:t>Use Dark Text</a:t>
            </a:r>
          </a:p>
        </p:txBody>
      </p:sp>
      <p:sp>
        <p:nvSpPr>
          <p:cNvPr id="6" name="Rectangle 5"/>
          <p:cNvSpPr/>
          <p:nvPr/>
        </p:nvSpPr>
        <p:spPr>
          <a:xfrm>
            <a:off x="5257800" y="1571625"/>
            <a:ext cx="1828800" cy="914400"/>
          </a:xfrm>
          <a:prstGeom prst="rect">
            <a:avLst/>
          </a:prstGeom>
          <a:solidFill>
            <a:srgbClr val="4B6F8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Steel Blue</a:t>
            </a:r>
          </a:p>
          <a:p>
            <a:pPr algn="ctr">
              <a:spcAft>
                <a:spcPts val="300"/>
              </a:spcAft>
              <a:defRPr sz="1000" b="0">
                <a:solidFill>
                  <a:srgbClr val="000000"/>
                </a:solidFill>
                <a:latin typeface="Source Sans Pro"/>
              </a:defRPr>
            </a:pPr>
            <a:r>
              <a:t>#4B6F8E</a:t>
            </a:r>
          </a:p>
          <a:p>
            <a:pPr algn="ctr">
              <a:spcAft>
                <a:spcPts val="300"/>
              </a:spcAft>
              <a:defRPr sz="1000" b="0">
                <a:solidFill>
                  <a:srgbClr val="000000"/>
                </a:solidFill>
                <a:latin typeface="Source Sans Pro"/>
              </a:defRPr>
            </a:pPr>
            <a:r>
              <a:t>Use Light Text</a:t>
            </a:r>
          </a:p>
        </p:txBody>
      </p:sp>
      <p:sp>
        <p:nvSpPr>
          <p:cNvPr id="8" name="Rectangle 7"/>
          <p:cNvSpPr/>
          <p:nvPr/>
        </p:nvSpPr>
        <p:spPr>
          <a:xfrm>
            <a:off x="2171700" y="3429000"/>
            <a:ext cx="1828800" cy="914400"/>
          </a:xfrm>
          <a:prstGeom prst="rect">
            <a:avLst/>
          </a:prstGeom>
          <a:solidFill>
            <a:srgbClr val="DCC26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Mustard Yellow</a:t>
            </a:r>
          </a:p>
          <a:p>
            <a:pPr algn="ctr">
              <a:spcAft>
                <a:spcPts val="300"/>
              </a:spcAft>
              <a:defRPr sz="1000" b="0">
                <a:solidFill>
                  <a:srgbClr val="000000"/>
                </a:solidFill>
                <a:latin typeface="Source Sans Pro"/>
              </a:defRPr>
            </a:pPr>
            <a:r>
              <a:t>#DCC268</a:t>
            </a:r>
          </a:p>
          <a:p>
            <a:pPr algn="ctr">
              <a:spcAft>
                <a:spcPts val="300"/>
              </a:spcAft>
              <a:defRPr sz="1000" b="0">
                <a:solidFill>
                  <a:srgbClr val="000000"/>
                </a:solidFill>
                <a:latin typeface="Source Sans Pro"/>
              </a:defRPr>
            </a:pPr>
            <a:r>
              <a:t>Use Dark Text</a:t>
            </a:r>
          </a:p>
        </p:txBody>
      </p:sp>
      <p:sp>
        <p:nvSpPr>
          <p:cNvPr id="10" name="Rectangle 9"/>
          <p:cNvSpPr/>
          <p:nvPr/>
        </p:nvSpPr>
        <p:spPr>
          <a:xfrm>
            <a:off x="4229100" y="3429000"/>
            <a:ext cx="1828800" cy="914400"/>
          </a:xfrm>
          <a:prstGeom prst="rect">
            <a:avLst/>
          </a:prstGeom>
          <a:solidFill>
            <a:srgbClr val="333333"/>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Source Sans Pro"/>
              </a:defRPr>
            </a:pPr>
            <a:r>
              <a:t>Charcoal</a:t>
            </a:r>
          </a:p>
          <a:p>
            <a:pPr algn="ctr">
              <a:spcAft>
                <a:spcPts val="300"/>
              </a:spcAft>
              <a:defRPr sz="1000" b="0">
                <a:solidFill>
                  <a:srgbClr val="000000"/>
                </a:solidFill>
                <a:latin typeface="Source Sans Pro"/>
              </a:defRPr>
            </a:pPr>
            <a:r>
              <a:t>#333333</a:t>
            </a:r>
          </a:p>
          <a:p>
            <a:pPr algn="ctr">
              <a:spcAft>
                <a:spcPts val="300"/>
              </a:spcAft>
              <a:defRPr sz="1000" b="0">
                <a:solidFill>
                  <a:srgbClr val="000000"/>
                </a:solidFill>
                <a:latin typeface="Source Sans Pro"/>
              </a:defRPr>
            </a:pPr>
            <a:r>
              <a:t>Use Light Text</a:t>
            </a:r>
          </a:p>
        </p:txBody>
      </p:sp>
      <p:cxnSp>
        <p:nvCxnSpPr>
          <p:cNvPr id="12" name="Connector 11"/>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6217920"/>
            <a:ext cx="5486400" cy="731520"/>
          </a:xfrm>
          <a:prstGeom prst="rect">
            <a:avLst/>
          </a:prstGeom>
          <a:noFill/>
        </p:spPr>
        <p:txBody>
          <a:bodyPr wrap="none">
            <a:spAutoFit/>
          </a:bodyPr>
          <a:lstStyle/>
          <a:p>
            <a:pPr algn="l">
              <a:defRPr sz="2800" b="1">
                <a:solidFill>
                  <a:srgbClr val="065F46"/>
                </a:solidFill>
                <a:latin typeface="Inter"/>
              </a:defRPr>
            </a:pPr>
            <a:r>
              <a:t>Secondary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Source Sans Pro"/>
              </a:defRPr>
            </a:pPr>
            <a:r>
              <a:t>Primary Color Usage</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Use for brand-critical elements:</a:t>
            </a:r>
          </a:p>
          <a:p>
            <a:pPr algn="l">
              <a:spcAft>
                <a:spcPts val="600"/>
              </a:spcAft>
              <a:defRPr sz="1400" b="0">
                <a:solidFill>
                  <a:srgbClr val="000000"/>
                </a:solidFill>
                <a:latin typeface="Source Sans Pro"/>
              </a:defRPr>
            </a:pPr>
            <a:r>
              <a:t>• Logos and main brand marks</a:t>
            </a:r>
          </a:p>
          <a:p>
            <a:pPr algn="l">
              <a:spcAft>
                <a:spcPts val="600"/>
              </a:spcAft>
              <a:defRPr sz="1400" b="0">
                <a:solidFill>
                  <a:srgbClr val="000000"/>
                </a:solidFill>
                <a:latin typeface="Source Sans Pro"/>
              </a:defRPr>
            </a:pPr>
            <a:r>
              <a:t>• Headlines and key text</a:t>
            </a:r>
          </a:p>
          <a:p>
            <a:pPr algn="l">
              <a:spcAft>
                <a:spcPts val="600"/>
              </a:spcAft>
              <a:defRPr sz="1400" b="0">
                <a:solidFill>
                  <a:srgbClr val="000000"/>
                </a:solidFill>
                <a:latin typeface="Source Sans Pro"/>
              </a:defRPr>
            </a:pPr>
            <a:r>
              <a:t>• CTA buttons and navigation</a:t>
            </a:r>
          </a:p>
          <a:p>
            <a:pPr algn="l">
              <a:spcAft>
                <a:spcPts val="600"/>
              </a:spcAft>
              <a:defRPr sz="1400" b="0">
                <a:solidFill>
                  <a:srgbClr val="000000"/>
                </a:solidFill>
                <a:latin typeface="Source Sans Pro"/>
              </a:defRPr>
            </a:pPr>
            <a:r>
              <a:t>• Hero sections</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Colors: Chaayos Green, Masala Chai Brown, Earl Grey Blue, Golden Brew</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Best Practices:</a:t>
            </a:r>
          </a:p>
          <a:p>
            <a:pPr algn="l">
              <a:spcAft>
                <a:spcPts val="600"/>
              </a:spcAft>
              <a:defRPr sz="1400" b="0">
                <a:solidFill>
                  <a:srgbClr val="000000"/>
                </a:solidFill>
                <a:latin typeface="Source Sans Pro"/>
              </a:defRPr>
            </a:pPr>
            <a:r>
              <a:t>- Maximum brand recognition</a:t>
            </a:r>
          </a:p>
          <a:p>
            <a:pPr algn="l">
              <a:spcAft>
                <a:spcPts val="600"/>
              </a:spcAft>
              <a:defRPr sz="1400" b="0">
                <a:solidFill>
                  <a:srgbClr val="000000"/>
                </a:solidFill>
                <a:latin typeface="Source Sans Pro"/>
              </a:defRPr>
            </a:pPr>
            <a:r>
              <a:t>- Consistent application</a:t>
            </a:r>
          </a:p>
          <a:p>
            <a:pPr algn="l">
              <a:spcAft>
                <a:spcPts val="600"/>
              </a:spcAft>
              <a:defRPr sz="1400" b="0">
                <a:solidFill>
                  <a:srgbClr val="000000"/>
                </a:solidFill>
                <a:latin typeface="Source Sans Pro"/>
              </a:defRPr>
            </a:pPr>
            <a:r>
              <a:t>- Sufficient contrast</a:t>
            </a:r>
          </a:p>
          <a:p>
            <a:pPr algn="l">
              <a:spcAft>
                <a:spcPts val="600"/>
              </a:spcAft>
              <a:defRPr sz="1400" b="0">
                <a:solidFill>
                  <a:srgbClr val="000000"/>
                </a:solidFill>
                <a:latin typeface="Source Sans Pro"/>
              </a:defRPr>
            </a:pPr>
            <a:r>
              <a:t>- Accessibility compliance</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217920"/>
            <a:ext cx="5486400" cy="731520"/>
          </a:xfrm>
          <a:prstGeom prst="rect">
            <a:avLst/>
          </a:prstGeom>
          <a:noFill/>
        </p:spPr>
        <p:txBody>
          <a:bodyPr wrap="none">
            <a:spAutoFit/>
          </a:bodyPr>
          <a:lstStyle/>
          <a:p>
            <a:pPr algn="l">
              <a:defRPr sz="2800" b="1">
                <a:solidFill>
                  <a:srgbClr val="065F46"/>
                </a:solidFill>
                <a:latin typeface="Inter"/>
              </a:defRPr>
            </a:pPr>
            <a:r>
              <a:t>Color Usage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Source Sans Pro"/>
              </a:defRPr>
            </a:pPr>
            <a:r>
              <a:t>Secondary Color Usage</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Use for supporting elements:</a:t>
            </a:r>
          </a:p>
          <a:p>
            <a:pPr algn="l">
              <a:spcAft>
                <a:spcPts val="600"/>
              </a:spcAft>
              <a:defRPr sz="1400" b="0">
                <a:solidFill>
                  <a:srgbClr val="000000"/>
                </a:solidFill>
                <a:latin typeface="Source Sans Pro"/>
              </a:defRPr>
            </a:pPr>
            <a:r>
              <a:t>• Backgrounds and subtle accents</a:t>
            </a:r>
          </a:p>
          <a:p>
            <a:pPr algn="l">
              <a:spcAft>
                <a:spcPts val="600"/>
              </a:spcAft>
              <a:defRPr sz="1400" b="0">
                <a:solidFill>
                  <a:srgbClr val="000000"/>
                </a:solidFill>
                <a:latin typeface="Source Sans Pro"/>
              </a:defRPr>
            </a:pPr>
            <a:r>
              <a:t>• Secondary text</a:t>
            </a:r>
          </a:p>
          <a:p>
            <a:pPr algn="l">
              <a:spcAft>
                <a:spcPts val="600"/>
              </a:spcAft>
              <a:defRPr sz="1400" b="0">
                <a:solidFill>
                  <a:srgbClr val="000000"/>
                </a:solidFill>
                <a:latin typeface="Source Sans Pro"/>
              </a:defRPr>
            </a:pPr>
            <a:r>
              <a:t>• Borders and dividers</a:t>
            </a:r>
          </a:p>
          <a:p>
            <a:pPr algn="l">
              <a:spcAft>
                <a:spcPts val="600"/>
              </a:spcAft>
              <a:defRPr sz="1400" b="0">
                <a:solidFill>
                  <a:srgbClr val="000000"/>
                </a:solidFill>
                <a:latin typeface="Source Sans Pro"/>
              </a:defRPr>
            </a:pPr>
            <a:r>
              <a:t>• Hover states and icons</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Colors: Mint Green, Terracotta, Steel Blue, Mustard Yellow, Charcoal</a:t>
            </a:r>
          </a:p>
          <a:p>
            <a:pPr algn="l">
              <a:spcAft>
                <a:spcPts val="600"/>
              </a:spcAft>
              <a:defRPr sz="1400" b="0">
                <a:solidFill>
                  <a:srgbClr val="000000"/>
                </a:solidFill>
                <a:latin typeface="Source Sans Pro"/>
              </a:defRPr>
            </a:pPr>
          </a:p>
          <a:p>
            <a:pPr algn="l">
              <a:spcAft>
                <a:spcPts val="600"/>
              </a:spcAft>
              <a:defRPr sz="1400" b="0">
                <a:solidFill>
                  <a:srgbClr val="000000"/>
                </a:solidFill>
                <a:latin typeface="Source Sans Pro"/>
              </a:defRPr>
            </a:pPr>
            <a:r>
              <a:t>Best Practices:</a:t>
            </a:r>
          </a:p>
          <a:p>
            <a:pPr algn="l">
              <a:spcAft>
                <a:spcPts val="600"/>
              </a:spcAft>
              <a:defRPr sz="1400" b="0">
                <a:solidFill>
                  <a:srgbClr val="000000"/>
                </a:solidFill>
                <a:latin typeface="Source Sans Pro"/>
              </a:defRPr>
            </a:pPr>
            <a:r>
              <a:t>- Create visual hierarchy</a:t>
            </a:r>
          </a:p>
          <a:p>
            <a:pPr algn="l">
              <a:spcAft>
                <a:spcPts val="600"/>
              </a:spcAft>
              <a:defRPr sz="1400" b="0">
                <a:solidFill>
                  <a:srgbClr val="000000"/>
                </a:solidFill>
                <a:latin typeface="Source Sans Pro"/>
              </a:defRPr>
            </a:pPr>
            <a:r>
              <a:t>- Support, don't compete</a:t>
            </a:r>
          </a:p>
          <a:p>
            <a:pPr algn="l">
              <a:spcAft>
                <a:spcPts val="600"/>
              </a:spcAft>
              <a:defRPr sz="1400" b="0">
                <a:solidFill>
                  <a:srgbClr val="000000"/>
                </a:solidFill>
                <a:latin typeface="Source Sans Pro"/>
              </a:defRPr>
            </a:pPr>
            <a:r>
              <a:t>- Maintain readability</a:t>
            </a:r>
          </a:p>
          <a:p>
            <a:pPr algn="l">
              <a:spcAft>
                <a:spcPts val="600"/>
              </a:spcAft>
              <a:defRPr sz="1400" b="0">
                <a:solidFill>
                  <a:srgbClr val="000000"/>
                </a:solidFill>
                <a:latin typeface="Source Sans Pro"/>
              </a:defRPr>
            </a:pPr>
            <a:r>
              <a:t>- Use sparingly</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217920"/>
            <a:ext cx="5486400" cy="731520"/>
          </a:xfrm>
          <a:prstGeom prst="rect">
            <a:avLst/>
          </a:prstGeom>
          <a:noFill/>
        </p:spPr>
        <p:txBody>
          <a:bodyPr wrap="none">
            <a:spAutoFit/>
          </a:bodyPr>
          <a:lstStyle/>
          <a:p>
            <a:pPr algn="l">
              <a:defRPr sz="2800" b="1">
                <a:solidFill>
                  <a:srgbClr val="065F46"/>
                </a:solidFill>
                <a:latin typeface="Inter"/>
              </a:defRPr>
            </a:pPr>
            <a:r>
              <a:t>Color Usage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Primary Font: Inter</a:t>
            </a:r>
          </a:p>
          <a:p>
            <a:pPr algn="l">
              <a:spcAft>
                <a:spcPts val="800"/>
              </a:spcAft>
              <a:defRPr sz="2000" b="0">
                <a:solidFill>
                  <a:srgbClr val="000000"/>
                </a:solidFill>
                <a:latin typeface="Source Sans Pro"/>
              </a:defRPr>
            </a:pPr>
          </a:p>
          <a:p>
            <a:pPr algn="l">
              <a:spcAft>
                <a:spcPts val="800"/>
              </a:spcAft>
              <a:defRPr sz="2000" b="0">
                <a:solidFill>
                  <a:srgbClr val="000000"/>
                </a:solidFill>
                <a:latin typeface="Source Sans Pro"/>
              </a:defRPr>
            </a:pPr>
            <a:r>
              <a:t>Secondary Font: Source Sans Pro</a:t>
            </a:r>
          </a:p>
          <a:p>
            <a:pPr algn="l">
              <a:spcAft>
                <a:spcPts val="800"/>
              </a:spcAft>
              <a:defRPr sz="2000" b="0">
                <a:solidFill>
                  <a:srgbClr val="000000"/>
                </a:solidFill>
                <a:latin typeface="Source Sans Pro"/>
              </a:defRPr>
            </a:pPr>
          </a:p>
          <a:p>
            <a:pPr algn="l">
              <a:spcAft>
                <a:spcPts val="800"/>
              </a:spcAft>
              <a:defRPr sz="2000" b="0">
                <a:solidFill>
                  <a:srgbClr val="000000"/>
                </a:solidFill>
                <a:latin typeface="Source Sans Pro"/>
              </a:defRPr>
            </a:pPr>
            <a:r>
              <a:t>Font Hierarchy:</a:t>
            </a:r>
          </a:p>
          <a:p>
            <a:pPr algn="l">
              <a:spcAft>
                <a:spcPts val="800"/>
              </a:spcAft>
              <a:defRPr sz="2000" b="0">
                <a:solidFill>
                  <a:srgbClr val="000000"/>
                </a:solidFill>
                <a:latin typeface="Source Sans Pro"/>
              </a:defRPr>
            </a:pPr>
            <a:r>
              <a:t>• Headlines: Inter - Bold, 28-32pt</a:t>
            </a:r>
          </a:p>
          <a:p>
            <a:pPr algn="l">
              <a:spcAft>
                <a:spcPts val="800"/>
              </a:spcAft>
              <a:defRPr sz="2000" b="0">
                <a:solidFill>
                  <a:srgbClr val="000000"/>
                </a:solidFill>
                <a:latin typeface="Source Sans Pro"/>
              </a:defRPr>
            </a:pPr>
            <a:r>
              <a:t>• Subheadlines: Inter - Bold, 20-24pt</a:t>
            </a:r>
          </a:p>
          <a:p>
            <a:pPr algn="l">
              <a:spcAft>
                <a:spcPts val="800"/>
              </a:spcAft>
              <a:defRPr sz="2000" b="0">
                <a:solidFill>
                  <a:srgbClr val="000000"/>
                </a:solidFill>
                <a:latin typeface="Source Sans Pro"/>
              </a:defRPr>
            </a:pPr>
            <a:r>
              <a:t>• Body Text: Source Sans Pro - Regular, 16-18pt</a:t>
            </a:r>
          </a:p>
          <a:p>
            <a:pPr algn="l">
              <a:spcAft>
                <a:spcPts val="800"/>
              </a:spcAft>
              <a:defRPr sz="2000" b="0">
                <a:solidFill>
                  <a:srgbClr val="000000"/>
                </a:solidFill>
                <a:latin typeface="Source Sans Pro"/>
              </a:defRPr>
            </a:pPr>
            <a:r>
              <a:t>• Caption Text: Source Sans Pro - Regular, 12-14pt</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3657600" cy="731520"/>
          </a:xfrm>
          <a:prstGeom prst="rect">
            <a:avLst/>
          </a:prstGeom>
          <a:noFill/>
        </p:spPr>
        <p:txBody>
          <a:bodyPr wrap="none">
            <a:spAutoFit/>
          </a:bodyPr>
          <a:lstStyle/>
          <a:p>
            <a:pPr algn="l">
              <a:defRPr sz="2800" b="1">
                <a:solidFill>
                  <a:srgbClr val="065F46"/>
                </a:solidFill>
                <a:latin typeface="Inter"/>
              </a:defRPr>
            </a:pPr>
            <a:r>
              <a:t>TYPOGRAPHY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illustration_1_20251010_185021_dec33047_clean.png"/>
          <p:cNvPicPr>
            <a:picLocks noChangeAspect="1"/>
          </p:cNvPicPr>
          <p:nvPr/>
        </p:nvPicPr>
        <p:blipFill>
          <a:blip r:embed="rId2"/>
          <a:stretch>
            <a:fillRect/>
          </a:stretch>
        </p:blipFill>
        <p:spPr>
          <a:xfrm>
            <a:off x="914400" y="365760"/>
            <a:ext cx="2377440" cy="1371600"/>
          </a:xfrm>
          <a:prstGeom prst="rect">
            <a:avLst/>
          </a:prstGeom>
        </p:spPr>
      </p:pic>
      <p:sp>
        <p:nvSpPr>
          <p:cNvPr id="3" name="TextBox 2"/>
          <p:cNvSpPr txBox="1"/>
          <p:nvPr/>
        </p:nvSpPr>
        <p:spPr>
          <a:xfrm>
            <a:off x="914400" y="137160"/>
            <a:ext cx="2377440" cy="182880"/>
          </a:xfrm>
          <a:prstGeom prst="rect">
            <a:avLst/>
          </a:prstGeom>
          <a:noFill/>
        </p:spPr>
        <p:txBody>
          <a:bodyPr wrap="none" lIns="0" rIns="0" tIns="0" bIns="0">
            <a:spAutoFit/>
          </a:bodyPr>
          <a:lstStyle/>
          <a:p>
            <a:pPr algn="ctr">
              <a:defRPr sz="800" b="1">
                <a:solidFill>
                  <a:srgbClr val="065F46"/>
                </a:solidFill>
                <a:latin typeface="Source Sans Pro"/>
              </a:defRPr>
            </a:pPr>
            <a:r>
              <a:t>Visual 1</a:t>
            </a:r>
          </a:p>
        </p:txBody>
      </p:sp>
      <p:sp>
        <p:nvSpPr>
          <p:cNvPr id="4" name="TextBox 3"/>
          <p:cNvSpPr txBox="1"/>
          <p:nvPr/>
        </p:nvSpPr>
        <p:spPr>
          <a:xfrm>
            <a:off x="914400" y="181051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Visual representation of how Chaayo...</a:t>
            </a:r>
          </a:p>
        </p:txBody>
      </p:sp>
      <p:pic>
        <p:nvPicPr>
          <p:cNvPr id="5" name="Picture 4" descr="chaayos_illustration_2_20251010_185032_c6619b3f_clean.png"/>
          <p:cNvPicPr>
            <a:picLocks noChangeAspect="1"/>
          </p:cNvPicPr>
          <p:nvPr/>
        </p:nvPicPr>
        <p:blipFill>
          <a:blip r:embed="rId3"/>
          <a:stretch>
            <a:fillRect/>
          </a:stretch>
        </p:blipFill>
        <p:spPr>
          <a:xfrm>
            <a:off x="3749040" y="365760"/>
            <a:ext cx="2377440" cy="1371600"/>
          </a:xfrm>
          <a:prstGeom prst="rect">
            <a:avLst/>
          </a:prstGeom>
        </p:spPr>
      </p:pic>
      <p:sp>
        <p:nvSpPr>
          <p:cNvPr id="6" name="TextBox 5"/>
          <p:cNvSpPr txBox="1"/>
          <p:nvPr/>
        </p:nvSpPr>
        <p:spPr>
          <a:xfrm>
            <a:off x="3749040" y="137160"/>
            <a:ext cx="2377440" cy="182880"/>
          </a:xfrm>
          <a:prstGeom prst="rect">
            <a:avLst/>
          </a:prstGeom>
          <a:noFill/>
        </p:spPr>
        <p:txBody>
          <a:bodyPr wrap="none" lIns="0" rIns="0" tIns="0" bIns="0">
            <a:spAutoFit/>
          </a:bodyPr>
          <a:lstStyle/>
          <a:p>
            <a:pPr algn="ctr">
              <a:defRPr sz="800" b="1">
                <a:solidFill>
                  <a:srgbClr val="065F46"/>
                </a:solidFill>
                <a:latin typeface="Source Sans Pro"/>
              </a:defRPr>
            </a:pPr>
            <a:r>
              <a:t>Visual 2</a:t>
            </a:r>
          </a:p>
        </p:txBody>
      </p:sp>
      <p:sp>
        <p:nvSpPr>
          <p:cNvPr id="7" name="TextBox 6"/>
          <p:cNvSpPr txBox="1"/>
          <p:nvPr/>
        </p:nvSpPr>
        <p:spPr>
          <a:xfrm>
            <a:off x="3749040" y="181051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How Chaayos drives innovation and p...</a:t>
            </a:r>
          </a:p>
        </p:txBody>
      </p:sp>
      <p:pic>
        <p:nvPicPr>
          <p:cNvPr id="8" name="Picture 7" descr="chaayos_illustration_3_20251010_185041_770e1383_clean.png"/>
          <p:cNvPicPr>
            <a:picLocks noChangeAspect="1"/>
          </p:cNvPicPr>
          <p:nvPr/>
        </p:nvPicPr>
        <p:blipFill>
          <a:blip r:embed="rId4"/>
          <a:stretch>
            <a:fillRect/>
          </a:stretch>
        </p:blipFill>
        <p:spPr>
          <a:xfrm>
            <a:off x="6583680" y="365760"/>
            <a:ext cx="2377440" cy="1371600"/>
          </a:xfrm>
          <a:prstGeom prst="rect">
            <a:avLst/>
          </a:prstGeom>
        </p:spPr>
      </p:pic>
      <p:sp>
        <p:nvSpPr>
          <p:cNvPr id="9" name="TextBox 8"/>
          <p:cNvSpPr txBox="1"/>
          <p:nvPr/>
        </p:nvSpPr>
        <p:spPr>
          <a:xfrm>
            <a:off x="6583680" y="137160"/>
            <a:ext cx="2377440" cy="182880"/>
          </a:xfrm>
          <a:prstGeom prst="rect">
            <a:avLst/>
          </a:prstGeom>
          <a:noFill/>
        </p:spPr>
        <p:txBody>
          <a:bodyPr wrap="none" lIns="0" rIns="0" tIns="0" bIns="0">
            <a:spAutoFit/>
          </a:bodyPr>
          <a:lstStyle/>
          <a:p>
            <a:pPr algn="ctr">
              <a:defRPr sz="800" b="1">
                <a:solidFill>
                  <a:srgbClr val="065F46"/>
                </a:solidFill>
                <a:latin typeface="Source Sans Pro"/>
              </a:defRPr>
            </a:pPr>
            <a:r>
              <a:t>Visual 3</a:t>
            </a:r>
          </a:p>
        </p:txBody>
      </p:sp>
      <p:sp>
        <p:nvSpPr>
          <p:cNvPr id="10" name="TextBox 9"/>
          <p:cNvSpPr txBox="1"/>
          <p:nvPr/>
        </p:nvSpPr>
        <p:spPr>
          <a:xfrm>
            <a:off x="6583680" y="181051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The customer journey and experience...</a:t>
            </a:r>
          </a:p>
        </p:txBody>
      </p:sp>
      <p:pic>
        <p:nvPicPr>
          <p:cNvPr id="11" name="Picture 10" descr="chaayos_illustration_4_20251010_185053_3c9f40c2_clean.png"/>
          <p:cNvPicPr>
            <a:picLocks noChangeAspect="1"/>
          </p:cNvPicPr>
          <p:nvPr/>
        </p:nvPicPr>
        <p:blipFill>
          <a:blip r:embed="rId5"/>
          <a:stretch>
            <a:fillRect/>
          </a:stretch>
        </p:blipFill>
        <p:spPr>
          <a:xfrm>
            <a:off x="914400" y="2377440"/>
            <a:ext cx="2377440" cy="1371600"/>
          </a:xfrm>
          <a:prstGeom prst="rect">
            <a:avLst/>
          </a:prstGeom>
        </p:spPr>
      </p:pic>
      <p:sp>
        <p:nvSpPr>
          <p:cNvPr id="12" name="TextBox 11"/>
          <p:cNvSpPr txBox="1"/>
          <p:nvPr/>
        </p:nvSpPr>
        <p:spPr>
          <a:xfrm>
            <a:off x="914400" y="2148840"/>
            <a:ext cx="2377440" cy="182880"/>
          </a:xfrm>
          <a:prstGeom prst="rect">
            <a:avLst/>
          </a:prstGeom>
          <a:noFill/>
        </p:spPr>
        <p:txBody>
          <a:bodyPr wrap="none" lIns="0" rIns="0" tIns="0" bIns="0">
            <a:spAutoFit/>
          </a:bodyPr>
          <a:lstStyle/>
          <a:p>
            <a:pPr algn="ctr">
              <a:defRPr sz="800" b="1">
                <a:solidFill>
                  <a:srgbClr val="065F46"/>
                </a:solidFill>
                <a:latin typeface="Source Sans Pro"/>
              </a:defRPr>
            </a:pPr>
            <a:r>
              <a:t>Visual 4</a:t>
            </a:r>
          </a:p>
        </p:txBody>
      </p:sp>
      <p:sp>
        <p:nvSpPr>
          <p:cNvPr id="13" name="TextBox 12"/>
          <p:cNvSpPr txBox="1"/>
          <p:nvPr/>
        </p:nvSpPr>
        <p:spPr>
          <a:xfrm>
            <a:off x="914400" y="3822192"/>
            <a:ext cx="2377440" cy="228600"/>
          </a:xfrm>
          <a:prstGeom prst="rect">
            <a:avLst/>
          </a:prstGeom>
          <a:noFill/>
        </p:spPr>
        <p:txBody>
          <a:bodyPr wrap="none" lIns="0" rIns="0" tIns="0" bIns="0">
            <a:spAutoFit/>
          </a:bodyPr>
          <a:lstStyle/>
          <a:p>
            <a:pPr algn="ctr">
              <a:defRPr sz="900" b="0">
                <a:solidFill>
                  <a:srgbClr val="666666"/>
                </a:solidFill>
                <a:latin typeface="Source Sans Pro"/>
              </a:defRPr>
            </a:pPr>
            <a:r>
              <a:t>Future vision and growth trajectory...</a:t>
            </a:r>
          </a:p>
        </p:txBody>
      </p:sp>
      <p:sp>
        <p:nvSpPr>
          <p:cNvPr id="14" name="TextBox 13"/>
          <p:cNvSpPr txBox="1"/>
          <p:nvPr/>
        </p:nvSpPr>
        <p:spPr>
          <a:xfrm>
            <a:off x="914400" y="4663440"/>
            <a:ext cx="7315200" cy="731520"/>
          </a:xfrm>
          <a:prstGeom prst="rect">
            <a:avLst/>
          </a:prstGeom>
          <a:noFill/>
        </p:spPr>
        <p:txBody>
          <a:bodyPr wrap="square" lIns="0" rIns="0" tIns="0" bIns="0">
            <a:spAutoFit/>
          </a:bodyPr>
          <a:lstStyle/>
          <a:p>
            <a:pPr algn="ctr">
              <a:defRPr sz="1000" b="0">
                <a:solidFill>
                  <a:srgbClr val="000000"/>
                </a:solidFill>
                <a:latin typeface="Source Sans Pro"/>
              </a:defRPr>
            </a:pPr>
            <a:r>
              <a:t>USAGE NOTES: These illustrations define the visual storytelling style of the brand. Use them consistently across presentations, reports, and marketing materials to maintain brand coherence.</a:t>
            </a:r>
          </a:p>
        </p:txBody>
      </p:sp>
      <p:cxnSp>
        <p:nvCxnSpPr>
          <p:cNvPr id="15" name="Connector 14"/>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0100" y="6217920"/>
            <a:ext cx="5486400" cy="731520"/>
          </a:xfrm>
          <a:prstGeom prst="rect">
            <a:avLst/>
          </a:prstGeom>
          <a:noFill/>
        </p:spPr>
        <p:txBody>
          <a:bodyPr wrap="none" lIns="0" rIns="0" tIns="0" bIns="0">
            <a:spAutoFit/>
          </a:bodyPr>
          <a:lstStyle/>
          <a:p>
            <a:pPr algn="l">
              <a:defRPr sz="2800" b="1">
                <a:solidFill>
                  <a:srgbClr val="065F46"/>
                </a:solidFill>
                <a:latin typeface="Inter"/>
              </a:defRPr>
            </a:pPr>
            <a:r>
              <a:t>BRAND ILLUSTRATIONS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Chaayos - Core Functional Icons</a:t>
            </a:r>
          </a:p>
        </p:txBody>
      </p:sp>
      <p:pic>
        <p:nvPicPr>
          <p:cNvPr id="3" name="Picture 2" descr="mdi_home_065F46.png"/>
          <p:cNvPicPr>
            <a:picLocks noChangeAspect="1"/>
          </p:cNvPicPr>
          <p:nvPr/>
        </p:nvPicPr>
        <p:blipFill>
          <a:blip r:embed="rId2"/>
          <a:stretch>
            <a:fillRect/>
          </a:stretch>
        </p:blipFill>
        <p:spPr>
          <a:xfrm>
            <a:off x="722376" y="1645920"/>
            <a:ext cx="822960" cy="822960"/>
          </a:xfrm>
          <a:prstGeom prst="rect">
            <a:avLst/>
          </a:prstGeom>
        </p:spPr>
      </p:pic>
      <p:pic>
        <p:nvPicPr>
          <p:cNvPr id="4" name="Picture 3" descr="mdi_account_065F46.png"/>
          <p:cNvPicPr>
            <a:picLocks noChangeAspect="1"/>
          </p:cNvPicPr>
          <p:nvPr/>
        </p:nvPicPr>
        <p:blipFill>
          <a:blip r:embed="rId3"/>
          <a:stretch>
            <a:fillRect/>
          </a:stretch>
        </p:blipFill>
        <p:spPr>
          <a:xfrm>
            <a:off x="2441448" y="1645920"/>
            <a:ext cx="822960" cy="822960"/>
          </a:xfrm>
          <a:prstGeom prst="rect">
            <a:avLst/>
          </a:prstGeom>
        </p:spPr>
      </p:pic>
      <p:pic>
        <p:nvPicPr>
          <p:cNvPr id="5" name="Picture 4" descr="mdi_cog_065F46.png"/>
          <p:cNvPicPr>
            <a:picLocks noChangeAspect="1"/>
          </p:cNvPicPr>
          <p:nvPr/>
        </p:nvPicPr>
        <p:blipFill>
          <a:blip r:embed="rId4"/>
          <a:stretch>
            <a:fillRect/>
          </a:stretch>
        </p:blipFill>
        <p:spPr>
          <a:xfrm>
            <a:off x="4160520" y="1645920"/>
            <a:ext cx="822960" cy="822960"/>
          </a:xfrm>
          <a:prstGeom prst="rect">
            <a:avLst/>
          </a:prstGeom>
        </p:spPr>
      </p:pic>
      <p:pic>
        <p:nvPicPr>
          <p:cNvPr id="6" name="Picture 5" descr="mdi_briefcase_065F46.png"/>
          <p:cNvPicPr>
            <a:picLocks noChangeAspect="1"/>
          </p:cNvPicPr>
          <p:nvPr/>
        </p:nvPicPr>
        <p:blipFill>
          <a:blip r:embed="rId5"/>
          <a:stretch>
            <a:fillRect/>
          </a:stretch>
        </p:blipFill>
        <p:spPr>
          <a:xfrm>
            <a:off x="5879592" y="1645920"/>
            <a:ext cx="822960" cy="822960"/>
          </a:xfrm>
          <a:prstGeom prst="rect">
            <a:avLst/>
          </a:prstGeom>
        </p:spPr>
      </p:pic>
      <p:pic>
        <p:nvPicPr>
          <p:cNvPr id="7" name="Picture 6" descr="mdi_office-building_065F46.png"/>
          <p:cNvPicPr>
            <a:picLocks noChangeAspect="1"/>
          </p:cNvPicPr>
          <p:nvPr/>
        </p:nvPicPr>
        <p:blipFill>
          <a:blip r:embed="rId6"/>
          <a:stretch>
            <a:fillRect/>
          </a:stretch>
        </p:blipFill>
        <p:spPr>
          <a:xfrm>
            <a:off x="7598664" y="1645920"/>
            <a:ext cx="822960" cy="822960"/>
          </a:xfrm>
          <a:prstGeom prst="rect">
            <a:avLst/>
          </a:prstGeom>
        </p:spPr>
      </p:pic>
      <p:pic>
        <p:nvPicPr>
          <p:cNvPr id="8" name="Picture 7" descr="mdi_handshake_065F46.png"/>
          <p:cNvPicPr>
            <a:picLocks noChangeAspect="1"/>
          </p:cNvPicPr>
          <p:nvPr/>
        </p:nvPicPr>
        <p:blipFill>
          <a:blip r:embed="rId7"/>
          <a:stretch>
            <a:fillRect/>
          </a:stretch>
        </p:blipFill>
        <p:spPr>
          <a:xfrm>
            <a:off x="722376" y="2743200"/>
            <a:ext cx="822960" cy="822960"/>
          </a:xfrm>
          <a:prstGeom prst="rect">
            <a:avLst/>
          </a:prstGeom>
        </p:spPr>
      </p:pic>
      <p:pic>
        <p:nvPicPr>
          <p:cNvPr id="9" name="Picture 8" descr="mdi_chart-line_065F46.png"/>
          <p:cNvPicPr>
            <a:picLocks noChangeAspect="1"/>
          </p:cNvPicPr>
          <p:nvPr/>
        </p:nvPicPr>
        <p:blipFill>
          <a:blip r:embed="rId8"/>
          <a:stretch>
            <a:fillRect/>
          </a:stretch>
        </p:blipFill>
        <p:spPr>
          <a:xfrm>
            <a:off x="2441448" y="2743200"/>
            <a:ext cx="822960" cy="822960"/>
          </a:xfrm>
          <a:prstGeom prst="rect">
            <a:avLst/>
          </a:prstGeom>
        </p:spPr>
      </p:pic>
      <p:pic>
        <p:nvPicPr>
          <p:cNvPr id="10" name="Picture 9" descr="mdi_presentation_065F46.png"/>
          <p:cNvPicPr>
            <a:picLocks noChangeAspect="1"/>
          </p:cNvPicPr>
          <p:nvPr/>
        </p:nvPicPr>
        <p:blipFill>
          <a:blip r:embed="rId9"/>
          <a:stretch>
            <a:fillRect/>
          </a:stretch>
        </p:blipFill>
        <p:spPr>
          <a:xfrm>
            <a:off x="4160520" y="2743200"/>
            <a:ext cx="822960" cy="822960"/>
          </a:xfrm>
          <a:prstGeom prst="rect">
            <a:avLst/>
          </a:prstGeom>
        </p:spPr>
      </p:pic>
      <p:pic>
        <p:nvPicPr>
          <p:cNvPr id="11" name="Picture 10" descr="mdi_calendar_065F46.png"/>
          <p:cNvPicPr>
            <a:picLocks noChangeAspect="1"/>
          </p:cNvPicPr>
          <p:nvPr/>
        </p:nvPicPr>
        <p:blipFill>
          <a:blip r:embed="rId10"/>
          <a:stretch>
            <a:fillRect/>
          </a:stretch>
        </p:blipFill>
        <p:spPr>
          <a:xfrm>
            <a:off x="5879592" y="2743200"/>
            <a:ext cx="822960" cy="822960"/>
          </a:xfrm>
          <a:prstGeom prst="rect">
            <a:avLst/>
          </a:prstGeom>
        </p:spPr>
      </p:pic>
      <p:pic>
        <p:nvPicPr>
          <p:cNvPr id="12" name="Picture 11" descr="mdi_email_065F46.png"/>
          <p:cNvPicPr>
            <a:picLocks noChangeAspect="1"/>
          </p:cNvPicPr>
          <p:nvPr/>
        </p:nvPicPr>
        <p:blipFill>
          <a:blip r:embed="rId11"/>
          <a:stretch>
            <a:fillRect/>
          </a:stretch>
        </p:blipFill>
        <p:spPr>
          <a:xfrm>
            <a:off x="7598664" y="2743200"/>
            <a:ext cx="822960" cy="822960"/>
          </a:xfrm>
          <a:prstGeom prst="rect">
            <a:avLst/>
          </a:prstGeom>
        </p:spPr>
      </p:pic>
      <p:pic>
        <p:nvPicPr>
          <p:cNvPr id="13" name="Picture 12" descr="mdi_lightbulb_065F46.png"/>
          <p:cNvPicPr>
            <a:picLocks noChangeAspect="1"/>
          </p:cNvPicPr>
          <p:nvPr/>
        </p:nvPicPr>
        <p:blipFill>
          <a:blip r:embed="rId12"/>
          <a:stretch>
            <a:fillRect/>
          </a:stretch>
        </p:blipFill>
        <p:spPr>
          <a:xfrm>
            <a:off x="722376" y="3840480"/>
            <a:ext cx="822960" cy="822960"/>
          </a:xfrm>
          <a:prstGeom prst="rect">
            <a:avLst/>
          </a:prstGeom>
        </p:spPr>
      </p:pic>
      <p:pic>
        <p:nvPicPr>
          <p:cNvPr id="14" name="Picture 13" descr="mdi_rocket_065F46.png"/>
          <p:cNvPicPr>
            <a:picLocks noChangeAspect="1"/>
          </p:cNvPicPr>
          <p:nvPr/>
        </p:nvPicPr>
        <p:blipFill>
          <a:blip r:embed="rId13"/>
          <a:stretch>
            <a:fillRect/>
          </a:stretch>
        </p:blipFill>
        <p:spPr>
          <a:xfrm>
            <a:off x="2441448" y="3840480"/>
            <a:ext cx="822960" cy="822960"/>
          </a:xfrm>
          <a:prstGeom prst="rect">
            <a:avLst/>
          </a:prstGeom>
        </p:spPr>
      </p:pic>
      <p:pic>
        <p:nvPicPr>
          <p:cNvPr id="15" name="Picture 14" descr="mdi_star_065F46.png"/>
          <p:cNvPicPr>
            <a:picLocks noChangeAspect="1"/>
          </p:cNvPicPr>
          <p:nvPr/>
        </p:nvPicPr>
        <p:blipFill>
          <a:blip r:embed="rId14"/>
          <a:stretch>
            <a:fillRect/>
          </a:stretch>
        </p:blipFill>
        <p:spPr>
          <a:xfrm>
            <a:off x="4160520" y="3840480"/>
            <a:ext cx="822960" cy="822960"/>
          </a:xfrm>
          <a:prstGeom prst="rect">
            <a:avLst/>
          </a:prstGeom>
        </p:spPr>
      </p:pic>
      <p:pic>
        <p:nvPicPr>
          <p:cNvPr id="16" name="Picture 15" descr="mdi_medal_065F46.png"/>
          <p:cNvPicPr>
            <a:picLocks noChangeAspect="1"/>
          </p:cNvPicPr>
          <p:nvPr/>
        </p:nvPicPr>
        <p:blipFill>
          <a:blip r:embed="rId15"/>
          <a:stretch>
            <a:fillRect/>
          </a:stretch>
        </p:blipFill>
        <p:spPr>
          <a:xfrm>
            <a:off x="5879592" y="3840480"/>
            <a:ext cx="822960" cy="822960"/>
          </a:xfrm>
          <a:prstGeom prst="rect">
            <a:avLst/>
          </a:prstGeom>
        </p:spPr>
      </p:pic>
      <p:pic>
        <p:nvPicPr>
          <p:cNvPr id="17" name="Picture 16" descr="mdi_briefcase_065F46.png"/>
          <p:cNvPicPr>
            <a:picLocks noChangeAspect="1"/>
          </p:cNvPicPr>
          <p:nvPr/>
        </p:nvPicPr>
        <p:blipFill>
          <a:blip r:embed="rId5"/>
          <a:stretch>
            <a:fillRect/>
          </a:stretch>
        </p:blipFill>
        <p:spPr>
          <a:xfrm>
            <a:off x="7598664" y="3840480"/>
            <a:ext cx="822960" cy="822960"/>
          </a:xfrm>
          <a:prstGeom prst="rect">
            <a:avLst/>
          </a:prstGeom>
        </p:spPr>
      </p:pic>
      <p:cxnSp>
        <p:nvCxnSpPr>
          <p:cNvPr id="18" name="Connector 17"/>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00100" y="6217920"/>
            <a:ext cx="3657600" cy="731520"/>
          </a:xfrm>
          <a:prstGeom prst="rect">
            <a:avLst/>
          </a:prstGeom>
          <a:noFill/>
        </p:spPr>
        <p:txBody>
          <a:bodyPr wrap="none">
            <a:spAutoFit/>
          </a:bodyPr>
          <a:lstStyle/>
          <a:p>
            <a:pPr algn="l">
              <a:defRPr sz="2800" b="1">
                <a:solidFill>
                  <a:srgbClr val="065F46"/>
                </a:solidFill>
                <a:latin typeface="Inter"/>
              </a:defRPr>
            </a:pPr>
            <a:r>
              <a:t>ICONOGRAPHY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Source Sans Pro"/>
              </a:defRPr>
            </a:pPr>
            <a:r>
              <a:t>Chaayos - Food &amp; Beverage / Quick Service Tea Café Industry Icons</a:t>
            </a:r>
          </a:p>
        </p:txBody>
      </p:sp>
      <p:pic>
        <p:nvPicPr>
          <p:cNvPr id="3" name="Picture 2" descr="mdi_linkedin_065F46.png"/>
          <p:cNvPicPr>
            <a:picLocks noChangeAspect="1"/>
          </p:cNvPicPr>
          <p:nvPr/>
        </p:nvPicPr>
        <p:blipFill>
          <a:blip r:embed="rId2"/>
          <a:stretch>
            <a:fillRect/>
          </a:stretch>
        </p:blipFill>
        <p:spPr>
          <a:xfrm>
            <a:off x="722376" y="1645920"/>
            <a:ext cx="822960" cy="822960"/>
          </a:xfrm>
          <a:prstGeom prst="rect">
            <a:avLst/>
          </a:prstGeom>
        </p:spPr>
      </p:pic>
      <p:pic>
        <p:nvPicPr>
          <p:cNvPr id="4" name="Picture 3" descr="mdi_microsoft_065F46.png"/>
          <p:cNvPicPr>
            <a:picLocks noChangeAspect="1"/>
          </p:cNvPicPr>
          <p:nvPr/>
        </p:nvPicPr>
        <p:blipFill>
          <a:blip r:embed="rId3"/>
          <a:stretch>
            <a:fillRect/>
          </a:stretch>
        </p:blipFill>
        <p:spPr>
          <a:xfrm>
            <a:off x="2441448" y="1645920"/>
            <a:ext cx="822960" cy="822960"/>
          </a:xfrm>
          <a:prstGeom prst="rect">
            <a:avLst/>
          </a:prstGeom>
        </p:spPr>
      </p:pic>
      <p:pic>
        <p:nvPicPr>
          <p:cNvPr id="5" name="Picture 4" descr="mdi_google_065F46.png"/>
          <p:cNvPicPr>
            <a:picLocks noChangeAspect="1"/>
          </p:cNvPicPr>
          <p:nvPr/>
        </p:nvPicPr>
        <p:blipFill>
          <a:blip r:embed="rId4"/>
          <a:stretch>
            <a:fillRect/>
          </a:stretch>
        </p:blipFill>
        <p:spPr>
          <a:xfrm>
            <a:off x="4160520" y="1645920"/>
            <a:ext cx="822960" cy="822960"/>
          </a:xfrm>
          <a:prstGeom prst="rect">
            <a:avLst/>
          </a:prstGeom>
        </p:spPr>
      </p:pic>
      <p:pic>
        <p:nvPicPr>
          <p:cNvPr id="6" name="Picture 5" descr="mdi_slack_065F46.png"/>
          <p:cNvPicPr>
            <a:picLocks noChangeAspect="1"/>
          </p:cNvPicPr>
          <p:nvPr/>
        </p:nvPicPr>
        <p:blipFill>
          <a:blip r:embed="rId5"/>
          <a:stretch>
            <a:fillRect/>
          </a:stretch>
        </p:blipFill>
        <p:spPr>
          <a:xfrm>
            <a:off x="5879592" y="1645920"/>
            <a:ext cx="822960" cy="822960"/>
          </a:xfrm>
          <a:prstGeom prst="rect">
            <a:avLst/>
          </a:prstGeom>
        </p:spPr>
      </p:pic>
      <p:pic>
        <p:nvPicPr>
          <p:cNvPr id="7" name="Picture 6" descr="mdi_dropbox_065F46.png"/>
          <p:cNvPicPr>
            <a:picLocks noChangeAspect="1"/>
          </p:cNvPicPr>
          <p:nvPr/>
        </p:nvPicPr>
        <p:blipFill>
          <a:blip r:embed="rId6"/>
          <a:stretch>
            <a:fillRect/>
          </a:stretch>
        </p:blipFill>
        <p:spPr>
          <a:xfrm>
            <a:off x="7598664" y="1645920"/>
            <a:ext cx="822960" cy="822960"/>
          </a:xfrm>
          <a:prstGeom prst="rect">
            <a:avLst/>
          </a:prstGeom>
        </p:spPr>
      </p:pic>
      <p:pic>
        <p:nvPicPr>
          <p:cNvPr id="8" name="Picture 7" descr="mdi_onedrive_065F46.png"/>
          <p:cNvPicPr>
            <a:picLocks noChangeAspect="1"/>
          </p:cNvPicPr>
          <p:nvPr/>
        </p:nvPicPr>
        <p:blipFill>
          <a:blip r:embed="rId7"/>
          <a:stretch>
            <a:fillRect/>
          </a:stretch>
        </p:blipFill>
        <p:spPr>
          <a:xfrm>
            <a:off x="722376" y="2743200"/>
            <a:ext cx="822960" cy="822960"/>
          </a:xfrm>
          <a:prstGeom prst="rect">
            <a:avLst/>
          </a:prstGeom>
        </p:spPr>
      </p:pic>
      <p:pic>
        <p:nvPicPr>
          <p:cNvPr id="9" name="Picture 8" descr="mdi_facebook_065F46.png"/>
          <p:cNvPicPr>
            <a:picLocks noChangeAspect="1"/>
          </p:cNvPicPr>
          <p:nvPr/>
        </p:nvPicPr>
        <p:blipFill>
          <a:blip r:embed="rId8"/>
          <a:stretch>
            <a:fillRect/>
          </a:stretch>
        </p:blipFill>
        <p:spPr>
          <a:xfrm>
            <a:off x="2441448" y="2743200"/>
            <a:ext cx="822960" cy="822960"/>
          </a:xfrm>
          <a:prstGeom prst="rect">
            <a:avLst/>
          </a:prstGeom>
        </p:spPr>
      </p:pic>
      <p:pic>
        <p:nvPicPr>
          <p:cNvPr id="10" name="Picture 9" descr="mdi_twitter_065F46.png"/>
          <p:cNvPicPr>
            <a:picLocks noChangeAspect="1"/>
          </p:cNvPicPr>
          <p:nvPr/>
        </p:nvPicPr>
        <p:blipFill>
          <a:blip r:embed="rId9"/>
          <a:stretch>
            <a:fillRect/>
          </a:stretch>
        </p:blipFill>
        <p:spPr>
          <a:xfrm>
            <a:off x="4160520" y="2743200"/>
            <a:ext cx="822960" cy="822960"/>
          </a:xfrm>
          <a:prstGeom prst="rect">
            <a:avLst/>
          </a:prstGeom>
        </p:spPr>
      </p:pic>
      <p:pic>
        <p:nvPicPr>
          <p:cNvPr id="11" name="Picture 10" descr="mdi_lightbulb_065F46.png"/>
          <p:cNvPicPr>
            <a:picLocks noChangeAspect="1"/>
          </p:cNvPicPr>
          <p:nvPr/>
        </p:nvPicPr>
        <p:blipFill>
          <a:blip r:embed="rId10"/>
          <a:stretch>
            <a:fillRect/>
          </a:stretch>
        </p:blipFill>
        <p:spPr>
          <a:xfrm>
            <a:off x="5879592" y="2743200"/>
            <a:ext cx="822960" cy="822960"/>
          </a:xfrm>
          <a:prstGeom prst="rect">
            <a:avLst/>
          </a:prstGeom>
        </p:spPr>
      </p:pic>
      <p:pic>
        <p:nvPicPr>
          <p:cNvPr id="12" name="Picture 11" descr="mdi_rocket_065F46.png"/>
          <p:cNvPicPr>
            <a:picLocks noChangeAspect="1"/>
          </p:cNvPicPr>
          <p:nvPr/>
        </p:nvPicPr>
        <p:blipFill>
          <a:blip r:embed="rId11"/>
          <a:stretch>
            <a:fillRect/>
          </a:stretch>
        </p:blipFill>
        <p:spPr>
          <a:xfrm>
            <a:off x="7598664" y="2743200"/>
            <a:ext cx="822960" cy="822960"/>
          </a:xfrm>
          <a:prstGeom prst="rect">
            <a:avLst/>
          </a:prstGeom>
        </p:spPr>
      </p:pic>
      <p:pic>
        <p:nvPicPr>
          <p:cNvPr id="13" name="Picture 12" descr="mdi_star_065F46.png"/>
          <p:cNvPicPr>
            <a:picLocks noChangeAspect="1"/>
          </p:cNvPicPr>
          <p:nvPr/>
        </p:nvPicPr>
        <p:blipFill>
          <a:blip r:embed="rId12"/>
          <a:stretch>
            <a:fillRect/>
          </a:stretch>
        </p:blipFill>
        <p:spPr>
          <a:xfrm>
            <a:off x="722376" y="3840480"/>
            <a:ext cx="822960" cy="822960"/>
          </a:xfrm>
          <a:prstGeom prst="rect">
            <a:avLst/>
          </a:prstGeom>
        </p:spPr>
      </p:pic>
      <p:pic>
        <p:nvPicPr>
          <p:cNvPr id="14" name="Picture 13" descr="mdi_medal_065F46.png"/>
          <p:cNvPicPr>
            <a:picLocks noChangeAspect="1"/>
          </p:cNvPicPr>
          <p:nvPr/>
        </p:nvPicPr>
        <p:blipFill>
          <a:blip r:embed="rId13"/>
          <a:stretch>
            <a:fillRect/>
          </a:stretch>
        </p:blipFill>
        <p:spPr>
          <a:xfrm>
            <a:off x="2441448" y="3840480"/>
            <a:ext cx="822960" cy="822960"/>
          </a:xfrm>
          <a:prstGeom prst="rect">
            <a:avLst/>
          </a:prstGeom>
        </p:spPr>
      </p:pic>
      <p:pic>
        <p:nvPicPr>
          <p:cNvPr id="15" name="Picture 14" descr="mdi_briefcase_065F46.png"/>
          <p:cNvPicPr>
            <a:picLocks noChangeAspect="1"/>
          </p:cNvPicPr>
          <p:nvPr/>
        </p:nvPicPr>
        <p:blipFill>
          <a:blip r:embed="rId14"/>
          <a:stretch>
            <a:fillRect/>
          </a:stretch>
        </p:blipFill>
        <p:spPr>
          <a:xfrm>
            <a:off x="4160520" y="3840480"/>
            <a:ext cx="822960" cy="822960"/>
          </a:xfrm>
          <a:prstGeom prst="rect">
            <a:avLst/>
          </a:prstGeom>
        </p:spPr>
      </p:pic>
      <p:cxnSp>
        <p:nvCxnSpPr>
          <p:cNvPr id="16" name="Connector 15"/>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0100" y="6217920"/>
            <a:ext cx="3657600" cy="731520"/>
          </a:xfrm>
          <a:prstGeom prst="rect">
            <a:avLst/>
          </a:prstGeom>
          <a:noFill/>
        </p:spPr>
        <p:txBody>
          <a:bodyPr wrap="none">
            <a:spAutoFit/>
          </a:bodyPr>
          <a:lstStyle/>
          <a:p>
            <a:pPr algn="l">
              <a:defRPr sz="2800" b="1">
                <a:solidFill>
                  <a:srgbClr val="065F46"/>
                </a:solidFill>
                <a:latin typeface="Inter"/>
              </a:defRPr>
            </a:pPr>
            <a:r>
              <a:t>ICONOGRAPHY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228850"/>
          </a:xfrm>
          <a:prstGeom prst="rect">
            <a:avLst/>
          </a:prstGeom>
          <a:noFill/>
        </p:spPr>
        <p:txBody>
          <a:bodyPr wrap="square" lIns="0" rIns="0" tIns="0" bIns="0">
            <a:spAutoFit/>
          </a:bodyPr>
          <a:lstStyle/>
          <a:p>
            <a:pPr algn="l">
              <a:spcAft>
                <a:spcPts val="600"/>
              </a:spcAft>
              <a:defRPr sz="1800" b="0">
                <a:solidFill>
                  <a:srgbClr val="000000"/>
                </a:solidFill>
                <a:latin typeface="Source Sans Pro"/>
              </a:defRPr>
            </a:pPr>
            <a:r>
              <a:t>Style: Minimalist design</a:t>
            </a:r>
          </a:p>
          <a:p>
            <a:pPr algn="l">
              <a:spcAft>
                <a:spcPts val="600"/>
              </a:spcAft>
              <a:defRPr sz="1800" b="0">
                <a:solidFill>
                  <a:srgbClr val="000000"/>
                </a:solidFill>
                <a:latin typeface="Source Sans Pro"/>
              </a:defRPr>
            </a:pPr>
            <a:r>
              <a:t>Color: #065F46 on black background</a:t>
            </a:r>
          </a:p>
          <a:p>
            <a:pPr algn="l">
              <a:spcAft>
                <a:spcPts val="600"/>
              </a:spcAft>
              <a:defRPr sz="1800" b="0">
                <a:solidFill>
                  <a:srgbClr val="000000"/>
                </a:solidFill>
                <a:latin typeface="Source Sans Pro"/>
              </a:defRPr>
            </a:pPr>
          </a:p>
          <a:p>
            <a:pPr algn="l">
              <a:spcAft>
                <a:spcPts val="600"/>
              </a:spcAft>
              <a:defRPr sz="1800" b="0">
                <a:solidFill>
                  <a:srgbClr val="000000"/>
                </a:solidFill>
                <a:latin typeface="Source Sans Pro"/>
              </a:defRPr>
            </a:pPr>
            <a:r>
              <a:t>Size Requirements:</a:t>
            </a:r>
          </a:p>
          <a:p>
            <a:pPr algn="l">
              <a:spcAft>
                <a:spcPts val="600"/>
              </a:spcAft>
              <a:defRPr sz="1800" b="0">
                <a:solidFill>
                  <a:srgbClr val="000000"/>
                </a:solidFill>
                <a:latin typeface="Source Sans Pro"/>
              </a:defRPr>
            </a:pPr>
            <a:r>
              <a:t>• Minimum: 16px web, 0.5" print</a:t>
            </a:r>
          </a:p>
          <a:p>
            <a:pPr algn="l">
              <a:spcAft>
                <a:spcPts val="600"/>
              </a:spcAft>
              <a:defRPr sz="1800" b="0">
                <a:solidFill>
                  <a:srgbClr val="000000"/>
                </a:solidFill>
                <a:latin typeface="Source Sans Pro"/>
              </a:defRPr>
            </a:pPr>
            <a:r>
              <a:t>• Recommended: 24px+ web, 0.75"+ print</a:t>
            </a:r>
          </a:p>
          <a:p>
            <a:pPr algn="l">
              <a:spcAft>
                <a:spcPts val="600"/>
              </a:spcAft>
              <a:defRPr sz="1800" b="0">
                <a:solidFill>
                  <a:srgbClr val="000000"/>
                </a:solidFill>
                <a:latin typeface="Source Sans Pro"/>
              </a:defRPr>
            </a:pPr>
          </a:p>
          <a:p>
            <a:pPr algn="l">
              <a:spcAft>
                <a:spcPts val="600"/>
              </a:spcAft>
              <a:defRPr sz="1800" b="0">
                <a:solidFill>
                  <a:srgbClr val="000000"/>
                </a:solidFill>
                <a:latin typeface="Source Sans Pro"/>
              </a:defRPr>
            </a:pPr>
            <a:r>
              <a:t>Spacing:</a:t>
            </a:r>
          </a:p>
          <a:p>
            <a:pPr algn="l">
              <a:spcAft>
                <a:spcPts val="600"/>
              </a:spcAft>
              <a:defRPr sz="1800" b="0">
                <a:solidFill>
                  <a:srgbClr val="000000"/>
                </a:solidFill>
                <a:latin typeface="Source Sans Pro"/>
              </a:defRPr>
            </a:pPr>
            <a:r>
              <a:t>• Clear space: 50% of icon width</a:t>
            </a:r>
          </a:p>
          <a:p>
            <a:pPr algn="l">
              <a:spcAft>
                <a:spcPts val="600"/>
              </a:spcAft>
              <a:defRPr sz="1800" b="0">
                <a:solidFill>
                  <a:srgbClr val="000000"/>
                </a:solidFill>
                <a:latin typeface="Source Sans Pro"/>
              </a:defRPr>
            </a:pPr>
            <a:r>
              <a:t>• Consistent grid alignment</a:t>
            </a:r>
          </a:p>
        </p:txBody>
      </p:sp>
      <p:cxnSp>
        <p:nvCxnSpPr>
          <p:cNvPr id="3" name="Connector 2"/>
          <p:cNvCxnSpPr/>
          <p:nvPr/>
        </p:nvCxnSpPr>
        <p:spPr>
          <a:xfrm>
            <a:off x="457200" y="5943600"/>
            <a:ext cx="8229600" cy="0"/>
          </a:xfrm>
          <a:prstGeom prst="line">
            <a:avLst/>
          </a:prstGeom>
          <a:ln w="25400">
            <a:solidFill>
              <a:srgbClr val="065F4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6217920"/>
            <a:ext cx="5486400" cy="731520"/>
          </a:xfrm>
          <a:prstGeom prst="rect">
            <a:avLst/>
          </a:prstGeom>
          <a:noFill/>
        </p:spPr>
        <p:txBody>
          <a:bodyPr wrap="none">
            <a:spAutoFit/>
          </a:bodyPr>
          <a:lstStyle/>
          <a:p>
            <a:pPr algn="l">
              <a:defRPr sz="2800" b="1">
                <a:solidFill>
                  <a:srgbClr val="065F46"/>
                </a:solidFill>
                <a:latin typeface="Inter"/>
              </a:defRPr>
            </a:pPr>
            <a:r>
              <a:t>USAGE GUIDELINES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tshirt_white_20251010_185111_7f1fbcc7.png"/>
          <p:cNvPicPr>
            <a:picLocks noChangeAspect="1"/>
          </p:cNvPicPr>
          <p:nvPr/>
        </p:nvPicPr>
        <p:blipFill>
          <a:blip r:embed="rId2"/>
          <a:stretch>
            <a:fillRect/>
          </a:stretch>
        </p:blipFill>
        <p:spPr>
          <a:xfrm>
            <a:off x="411480" y="2286000"/>
            <a:ext cx="2286000" cy="2926080"/>
          </a:xfrm>
          <a:prstGeom prst="rect">
            <a:avLst/>
          </a:prstGeom>
        </p:spPr>
      </p:pic>
      <p:pic>
        <p:nvPicPr>
          <p:cNvPr id="3" name="Picture 2" descr="chaayos_tshirt_black_20251010_185121_a654a060.png"/>
          <p:cNvPicPr>
            <a:picLocks noChangeAspect="1"/>
          </p:cNvPicPr>
          <p:nvPr/>
        </p:nvPicPr>
        <p:blipFill>
          <a:blip r:embed="rId3"/>
          <a:stretch>
            <a:fillRect/>
          </a:stretch>
        </p:blipFill>
        <p:spPr>
          <a:xfrm>
            <a:off x="3429000" y="2286000"/>
            <a:ext cx="2286000" cy="2926080"/>
          </a:xfrm>
          <a:prstGeom prst="rect">
            <a:avLst/>
          </a:prstGeom>
        </p:spPr>
      </p:pic>
      <p:pic>
        <p:nvPicPr>
          <p:cNvPr id="4" name="Picture 3" descr="chaayos_tshirt_yellow_20251010_185130_98094a2a.png"/>
          <p:cNvPicPr>
            <a:picLocks noChangeAspect="1"/>
          </p:cNvPicPr>
          <p:nvPr/>
        </p:nvPicPr>
        <p:blipFill>
          <a:blip r:embed="rId4"/>
          <a:stretch>
            <a:fillRect/>
          </a:stretch>
        </p:blipFill>
        <p:spPr>
          <a:xfrm>
            <a:off x="6446520" y="2286000"/>
            <a:ext cx="2286000" cy="2926080"/>
          </a:xfrm>
          <a:prstGeom prst="rect">
            <a:avLst/>
          </a:prstGeom>
        </p:spPr>
      </p:pic>
      <p:cxnSp>
        <p:nvCxnSpPr>
          <p:cNvPr id="5" name="Connector 4"/>
          <p:cNvCxnSpPr/>
          <p:nvPr/>
        </p:nvCxnSpPr>
        <p:spPr>
          <a:xfrm>
            <a:off x="457200" y="5943600"/>
            <a:ext cx="822960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00100" y="6217920"/>
            <a:ext cx="5486400" cy="731520"/>
          </a:xfrm>
          <a:prstGeom prst="rect">
            <a:avLst/>
          </a:prstGeom>
          <a:noFill/>
        </p:spPr>
        <p:txBody>
          <a:bodyPr wrap="none">
            <a:spAutoFit/>
          </a:bodyPr>
          <a:lstStyle/>
          <a:p>
            <a:pPr algn="l">
              <a:defRPr sz="2800" b="1">
                <a:solidFill>
                  <a:srgbClr val="000000"/>
                </a:solidFill>
                <a:latin typeface="Inter"/>
              </a:defRPr>
            </a:pPr>
            <a:r>
              <a:t>BRAND APPAREL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haayos_mug_white_20251010_185139_126c3e53.png"/>
          <p:cNvPicPr>
            <a:picLocks noChangeAspect="1"/>
          </p:cNvPicPr>
          <p:nvPr/>
        </p:nvPicPr>
        <p:blipFill>
          <a:blip r:embed="rId2"/>
          <a:stretch>
            <a:fillRect/>
          </a:stretch>
        </p:blipFill>
        <p:spPr>
          <a:xfrm>
            <a:off x="411480" y="2286000"/>
            <a:ext cx="2286000" cy="2926080"/>
          </a:xfrm>
          <a:prstGeom prst="rect">
            <a:avLst/>
          </a:prstGeom>
        </p:spPr>
      </p:pic>
      <p:pic>
        <p:nvPicPr>
          <p:cNvPr id="3" name="Picture 2" descr="chaayos_mug_black_20251010_185149_33c8f775.png"/>
          <p:cNvPicPr>
            <a:picLocks noChangeAspect="1"/>
          </p:cNvPicPr>
          <p:nvPr/>
        </p:nvPicPr>
        <p:blipFill>
          <a:blip r:embed="rId3"/>
          <a:stretch>
            <a:fillRect/>
          </a:stretch>
        </p:blipFill>
        <p:spPr>
          <a:xfrm>
            <a:off x="3429000" y="2286000"/>
            <a:ext cx="2286000" cy="2926080"/>
          </a:xfrm>
          <a:prstGeom prst="rect">
            <a:avLst/>
          </a:prstGeom>
        </p:spPr>
      </p:pic>
      <p:pic>
        <p:nvPicPr>
          <p:cNvPr id="4" name="Picture 3" descr="chaayos_mug_primary_20251010_185158_8832e685.png"/>
          <p:cNvPicPr>
            <a:picLocks noChangeAspect="1"/>
          </p:cNvPicPr>
          <p:nvPr/>
        </p:nvPicPr>
        <p:blipFill>
          <a:blip r:embed="rId4"/>
          <a:stretch>
            <a:fillRect/>
          </a:stretch>
        </p:blipFill>
        <p:spPr>
          <a:xfrm>
            <a:off x="6446520" y="2286000"/>
            <a:ext cx="2286000" cy="2926080"/>
          </a:xfrm>
          <a:prstGeom prst="rect">
            <a:avLst/>
          </a:prstGeom>
        </p:spPr>
      </p:pic>
      <p:cxnSp>
        <p:nvCxnSpPr>
          <p:cNvPr id="5" name="Connector 4"/>
          <p:cNvCxnSpPr/>
          <p:nvPr/>
        </p:nvCxnSpPr>
        <p:spPr>
          <a:xfrm>
            <a:off x="457200" y="5943600"/>
            <a:ext cx="822960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00100" y="6217920"/>
            <a:ext cx="5486400" cy="731520"/>
          </a:xfrm>
          <a:prstGeom prst="rect">
            <a:avLst/>
          </a:prstGeom>
          <a:noFill/>
        </p:spPr>
        <p:txBody>
          <a:bodyPr wrap="none">
            <a:spAutoFit/>
          </a:bodyPr>
          <a:lstStyle/>
          <a:p>
            <a:pPr algn="l">
              <a:defRPr sz="2800" b="1">
                <a:solidFill>
                  <a:srgbClr val="000000"/>
                </a:solidFill>
                <a:latin typeface="Inter"/>
              </a:defRPr>
            </a:pPr>
            <a:r>
              <a:t>BRAND MUGS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