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 Id="rId11" Type="http://schemas.openxmlformats.org/officeDocument/2006/relationships/image" Target="../media/image13.png"/><Relationship Id="rId12" Type="http://schemas.openxmlformats.org/officeDocument/2006/relationships/image" Target="../media/image14.png"/><Relationship Id="rId13" Type="http://schemas.openxmlformats.org/officeDocument/2006/relationships/image" Target="../media/image15.png"/><Relationship Id="rId14" Type="http://schemas.openxmlformats.org/officeDocument/2006/relationships/image" Target="../media/image16.png"/><Relationship Id="rId15"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24.png"/><Relationship Id="rId9" Type="http://schemas.openxmlformats.org/officeDocument/2006/relationships/image" Target="../media/image25.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image" Target="../media/image27.jpg"/><Relationship Id="rId4" Type="http://schemas.openxmlformats.org/officeDocument/2006/relationships/image" Target="../media/image28.jp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haayos_logo_1_20250904_014803_3b122e01.png"/>
          <p:cNvPicPr>
            <a:picLocks noChangeAspect="1"/>
          </p:cNvPicPr>
          <p:nvPr/>
        </p:nvPicPr>
        <p:blipFill>
          <a:blip r:embed="rId2"/>
          <a:stretch>
            <a:fillRect/>
          </a:stretch>
        </p:blipFill>
        <p:spPr>
          <a:xfrm>
            <a:off x="0" y="0"/>
            <a:ext cx="9144000" cy="6858000"/>
          </a:xfrm>
          <a:prstGeom prst="rect">
            <a:avLst/>
          </a:prstGeom>
        </p:spPr>
      </p:pic>
      <p:cxnSp>
        <p:nvCxnSpPr>
          <p:cNvPr id="3" name="Connector 2"/>
          <p:cNvCxnSpPr/>
          <p:nvPr/>
        </p:nvCxnSpPr>
        <p:spPr>
          <a:xfrm>
            <a:off x="6629400.0" y="5657850.0"/>
            <a:ext cx="2057400.0" cy="0.0"/>
          </a:xfrm>
          <a:prstGeom prst="line">
            <a:avLst/>
          </a:prstGeom>
          <a:ln>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629400" y="5657850"/>
            <a:ext cx="2057400" cy="1485900"/>
          </a:xfrm>
          <a:prstGeom prst="rect">
            <a:avLst/>
          </a:prstGeom>
          <a:noFill/>
        </p:spPr>
        <p:txBody>
          <a:bodyPr wrap="none" anchor="ctr">
            <a:spAutoFit/>
          </a:bodyPr>
          <a:lstStyle/>
          <a:p>
            <a:pPr algn="ctr">
              <a:defRPr sz="1800" b="0">
                <a:solidFill>
                  <a:srgbClr val="059669"/>
                </a:solidFill>
                <a:latin typeface="Source Sans Pro"/>
              </a:defRPr>
            </a:pPr>
            <a:r>
              <a:t>Brand Identity System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457200"/>
            <a:ext cx="2743200" cy="731520"/>
          </a:xfrm>
          <a:prstGeom prst="rect">
            <a:avLst/>
          </a:prstGeom>
          <a:noFill/>
        </p:spPr>
        <p:txBody>
          <a:bodyPr wrap="none">
            <a:spAutoFit/>
          </a:bodyPr>
          <a:lstStyle/>
          <a:p>
            <a:pPr>
              <a:defRPr sz="2800" b="1">
                <a:solidFill>
                  <a:srgbClr val="059669"/>
                </a:solidFill>
                <a:latin typeface="Inter"/>
              </a:defRPr>
            </a:pPr>
            <a:r>
              <a:t>INDEX</a:t>
            </a:r>
          </a:p>
        </p:txBody>
      </p:sp>
      <p:cxnSp>
        <p:nvCxnSpPr>
          <p:cNvPr id="3" name="Connector 2"/>
          <p:cNvCxnSpPr/>
          <p:nvPr/>
        </p:nvCxnSpPr>
        <p:spPr>
          <a:xfrm>
            <a:off x="457200" y="1097280"/>
            <a:ext cx="8229600" cy="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554480"/>
            <a:ext cx="1828800" cy="274320"/>
          </a:xfrm>
          <a:prstGeom prst="rect">
            <a:avLst/>
          </a:prstGeom>
          <a:noFill/>
        </p:spPr>
        <p:txBody>
          <a:bodyPr wrap="none" lIns="0" rIns="0" tIns="0" bIns="0">
            <a:spAutoFit/>
          </a:bodyPr>
          <a:lstStyle/>
          <a:p>
            <a:pPr>
              <a:defRPr sz="1200" b="1">
                <a:solidFill>
                  <a:srgbClr val="000000"/>
                </a:solidFill>
                <a:latin typeface="Source Sans Pro"/>
              </a:defRPr>
            </a:pPr>
            <a:r>
              <a:t>Introduction</a:t>
            </a:r>
          </a:p>
        </p:txBody>
      </p:sp>
      <p:cxnSp>
        <p:nvCxnSpPr>
          <p:cNvPr id="5" name="Connector 4"/>
          <p:cNvCxnSpPr/>
          <p:nvPr/>
        </p:nvCxnSpPr>
        <p:spPr>
          <a:xfrm>
            <a:off x="2331719" y="1664208"/>
            <a:ext cx="365760" cy="0"/>
          </a:xfrm>
          <a:prstGeom prst="line">
            <a:avLst/>
          </a:prstGeom>
          <a:ln w="19050">
            <a:solidFill>
              <a:srgbClr val="05966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743200" y="1554480"/>
            <a:ext cx="274320" cy="274320"/>
          </a:xfrm>
          <a:prstGeom prst="rect">
            <a:avLst/>
          </a:prstGeom>
          <a:noFill/>
        </p:spPr>
        <p:txBody>
          <a:bodyPr wrap="none" lIns="0" tIns="0" bIns="0">
            <a:spAutoFit/>
          </a:bodyPr>
          <a:lstStyle/>
          <a:p>
            <a:pPr>
              <a:defRPr sz="1200" b="1">
                <a:solidFill>
                  <a:srgbClr val="059669"/>
                </a:solidFill>
                <a:latin typeface="Source Sans Pro"/>
              </a:defRPr>
            </a:pPr>
            <a:r>
              <a:t>01</a:t>
            </a:r>
          </a:p>
        </p:txBody>
      </p:sp>
      <p:sp>
        <p:nvSpPr>
          <p:cNvPr id="7" name="TextBox 6"/>
          <p:cNvSpPr txBox="1"/>
          <p:nvPr/>
        </p:nvSpPr>
        <p:spPr>
          <a:xfrm>
            <a:off x="457200" y="2057400"/>
            <a:ext cx="1828800" cy="274320"/>
          </a:xfrm>
          <a:prstGeom prst="rect">
            <a:avLst/>
          </a:prstGeom>
          <a:noFill/>
        </p:spPr>
        <p:txBody>
          <a:bodyPr wrap="none" lIns="0" rIns="0" tIns="0" bIns="0">
            <a:spAutoFit/>
          </a:bodyPr>
          <a:lstStyle/>
          <a:p>
            <a:pPr>
              <a:defRPr sz="1200" b="1">
                <a:solidFill>
                  <a:srgbClr val="000000"/>
                </a:solidFill>
                <a:latin typeface="Source Sans Pro"/>
              </a:defRPr>
            </a:pPr>
            <a:r>
              <a:t>Brand Purpose (Vision)</a:t>
            </a:r>
          </a:p>
        </p:txBody>
      </p:sp>
      <p:cxnSp>
        <p:nvCxnSpPr>
          <p:cNvPr id="8" name="Connector 7"/>
          <p:cNvCxnSpPr/>
          <p:nvPr/>
        </p:nvCxnSpPr>
        <p:spPr>
          <a:xfrm>
            <a:off x="2331719" y="2167128"/>
            <a:ext cx="365760" cy="0"/>
          </a:xfrm>
          <a:prstGeom prst="line">
            <a:avLst/>
          </a:prstGeom>
          <a:ln w="19050">
            <a:solidFill>
              <a:srgbClr val="05966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0" y="2057400"/>
            <a:ext cx="274320" cy="274320"/>
          </a:xfrm>
          <a:prstGeom prst="rect">
            <a:avLst/>
          </a:prstGeom>
          <a:noFill/>
        </p:spPr>
        <p:txBody>
          <a:bodyPr wrap="none" lIns="0" tIns="0" bIns="0">
            <a:spAutoFit/>
          </a:bodyPr>
          <a:lstStyle/>
          <a:p>
            <a:pPr>
              <a:defRPr sz="1200" b="1">
                <a:solidFill>
                  <a:srgbClr val="059669"/>
                </a:solidFill>
                <a:latin typeface="Source Sans Pro"/>
              </a:defRPr>
            </a:pPr>
            <a:r>
              <a:t>02</a:t>
            </a:r>
          </a:p>
        </p:txBody>
      </p:sp>
      <p:sp>
        <p:nvSpPr>
          <p:cNvPr id="10" name="TextBox 9"/>
          <p:cNvSpPr txBox="1"/>
          <p:nvPr/>
        </p:nvSpPr>
        <p:spPr>
          <a:xfrm>
            <a:off x="457200" y="2560320"/>
            <a:ext cx="1828800" cy="274320"/>
          </a:xfrm>
          <a:prstGeom prst="rect">
            <a:avLst/>
          </a:prstGeom>
          <a:noFill/>
        </p:spPr>
        <p:txBody>
          <a:bodyPr wrap="none" lIns="0" rIns="0" tIns="0" bIns="0">
            <a:spAutoFit/>
          </a:bodyPr>
          <a:lstStyle/>
          <a:p>
            <a:pPr>
              <a:defRPr sz="1200" b="1">
                <a:solidFill>
                  <a:srgbClr val="000000"/>
                </a:solidFill>
                <a:latin typeface="Source Sans Pro"/>
              </a:defRPr>
            </a:pPr>
            <a:r>
              <a:t>Brand Purpose (Mission)</a:t>
            </a:r>
          </a:p>
        </p:txBody>
      </p:sp>
      <p:cxnSp>
        <p:nvCxnSpPr>
          <p:cNvPr id="11" name="Connector 10"/>
          <p:cNvCxnSpPr/>
          <p:nvPr/>
        </p:nvCxnSpPr>
        <p:spPr>
          <a:xfrm>
            <a:off x="2331719" y="2670048"/>
            <a:ext cx="365760" cy="0"/>
          </a:xfrm>
          <a:prstGeom prst="line">
            <a:avLst/>
          </a:prstGeom>
          <a:ln w="19050">
            <a:solidFill>
              <a:srgbClr val="05966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743200" y="2560320"/>
            <a:ext cx="274320" cy="274320"/>
          </a:xfrm>
          <a:prstGeom prst="rect">
            <a:avLst/>
          </a:prstGeom>
          <a:noFill/>
        </p:spPr>
        <p:txBody>
          <a:bodyPr wrap="none" lIns="0" tIns="0" bIns="0">
            <a:spAutoFit/>
          </a:bodyPr>
          <a:lstStyle/>
          <a:p>
            <a:pPr>
              <a:defRPr sz="1200" b="1">
                <a:solidFill>
                  <a:srgbClr val="059669"/>
                </a:solidFill>
                <a:latin typeface="Source Sans Pro"/>
              </a:defRPr>
            </a:pPr>
            <a:r>
              <a:t>03</a:t>
            </a:r>
          </a:p>
        </p:txBody>
      </p:sp>
      <p:sp>
        <p:nvSpPr>
          <p:cNvPr id="13" name="TextBox 12"/>
          <p:cNvSpPr txBox="1"/>
          <p:nvPr/>
        </p:nvSpPr>
        <p:spPr>
          <a:xfrm>
            <a:off x="3474720" y="1554480"/>
            <a:ext cx="1828800" cy="274320"/>
          </a:xfrm>
          <a:prstGeom prst="rect">
            <a:avLst/>
          </a:prstGeom>
          <a:noFill/>
        </p:spPr>
        <p:txBody>
          <a:bodyPr wrap="none" lIns="0" rIns="0" tIns="0" bIns="0">
            <a:spAutoFit/>
          </a:bodyPr>
          <a:lstStyle/>
          <a:p>
            <a:pPr>
              <a:defRPr sz="1200" b="1">
                <a:solidFill>
                  <a:srgbClr val="000000"/>
                </a:solidFill>
                <a:latin typeface="Source Sans Pro"/>
              </a:defRPr>
            </a:pPr>
            <a:r>
              <a:t>Brand Purpose (Values)</a:t>
            </a:r>
          </a:p>
        </p:txBody>
      </p:sp>
      <p:cxnSp>
        <p:nvCxnSpPr>
          <p:cNvPr id="14" name="Connector 13"/>
          <p:cNvCxnSpPr/>
          <p:nvPr/>
        </p:nvCxnSpPr>
        <p:spPr>
          <a:xfrm>
            <a:off x="5349239" y="1664208"/>
            <a:ext cx="365760" cy="0"/>
          </a:xfrm>
          <a:prstGeom prst="line">
            <a:avLst/>
          </a:prstGeom>
          <a:ln w="19050">
            <a:solidFill>
              <a:srgbClr val="05966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760720" y="1554480"/>
            <a:ext cx="274320" cy="274320"/>
          </a:xfrm>
          <a:prstGeom prst="rect">
            <a:avLst/>
          </a:prstGeom>
          <a:noFill/>
        </p:spPr>
        <p:txBody>
          <a:bodyPr wrap="none" lIns="0" tIns="0" bIns="0">
            <a:spAutoFit/>
          </a:bodyPr>
          <a:lstStyle/>
          <a:p>
            <a:pPr>
              <a:defRPr sz="1200" b="1">
                <a:solidFill>
                  <a:srgbClr val="059669"/>
                </a:solidFill>
                <a:latin typeface="Source Sans Pro"/>
              </a:defRPr>
            </a:pPr>
            <a:r>
              <a:t>04</a:t>
            </a:r>
          </a:p>
        </p:txBody>
      </p:sp>
      <p:sp>
        <p:nvSpPr>
          <p:cNvPr id="16" name="TextBox 15"/>
          <p:cNvSpPr txBox="1"/>
          <p:nvPr/>
        </p:nvSpPr>
        <p:spPr>
          <a:xfrm>
            <a:off x="3474720" y="2057400"/>
            <a:ext cx="1828800" cy="274320"/>
          </a:xfrm>
          <a:prstGeom prst="rect">
            <a:avLst/>
          </a:prstGeom>
          <a:noFill/>
        </p:spPr>
        <p:txBody>
          <a:bodyPr wrap="none" lIns="0" rIns="0" tIns="0" bIns="0">
            <a:spAutoFit/>
          </a:bodyPr>
          <a:lstStyle/>
          <a:p>
            <a:pPr>
              <a:defRPr sz="1200" b="1">
                <a:solidFill>
                  <a:srgbClr val="000000"/>
                </a:solidFill>
                <a:latin typeface="Source Sans Pro"/>
              </a:defRPr>
            </a:pPr>
            <a:r>
              <a:t>Brand Story</a:t>
            </a:r>
          </a:p>
        </p:txBody>
      </p:sp>
      <p:cxnSp>
        <p:nvCxnSpPr>
          <p:cNvPr id="17" name="Connector 16"/>
          <p:cNvCxnSpPr/>
          <p:nvPr/>
        </p:nvCxnSpPr>
        <p:spPr>
          <a:xfrm>
            <a:off x="5349239" y="2167128"/>
            <a:ext cx="365760" cy="0"/>
          </a:xfrm>
          <a:prstGeom prst="line">
            <a:avLst/>
          </a:prstGeom>
          <a:ln w="19050">
            <a:solidFill>
              <a:srgbClr val="059669"/>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760720" y="2057400"/>
            <a:ext cx="274320" cy="274320"/>
          </a:xfrm>
          <a:prstGeom prst="rect">
            <a:avLst/>
          </a:prstGeom>
          <a:noFill/>
        </p:spPr>
        <p:txBody>
          <a:bodyPr wrap="none" lIns="0" tIns="0" bIns="0">
            <a:spAutoFit/>
          </a:bodyPr>
          <a:lstStyle/>
          <a:p>
            <a:pPr>
              <a:defRPr sz="1200" b="1">
                <a:solidFill>
                  <a:srgbClr val="059669"/>
                </a:solidFill>
                <a:latin typeface="Source Sans Pro"/>
              </a:defRPr>
            </a:pPr>
            <a:r>
              <a:t>05</a:t>
            </a:r>
          </a:p>
        </p:txBody>
      </p:sp>
      <p:sp>
        <p:nvSpPr>
          <p:cNvPr id="19" name="TextBox 18"/>
          <p:cNvSpPr txBox="1"/>
          <p:nvPr/>
        </p:nvSpPr>
        <p:spPr>
          <a:xfrm>
            <a:off x="3474720" y="2560320"/>
            <a:ext cx="1828800" cy="274320"/>
          </a:xfrm>
          <a:prstGeom prst="rect">
            <a:avLst/>
          </a:prstGeom>
          <a:noFill/>
        </p:spPr>
        <p:txBody>
          <a:bodyPr wrap="none" lIns="0" rIns="0" tIns="0" bIns="0">
            <a:spAutoFit/>
          </a:bodyPr>
          <a:lstStyle/>
          <a:p>
            <a:pPr>
              <a:defRPr sz="1200" b="1">
                <a:solidFill>
                  <a:srgbClr val="000000"/>
                </a:solidFill>
                <a:latin typeface="Source Sans Pro"/>
              </a:defRPr>
            </a:pPr>
            <a:r>
              <a:t>Logo Variations</a:t>
            </a:r>
          </a:p>
        </p:txBody>
      </p:sp>
      <p:cxnSp>
        <p:nvCxnSpPr>
          <p:cNvPr id="20" name="Connector 19"/>
          <p:cNvCxnSpPr/>
          <p:nvPr/>
        </p:nvCxnSpPr>
        <p:spPr>
          <a:xfrm>
            <a:off x="5349239" y="2670048"/>
            <a:ext cx="365760" cy="0"/>
          </a:xfrm>
          <a:prstGeom prst="line">
            <a:avLst/>
          </a:prstGeom>
          <a:ln w="19050">
            <a:solidFill>
              <a:srgbClr val="05966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760720" y="2560320"/>
            <a:ext cx="274320" cy="274320"/>
          </a:xfrm>
          <a:prstGeom prst="rect">
            <a:avLst/>
          </a:prstGeom>
          <a:noFill/>
        </p:spPr>
        <p:txBody>
          <a:bodyPr wrap="none" lIns="0" tIns="0" bIns="0">
            <a:spAutoFit/>
          </a:bodyPr>
          <a:lstStyle/>
          <a:p>
            <a:pPr>
              <a:defRPr sz="1200" b="1">
                <a:solidFill>
                  <a:srgbClr val="059669"/>
                </a:solidFill>
                <a:latin typeface="Source Sans Pro"/>
              </a:defRPr>
            </a:pPr>
            <a:r>
              <a:t>06</a:t>
            </a:r>
          </a:p>
        </p:txBody>
      </p:sp>
      <p:sp>
        <p:nvSpPr>
          <p:cNvPr id="22" name="TextBox 21"/>
          <p:cNvSpPr txBox="1"/>
          <p:nvPr/>
        </p:nvSpPr>
        <p:spPr>
          <a:xfrm>
            <a:off x="3657600" y="2926079"/>
            <a:ext cx="1828800" cy="228600"/>
          </a:xfrm>
          <a:prstGeom prst="rect">
            <a:avLst/>
          </a:prstGeom>
          <a:noFill/>
        </p:spPr>
        <p:txBody>
          <a:bodyPr wrap="none" lIns="0" tIns="0" bIns="0">
            <a:spAutoFit/>
          </a:bodyPr>
          <a:lstStyle/>
          <a:p>
            <a:pPr>
              <a:defRPr sz="900" b="0">
                <a:solidFill>
                  <a:srgbClr val="666666"/>
                </a:solidFill>
                <a:latin typeface="Source Sans Pro"/>
              </a:defRPr>
            </a:pPr>
            <a:r>
              <a:t>Variation 1</a:t>
            </a:r>
          </a:p>
        </p:txBody>
      </p:sp>
      <p:sp>
        <p:nvSpPr>
          <p:cNvPr id="23" name="TextBox 22"/>
          <p:cNvSpPr txBox="1"/>
          <p:nvPr/>
        </p:nvSpPr>
        <p:spPr>
          <a:xfrm>
            <a:off x="3657600" y="3154679"/>
            <a:ext cx="1828800" cy="228600"/>
          </a:xfrm>
          <a:prstGeom prst="rect">
            <a:avLst/>
          </a:prstGeom>
          <a:noFill/>
        </p:spPr>
        <p:txBody>
          <a:bodyPr wrap="none" lIns="0" tIns="0" bIns="0">
            <a:spAutoFit/>
          </a:bodyPr>
          <a:lstStyle/>
          <a:p>
            <a:pPr>
              <a:defRPr sz="900" b="0">
                <a:solidFill>
                  <a:srgbClr val="666666"/>
                </a:solidFill>
                <a:latin typeface="Source Sans Pro"/>
              </a:defRPr>
            </a:pPr>
            <a:r>
              <a:t>Variation 2</a:t>
            </a:r>
          </a:p>
        </p:txBody>
      </p:sp>
      <p:sp>
        <p:nvSpPr>
          <p:cNvPr id="24" name="TextBox 23"/>
          <p:cNvSpPr txBox="1"/>
          <p:nvPr/>
        </p:nvSpPr>
        <p:spPr>
          <a:xfrm>
            <a:off x="3657600" y="3383279"/>
            <a:ext cx="1828800" cy="228600"/>
          </a:xfrm>
          <a:prstGeom prst="rect">
            <a:avLst/>
          </a:prstGeom>
          <a:noFill/>
        </p:spPr>
        <p:txBody>
          <a:bodyPr wrap="none" lIns="0" tIns="0" bIns="0">
            <a:spAutoFit/>
          </a:bodyPr>
          <a:lstStyle/>
          <a:p>
            <a:pPr>
              <a:defRPr sz="900" b="0">
                <a:solidFill>
                  <a:srgbClr val="666666"/>
                </a:solidFill>
                <a:latin typeface="Source Sans Pro"/>
              </a:defRPr>
            </a:pPr>
            <a:r>
              <a:t>Variation 3</a:t>
            </a:r>
          </a:p>
        </p:txBody>
      </p:sp>
      <p:sp>
        <p:nvSpPr>
          <p:cNvPr id="25" name="TextBox 24"/>
          <p:cNvSpPr txBox="1"/>
          <p:nvPr/>
        </p:nvSpPr>
        <p:spPr>
          <a:xfrm>
            <a:off x="6492240" y="1554480"/>
            <a:ext cx="1828800" cy="274320"/>
          </a:xfrm>
          <a:prstGeom prst="rect">
            <a:avLst/>
          </a:prstGeom>
          <a:noFill/>
        </p:spPr>
        <p:txBody>
          <a:bodyPr wrap="none" lIns="0" rIns="0" tIns="0" bIns="0">
            <a:spAutoFit/>
          </a:bodyPr>
          <a:lstStyle/>
          <a:p>
            <a:pPr>
              <a:defRPr sz="1200" b="1">
                <a:solidFill>
                  <a:srgbClr val="000000"/>
                </a:solidFill>
                <a:latin typeface="Source Sans Pro"/>
              </a:defRPr>
            </a:pPr>
            <a:r>
              <a:t>Brand Colors</a:t>
            </a:r>
          </a:p>
        </p:txBody>
      </p:sp>
      <p:cxnSp>
        <p:nvCxnSpPr>
          <p:cNvPr id="26" name="Connector 25"/>
          <p:cNvCxnSpPr/>
          <p:nvPr/>
        </p:nvCxnSpPr>
        <p:spPr>
          <a:xfrm>
            <a:off x="8366759" y="1664208"/>
            <a:ext cx="365760" cy="0"/>
          </a:xfrm>
          <a:prstGeom prst="line">
            <a:avLst/>
          </a:prstGeom>
          <a:ln w="19050">
            <a:solidFill>
              <a:srgbClr val="059669"/>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778240" y="1554480"/>
            <a:ext cx="274320" cy="274320"/>
          </a:xfrm>
          <a:prstGeom prst="rect">
            <a:avLst/>
          </a:prstGeom>
          <a:noFill/>
        </p:spPr>
        <p:txBody>
          <a:bodyPr wrap="none" lIns="0" tIns="0" bIns="0">
            <a:spAutoFit/>
          </a:bodyPr>
          <a:lstStyle/>
          <a:p>
            <a:pPr>
              <a:defRPr sz="1200" b="1">
                <a:solidFill>
                  <a:srgbClr val="059669"/>
                </a:solidFill>
                <a:latin typeface="Source Sans Pro"/>
              </a:defRPr>
            </a:pPr>
            <a:r>
              <a:t>07</a:t>
            </a:r>
          </a:p>
        </p:txBody>
      </p:sp>
      <p:sp>
        <p:nvSpPr>
          <p:cNvPr id="28" name="TextBox 27"/>
          <p:cNvSpPr txBox="1"/>
          <p:nvPr/>
        </p:nvSpPr>
        <p:spPr>
          <a:xfrm>
            <a:off x="6675120" y="1920240"/>
            <a:ext cx="1828800" cy="228600"/>
          </a:xfrm>
          <a:prstGeom prst="rect">
            <a:avLst/>
          </a:prstGeom>
          <a:noFill/>
        </p:spPr>
        <p:txBody>
          <a:bodyPr wrap="none" lIns="0" tIns="0" bIns="0">
            <a:spAutoFit/>
          </a:bodyPr>
          <a:lstStyle/>
          <a:p>
            <a:pPr>
              <a:defRPr sz="900" b="0">
                <a:solidFill>
                  <a:srgbClr val="666666"/>
                </a:solidFill>
                <a:latin typeface="Source Sans Pro"/>
              </a:defRPr>
            </a:pPr>
            <a:r>
              <a:t>Primary Colors</a:t>
            </a:r>
          </a:p>
        </p:txBody>
      </p:sp>
      <p:sp>
        <p:nvSpPr>
          <p:cNvPr id="29" name="TextBox 28"/>
          <p:cNvSpPr txBox="1"/>
          <p:nvPr/>
        </p:nvSpPr>
        <p:spPr>
          <a:xfrm>
            <a:off x="6675120" y="2148840"/>
            <a:ext cx="1828800" cy="228600"/>
          </a:xfrm>
          <a:prstGeom prst="rect">
            <a:avLst/>
          </a:prstGeom>
          <a:noFill/>
        </p:spPr>
        <p:txBody>
          <a:bodyPr wrap="none" lIns="0" tIns="0" bIns="0">
            <a:spAutoFit/>
          </a:bodyPr>
          <a:lstStyle/>
          <a:p>
            <a:pPr>
              <a:defRPr sz="900" b="0">
                <a:solidFill>
                  <a:srgbClr val="666666"/>
                </a:solidFill>
                <a:latin typeface="Source Sans Pro"/>
              </a:defRPr>
            </a:pPr>
            <a:r>
              <a:t>Secondary Colors</a:t>
            </a:r>
          </a:p>
        </p:txBody>
      </p:sp>
      <p:sp>
        <p:nvSpPr>
          <p:cNvPr id="30" name="TextBox 29"/>
          <p:cNvSpPr txBox="1"/>
          <p:nvPr/>
        </p:nvSpPr>
        <p:spPr>
          <a:xfrm>
            <a:off x="6675120" y="2377440"/>
            <a:ext cx="1828800" cy="228600"/>
          </a:xfrm>
          <a:prstGeom prst="rect">
            <a:avLst/>
          </a:prstGeom>
          <a:noFill/>
        </p:spPr>
        <p:txBody>
          <a:bodyPr wrap="none" lIns="0" tIns="0" bIns="0">
            <a:spAutoFit/>
          </a:bodyPr>
          <a:lstStyle/>
          <a:p>
            <a:pPr>
              <a:defRPr sz="900" b="0">
                <a:solidFill>
                  <a:srgbClr val="666666"/>
                </a:solidFill>
                <a:latin typeface="Source Sans Pro"/>
              </a:defRPr>
            </a:pPr>
            <a:r>
              <a:t>Color Usage 1/2</a:t>
            </a:r>
          </a:p>
        </p:txBody>
      </p:sp>
      <p:sp>
        <p:nvSpPr>
          <p:cNvPr id="31" name="TextBox 30"/>
          <p:cNvSpPr txBox="1"/>
          <p:nvPr/>
        </p:nvSpPr>
        <p:spPr>
          <a:xfrm>
            <a:off x="6675120" y="2606040"/>
            <a:ext cx="1828800" cy="228600"/>
          </a:xfrm>
          <a:prstGeom prst="rect">
            <a:avLst/>
          </a:prstGeom>
          <a:noFill/>
        </p:spPr>
        <p:txBody>
          <a:bodyPr wrap="none" lIns="0" tIns="0" bIns="0">
            <a:spAutoFit/>
          </a:bodyPr>
          <a:lstStyle/>
          <a:p>
            <a:pPr>
              <a:defRPr sz="900" b="0">
                <a:solidFill>
                  <a:srgbClr val="666666"/>
                </a:solidFill>
                <a:latin typeface="Source Sans Pro"/>
              </a:defRPr>
            </a:pPr>
            <a:r>
              <a:t>Color Usage 2/2</a:t>
            </a:r>
          </a:p>
        </p:txBody>
      </p:sp>
      <p:sp>
        <p:nvSpPr>
          <p:cNvPr id="32" name="TextBox 31"/>
          <p:cNvSpPr txBox="1"/>
          <p:nvPr/>
        </p:nvSpPr>
        <p:spPr>
          <a:xfrm>
            <a:off x="6492240" y="2971800"/>
            <a:ext cx="1828800" cy="274320"/>
          </a:xfrm>
          <a:prstGeom prst="rect">
            <a:avLst/>
          </a:prstGeom>
          <a:noFill/>
        </p:spPr>
        <p:txBody>
          <a:bodyPr wrap="none" lIns="0" rIns="0" tIns="0" bIns="0">
            <a:spAutoFit/>
          </a:bodyPr>
          <a:lstStyle/>
          <a:p>
            <a:pPr>
              <a:defRPr sz="1200" b="1">
                <a:solidFill>
                  <a:srgbClr val="000000"/>
                </a:solidFill>
                <a:latin typeface="Source Sans Pro"/>
              </a:defRPr>
            </a:pPr>
            <a:r>
              <a:t>Typography</a:t>
            </a:r>
          </a:p>
        </p:txBody>
      </p:sp>
      <p:cxnSp>
        <p:nvCxnSpPr>
          <p:cNvPr id="33" name="Connector 32"/>
          <p:cNvCxnSpPr/>
          <p:nvPr/>
        </p:nvCxnSpPr>
        <p:spPr>
          <a:xfrm>
            <a:off x="8366759" y="3081528"/>
            <a:ext cx="365760" cy="0"/>
          </a:xfrm>
          <a:prstGeom prst="line">
            <a:avLst/>
          </a:prstGeom>
          <a:ln w="19050">
            <a:solidFill>
              <a:srgbClr val="059669"/>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778240" y="2971800"/>
            <a:ext cx="274320" cy="274320"/>
          </a:xfrm>
          <a:prstGeom prst="rect">
            <a:avLst/>
          </a:prstGeom>
          <a:noFill/>
        </p:spPr>
        <p:txBody>
          <a:bodyPr wrap="none" lIns="0" tIns="0" bIns="0">
            <a:spAutoFit/>
          </a:bodyPr>
          <a:lstStyle/>
          <a:p>
            <a:pPr>
              <a:defRPr sz="1200" b="1">
                <a:solidFill>
                  <a:srgbClr val="059669"/>
                </a:solidFill>
                <a:latin typeface="Source Sans Pro"/>
              </a:defRPr>
            </a:pPr>
            <a:r>
              <a:t>08</a:t>
            </a:r>
          </a:p>
        </p:txBody>
      </p:sp>
      <p:sp>
        <p:nvSpPr>
          <p:cNvPr id="35" name="TextBox 34"/>
          <p:cNvSpPr txBox="1"/>
          <p:nvPr/>
        </p:nvSpPr>
        <p:spPr>
          <a:xfrm>
            <a:off x="6675120" y="3337560"/>
            <a:ext cx="1828800" cy="228600"/>
          </a:xfrm>
          <a:prstGeom prst="rect">
            <a:avLst/>
          </a:prstGeom>
          <a:noFill/>
        </p:spPr>
        <p:txBody>
          <a:bodyPr wrap="none" lIns="0" tIns="0" bIns="0">
            <a:spAutoFit/>
          </a:bodyPr>
          <a:lstStyle/>
          <a:p>
            <a:pPr>
              <a:defRPr sz="900" b="0">
                <a:solidFill>
                  <a:srgbClr val="666666"/>
                </a:solidFill>
                <a:latin typeface="Source Sans Pro"/>
              </a:defRPr>
            </a:pPr>
            <a:r>
              <a:t>Brand Font</a:t>
            </a:r>
          </a:p>
        </p:txBody>
      </p:sp>
      <p:sp>
        <p:nvSpPr>
          <p:cNvPr id="36" name="TextBox 35"/>
          <p:cNvSpPr txBox="1"/>
          <p:nvPr/>
        </p:nvSpPr>
        <p:spPr>
          <a:xfrm>
            <a:off x="6675120" y="3566160"/>
            <a:ext cx="1828800" cy="228600"/>
          </a:xfrm>
          <a:prstGeom prst="rect">
            <a:avLst/>
          </a:prstGeom>
          <a:noFill/>
        </p:spPr>
        <p:txBody>
          <a:bodyPr wrap="none" lIns="0" tIns="0" bIns="0">
            <a:spAutoFit/>
          </a:bodyPr>
          <a:lstStyle/>
          <a:p>
            <a:pPr>
              <a:defRPr sz="900" b="0">
                <a:solidFill>
                  <a:srgbClr val="666666"/>
                </a:solidFill>
                <a:latin typeface="Source Sans Pro"/>
              </a:defRPr>
            </a:pPr>
            <a:r>
              <a:t>Font Usage</a:t>
            </a:r>
          </a:p>
        </p:txBody>
      </p:sp>
      <p:sp>
        <p:nvSpPr>
          <p:cNvPr id="37" name="TextBox 36"/>
          <p:cNvSpPr txBox="1"/>
          <p:nvPr/>
        </p:nvSpPr>
        <p:spPr>
          <a:xfrm>
            <a:off x="6675120" y="3794760"/>
            <a:ext cx="1828800" cy="228600"/>
          </a:xfrm>
          <a:prstGeom prst="rect">
            <a:avLst/>
          </a:prstGeom>
          <a:noFill/>
        </p:spPr>
        <p:txBody>
          <a:bodyPr wrap="none" lIns="0" tIns="0" bIns="0">
            <a:spAutoFit/>
          </a:bodyPr>
          <a:lstStyle/>
          <a:p>
            <a:pPr>
              <a:defRPr sz="900" b="0">
                <a:solidFill>
                  <a:srgbClr val="666666"/>
                </a:solidFill>
                <a:latin typeface="Source Sans Pro"/>
              </a:defRPr>
            </a:pPr>
            <a:r>
              <a:t>Text Hierarchy</a:t>
            </a:r>
          </a:p>
        </p:txBody>
      </p:sp>
      <p:sp>
        <p:nvSpPr>
          <p:cNvPr id="38" name="TextBox 37"/>
          <p:cNvSpPr txBox="1"/>
          <p:nvPr/>
        </p:nvSpPr>
        <p:spPr>
          <a:xfrm>
            <a:off x="6492240" y="4160520"/>
            <a:ext cx="1828800" cy="274320"/>
          </a:xfrm>
          <a:prstGeom prst="rect">
            <a:avLst/>
          </a:prstGeom>
          <a:noFill/>
        </p:spPr>
        <p:txBody>
          <a:bodyPr wrap="none" lIns="0" rIns="0" tIns="0" bIns="0">
            <a:spAutoFit/>
          </a:bodyPr>
          <a:lstStyle/>
          <a:p>
            <a:pPr>
              <a:defRPr sz="1200" b="1">
                <a:solidFill>
                  <a:srgbClr val="000000"/>
                </a:solidFill>
                <a:latin typeface="Source Sans Pro"/>
              </a:defRPr>
            </a:pPr>
            <a:r>
              <a:t>Imagery &amp; Visuals</a:t>
            </a:r>
          </a:p>
        </p:txBody>
      </p:sp>
      <p:cxnSp>
        <p:nvCxnSpPr>
          <p:cNvPr id="39" name="Connector 38"/>
          <p:cNvCxnSpPr/>
          <p:nvPr/>
        </p:nvCxnSpPr>
        <p:spPr>
          <a:xfrm>
            <a:off x="8366759" y="4270248"/>
            <a:ext cx="365760" cy="0"/>
          </a:xfrm>
          <a:prstGeom prst="line">
            <a:avLst/>
          </a:prstGeom>
          <a:ln w="19050">
            <a:solidFill>
              <a:srgbClr val="059669"/>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778240" y="4160520"/>
            <a:ext cx="274320" cy="274320"/>
          </a:xfrm>
          <a:prstGeom prst="rect">
            <a:avLst/>
          </a:prstGeom>
          <a:noFill/>
        </p:spPr>
        <p:txBody>
          <a:bodyPr wrap="none" lIns="0" tIns="0" bIns="0">
            <a:spAutoFit/>
          </a:bodyPr>
          <a:lstStyle/>
          <a:p>
            <a:pPr>
              <a:defRPr sz="1200" b="1">
                <a:solidFill>
                  <a:srgbClr val="059669"/>
                </a:solidFill>
                <a:latin typeface="Source Sans Pro"/>
              </a:defRPr>
            </a:pPr>
            <a:r>
              <a:t>09</a:t>
            </a:r>
          </a:p>
        </p:txBody>
      </p:sp>
      <p:sp>
        <p:nvSpPr>
          <p:cNvPr id="41" name="TextBox 40"/>
          <p:cNvSpPr txBox="1"/>
          <p:nvPr/>
        </p:nvSpPr>
        <p:spPr>
          <a:xfrm>
            <a:off x="6675120" y="4526280"/>
            <a:ext cx="1828800" cy="228600"/>
          </a:xfrm>
          <a:prstGeom prst="rect">
            <a:avLst/>
          </a:prstGeom>
          <a:noFill/>
        </p:spPr>
        <p:txBody>
          <a:bodyPr wrap="none" lIns="0" tIns="0" bIns="0">
            <a:spAutoFit/>
          </a:bodyPr>
          <a:lstStyle/>
          <a:p>
            <a:pPr>
              <a:defRPr sz="900" b="0">
                <a:solidFill>
                  <a:srgbClr val="666666"/>
                </a:solidFill>
                <a:latin typeface="Source Sans Pro"/>
              </a:defRPr>
            </a:pPr>
            <a:r>
              <a:t>Iconography</a:t>
            </a:r>
          </a:p>
        </p:txBody>
      </p:sp>
      <p:sp>
        <p:nvSpPr>
          <p:cNvPr id="42" name="TextBox 41"/>
          <p:cNvSpPr txBox="1"/>
          <p:nvPr/>
        </p:nvSpPr>
        <p:spPr>
          <a:xfrm>
            <a:off x="6675120" y="4754880"/>
            <a:ext cx="1828800" cy="228600"/>
          </a:xfrm>
          <a:prstGeom prst="rect">
            <a:avLst/>
          </a:prstGeom>
          <a:noFill/>
        </p:spPr>
        <p:txBody>
          <a:bodyPr wrap="none" lIns="0" tIns="0" bIns="0">
            <a:spAutoFit/>
          </a:bodyPr>
          <a:lstStyle/>
          <a:p>
            <a:pPr>
              <a:defRPr sz="900" b="0">
                <a:solidFill>
                  <a:srgbClr val="666666"/>
                </a:solidFill>
                <a:latin typeface="Source Sans Pro"/>
              </a:defRPr>
            </a:pPr>
            <a:r>
              <a:t>Merchandise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Source Sans Pro"/>
              </a:defRPr>
            </a:pPr>
            <a:r>
              <a:t>Welcome to Chaayos' brand identity system, where modern tea culture meets innovative hospitality. As India's premier tea café chain, we've crafted a strategic blueprint that celebrates our heritage while setting new standards in the quick-service restaurant landscape. Our system reflects a perfect blend of warmth and sophistication, designed to create memorable experiences for urban professionals, tea enthusiasts, and social explorers alike. Through thoughtful design and consistent execution, we're building an internationally recognizable brand that transforms everyday tea moments into extraordinary connections, while maintaining our distinctive position in the competitive Food &amp; Beverage sector.</a:t>
            </a:r>
          </a:p>
        </p:txBody>
      </p:sp>
      <p:cxnSp>
        <p:nvCxnSpPr>
          <p:cNvPr id="3" name="Connector 2"/>
          <p:cNvCxnSpPr/>
          <p:nvPr/>
        </p:nvCxnSpPr>
        <p:spPr>
          <a:xfrm>
            <a:off x="457200" y="4914900.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3657600" cy="731520"/>
          </a:xfrm>
          <a:prstGeom prst="rect">
            <a:avLst/>
          </a:prstGeom>
          <a:noFill/>
        </p:spPr>
        <p:txBody>
          <a:bodyPr wrap="none">
            <a:spAutoFit/>
          </a:bodyPr>
          <a:lstStyle/>
          <a:p>
            <a:pPr algn="l">
              <a:defRPr sz="2800" b="1">
                <a:solidFill>
                  <a:srgbClr val="059669"/>
                </a:solidFill>
                <a:latin typeface="Inter"/>
              </a:defRPr>
            </a:pPr>
            <a:r>
              <a:t>INTRODUCTION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Source Sans Pro"/>
              </a:defRPr>
            </a:pPr>
            <a:r>
              <a:t>At Chaayos, we envision a world where every sip of tea sparks creativity, fosters connections, and brings moments of warmth and joy to the lives of Urban youth, Working professionals, Tea enthusiasts, Families, Students, and Millennials. Our ultimate goal is to redefine the tea-drinking experience, becoming the go-to destination for those seeking innovative and authentic tea-based solutions that resonate with their modern lifestyles.</a:t>
            </a:r>
          </a:p>
        </p:txBody>
      </p:sp>
      <p:cxnSp>
        <p:nvCxnSpPr>
          <p:cNvPr id="3" name="Connector 2"/>
          <p:cNvCxnSpPr/>
          <p:nvPr/>
        </p:nvCxnSpPr>
        <p:spPr>
          <a:xfrm>
            <a:off x="457200" y="4914900.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059669"/>
                </a:solidFill>
                <a:latin typeface="Inter"/>
              </a:defRPr>
            </a:pPr>
            <a:r>
              <a:t>BRAND PURPOSE (VISION)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Source Sans Pro"/>
              </a:defRPr>
            </a:pPr>
            <a:r>
              <a:t>Our mission at Chaayos is to revolutionize the Food &amp; Beverage industry, particularly Tea Cafés and Quick-service Restaurants, by offering a distinctive and premium tea experience tailored to Urban youth, Working professionals, Tea enthusiasts, Families, Students, and Millennials. We strive to create a welcoming environment where personalization, quality, and community converge to deliver unparalleled customer delight in every cup we serve.</a:t>
            </a:r>
          </a:p>
        </p:txBody>
      </p:sp>
      <p:cxnSp>
        <p:nvCxnSpPr>
          <p:cNvPr id="3" name="Connector 2"/>
          <p:cNvCxnSpPr/>
          <p:nvPr/>
        </p:nvCxnSpPr>
        <p:spPr>
          <a:xfrm>
            <a:off x="457200" y="4914900.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059669"/>
                </a:solidFill>
                <a:latin typeface="Inter"/>
              </a:defRPr>
            </a:pPr>
            <a:r>
              <a:t>BRAND PURPOSE (MISSION)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Source Sans Pro"/>
              </a:defRPr>
            </a:pPr>
            <a:r>
              <a:t>At Chaayos, warmth is not just in our teas but in the way we embrace our customers as part of our extended family. Through continuous innovation, we bring authenticity to every blend, ensuring a genuine tea-drinking experience. Our commitment to customer delight drives us to exceed expectations, fostering a sense of community among tea enthusiasts of all ages. We uphold the highest standards of quality, from sourcing ingredients to serving, all while personalizing each interaction to create lasting connections with our diverse customer base.</a:t>
            </a:r>
          </a:p>
        </p:txBody>
      </p:sp>
      <p:cxnSp>
        <p:nvCxnSpPr>
          <p:cNvPr id="3" name="Connector 2"/>
          <p:cNvCxnSpPr/>
          <p:nvPr/>
        </p:nvCxnSpPr>
        <p:spPr>
          <a:xfrm>
            <a:off x="457200" y="4914900.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059669"/>
                </a:solidFill>
                <a:latin typeface="Inter"/>
              </a:defRPr>
            </a:pPr>
            <a:r>
              <a:t>BRAND PURPOSE (VALUES)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Source Sans Pro"/>
              </a:defRPr>
            </a:pPr>
            <a:r>
              <a:t>In the heart of bustling city streets, where the aroma of freshly brewed tea mingles with the sounds of laughter and chatter, there lies a place that embodies warmth, innovation, and authenticity. Welcome to Chaayos – where every cup tells a story, and every sip is a journey into the world of premium tea experiences. At Chaayos, we are not just a tea café; we are a destination for urban youth, working professionals, tea enthusiasts, families, students, and millennials seeking a unique and personalized culinary adventure. Our core values of quality, customer delight, and community are the guiding lights that illuminate our path towards empowering and delighting our customers.</a:t>
            </a:r>
          </a:p>
        </p:txBody>
      </p:sp>
      <p:cxnSp>
        <p:nvCxnSpPr>
          <p:cNvPr id="3" name="Connector 2"/>
          <p:cNvCxnSpPr/>
          <p:nvPr/>
        </p:nvCxnSpPr>
        <p:spPr>
          <a:xfrm>
            <a:off x="457200" y="4914900.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059669"/>
                </a:solidFill>
                <a:latin typeface="Inter"/>
              </a:defRPr>
            </a:pPr>
            <a:r>
              <a:t>BRAND STORY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Source Sans Pro"/>
              </a:defRPr>
            </a:pPr>
            <a:r>
              <a:t>Step into our world, where the aroma of freshly brewed chai greets you, and the sight of our innovative tea blends captivates your senses. From classic masala chai to exotic fusion teas, our menu is a testament to our commitment to creativity and quality. Each cup is crafted with care and precision, ensuring that every sip is a moment of pure joy. But Chaayos is more than just a place to enjoy a cup of tea; it is a hub of innovation and personalization. Our dedication to customer delight drives us...</a:t>
            </a:r>
          </a:p>
        </p:txBody>
      </p:sp>
      <p:cxnSp>
        <p:nvCxnSpPr>
          <p:cNvPr id="3" name="Connector 2"/>
          <p:cNvCxnSpPr/>
          <p:nvPr/>
        </p:nvCxnSpPr>
        <p:spPr>
          <a:xfrm>
            <a:off x="457200" y="4914900.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059669"/>
                </a:solidFill>
                <a:latin typeface="Inter"/>
              </a:defRPr>
            </a:pPr>
            <a:r>
              <a:t>BRAND STORY (2/2)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haayos_logo_1_20250904_014803_3b122e01.png"/>
          <p:cNvPicPr>
            <a:picLocks noChangeAspect="1"/>
          </p:cNvPicPr>
          <p:nvPr/>
        </p:nvPicPr>
        <p:blipFill>
          <a:blip r:embed="rId2"/>
          <a:stretch>
            <a:fillRect/>
          </a:stretch>
        </p:blipFill>
        <p:spPr>
          <a:xfrm>
            <a:off x="1143000" y="1943100"/>
            <a:ext cx="3429000" cy="2971800"/>
          </a:xfrm>
          <a:prstGeom prst="rect">
            <a:avLst/>
          </a:prstGeom>
        </p:spPr>
      </p:pic>
      <p:sp>
        <p:nvSpPr>
          <p:cNvPr id="3" name="TextBox 2"/>
          <p:cNvSpPr txBox="1"/>
          <p:nvPr/>
        </p:nvSpPr>
        <p:spPr>
          <a:xfrm>
            <a:off x="5257800" y="1200150"/>
            <a:ext cx="3429000" cy="4457700"/>
          </a:xfrm>
          <a:prstGeom prst="rect">
            <a:avLst/>
          </a:prstGeom>
          <a:noFill/>
        </p:spPr>
        <p:txBody>
          <a:bodyPr wrap="square" lIns="0" rIns="0" tIns="0" bIns="0">
            <a:spAutoFit/>
          </a:bodyPr>
          <a:lstStyle/>
          <a:p>
            <a:pPr algn="l">
              <a:spcAft>
                <a:spcPts val="800"/>
              </a:spcAft>
              <a:defRPr sz="1600" b="0">
                <a:solidFill>
                  <a:srgbClr val="000000"/>
                </a:solidFill>
                <a:latin typeface="Source Sans Pro"/>
              </a:defRPr>
            </a:pPr>
            <a:r>
              <a:t>Choose for maximum impact and brand recognition in primary applications.</a:t>
            </a:r>
          </a:p>
        </p:txBody>
      </p:sp>
      <p:cxnSp>
        <p:nvCxnSpPr>
          <p:cNvPr id="4" name="Connector 3"/>
          <p:cNvCxnSpPr/>
          <p:nvPr/>
        </p:nvCxnSpPr>
        <p:spPr>
          <a:xfrm>
            <a:off x="457200" y="5286375.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00100" y="5560695"/>
            <a:ext cx="5486400" cy="731520"/>
          </a:xfrm>
          <a:prstGeom prst="rect">
            <a:avLst/>
          </a:prstGeom>
          <a:noFill/>
        </p:spPr>
        <p:txBody>
          <a:bodyPr wrap="none">
            <a:spAutoFit/>
          </a:bodyPr>
          <a:lstStyle/>
          <a:p>
            <a:pPr algn="l">
              <a:defRPr sz="2800" b="1">
                <a:solidFill>
                  <a:srgbClr val="059669"/>
                </a:solidFill>
                <a:latin typeface="Inter"/>
              </a:defRPr>
            </a:pPr>
            <a:r>
              <a:t>Logo Variation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haayos_logo_2_20250904_014818_fb393d2a.png"/>
          <p:cNvPicPr>
            <a:picLocks noChangeAspect="1"/>
          </p:cNvPicPr>
          <p:nvPr/>
        </p:nvPicPr>
        <p:blipFill>
          <a:blip r:embed="rId2"/>
          <a:stretch>
            <a:fillRect/>
          </a:stretch>
        </p:blipFill>
        <p:spPr>
          <a:xfrm>
            <a:off x="1143000" y="1943100"/>
            <a:ext cx="3429000" cy="2971800"/>
          </a:xfrm>
          <a:prstGeom prst="rect">
            <a:avLst/>
          </a:prstGeom>
        </p:spPr>
      </p:pic>
      <p:sp>
        <p:nvSpPr>
          <p:cNvPr id="3" name="TextBox 2"/>
          <p:cNvSpPr txBox="1"/>
          <p:nvPr/>
        </p:nvSpPr>
        <p:spPr>
          <a:xfrm>
            <a:off x="5257800" y="1200150"/>
            <a:ext cx="3429000" cy="4457700"/>
          </a:xfrm>
          <a:prstGeom prst="rect">
            <a:avLst/>
          </a:prstGeom>
          <a:noFill/>
        </p:spPr>
        <p:txBody>
          <a:bodyPr wrap="square" lIns="0" rIns="0" tIns="0" bIns="0">
            <a:spAutoFit/>
          </a:bodyPr>
          <a:lstStyle/>
          <a:p>
            <a:pPr algn="l">
              <a:spcAft>
                <a:spcPts val="800"/>
              </a:spcAft>
              <a:defRPr sz="1600" b="0">
                <a:solidFill>
                  <a:srgbClr val="000000"/>
                </a:solidFill>
                <a:latin typeface="Source Sans Pro"/>
              </a:defRPr>
            </a:pPr>
            <a:r>
              <a:t>Perfect for constrained spaces while maintaining professional brand presence and clarity.</a:t>
            </a:r>
          </a:p>
        </p:txBody>
      </p:sp>
      <p:cxnSp>
        <p:nvCxnSpPr>
          <p:cNvPr id="4" name="Connector 3"/>
          <p:cNvCxnSpPr/>
          <p:nvPr/>
        </p:nvCxnSpPr>
        <p:spPr>
          <a:xfrm>
            <a:off x="457200" y="5286375.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00100" y="5560695"/>
            <a:ext cx="5486400" cy="731520"/>
          </a:xfrm>
          <a:prstGeom prst="rect">
            <a:avLst/>
          </a:prstGeom>
          <a:noFill/>
        </p:spPr>
        <p:txBody>
          <a:bodyPr wrap="none">
            <a:spAutoFit/>
          </a:bodyPr>
          <a:lstStyle/>
          <a:p>
            <a:pPr algn="l">
              <a:defRPr sz="2800" b="1">
                <a:solidFill>
                  <a:srgbClr val="059669"/>
                </a:solidFill>
                <a:latin typeface="Inter"/>
              </a:defRPr>
            </a:pPr>
            <a:r>
              <a:t>Logo Variation 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haayos_logo_3_20250904_014832_afa42372.png"/>
          <p:cNvPicPr>
            <a:picLocks noChangeAspect="1"/>
          </p:cNvPicPr>
          <p:nvPr/>
        </p:nvPicPr>
        <p:blipFill>
          <a:blip r:embed="rId2"/>
          <a:stretch>
            <a:fillRect/>
          </a:stretch>
        </p:blipFill>
        <p:spPr>
          <a:xfrm>
            <a:off x="1143000" y="1943100"/>
            <a:ext cx="3429000" cy="2971800"/>
          </a:xfrm>
          <a:prstGeom prst="rect">
            <a:avLst/>
          </a:prstGeom>
        </p:spPr>
      </p:pic>
      <p:sp>
        <p:nvSpPr>
          <p:cNvPr id="3" name="TextBox 2"/>
          <p:cNvSpPr txBox="1"/>
          <p:nvPr/>
        </p:nvSpPr>
        <p:spPr>
          <a:xfrm>
            <a:off x="5257800" y="1200150"/>
            <a:ext cx="3429000" cy="4457700"/>
          </a:xfrm>
          <a:prstGeom prst="rect">
            <a:avLst/>
          </a:prstGeom>
          <a:noFill/>
        </p:spPr>
        <p:txBody>
          <a:bodyPr wrap="square" lIns="0" rIns="0" tIns="0" bIns="0">
            <a:spAutoFit/>
          </a:bodyPr>
          <a:lstStyle/>
          <a:p>
            <a:pPr algn="l">
              <a:spcAft>
                <a:spcPts val="800"/>
              </a:spcAft>
              <a:defRPr sz="1600" b="0">
                <a:solidFill>
                  <a:srgbClr val="000000"/>
                </a:solidFill>
                <a:latin typeface="Source Sans Pro"/>
              </a:defRPr>
            </a:pPr>
            <a:r>
              <a:t>Ideal for small sizes, watermarks, and applications requiring simplified brand representation.</a:t>
            </a:r>
          </a:p>
        </p:txBody>
      </p:sp>
      <p:cxnSp>
        <p:nvCxnSpPr>
          <p:cNvPr id="4" name="Connector 3"/>
          <p:cNvCxnSpPr/>
          <p:nvPr/>
        </p:nvCxnSpPr>
        <p:spPr>
          <a:xfrm>
            <a:off x="457200" y="5286375.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00100" y="5560695"/>
            <a:ext cx="5486400" cy="731520"/>
          </a:xfrm>
          <a:prstGeom prst="rect">
            <a:avLst/>
          </a:prstGeom>
          <a:noFill/>
        </p:spPr>
        <p:txBody>
          <a:bodyPr wrap="none">
            <a:spAutoFit/>
          </a:bodyPr>
          <a:lstStyle/>
          <a:p>
            <a:pPr algn="l">
              <a:defRPr sz="2800" b="1">
                <a:solidFill>
                  <a:srgbClr val="059669"/>
                </a:solidFill>
                <a:latin typeface="Inter"/>
              </a:defRPr>
            </a:pPr>
            <a:r>
              <a:t>Logo Variation 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143000" y="1645920"/>
            <a:ext cx="1828800" cy="1371600"/>
          </a:xfrm>
          <a:prstGeom prst="rect">
            <a:avLst/>
          </a:prstGeom>
          <a:solidFill>
            <a:srgbClr val="059669"/>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54680" y="1645920"/>
            <a:ext cx="3017520" cy="1371600"/>
          </a:xfrm>
          <a:prstGeom prst="rect">
            <a:avLst/>
          </a:prstGeom>
          <a:noFill/>
        </p:spPr>
        <p:txBody>
          <a:bodyPr wrap="square" lIns="0" rIns="0" tIns="0" bIns="0">
            <a:spAutoFit/>
          </a:bodyPr>
          <a:lstStyle/>
          <a:p>
            <a:pPr algn="l">
              <a:spcAft>
                <a:spcPts val="300"/>
              </a:spcAft>
              <a:defRPr sz="1000" b="0">
                <a:solidFill>
                  <a:srgbClr val="000000"/>
                </a:solidFill>
                <a:latin typeface="Source Sans Pro"/>
              </a:defRPr>
            </a:pPr>
            <a:r>
              <a:t>Chaayos Green</a:t>
            </a:r>
          </a:p>
          <a:p>
            <a:pPr algn="l">
              <a:spcAft>
                <a:spcPts val="300"/>
              </a:spcAft>
              <a:defRPr sz="1000" b="0">
                <a:solidFill>
                  <a:srgbClr val="000000"/>
                </a:solidFill>
                <a:latin typeface="Source Sans Pro"/>
              </a:defRPr>
            </a:pPr>
            <a:r>
              <a:t>#059669</a:t>
            </a:r>
          </a:p>
          <a:p>
            <a:pPr algn="l">
              <a:spcAft>
                <a:spcPts val="300"/>
              </a:spcAft>
              <a:defRPr sz="1000" b="0">
                <a:solidFill>
                  <a:srgbClr val="000000"/>
                </a:solidFill>
                <a:latin typeface="Source Sans Pro"/>
              </a:defRPr>
            </a:pPr>
            <a:r>
              <a:t>RGB(5, 150, 105)</a:t>
            </a:r>
          </a:p>
          <a:p>
            <a:pPr algn="l">
              <a:spcAft>
                <a:spcPts val="300"/>
              </a:spcAft>
              <a:defRPr sz="1000" b="0">
                <a:solidFill>
                  <a:srgbClr val="000000"/>
                </a:solidFill>
                <a:latin typeface="Source Sans Pro"/>
              </a:defRPr>
            </a:pPr>
            <a:r>
              <a:t>CMYK(96, 0, 30, 41)</a:t>
            </a:r>
          </a:p>
          <a:p>
            <a:pPr algn="l">
              <a:spcAft>
                <a:spcPts val="300"/>
              </a:spcAft>
              <a:defRPr sz="1000" b="0">
                <a:solidFill>
                  <a:srgbClr val="000000"/>
                </a:solidFill>
                <a:latin typeface="Source Sans Pro"/>
              </a:defRPr>
            </a:pPr>
            <a:r>
              <a:t>Use Dark Text</a:t>
            </a:r>
          </a:p>
        </p:txBody>
      </p:sp>
      <p:sp>
        <p:nvSpPr>
          <p:cNvPr id="4" name="Rectangle 3"/>
          <p:cNvSpPr/>
          <p:nvPr/>
        </p:nvSpPr>
        <p:spPr>
          <a:xfrm>
            <a:off x="4572000" y="1645920"/>
            <a:ext cx="1828800" cy="1371600"/>
          </a:xfrm>
          <a:prstGeom prst="rect">
            <a:avLst/>
          </a:prstGeom>
          <a:solidFill>
            <a:srgbClr val="A63A50"/>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0" y="1645920"/>
            <a:ext cx="3017520" cy="1371600"/>
          </a:xfrm>
          <a:prstGeom prst="rect">
            <a:avLst/>
          </a:prstGeom>
          <a:noFill/>
        </p:spPr>
        <p:txBody>
          <a:bodyPr wrap="square" lIns="0" rIns="0" tIns="0" bIns="0">
            <a:spAutoFit/>
          </a:bodyPr>
          <a:lstStyle/>
          <a:p>
            <a:pPr algn="l">
              <a:spcAft>
                <a:spcPts val="300"/>
              </a:spcAft>
              <a:defRPr sz="1000" b="0">
                <a:solidFill>
                  <a:srgbClr val="000000"/>
                </a:solidFill>
                <a:latin typeface="Source Sans Pro"/>
              </a:defRPr>
            </a:pPr>
            <a:r>
              <a:t>Spiced Crimson</a:t>
            </a:r>
          </a:p>
          <a:p>
            <a:pPr algn="l">
              <a:spcAft>
                <a:spcPts val="300"/>
              </a:spcAft>
              <a:defRPr sz="1000" b="0">
                <a:solidFill>
                  <a:srgbClr val="000000"/>
                </a:solidFill>
                <a:latin typeface="Source Sans Pro"/>
              </a:defRPr>
            </a:pPr>
            <a:r>
              <a:t>#A63A50</a:t>
            </a:r>
          </a:p>
          <a:p>
            <a:pPr algn="l">
              <a:spcAft>
                <a:spcPts val="300"/>
              </a:spcAft>
              <a:defRPr sz="1000" b="0">
                <a:solidFill>
                  <a:srgbClr val="000000"/>
                </a:solidFill>
                <a:latin typeface="Source Sans Pro"/>
              </a:defRPr>
            </a:pPr>
            <a:r>
              <a:t>RGB(166, 58, 80)</a:t>
            </a:r>
          </a:p>
          <a:p>
            <a:pPr algn="l">
              <a:spcAft>
                <a:spcPts val="300"/>
              </a:spcAft>
              <a:defRPr sz="1000" b="0">
                <a:solidFill>
                  <a:srgbClr val="000000"/>
                </a:solidFill>
                <a:latin typeface="Source Sans Pro"/>
              </a:defRPr>
            </a:pPr>
            <a:r>
              <a:t>CMYK(0, 65, 51, 34)</a:t>
            </a:r>
          </a:p>
          <a:p>
            <a:pPr algn="l">
              <a:spcAft>
                <a:spcPts val="300"/>
              </a:spcAft>
              <a:defRPr sz="1000" b="0">
                <a:solidFill>
                  <a:srgbClr val="000000"/>
                </a:solidFill>
                <a:latin typeface="Source Sans Pro"/>
              </a:defRPr>
            </a:pPr>
            <a:r>
              <a:t>Use Light Text</a:t>
            </a:r>
          </a:p>
        </p:txBody>
      </p:sp>
      <p:sp>
        <p:nvSpPr>
          <p:cNvPr id="6" name="Rectangle 5"/>
          <p:cNvSpPr/>
          <p:nvPr/>
        </p:nvSpPr>
        <p:spPr>
          <a:xfrm>
            <a:off x="1143000" y="3726180"/>
            <a:ext cx="1828800" cy="1371600"/>
          </a:xfrm>
          <a:prstGeom prst="rect">
            <a:avLst/>
          </a:prstGeom>
          <a:solidFill>
            <a:srgbClr val="E8A628"/>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154680" y="3726180"/>
            <a:ext cx="3017520" cy="1371600"/>
          </a:xfrm>
          <a:prstGeom prst="rect">
            <a:avLst/>
          </a:prstGeom>
          <a:noFill/>
        </p:spPr>
        <p:txBody>
          <a:bodyPr wrap="square" lIns="0" rIns="0" tIns="0" bIns="0">
            <a:spAutoFit/>
          </a:bodyPr>
          <a:lstStyle/>
          <a:p>
            <a:pPr algn="l">
              <a:spcAft>
                <a:spcPts val="300"/>
              </a:spcAft>
              <a:defRPr sz="1000" b="0">
                <a:solidFill>
                  <a:srgbClr val="000000"/>
                </a:solidFill>
                <a:latin typeface="Source Sans Pro"/>
              </a:defRPr>
            </a:pPr>
            <a:r>
              <a:t>Golden Glow</a:t>
            </a:r>
          </a:p>
          <a:p>
            <a:pPr algn="l">
              <a:spcAft>
                <a:spcPts val="300"/>
              </a:spcAft>
              <a:defRPr sz="1000" b="0">
                <a:solidFill>
                  <a:srgbClr val="000000"/>
                </a:solidFill>
                <a:latin typeface="Source Sans Pro"/>
              </a:defRPr>
            </a:pPr>
            <a:r>
              <a:t>#E8A628</a:t>
            </a:r>
          </a:p>
          <a:p>
            <a:pPr algn="l">
              <a:spcAft>
                <a:spcPts val="300"/>
              </a:spcAft>
              <a:defRPr sz="1000" b="0">
                <a:solidFill>
                  <a:srgbClr val="000000"/>
                </a:solidFill>
                <a:latin typeface="Source Sans Pro"/>
              </a:defRPr>
            </a:pPr>
            <a:r>
              <a:t>RGB(232, 166, 40)</a:t>
            </a:r>
          </a:p>
          <a:p>
            <a:pPr algn="l">
              <a:spcAft>
                <a:spcPts val="300"/>
              </a:spcAft>
              <a:defRPr sz="1000" b="0">
                <a:solidFill>
                  <a:srgbClr val="000000"/>
                </a:solidFill>
                <a:latin typeface="Source Sans Pro"/>
              </a:defRPr>
            </a:pPr>
            <a:r>
              <a:t>CMYK(0, 28, 82, 9)</a:t>
            </a:r>
          </a:p>
          <a:p>
            <a:pPr algn="l">
              <a:spcAft>
                <a:spcPts val="300"/>
              </a:spcAft>
              <a:defRPr sz="1000" b="0">
                <a:solidFill>
                  <a:srgbClr val="000000"/>
                </a:solidFill>
                <a:latin typeface="Source Sans Pro"/>
              </a:defRPr>
            </a:pPr>
            <a:r>
              <a:t>Use Dark Text</a:t>
            </a:r>
          </a:p>
        </p:txBody>
      </p:sp>
      <p:sp>
        <p:nvSpPr>
          <p:cNvPr id="8" name="Rectangle 7"/>
          <p:cNvSpPr/>
          <p:nvPr/>
        </p:nvSpPr>
        <p:spPr>
          <a:xfrm>
            <a:off x="4572000" y="3726180"/>
            <a:ext cx="1828800" cy="1371600"/>
          </a:xfrm>
          <a:prstGeom prst="rect">
            <a:avLst/>
          </a:prstGeom>
          <a:solidFill>
            <a:srgbClr val="F2E9E4"/>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3726180"/>
            <a:ext cx="3017520" cy="1371600"/>
          </a:xfrm>
          <a:prstGeom prst="rect">
            <a:avLst/>
          </a:prstGeom>
          <a:noFill/>
        </p:spPr>
        <p:txBody>
          <a:bodyPr wrap="square" lIns="0" rIns="0" tIns="0" bIns="0">
            <a:spAutoFit/>
          </a:bodyPr>
          <a:lstStyle/>
          <a:p>
            <a:pPr algn="l">
              <a:spcAft>
                <a:spcPts val="300"/>
              </a:spcAft>
              <a:defRPr sz="1000" b="0">
                <a:solidFill>
                  <a:srgbClr val="000000"/>
                </a:solidFill>
                <a:latin typeface="Source Sans Pro"/>
              </a:defRPr>
            </a:pPr>
            <a:r>
              <a:t>Creamy Chai</a:t>
            </a:r>
          </a:p>
          <a:p>
            <a:pPr algn="l">
              <a:spcAft>
                <a:spcPts val="300"/>
              </a:spcAft>
              <a:defRPr sz="1000" b="0">
                <a:solidFill>
                  <a:srgbClr val="000000"/>
                </a:solidFill>
                <a:latin typeface="Source Sans Pro"/>
              </a:defRPr>
            </a:pPr>
            <a:r>
              <a:t>#F2E9E4</a:t>
            </a:r>
          </a:p>
          <a:p>
            <a:pPr algn="l">
              <a:spcAft>
                <a:spcPts val="300"/>
              </a:spcAft>
              <a:defRPr sz="1000" b="0">
                <a:solidFill>
                  <a:srgbClr val="000000"/>
                </a:solidFill>
                <a:latin typeface="Source Sans Pro"/>
              </a:defRPr>
            </a:pPr>
            <a:r>
              <a:t>RGB(242, 233, 228)</a:t>
            </a:r>
          </a:p>
          <a:p>
            <a:pPr algn="l">
              <a:spcAft>
                <a:spcPts val="300"/>
              </a:spcAft>
              <a:defRPr sz="1000" b="0">
                <a:solidFill>
                  <a:srgbClr val="000000"/>
                </a:solidFill>
                <a:latin typeface="Source Sans Pro"/>
              </a:defRPr>
            </a:pPr>
            <a:r>
              <a:t>CMYK(0, 3, 5, 5)</a:t>
            </a:r>
          </a:p>
          <a:p>
            <a:pPr algn="l">
              <a:spcAft>
                <a:spcPts val="300"/>
              </a:spcAft>
              <a:defRPr sz="1000" b="0">
                <a:solidFill>
                  <a:srgbClr val="000000"/>
                </a:solidFill>
                <a:latin typeface="Source Sans Pro"/>
              </a:defRPr>
            </a:pPr>
            <a:r>
              <a:t>Use Dark Text</a:t>
            </a:r>
          </a:p>
        </p:txBody>
      </p:sp>
      <p:cxnSp>
        <p:nvCxnSpPr>
          <p:cNvPr id="10" name="Connector 9"/>
          <p:cNvCxnSpPr/>
          <p:nvPr/>
        </p:nvCxnSpPr>
        <p:spPr>
          <a:xfrm>
            <a:off x="457200" y="5286375.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5560695"/>
            <a:ext cx="5486400" cy="731520"/>
          </a:xfrm>
          <a:prstGeom prst="rect">
            <a:avLst/>
          </a:prstGeom>
          <a:noFill/>
        </p:spPr>
        <p:txBody>
          <a:bodyPr wrap="none">
            <a:spAutoFit/>
          </a:bodyPr>
          <a:lstStyle/>
          <a:p>
            <a:pPr algn="l">
              <a:defRPr sz="2800" b="1">
                <a:solidFill>
                  <a:srgbClr val="059669"/>
                </a:solidFill>
                <a:latin typeface="Inter"/>
              </a:defRPr>
            </a:pPr>
            <a:r>
              <a:t>Primary Colors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143000" y="1571625"/>
            <a:ext cx="1828800" cy="914400"/>
          </a:xfrm>
          <a:prstGeom prst="rect">
            <a:avLst/>
          </a:prstGeom>
          <a:solidFill>
            <a:srgbClr val="7ED9B1"/>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2668905"/>
            <a:ext cx="1828800" cy="914400"/>
          </a:xfrm>
          <a:prstGeom prst="rect">
            <a:avLst/>
          </a:prstGeom>
          <a:noFill/>
        </p:spPr>
        <p:txBody>
          <a:bodyPr wrap="square" lIns="0" rIns="0" tIns="0" bIns="0">
            <a:spAutoFit/>
          </a:bodyPr>
          <a:lstStyle/>
          <a:p>
            <a:pPr algn="ctr">
              <a:spcAft>
                <a:spcPts val="300"/>
              </a:spcAft>
              <a:defRPr sz="1000" b="0">
                <a:solidFill>
                  <a:srgbClr val="000000"/>
                </a:solidFill>
                <a:latin typeface="Source Sans Pro"/>
              </a:defRPr>
            </a:pPr>
            <a:r>
              <a:t>Mint Green</a:t>
            </a:r>
          </a:p>
          <a:p>
            <a:pPr algn="ctr">
              <a:spcAft>
                <a:spcPts val="300"/>
              </a:spcAft>
              <a:defRPr sz="1000" b="0">
                <a:solidFill>
                  <a:srgbClr val="000000"/>
                </a:solidFill>
                <a:latin typeface="Source Sans Pro"/>
              </a:defRPr>
            </a:pPr>
            <a:r>
              <a:t>#7ED9B1</a:t>
            </a:r>
          </a:p>
          <a:p>
            <a:pPr algn="ctr">
              <a:spcAft>
                <a:spcPts val="300"/>
              </a:spcAft>
              <a:defRPr sz="1000" b="0">
                <a:solidFill>
                  <a:srgbClr val="000000"/>
                </a:solidFill>
                <a:latin typeface="Source Sans Pro"/>
              </a:defRPr>
            </a:pPr>
            <a:r>
              <a:t>Use Dark Text</a:t>
            </a:r>
          </a:p>
        </p:txBody>
      </p:sp>
      <p:sp>
        <p:nvSpPr>
          <p:cNvPr id="4" name="Rectangle 3"/>
          <p:cNvSpPr/>
          <p:nvPr/>
        </p:nvSpPr>
        <p:spPr>
          <a:xfrm>
            <a:off x="3200400" y="1571625"/>
            <a:ext cx="1828800" cy="914400"/>
          </a:xfrm>
          <a:prstGeom prst="rect">
            <a:avLst/>
          </a:prstGeom>
          <a:solidFill>
            <a:srgbClr val="8C2D3C"/>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0" y="2668905"/>
            <a:ext cx="1828800" cy="914400"/>
          </a:xfrm>
          <a:prstGeom prst="rect">
            <a:avLst/>
          </a:prstGeom>
          <a:noFill/>
        </p:spPr>
        <p:txBody>
          <a:bodyPr wrap="square" lIns="0" rIns="0" tIns="0" bIns="0">
            <a:spAutoFit/>
          </a:bodyPr>
          <a:lstStyle/>
          <a:p>
            <a:pPr algn="ctr">
              <a:spcAft>
                <a:spcPts val="300"/>
              </a:spcAft>
              <a:defRPr sz="1000" b="0">
                <a:solidFill>
                  <a:srgbClr val="000000"/>
                </a:solidFill>
                <a:latin typeface="Source Sans Pro"/>
              </a:defRPr>
            </a:pPr>
            <a:r>
              <a:t>Deep Coral</a:t>
            </a:r>
          </a:p>
          <a:p>
            <a:pPr algn="ctr">
              <a:spcAft>
                <a:spcPts val="300"/>
              </a:spcAft>
              <a:defRPr sz="1000" b="0">
                <a:solidFill>
                  <a:srgbClr val="000000"/>
                </a:solidFill>
                <a:latin typeface="Source Sans Pro"/>
              </a:defRPr>
            </a:pPr>
            <a:r>
              <a:t>#8C2D3C</a:t>
            </a:r>
          </a:p>
          <a:p>
            <a:pPr algn="ctr">
              <a:spcAft>
                <a:spcPts val="300"/>
              </a:spcAft>
              <a:defRPr sz="1000" b="0">
                <a:solidFill>
                  <a:srgbClr val="000000"/>
                </a:solidFill>
                <a:latin typeface="Source Sans Pro"/>
              </a:defRPr>
            </a:pPr>
            <a:r>
              <a:t>Use Light Text</a:t>
            </a:r>
          </a:p>
        </p:txBody>
      </p:sp>
      <p:sp>
        <p:nvSpPr>
          <p:cNvPr id="6" name="Rectangle 5"/>
          <p:cNvSpPr/>
          <p:nvPr/>
        </p:nvSpPr>
        <p:spPr>
          <a:xfrm>
            <a:off x="5257800" y="1571625"/>
            <a:ext cx="1828800" cy="914400"/>
          </a:xfrm>
          <a:prstGeom prst="rect">
            <a:avLst/>
          </a:prstGeom>
          <a:solidFill>
            <a:srgbClr val="D6A123"/>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257800" y="2668905"/>
            <a:ext cx="1828800" cy="914400"/>
          </a:xfrm>
          <a:prstGeom prst="rect">
            <a:avLst/>
          </a:prstGeom>
          <a:noFill/>
        </p:spPr>
        <p:txBody>
          <a:bodyPr wrap="square" lIns="0" rIns="0" tIns="0" bIns="0">
            <a:spAutoFit/>
          </a:bodyPr>
          <a:lstStyle/>
          <a:p>
            <a:pPr algn="ctr">
              <a:spcAft>
                <a:spcPts val="300"/>
              </a:spcAft>
              <a:defRPr sz="1000" b="0">
                <a:solidFill>
                  <a:srgbClr val="000000"/>
                </a:solidFill>
                <a:latin typeface="Source Sans Pro"/>
              </a:defRPr>
            </a:pPr>
            <a:r>
              <a:t>Goldenrod</a:t>
            </a:r>
          </a:p>
          <a:p>
            <a:pPr algn="ctr">
              <a:spcAft>
                <a:spcPts val="300"/>
              </a:spcAft>
              <a:defRPr sz="1000" b="0">
                <a:solidFill>
                  <a:srgbClr val="000000"/>
                </a:solidFill>
                <a:latin typeface="Source Sans Pro"/>
              </a:defRPr>
            </a:pPr>
            <a:r>
              <a:t>#D6A123</a:t>
            </a:r>
          </a:p>
          <a:p>
            <a:pPr algn="ctr">
              <a:spcAft>
                <a:spcPts val="300"/>
              </a:spcAft>
              <a:defRPr sz="1000" b="0">
                <a:solidFill>
                  <a:srgbClr val="000000"/>
                </a:solidFill>
                <a:latin typeface="Source Sans Pro"/>
              </a:defRPr>
            </a:pPr>
            <a:r>
              <a:t>Use Dark Text</a:t>
            </a:r>
          </a:p>
        </p:txBody>
      </p:sp>
      <p:sp>
        <p:nvSpPr>
          <p:cNvPr id="8" name="Rectangle 7"/>
          <p:cNvSpPr/>
          <p:nvPr/>
        </p:nvSpPr>
        <p:spPr>
          <a:xfrm>
            <a:off x="2171700" y="3429000"/>
            <a:ext cx="1828800" cy="914400"/>
          </a:xfrm>
          <a:prstGeom prst="rect">
            <a:avLst/>
          </a:prstGeom>
          <a:solidFill>
            <a:srgbClr val="B18FCF"/>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71700" y="4526280"/>
            <a:ext cx="1828800" cy="914400"/>
          </a:xfrm>
          <a:prstGeom prst="rect">
            <a:avLst/>
          </a:prstGeom>
          <a:noFill/>
        </p:spPr>
        <p:txBody>
          <a:bodyPr wrap="square" lIns="0" rIns="0" tIns="0" bIns="0">
            <a:spAutoFit/>
          </a:bodyPr>
          <a:lstStyle/>
          <a:p>
            <a:pPr algn="ctr">
              <a:spcAft>
                <a:spcPts val="300"/>
              </a:spcAft>
              <a:defRPr sz="1000" b="0">
                <a:solidFill>
                  <a:srgbClr val="000000"/>
                </a:solidFill>
                <a:latin typeface="Source Sans Pro"/>
              </a:defRPr>
            </a:pPr>
            <a:r>
              <a:t>Soft Lavender</a:t>
            </a:r>
          </a:p>
          <a:p>
            <a:pPr algn="ctr">
              <a:spcAft>
                <a:spcPts val="300"/>
              </a:spcAft>
              <a:defRPr sz="1000" b="0">
                <a:solidFill>
                  <a:srgbClr val="000000"/>
                </a:solidFill>
                <a:latin typeface="Source Sans Pro"/>
              </a:defRPr>
            </a:pPr>
            <a:r>
              <a:t>#B18FCF</a:t>
            </a:r>
          </a:p>
          <a:p>
            <a:pPr algn="ctr">
              <a:spcAft>
                <a:spcPts val="300"/>
              </a:spcAft>
              <a:defRPr sz="1000" b="0">
                <a:solidFill>
                  <a:srgbClr val="000000"/>
                </a:solidFill>
                <a:latin typeface="Source Sans Pro"/>
              </a:defRPr>
            </a:pPr>
            <a:r>
              <a:t>Use Dark Text</a:t>
            </a:r>
          </a:p>
        </p:txBody>
      </p:sp>
      <p:sp>
        <p:nvSpPr>
          <p:cNvPr id="10" name="Rectangle 9"/>
          <p:cNvSpPr/>
          <p:nvPr/>
        </p:nvSpPr>
        <p:spPr>
          <a:xfrm>
            <a:off x="4229100" y="3429000"/>
            <a:ext cx="1828800" cy="914400"/>
          </a:xfrm>
          <a:prstGeom prst="rect">
            <a:avLst/>
          </a:prstGeom>
          <a:solidFill>
            <a:srgbClr val="333333"/>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29100" y="4526280"/>
            <a:ext cx="1828800" cy="914400"/>
          </a:xfrm>
          <a:prstGeom prst="rect">
            <a:avLst/>
          </a:prstGeom>
          <a:noFill/>
        </p:spPr>
        <p:txBody>
          <a:bodyPr wrap="square" lIns="0" rIns="0" tIns="0" bIns="0">
            <a:spAutoFit/>
          </a:bodyPr>
          <a:lstStyle/>
          <a:p>
            <a:pPr algn="ctr">
              <a:spcAft>
                <a:spcPts val="300"/>
              </a:spcAft>
              <a:defRPr sz="1000" b="0">
                <a:solidFill>
                  <a:srgbClr val="000000"/>
                </a:solidFill>
                <a:latin typeface="Source Sans Pro"/>
              </a:defRPr>
            </a:pPr>
            <a:r>
              <a:t>Charcoal Gray</a:t>
            </a:r>
          </a:p>
          <a:p>
            <a:pPr algn="ctr">
              <a:spcAft>
                <a:spcPts val="300"/>
              </a:spcAft>
              <a:defRPr sz="1000" b="0">
                <a:solidFill>
                  <a:srgbClr val="000000"/>
                </a:solidFill>
                <a:latin typeface="Source Sans Pro"/>
              </a:defRPr>
            </a:pPr>
            <a:r>
              <a:t>#333333</a:t>
            </a:r>
          </a:p>
          <a:p>
            <a:pPr algn="ctr">
              <a:spcAft>
                <a:spcPts val="300"/>
              </a:spcAft>
              <a:defRPr sz="1000" b="0">
                <a:solidFill>
                  <a:srgbClr val="000000"/>
                </a:solidFill>
                <a:latin typeface="Source Sans Pro"/>
              </a:defRPr>
            </a:pPr>
            <a:r>
              <a:t>Use Light Text</a:t>
            </a:r>
          </a:p>
        </p:txBody>
      </p:sp>
      <p:cxnSp>
        <p:nvCxnSpPr>
          <p:cNvPr id="12" name="Connector 11"/>
          <p:cNvCxnSpPr/>
          <p:nvPr/>
        </p:nvCxnSpPr>
        <p:spPr>
          <a:xfrm>
            <a:off x="457200" y="5286375.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57200" y="5560695"/>
            <a:ext cx="5486400" cy="731520"/>
          </a:xfrm>
          <a:prstGeom prst="rect">
            <a:avLst/>
          </a:prstGeom>
          <a:noFill/>
        </p:spPr>
        <p:txBody>
          <a:bodyPr wrap="none">
            <a:spAutoFit/>
          </a:bodyPr>
          <a:lstStyle/>
          <a:p>
            <a:pPr algn="l">
              <a:defRPr sz="2800" b="1">
                <a:solidFill>
                  <a:srgbClr val="059669"/>
                </a:solidFill>
                <a:latin typeface="Inter"/>
              </a:defRPr>
            </a:pPr>
            <a:r>
              <a:t>Secondary Colors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3714750"/>
          </a:xfrm>
          <a:prstGeom prst="rect">
            <a:avLst/>
          </a:prstGeom>
          <a:noFill/>
        </p:spPr>
        <p:txBody>
          <a:bodyPr wrap="square" lIns="0" rIns="0" tIns="0" bIns="0">
            <a:spAutoFit/>
          </a:bodyPr>
          <a:lstStyle/>
          <a:p>
            <a:pPr algn="l">
              <a:spcAft>
                <a:spcPts val="600"/>
              </a:spcAft>
              <a:defRPr sz="1400" b="0">
                <a:solidFill>
                  <a:srgbClr val="000000"/>
                </a:solidFill>
                <a:latin typeface="Source Sans Pro"/>
              </a:defRPr>
            </a:pPr>
            <a:r>
              <a:t>Primary Color Usage</a:t>
            </a:r>
          </a:p>
          <a:p>
            <a:pPr algn="l">
              <a:spcAft>
                <a:spcPts val="600"/>
              </a:spcAft>
              <a:defRPr sz="1400" b="0">
                <a:solidFill>
                  <a:srgbClr val="000000"/>
                </a:solidFill>
                <a:latin typeface="Source Sans Pro"/>
              </a:defRPr>
            </a:pPr>
          </a:p>
          <a:p>
            <a:pPr algn="l">
              <a:spcAft>
                <a:spcPts val="600"/>
              </a:spcAft>
              <a:defRPr sz="1400" b="0">
                <a:solidFill>
                  <a:srgbClr val="000000"/>
                </a:solidFill>
                <a:latin typeface="Source Sans Pro"/>
              </a:defRPr>
            </a:pPr>
            <a:r>
              <a:t>Use for brand-critical elements:</a:t>
            </a:r>
          </a:p>
          <a:p>
            <a:pPr algn="l">
              <a:spcAft>
                <a:spcPts val="600"/>
              </a:spcAft>
              <a:defRPr sz="1400" b="0">
                <a:solidFill>
                  <a:srgbClr val="000000"/>
                </a:solidFill>
                <a:latin typeface="Source Sans Pro"/>
              </a:defRPr>
            </a:pPr>
            <a:r>
              <a:t>• Logos and main brand marks</a:t>
            </a:r>
          </a:p>
          <a:p>
            <a:pPr algn="l">
              <a:spcAft>
                <a:spcPts val="600"/>
              </a:spcAft>
              <a:defRPr sz="1400" b="0">
                <a:solidFill>
                  <a:srgbClr val="000000"/>
                </a:solidFill>
                <a:latin typeface="Source Sans Pro"/>
              </a:defRPr>
            </a:pPr>
            <a:r>
              <a:t>• Headlines and key text</a:t>
            </a:r>
          </a:p>
          <a:p>
            <a:pPr algn="l">
              <a:spcAft>
                <a:spcPts val="600"/>
              </a:spcAft>
              <a:defRPr sz="1400" b="0">
                <a:solidFill>
                  <a:srgbClr val="000000"/>
                </a:solidFill>
                <a:latin typeface="Source Sans Pro"/>
              </a:defRPr>
            </a:pPr>
            <a:r>
              <a:t>• CTA buttons and navigation</a:t>
            </a:r>
          </a:p>
          <a:p>
            <a:pPr algn="l">
              <a:spcAft>
                <a:spcPts val="600"/>
              </a:spcAft>
              <a:defRPr sz="1400" b="0">
                <a:solidFill>
                  <a:srgbClr val="000000"/>
                </a:solidFill>
                <a:latin typeface="Source Sans Pro"/>
              </a:defRPr>
            </a:pPr>
            <a:r>
              <a:t>• Hero sections</a:t>
            </a:r>
          </a:p>
          <a:p>
            <a:pPr algn="l">
              <a:spcAft>
                <a:spcPts val="600"/>
              </a:spcAft>
              <a:defRPr sz="1400" b="0">
                <a:solidFill>
                  <a:srgbClr val="000000"/>
                </a:solidFill>
                <a:latin typeface="Source Sans Pro"/>
              </a:defRPr>
            </a:pPr>
          </a:p>
          <a:p>
            <a:pPr algn="l">
              <a:spcAft>
                <a:spcPts val="600"/>
              </a:spcAft>
              <a:defRPr sz="1400" b="0">
                <a:solidFill>
                  <a:srgbClr val="000000"/>
                </a:solidFill>
                <a:latin typeface="Source Sans Pro"/>
              </a:defRPr>
            </a:pPr>
            <a:r>
              <a:t>Colors: Chaayos Green, Spiced Crimson, Golden Glow, Creamy Chai</a:t>
            </a:r>
          </a:p>
          <a:p>
            <a:pPr algn="l">
              <a:spcAft>
                <a:spcPts val="600"/>
              </a:spcAft>
              <a:defRPr sz="1400" b="0">
                <a:solidFill>
                  <a:srgbClr val="000000"/>
                </a:solidFill>
                <a:latin typeface="Source Sans Pro"/>
              </a:defRPr>
            </a:pPr>
          </a:p>
          <a:p>
            <a:pPr algn="l">
              <a:spcAft>
                <a:spcPts val="600"/>
              </a:spcAft>
              <a:defRPr sz="1400" b="0">
                <a:solidFill>
                  <a:srgbClr val="000000"/>
                </a:solidFill>
                <a:latin typeface="Source Sans Pro"/>
              </a:defRPr>
            </a:pPr>
            <a:r>
              <a:t>Best Practices:</a:t>
            </a:r>
          </a:p>
          <a:p>
            <a:pPr algn="l">
              <a:spcAft>
                <a:spcPts val="600"/>
              </a:spcAft>
              <a:defRPr sz="1400" b="0">
                <a:solidFill>
                  <a:srgbClr val="000000"/>
                </a:solidFill>
                <a:latin typeface="Source Sans Pro"/>
              </a:defRPr>
            </a:pPr>
            <a:r>
              <a:t>- Maximum brand recognition</a:t>
            </a:r>
          </a:p>
          <a:p>
            <a:pPr algn="l">
              <a:spcAft>
                <a:spcPts val="600"/>
              </a:spcAft>
              <a:defRPr sz="1400" b="0">
                <a:solidFill>
                  <a:srgbClr val="000000"/>
                </a:solidFill>
                <a:latin typeface="Source Sans Pro"/>
              </a:defRPr>
            </a:pPr>
            <a:r>
              <a:t>- Consistent application</a:t>
            </a:r>
          </a:p>
          <a:p>
            <a:pPr algn="l">
              <a:spcAft>
                <a:spcPts val="600"/>
              </a:spcAft>
              <a:defRPr sz="1400" b="0">
                <a:solidFill>
                  <a:srgbClr val="000000"/>
                </a:solidFill>
                <a:latin typeface="Source Sans Pro"/>
              </a:defRPr>
            </a:pPr>
            <a:r>
              <a:t>- Sufficient contrast</a:t>
            </a:r>
          </a:p>
          <a:p>
            <a:pPr algn="l">
              <a:spcAft>
                <a:spcPts val="600"/>
              </a:spcAft>
              <a:defRPr sz="1400" b="0">
                <a:solidFill>
                  <a:srgbClr val="000000"/>
                </a:solidFill>
                <a:latin typeface="Source Sans Pro"/>
              </a:defRPr>
            </a:pPr>
            <a:r>
              <a:t>- Accessibility compliance</a:t>
            </a:r>
          </a:p>
        </p:txBody>
      </p:sp>
      <p:cxnSp>
        <p:nvCxnSpPr>
          <p:cNvPr id="3" name="Connector 2"/>
          <p:cNvCxnSpPr/>
          <p:nvPr/>
        </p:nvCxnSpPr>
        <p:spPr>
          <a:xfrm>
            <a:off x="457200" y="5286375.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5560695"/>
            <a:ext cx="5486400" cy="731520"/>
          </a:xfrm>
          <a:prstGeom prst="rect">
            <a:avLst/>
          </a:prstGeom>
          <a:noFill/>
        </p:spPr>
        <p:txBody>
          <a:bodyPr wrap="none">
            <a:spAutoFit/>
          </a:bodyPr>
          <a:lstStyle/>
          <a:p>
            <a:pPr algn="l">
              <a:defRPr sz="2800" b="1">
                <a:solidFill>
                  <a:srgbClr val="059669"/>
                </a:solidFill>
                <a:latin typeface="Inter"/>
              </a:defRPr>
            </a:pPr>
            <a:r>
              <a:t>Color Usage 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3714750"/>
          </a:xfrm>
          <a:prstGeom prst="rect">
            <a:avLst/>
          </a:prstGeom>
          <a:noFill/>
        </p:spPr>
        <p:txBody>
          <a:bodyPr wrap="square" lIns="0" rIns="0" tIns="0" bIns="0">
            <a:spAutoFit/>
          </a:bodyPr>
          <a:lstStyle/>
          <a:p>
            <a:pPr algn="l">
              <a:spcAft>
                <a:spcPts val="600"/>
              </a:spcAft>
              <a:defRPr sz="1400" b="0">
                <a:solidFill>
                  <a:srgbClr val="000000"/>
                </a:solidFill>
                <a:latin typeface="Source Sans Pro"/>
              </a:defRPr>
            </a:pPr>
            <a:r>
              <a:t>Secondary Color Usage</a:t>
            </a:r>
          </a:p>
          <a:p>
            <a:pPr algn="l">
              <a:spcAft>
                <a:spcPts val="600"/>
              </a:spcAft>
              <a:defRPr sz="1400" b="0">
                <a:solidFill>
                  <a:srgbClr val="000000"/>
                </a:solidFill>
                <a:latin typeface="Source Sans Pro"/>
              </a:defRPr>
            </a:pPr>
          </a:p>
          <a:p>
            <a:pPr algn="l">
              <a:spcAft>
                <a:spcPts val="600"/>
              </a:spcAft>
              <a:defRPr sz="1400" b="0">
                <a:solidFill>
                  <a:srgbClr val="000000"/>
                </a:solidFill>
                <a:latin typeface="Source Sans Pro"/>
              </a:defRPr>
            </a:pPr>
            <a:r>
              <a:t>Use for supporting elements:</a:t>
            </a:r>
          </a:p>
          <a:p>
            <a:pPr algn="l">
              <a:spcAft>
                <a:spcPts val="600"/>
              </a:spcAft>
              <a:defRPr sz="1400" b="0">
                <a:solidFill>
                  <a:srgbClr val="000000"/>
                </a:solidFill>
                <a:latin typeface="Source Sans Pro"/>
              </a:defRPr>
            </a:pPr>
            <a:r>
              <a:t>• Backgrounds and subtle accents</a:t>
            </a:r>
          </a:p>
          <a:p>
            <a:pPr algn="l">
              <a:spcAft>
                <a:spcPts val="600"/>
              </a:spcAft>
              <a:defRPr sz="1400" b="0">
                <a:solidFill>
                  <a:srgbClr val="000000"/>
                </a:solidFill>
                <a:latin typeface="Source Sans Pro"/>
              </a:defRPr>
            </a:pPr>
            <a:r>
              <a:t>• Secondary text</a:t>
            </a:r>
          </a:p>
          <a:p>
            <a:pPr algn="l">
              <a:spcAft>
                <a:spcPts val="600"/>
              </a:spcAft>
              <a:defRPr sz="1400" b="0">
                <a:solidFill>
                  <a:srgbClr val="000000"/>
                </a:solidFill>
                <a:latin typeface="Source Sans Pro"/>
              </a:defRPr>
            </a:pPr>
            <a:r>
              <a:t>• Borders and dividers</a:t>
            </a:r>
          </a:p>
          <a:p>
            <a:pPr algn="l">
              <a:spcAft>
                <a:spcPts val="600"/>
              </a:spcAft>
              <a:defRPr sz="1400" b="0">
                <a:solidFill>
                  <a:srgbClr val="000000"/>
                </a:solidFill>
                <a:latin typeface="Source Sans Pro"/>
              </a:defRPr>
            </a:pPr>
            <a:r>
              <a:t>• Hover states and icons</a:t>
            </a:r>
          </a:p>
          <a:p>
            <a:pPr algn="l">
              <a:spcAft>
                <a:spcPts val="600"/>
              </a:spcAft>
              <a:defRPr sz="1400" b="0">
                <a:solidFill>
                  <a:srgbClr val="000000"/>
                </a:solidFill>
                <a:latin typeface="Source Sans Pro"/>
              </a:defRPr>
            </a:pPr>
          </a:p>
          <a:p>
            <a:pPr algn="l">
              <a:spcAft>
                <a:spcPts val="600"/>
              </a:spcAft>
              <a:defRPr sz="1400" b="0">
                <a:solidFill>
                  <a:srgbClr val="000000"/>
                </a:solidFill>
                <a:latin typeface="Source Sans Pro"/>
              </a:defRPr>
            </a:pPr>
            <a:r>
              <a:t>Colors: Mint Green, Deep Coral, Goldenrod, Soft Lavender, Charcoal Gray</a:t>
            </a:r>
          </a:p>
          <a:p>
            <a:pPr algn="l">
              <a:spcAft>
                <a:spcPts val="600"/>
              </a:spcAft>
              <a:defRPr sz="1400" b="0">
                <a:solidFill>
                  <a:srgbClr val="000000"/>
                </a:solidFill>
                <a:latin typeface="Source Sans Pro"/>
              </a:defRPr>
            </a:pPr>
          </a:p>
          <a:p>
            <a:pPr algn="l">
              <a:spcAft>
                <a:spcPts val="600"/>
              </a:spcAft>
              <a:defRPr sz="1400" b="0">
                <a:solidFill>
                  <a:srgbClr val="000000"/>
                </a:solidFill>
                <a:latin typeface="Source Sans Pro"/>
              </a:defRPr>
            </a:pPr>
            <a:r>
              <a:t>Best Practices:</a:t>
            </a:r>
          </a:p>
          <a:p>
            <a:pPr algn="l">
              <a:spcAft>
                <a:spcPts val="600"/>
              </a:spcAft>
              <a:defRPr sz="1400" b="0">
                <a:solidFill>
                  <a:srgbClr val="000000"/>
                </a:solidFill>
                <a:latin typeface="Source Sans Pro"/>
              </a:defRPr>
            </a:pPr>
            <a:r>
              <a:t>- Create visual hierarchy</a:t>
            </a:r>
          </a:p>
          <a:p>
            <a:pPr algn="l">
              <a:spcAft>
                <a:spcPts val="600"/>
              </a:spcAft>
              <a:defRPr sz="1400" b="0">
                <a:solidFill>
                  <a:srgbClr val="000000"/>
                </a:solidFill>
                <a:latin typeface="Source Sans Pro"/>
              </a:defRPr>
            </a:pPr>
            <a:r>
              <a:t>- Support, don't compete</a:t>
            </a:r>
          </a:p>
          <a:p>
            <a:pPr algn="l">
              <a:spcAft>
                <a:spcPts val="600"/>
              </a:spcAft>
              <a:defRPr sz="1400" b="0">
                <a:solidFill>
                  <a:srgbClr val="000000"/>
                </a:solidFill>
                <a:latin typeface="Source Sans Pro"/>
              </a:defRPr>
            </a:pPr>
            <a:r>
              <a:t>- Maintain readability</a:t>
            </a:r>
          </a:p>
          <a:p>
            <a:pPr algn="l">
              <a:spcAft>
                <a:spcPts val="600"/>
              </a:spcAft>
              <a:defRPr sz="1400" b="0">
                <a:solidFill>
                  <a:srgbClr val="000000"/>
                </a:solidFill>
                <a:latin typeface="Source Sans Pro"/>
              </a:defRPr>
            </a:pPr>
            <a:r>
              <a:t>- Use sparingly</a:t>
            </a:r>
          </a:p>
        </p:txBody>
      </p:sp>
      <p:cxnSp>
        <p:nvCxnSpPr>
          <p:cNvPr id="3" name="Connector 2"/>
          <p:cNvCxnSpPr/>
          <p:nvPr/>
        </p:nvCxnSpPr>
        <p:spPr>
          <a:xfrm>
            <a:off x="457200" y="5286375.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5560695"/>
            <a:ext cx="5486400" cy="731520"/>
          </a:xfrm>
          <a:prstGeom prst="rect">
            <a:avLst/>
          </a:prstGeom>
          <a:noFill/>
        </p:spPr>
        <p:txBody>
          <a:bodyPr wrap="none">
            <a:spAutoFit/>
          </a:bodyPr>
          <a:lstStyle/>
          <a:p>
            <a:pPr algn="l">
              <a:defRPr sz="2800" b="1">
                <a:solidFill>
                  <a:srgbClr val="059669"/>
                </a:solidFill>
                <a:latin typeface="Inter"/>
              </a:defRPr>
            </a:pPr>
            <a:r>
              <a:t>Color Usage 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Source Sans Pro"/>
              </a:defRPr>
            </a:pPr>
            <a:r>
              <a:t>Primary Font: Inter</a:t>
            </a:r>
          </a:p>
          <a:p>
            <a:pPr algn="l">
              <a:spcAft>
                <a:spcPts val="800"/>
              </a:spcAft>
              <a:defRPr sz="2000" b="0">
                <a:solidFill>
                  <a:srgbClr val="000000"/>
                </a:solidFill>
                <a:latin typeface="Source Sans Pro"/>
              </a:defRPr>
            </a:pPr>
          </a:p>
          <a:p>
            <a:pPr algn="l">
              <a:spcAft>
                <a:spcPts val="800"/>
              </a:spcAft>
              <a:defRPr sz="2000" b="0">
                <a:solidFill>
                  <a:srgbClr val="000000"/>
                </a:solidFill>
                <a:latin typeface="Source Sans Pro"/>
              </a:defRPr>
            </a:pPr>
            <a:r>
              <a:t>Secondary Font: Source Sans Pro</a:t>
            </a:r>
          </a:p>
          <a:p>
            <a:pPr algn="l">
              <a:spcAft>
                <a:spcPts val="800"/>
              </a:spcAft>
              <a:defRPr sz="2000" b="0">
                <a:solidFill>
                  <a:srgbClr val="000000"/>
                </a:solidFill>
                <a:latin typeface="Source Sans Pro"/>
              </a:defRPr>
            </a:pPr>
          </a:p>
          <a:p>
            <a:pPr algn="l">
              <a:spcAft>
                <a:spcPts val="800"/>
              </a:spcAft>
              <a:defRPr sz="2000" b="0">
                <a:solidFill>
                  <a:srgbClr val="000000"/>
                </a:solidFill>
                <a:latin typeface="Source Sans Pro"/>
              </a:defRPr>
            </a:pPr>
            <a:r>
              <a:t>Font Hierarchy:</a:t>
            </a:r>
          </a:p>
          <a:p>
            <a:pPr algn="l">
              <a:spcAft>
                <a:spcPts val="800"/>
              </a:spcAft>
              <a:defRPr sz="2000" b="0">
                <a:solidFill>
                  <a:srgbClr val="000000"/>
                </a:solidFill>
                <a:latin typeface="Source Sans Pro"/>
              </a:defRPr>
            </a:pPr>
            <a:r>
              <a:t>• Headlines: Inter - Bold, 28-32pt</a:t>
            </a:r>
          </a:p>
          <a:p>
            <a:pPr algn="l">
              <a:spcAft>
                <a:spcPts val="800"/>
              </a:spcAft>
              <a:defRPr sz="2000" b="0">
                <a:solidFill>
                  <a:srgbClr val="000000"/>
                </a:solidFill>
                <a:latin typeface="Source Sans Pro"/>
              </a:defRPr>
            </a:pPr>
            <a:r>
              <a:t>• Subheadlines: Inter - Bold, 20-24pt</a:t>
            </a:r>
          </a:p>
          <a:p>
            <a:pPr algn="l">
              <a:spcAft>
                <a:spcPts val="800"/>
              </a:spcAft>
              <a:defRPr sz="2000" b="0">
                <a:solidFill>
                  <a:srgbClr val="000000"/>
                </a:solidFill>
                <a:latin typeface="Source Sans Pro"/>
              </a:defRPr>
            </a:pPr>
            <a:r>
              <a:t>• Body Text: Source Sans Pro - Regular, 16-18pt</a:t>
            </a:r>
          </a:p>
          <a:p>
            <a:pPr algn="l">
              <a:spcAft>
                <a:spcPts val="800"/>
              </a:spcAft>
              <a:defRPr sz="2000" b="0">
                <a:solidFill>
                  <a:srgbClr val="000000"/>
                </a:solidFill>
                <a:latin typeface="Source Sans Pro"/>
              </a:defRPr>
            </a:pPr>
            <a:r>
              <a:t>• Caption Text: Source Sans Pro - Regular, 12-14pt</a:t>
            </a:r>
          </a:p>
        </p:txBody>
      </p:sp>
      <p:cxnSp>
        <p:nvCxnSpPr>
          <p:cNvPr id="3" name="Connector 2"/>
          <p:cNvCxnSpPr/>
          <p:nvPr/>
        </p:nvCxnSpPr>
        <p:spPr>
          <a:xfrm>
            <a:off x="457200" y="4914900.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3657600" cy="731520"/>
          </a:xfrm>
          <a:prstGeom prst="rect">
            <a:avLst/>
          </a:prstGeom>
          <a:noFill/>
        </p:spPr>
        <p:txBody>
          <a:bodyPr wrap="none">
            <a:spAutoFit/>
          </a:bodyPr>
          <a:lstStyle/>
          <a:p>
            <a:pPr algn="l">
              <a:defRPr sz="2800" b="1">
                <a:solidFill>
                  <a:srgbClr val="059669"/>
                </a:solidFill>
                <a:latin typeface="Inter"/>
              </a:defRPr>
            </a:pPr>
            <a:r>
              <a:t>TYPOGRAPHY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742950"/>
          </a:xfrm>
          <a:prstGeom prst="rect">
            <a:avLst/>
          </a:prstGeom>
          <a:noFill/>
        </p:spPr>
        <p:txBody>
          <a:bodyPr wrap="square" lIns="0" rIns="0" tIns="0" bIns="0">
            <a:spAutoFit/>
          </a:bodyPr>
          <a:lstStyle/>
          <a:p>
            <a:pPr algn="l">
              <a:spcAft>
                <a:spcPts val="800"/>
              </a:spcAft>
              <a:defRPr sz="2000" b="0">
                <a:solidFill>
                  <a:srgbClr val="000000"/>
                </a:solidFill>
                <a:latin typeface="Source Sans Pro"/>
              </a:defRPr>
            </a:pPr>
            <a:r>
              <a:t>Chaayos - Core Functional Icons</a:t>
            </a:r>
          </a:p>
        </p:txBody>
      </p:sp>
      <p:pic>
        <p:nvPicPr>
          <p:cNvPr id="3" name="Picture 2" descr="mdi_home_059669.png"/>
          <p:cNvPicPr>
            <a:picLocks noChangeAspect="1"/>
          </p:cNvPicPr>
          <p:nvPr/>
        </p:nvPicPr>
        <p:blipFill>
          <a:blip r:embed="rId2"/>
          <a:stretch>
            <a:fillRect/>
          </a:stretch>
        </p:blipFill>
        <p:spPr>
          <a:xfrm>
            <a:off x="722376" y="1645920"/>
            <a:ext cx="822960" cy="822960"/>
          </a:xfrm>
          <a:prstGeom prst="rect">
            <a:avLst/>
          </a:prstGeom>
        </p:spPr>
      </p:pic>
      <p:pic>
        <p:nvPicPr>
          <p:cNvPr id="4" name="Picture 3" descr="mdi_account_059669.png"/>
          <p:cNvPicPr>
            <a:picLocks noChangeAspect="1"/>
          </p:cNvPicPr>
          <p:nvPr/>
        </p:nvPicPr>
        <p:blipFill>
          <a:blip r:embed="rId3"/>
          <a:stretch>
            <a:fillRect/>
          </a:stretch>
        </p:blipFill>
        <p:spPr>
          <a:xfrm>
            <a:off x="2441448" y="1645920"/>
            <a:ext cx="822960" cy="822960"/>
          </a:xfrm>
          <a:prstGeom prst="rect">
            <a:avLst/>
          </a:prstGeom>
        </p:spPr>
      </p:pic>
      <p:pic>
        <p:nvPicPr>
          <p:cNvPr id="5" name="Picture 4" descr="mdi_cog_059669.png"/>
          <p:cNvPicPr>
            <a:picLocks noChangeAspect="1"/>
          </p:cNvPicPr>
          <p:nvPr/>
        </p:nvPicPr>
        <p:blipFill>
          <a:blip r:embed="rId4"/>
          <a:stretch>
            <a:fillRect/>
          </a:stretch>
        </p:blipFill>
        <p:spPr>
          <a:xfrm>
            <a:off x="4160520" y="1645920"/>
            <a:ext cx="822960" cy="822960"/>
          </a:xfrm>
          <a:prstGeom prst="rect">
            <a:avLst/>
          </a:prstGeom>
        </p:spPr>
      </p:pic>
      <p:pic>
        <p:nvPicPr>
          <p:cNvPr id="6" name="Picture 5" descr="mdi_briefcase_059669.png"/>
          <p:cNvPicPr>
            <a:picLocks noChangeAspect="1"/>
          </p:cNvPicPr>
          <p:nvPr/>
        </p:nvPicPr>
        <p:blipFill>
          <a:blip r:embed="rId5"/>
          <a:stretch>
            <a:fillRect/>
          </a:stretch>
        </p:blipFill>
        <p:spPr>
          <a:xfrm>
            <a:off x="5879592" y="1645920"/>
            <a:ext cx="822960" cy="822960"/>
          </a:xfrm>
          <a:prstGeom prst="rect">
            <a:avLst/>
          </a:prstGeom>
        </p:spPr>
      </p:pic>
      <p:pic>
        <p:nvPicPr>
          <p:cNvPr id="7" name="Picture 6" descr="mdi_office-building_059669.png"/>
          <p:cNvPicPr>
            <a:picLocks noChangeAspect="1"/>
          </p:cNvPicPr>
          <p:nvPr/>
        </p:nvPicPr>
        <p:blipFill>
          <a:blip r:embed="rId6"/>
          <a:stretch>
            <a:fillRect/>
          </a:stretch>
        </p:blipFill>
        <p:spPr>
          <a:xfrm>
            <a:off x="7598664" y="1645920"/>
            <a:ext cx="822960" cy="822960"/>
          </a:xfrm>
          <a:prstGeom prst="rect">
            <a:avLst/>
          </a:prstGeom>
        </p:spPr>
      </p:pic>
      <p:pic>
        <p:nvPicPr>
          <p:cNvPr id="8" name="Picture 7" descr="mdi_handshake_059669.png"/>
          <p:cNvPicPr>
            <a:picLocks noChangeAspect="1"/>
          </p:cNvPicPr>
          <p:nvPr/>
        </p:nvPicPr>
        <p:blipFill>
          <a:blip r:embed="rId7"/>
          <a:stretch>
            <a:fillRect/>
          </a:stretch>
        </p:blipFill>
        <p:spPr>
          <a:xfrm>
            <a:off x="722376" y="2743200"/>
            <a:ext cx="822960" cy="822960"/>
          </a:xfrm>
          <a:prstGeom prst="rect">
            <a:avLst/>
          </a:prstGeom>
        </p:spPr>
      </p:pic>
      <p:pic>
        <p:nvPicPr>
          <p:cNvPr id="9" name="Picture 8" descr="mdi_chart-line_059669.png"/>
          <p:cNvPicPr>
            <a:picLocks noChangeAspect="1"/>
          </p:cNvPicPr>
          <p:nvPr/>
        </p:nvPicPr>
        <p:blipFill>
          <a:blip r:embed="rId8"/>
          <a:stretch>
            <a:fillRect/>
          </a:stretch>
        </p:blipFill>
        <p:spPr>
          <a:xfrm>
            <a:off x="2441448" y="2743200"/>
            <a:ext cx="822960" cy="822960"/>
          </a:xfrm>
          <a:prstGeom prst="rect">
            <a:avLst/>
          </a:prstGeom>
        </p:spPr>
      </p:pic>
      <p:pic>
        <p:nvPicPr>
          <p:cNvPr id="10" name="Picture 9" descr="mdi_presentation_059669.png"/>
          <p:cNvPicPr>
            <a:picLocks noChangeAspect="1"/>
          </p:cNvPicPr>
          <p:nvPr/>
        </p:nvPicPr>
        <p:blipFill>
          <a:blip r:embed="rId9"/>
          <a:stretch>
            <a:fillRect/>
          </a:stretch>
        </p:blipFill>
        <p:spPr>
          <a:xfrm>
            <a:off x="4160520" y="2743200"/>
            <a:ext cx="822960" cy="822960"/>
          </a:xfrm>
          <a:prstGeom prst="rect">
            <a:avLst/>
          </a:prstGeom>
        </p:spPr>
      </p:pic>
      <p:pic>
        <p:nvPicPr>
          <p:cNvPr id="11" name="Picture 10" descr="mdi_calendar_059669.png"/>
          <p:cNvPicPr>
            <a:picLocks noChangeAspect="1"/>
          </p:cNvPicPr>
          <p:nvPr/>
        </p:nvPicPr>
        <p:blipFill>
          <a:blip r:embed="rId10"/>
          <a:stretch>
            <a:fillRect/>
          </a:stretch>
        </p:blipFill>
        <p:spPr>
          <a:xfrm>
            <a:off x="5879592" y="2743200"/>
            <a:ext cx="822960" cy="822960"/>
          </a:xfrm>
          <a:prstGeom prst="rect">
            <a:avLst/>
          </a:prstGeom>
        </p:spPr>
      </p:pic>
      <p:pic>
        <p:nvPicPr>
          <p:cNvPr id="12" name="Picture 11" descr="mdi_email_059669.png"/>
          <p:cNvPicPr>
            <a:picLocks noChangeAspect="1"/>
          </p:cNvPicPr>
          <p:nvPr/>
        </p:nvPicPr>
        <p:blipFill>
          <a:blip r:embed="rId11"/>
          <a:stretch>
            <a:fillRect/>
          </a:stretch>
        </p:blipFill>
        <p:spPr>
          <a:xfrm>
            <a:off x="7598664" y="2743200"/>
            <a:ext cx="822960" cy="822960"/>
          </a:xfrm>
          <a:prstGeom prst="rect">
            <a:avLst/>
          </a:prstGeom>
        </p:spPr>
      </p:pic>
      <p:pic>
        <p:nvPicPr>
          <p:cNvPr id="13" name="Picture 12" descr="mdi_lightbulb_059669.png"/>
          <p:cNvPicPr>
            <a:picLocks noChangeAspect="1"/>
          </p:cNvPicPr>
          <p:nvPr/>
        </p:nvPicPr>
        <p:blipFill>
          <a:blip r:embed="rId12"/>
          <a:stretch>
            <a:fillRect/>
          </a:stretch>
        </p:blipFill>
        <p:spPr>
          <a:xfrm>
            <a:off x="722376" y="3840480"/>
            <a:ext cx="822960" cy="822960"/>
          </a:xfrm>
          <a:prstGeom prst="rect">
            <a:avLst/>
          </a:prstGeom>
        </p:spPr>
      </p:pic>
      <p:pic>
        <p:nvPicPr>
          <p:cNvPr id="14" name="Picture 13" descr="mdi_rocket_059669.png"/>
          <p:cNvPicPr>
            <a:picLocks noChangeAspect="1"/>
          </p:cNvPicPr>
          <p:nvPr/>
        </p:nvPicPr>
        <p:blipFill>
          <a:blip r:embed="rId13"/>
          <a:stretch>
            <a:fillRect/>
          </a:stretch>
        </p:blipFill>
        <p:spPr>
          <a:xfrm>
            <a:off x="2441448" y="3840480"/>
            <a:ext cx="822960" cy="822960"/>
          </a:xfrm>
          <a:prstGeom prst="rect">
            <a:avLst/>
          </a:prstGeom>
        </p:spPr>
      </p:pic>
      <p:pic>
        <p:nvPicPr>
          <p:cNvPr id="15" name="Picture 14" descr="mdi_account-group_059669.png"/>
          <p:cNvPicPr>
            <a:picLocks noChangeAspect="1"/>
          </p:cNvPicPr>
          <p:nvPr/>
        </p:nvPicPr>
        <p:blipFill>
          <a:blip r:embed="rId14"/>
          <a:stretch>
            <a:fillRect/>
          </a:stretch>
        </p:blipFill>
        <p:spPr>
          <a:xfrm>
            <a:off x="4160520" y="3840480"/>
            <a:ext cx="822960" cy="822960"/>
          </a:xfrm>
          <a:prstGeom prst="rect">
            <a:avLst/>
          </a:prstGeom>
        </p:spPr>
      </p:pic>
      <p:pic>
        <p:nvPicPr>
          <p:cNvPr id="16" name="Picture 15" descr="mdi_star_059669.png"/>
          <p:cNvPicPr>
            <a:picLocks noChangeAspect="1"/>
          </p:cNvPicPr>
          <p:nvPr/>
        </p:nvPicPr>
        <p:blipFill>
          <a:blip r:embed="rId15"/>
          <a:stretch>
            <a:fillRect/>
          </a:stretch>
        </p:blipFill>
        <p:spPr>
          <a:xfrm>
            <a:off x="5879592" y="3840480"/>
            <a:ext cx="822960" cy="822960"/>
          </a:xfrm>
          <a:prstGeom prst="rect">
            <a:avLst/>
          </a:prstGeom>
        </p:spPr>
      </p:pic>
      <p:cxnSp>
        <p:nvCxnSpPr>
          <p:cNvPr id="17" name="Connector 16"/>
          <p:cNvCxnSpPr/>
          <p:nvPr/>
        </p:nvCxnSpPr>
        <p:spPr>
          <a:xfrm>
            <a:off x="457200" y="5286375.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00100" y="5560695"/>
            <a:ext cx="3657600" cy="731520"/>
          </a:xfrm>
          <a:prstGeom prst="rect">
            <a:avLst/>
          </a:prstGeom>
          <a:noFill/>
        </p:spPr>
        <p:txBody>
          <a:bodyPr wrap="none">
            <a:spAutoFit/>
          </a:bodyPr>
          <a:lstStyle/>
          <a:p>
            <a:pPr algn="l">
              <a:defRPr sz="2800" b="1">
                <a:solidFill>
                  <a:srgbClr val="059669"/>
                </a:solidFill>
                <a:latin typeface="Inter"/>
              </a:defRPr>
            </a:pPr>
            <a:r>
              <a:t>ICONOGRAPHY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742950"/>
          </a:xfrm>
          <a:prstGeom prst="rect">
            <a:avLst/>
          </a:prstGeom>
          <a:noFill/>
        </p:spPr>
        <p:txBody>
          <a:bodyPr wrap="square" lIns="0" rIns="0" tIns="0" bIns="0">
            <a:spAutoFit/>
          </a:bodyPr>
          <a:lstStyle/>
          <a:p>
            <a:pPr algn="l">
              <a:spcAft>
                <a:spcPts val="800"/>
              </a:spcAft>
              <a:defRPr sz="2000" b="0">
                <a:solidFill>
                  <a:srgbClr val="000000"/>
                </a:solidFill>
                <a:latin typeface="Source Sans Pro"/>
              </a:defRPr>
            </a:pPr>
            <a:r>
              <a:t>Chaayos - Food &amp; Beverage (Tea Cafés, Quick-Service Restaurants) Industry Icons</a:t>
            </a:r>
          </a:p>
        </p:txBody>
      </p:sp>
      <p:pic>
        <p:nvPicPr>
          <p:cNvPr id="3" name="Picture 2" descr="mdi_linkedin_059669.png"/>
          <p:cNvPicPr>
            <a:picLocks noChangeAspect="1"/>
          </p:cNvPicPr>
          <p:nvPr/>
        </p:nvPicPr>
        <p:blipFill>
          <a:blip r:embed="rId2"/>
          <a:stretch>
            <a:fillRect/>
          </a:stretch>
        </p:blipFill>
        <p:spPr>
          <a:xfrm>
            <a:off x="722376" y="1645920"/>
            <a:ext cx="822960" cy="822960"/>
          </a:xfrm>
          <a:prstGeom prst="rect">
            <a:avLst/>
          </a:prstGeom>
        </p:spPr>
      </p:pic>
      <p:pic>
        <p:nvPicPr>
          <p:cNvPr id="4" name="Picture 3" descr="mdi_microsoft_059669.png"/>
          <p:cNvPicPr>
            <a:picLocks noChangeAspect="1"/>
          </p:cNvPicPr>
          <p:nvPr/>
        </p:nvPicPr>
        <p:blipFill>
          <a:blip r:embed="rId3"/>
          <a:stretch>
            <a:fillRect/>
          </a:stretch>
        </p:blipFill>
        <p:spPr>
          <a:xfrm>
            <a:off x="2441448" y="1645920"/>
            <a:ext cx="822960" cy="822960"/>
          </a:xfrm>
          <a:prstGeom prst="rect">
            <a:avLst/>
          </a:prstGeom>
        </p:spPr>
      </p:pic>
      <p:pic>
        <p:nvPicPr>
          <p:cNvPr id="5" name="Picture 4" descr="mdi_google_059669.png"/>
          <p:cNvPicPr>
            <a:picLocks noChangeAspect="1"/>
          </p:cNvPicPr>
          <p:nvPr/>
        </p:nvPicPr>
        <p:blipFill>
          <a:blip r:embed="rId4"/>
          <a:stretch>
            <a:fillRect/>
          </a:stretch>
        </p:blipFill>
        <p:spPr>
          <a:xfrm>
            <a:off x="4160520" y="1645920"/>
            <a:ext cx="822960" cy="822960"/>
          </a:xfrm>
          <a:prstGeom prst="rect">
            <a:avLst/>
          </a:prstGeom>
        </p:spPr>
      </p:pic>
      <p:pic>
        <p:nvPicPr>
          <p:cNvPr id="6" name="Picture 5" descr="mdi_slack_059669.png"/>
          <p:cNvPicPr>
            <a:picLocks noChangeAspect="1"/>
          </p:cNvPicPr>
          <p:nvPr/>
        </p:nvPicPr>
        <p:blipFill>
          <a:blip r:embed="rId5"/>
          <a:stretch>
            <a:fillRect/>
          </a:stretch>
        </p:blipFill>
        <p:spPr>
          <a:xfrm>
            <a:off x="5879592" y="1645920"/>
            <a:ext cx="822960" cy="822960"/>
          </a:xfrm>
          <a:prstGeom prst="rect">
            <a:avLst/>
          </a:prstGeom>
        </p:spPr>
      </p:pic>
      <p:pic>
        <p:nvPicPr>
          <p:cNvPr id="7" name="Picture 6" descr="mdi_dropbox_059669.png"/>
          <p:cNvPicPr>
            <a:picLocks noChangeAspect="1"/>
          </p:cNvPicPr>
          <p:nvPr/>
        </p:nvPicPr>
        <p:blipFill>
          <a:blip r:embed="rId6"/>
          <a:stretch>
            <a:fillRect/>
          </a:stretch>
        </p:blipFill>
        <p:spPr>
          <a:xfrm>
            <a:off x="7598664" y="1645920"/>
            <a:ext cx="822960" cy="822960"/>
          </a:xfrm>
          <a:prstGeom prst="rect">
            <a:avLst/>
          </a:prstGeom>
        </p:spPr>
      </p:pic>
      <p:pic>
        <p:nvPicPr>
          <p:cNvPr id="8" name="Picture 7" descr="mdi_onedrive_059669.png"/>
          <p:cNvPicPr>
            <a:picLocks noChangeAspect="1"/>
          </p:cNvPicPr>
          <p:nvPr/>
        </p:nvPicPr>
        <p:blipFill>
          <a:blip r:embed="rId7"/>
          <a:stretch>
            <a:fillRect/>
          </a:stretch>
        </p:blipFill>
        <p:spPr>
          <a:xfrm>
            <a:off x="722376" y="2743200"/>
            <a:ext cx="822960" cy="822960"/>
          </a:xfrm>
          <a:prstGeom prst="rect">
            <a:avLst/>
          </a:prstGeom>
        </p:spPr>
      </p:pic>
      <p:pic>
        <p:nvPicPr>
          <p:cNvPr id="9" name="Picture 8" descr="mdi_facebook_059669.png"/>
          <p:cNvPicPr>
            <a:picLocks noChangeAspect="1"/>
          </p:cNvPicPr>
          <p:nvPr/>
        </p:nvPicPr>
        <p:blipFill>
          <a:blip r:embed="rId8"/>
          <a:stretch>
            <a:fillRect/>
          </a:stretch>
        </p:blipFill>
        <p:spPr>
          <a:xfrm>
            <a:off x="2441448" y="2743200"/>
            <a:ext cx="822960" cy="822960"/>
          </a:xfrm>
          <a:prstGeom prst="rect">
            <a:avLst/>
          </a:prstGeom>
        </p:spPr>
      </p:pic>
      <p:pic>
        <p:nvPicPr>
          <p:cNvPr id="10" name="Picture 9" descr="mdi_twitter_059669.png"/>
          <p:cNvPicPr>
            <a:picLocks noChangeAspect="1"/>
          </p:cNvPicPr>
          <p:nvPr/>
        </p:nvPicPr>
        <p:blipFill>
          <a:blip r:embed="rId9"/>
          <a:stretch>
            <a:fillRect/>
          </a:stretch>
        </p:blipFill>
        <p:spPr>
          <a:xfrm>
            <a:off x="4160520" y="2743200"/>
            <a:ext cx="822960" cy="822960"/>
          </a:xfrm>
          <a:prstGeom prst="rect">
            <a:avLst/>
          </a:prstGeom>
        </p:spPr>
      </p:pic>
      <p:pic>
        <p:nvPicPr>
          <p:cNvPr id="11" name="Picture 10" descr="mdi_lightbulb_059669.png"/>
          <p:cNvPicPr>
            <a:picLocks noChangeAspect="1"/>
          </p:cNvPicPr>
          <p:nvPr/>
        </p:nvPicPr>
        <p:blipFill>
          <a:blip r:embed="rId10"/>
          <a:stretch>
            <a:fillRect/>
          </a:stretch>
        </p:blipFill>
        <p:spPr>
          <a:xfrm>
            <a:off x="5879592" y="2743200"/>
            <a:ext cx="822960" cy="822960"/>
          </a:xfrm>
          <a:prstGeom prst="rect">
            <a:avLst/>
          </a:prstGeom>
        </p:spPr>
      </p:pic>
      <p:pic>
        <p:nvPicPr>
          <p:cNvPr id="12" name="Picture 11" descr="mdi_rocket_059669.png"/>
          <p:cNvPicPr>
            <a:picLocks noChangeAspect="1"/>
          </p:cNvPicPr>
          <p:nvPr/>
        </p:nvPicPr>
        <p:blipFill>
          <a:blip r:embed="rId11"/>
          <a:stretch>
            <a:fillRect/>
          </a:stretch>
        </p:blipFill>
        <p:spPr>
          <a:xfrm>
            <a:off x="7598664" y="2743200"/>
            <a:ext cx="822960" cy="822960"/>
          </a:xfrm>
          <a:prstGeom prst="rect">
            <a:avLst/>
          </a:prstGeom>
        </p:spPr>
      </p:pic>
      <p:pic>
        <p:nvPicPr>
          <p:cNvPr id="13" name="Picture 12" descr="mdi_account-group_059669.png"/>
          <p:cNvPicPr>
            <a:picLocks noChangeAspect="1"/>
          </p:cNvPicPr>
          <p:nvPr/>
        </p:nvPicPr>
        <p:blipFill>
          <a:blip r:embed="rId12"/>
          <a:stretch>
            <a:fillRect/>
          </a:stretch>
        </p:blipFill>
        <p:spPr>
          <a:xfrm>
            <a:off x="722376" y="3840480"/>
            <a:ext cx="822960" cy="822960"/>
          </a:xfrm>
          <a:prstGeom prst="rect">
            <a:avLst/>
          </a:prstGeom>
        </p:spPr>
      </p:pic>
      <p:pic>
        <p:nvPicPr>
          <p:cNvPr id="14" name="Picture 13" descr="mdi_star_059669.png"/>
          <p:cNvPicPr>
            <a:picLocks noChangeAspect="1"/>
          </p:cNvPicPr>
          <p:nvPr/>
        </p:nvPicPr>
        <p:blipFill>
          <a:blip r:embed="rId13"/>
          <a:stretch>
            <a:fillRect/>
          </a:stretch>
        </p:blipFill>
        <p:spPr>
          <a:xfrm>
            <a:off x="2441448" y="3840480"/>
            <a:ext cx="822960" cy="822960"/>
          </a:xfrm>
          <a:prstGeom prst="rect">
            <a:avLst/>
          </a:prstGeom>
        </p:spPr>
      </p:pic>
      <p:cxnSp>
        <p:nvCxnSpPr>
          <p:cNvPr id="15" name="Connector 14"/>
          <p:cNvCxnSpPr/>
          <p:nvPr/>
        </p:nvCxnSpPr>
        <p:spPr>
          <a:xfrm>
            <a:off x="457200" y="5286375.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00100" y="5560695"/>
            <a:ext cx="3657600" cy="731520"/>
          </a:xfrm>
          <a:prstGeom prst="rect">
            <a:avLst/>
          </a:prstGeom>
          <a:noFill/>
        </p:spPr>
        <p:txBody>
          <a:bodyPr wrap="none">
            <a:spAutoFit/>
          </a:bodyPr>
          <a:lstStyle/>
          <a:p>
            <a:pPr algn="l">
              <a:defRPr sz="2800" b="1">
                <a:solidFill>
                  <a:srgbClr val="059669"/>
                </a:solidFill>
                <a:latin typeface="Inter"/>
              </a:defRPr>
            </a:pPr>
            <a:r>
              <a:t>ICONOGRAPHY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228850"/>
          </a:xfrm>
          <a:prstGeom prst="rect">
            <a:avLst/>
          </a:prstGeom>
          <a:noFill/>
        </p:spPr>
        <p:txBody>
          <a:bodyPr wrap="square" lIns="0" rIns="0" tIns="0" bIns="0">
            <a:spAutoFit/>
          </a:bodyPr>
          <a:lstStyle/>
          <a:p>
            <a:pPr algn="l">
              <a:spcAft>
                <a:spcPts val="600"/>
              </a:spcAft>
              <a:defRPr sz="1800" b="0">
                <a:solidFill>
                  <a:srgbClr val="000000"/>
                </a:solidFill>
                <a:latin typeface="Source Sans Pro"/>
              </a:defRPr>
            </a:pPr>
            <a:r>
              <a:t>Style: Minimalist design</a:t>
            </a:r>
          </a:p>
          <a:p>
            <a:pPr algn="l">
              <a:spcAft>
                <a:spcPts val="600"/>
              </a:spcAft>
              <a:defRPr sz="1800" b="0">
                <a:solidFill>
                  <a:srgbClr val="000000"/>
                </a:solidFill>
                <a:latin typeface="Source Sans Pro"/>
              </a:defRPr>
            </a:pPr>
            <a:r>
              <a:t>Color: #059669 on black background</a:t>
            </a:r>
          </a:p>
          <a:p>
            <a:pPr algn="l">
              <a:spcAft>
                <a:spcPts val="600"/>
              </a:spcAft>
              <a:defRPr sz="1800" b="0">
                <a:solidFill>
                  <a:srgbClr val="000000"/>
                </a:solidFill>
                <a:latin typeface="Source Sans Pro"/>
              </a:defRPr>
            </a:pPr>
          </a:p>
          <a:p>
            <a:pPr algn="l">
              <a:spcAft>
                <a:spcPts val="600"/>
              </a:spcAft>
              <a:defRPr sz="1800" b="0">
                <a:solidFill>
                  <a:srgbClr val="000000"/>
                </a:solidFill>
                <a:latin typeface="Source Sans Pro"/>
              </a:defRPr>
            </a:pPr>
            <a:r>
              <a:t>Size Requirements:</a:t>
            </a:r>
          </a:p>
          <a:p>
            <a:pPr algn="l">
              <a:spcAft>
                <a:spcPts val="600"/>
              </a:spcAft>
              <a:defRPr sz="1800" b="0">
                <a:solidFill>
                  <a:srgbClr val="000000"/>
                </a:solidFill>
                <a:latin typeface="Source Sans Pro"/>
              </a:defRPr>
            </a:pPr>
            <a:r>
              <a:t>• Minimum: 16px web, 0.5" print</a:t>
            </a:r>
          </a:p>
          <a:p>
            <a:pPr algn="l">
              <a:spcAft>
                <a:spcPts val="600"/>
              </a:spcAft>
              <a:defRPr sz="1800" b="0">
                <a:solidFill>
                  <a:srgbClr val="000000"/>
                </a:solidFill>
                <a:latin typeface="Source Sans Pro"/>
              </a:defRPr>
            </a:pPr>
            <a:r>
              <a:t>• Recommended: 24px+ web, 0.75"+ print</a:t>
            </a:r>
          </a:p>
          <a:p>
            <a:pPr algn="l">
              <a:spcAft>
                <a:spcPts val="600"/>
              </a:spcAft>
              <a:defRPr sz="1800" b="0">
                <a:solidFill>
                  <a:srgbClr val="000000"/>
                </a:solidFill>
                <a:latin typeface="Source Sans Pro"/>
              </a:defRPr>
            </a:pPr>
          </a:p>
          <a:p>
            <a:pPr algn="l">
              <a:spcAft>
                <a:spcPts val="600"/>
              </a:spcAft>
              <a:defRPr sz="1800" b="0">
                <a:solidFill>
                  <a:srgbClr val="000000"/>
                </a:solidFill>
                <a:latin typeface="Source Sans Pro"/>
              </a:defRPr>
            </a:pPr>
            <a:r>
              <a:t>Spacing:</a:t>
            </a:r>
          </a:p>
          <a:p>
            <a:pPr algn="l">
              <a:spcAft>
                <a:spcPts val="600"/>
              </a:spcAft>
              <a:defRPr sz="1800" b="0">
                <a:solidFill>
                  <a:srgbClr val="000000"/>
                </a:solidFill>
                <a:latin typeface="Source Sans Pro"/>
              </a:defRPr>
            </a:pPr>
            <a:r>
              <a:t>• Clear space: 50% of icon width</a:t>
            </a:r>
          </a:p>
          <a:p>
            <a:pPr algn="l">
              <a:spcAft>
                <a:spcPts val="600"/>
              </a:spcAft>
              <a:defRPr sz="1800" b="0">
                <a:solidFill>
                  <a:srgbClr val="000000"/>
                </a:solidFill>
                <a:latin typeface="Source Sans Pro"/>
              </a:defRPr>
            </a:pPr>
            <a:r>
              <a:t>• Consistent grid alignment</a:t>
            </a:r>
          </a:p>
        </p:txBody>
      </p:sp>
      <p:cxnSp>
        <p:nvCxnSpPr>
          <p:cNvPr id="3" name="Connector 2"/>
          <p:cNvCxnSpPr/>
          <p:nvPr/>
        </p:nvCxnSpPr>
        <p:spPr>
          <a:xfrm>
            <a:off x="457200" y="5286375.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560695"/>
            <a:ext cx="5486400" cy="731520"/>
          </a:xfrm>
          <a:prstGeom prst="rect">
            <a:avLst/>
          </a:prstGeom>
          <a:noFill/>
        </p:spPr>
        <p:txBody>
          <a:bodyPr wrap="none">
            <a:spAutoFit/>
          </a:bodyPr>
          <a:lstStyle/>
          <a:p>
            <a:pPr algn="l">
              <a:defRPr sz="2800" b="1">
                <a:solidFill>
                  <a:srgbClr val="059669"/>
                </a:solidFill>
                <a:latin typeface="Inter"/>
              </a:defRPr>
            </a:pPr>
            <a:r>
              <a:t>USAGE GUIDELINES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731520"/>
            <a:ext cx="5486400" cy="731520"/>
          </a:xfrm>
          <a:prstGeom prst="rect">
            <a:avLst/>
          </a:prstGeom>
          <a:noFill/>
        </p:spPr>
        <p:txBody>
          <a:bodyPr wrap="none">
            <a:spAutoFit/>
          </a:bodyPr>
          <a:lstStyle/>
          <a:p>
            <a:pPr algn="l">
              <a:defRPr sz="2800" b="1">
                <a:solidFill>
                  <a:srgbClr val="000000"/>
                </a:solidFill>
                <a:latin typeface="Inter"/>
              </a:defRPr>
            </a:pPr>
            <a:r>
              <a:t>BRAND MERCHANDISE</a:t>
            </a:r>
          </a:p>
        </p:txBody>
      </p:sp>
      <p:pic>
        <p:nvPicPr>
          <p:cNvPr id="3" name="Picture 2" descr="chaayos_tshirt_white_20250904_014952_3d2792de.png"/>
          <p:cNvPicPr>
            <a:picLocks noChangeAspect="1"/>
          </p:cNvPicPr>
          <p:nvPr/>
        </p:nvPicPr>
        <p:blipFill>
          <a:blip r:embed="rId2"/>
          <a:stretch>
            <a:fillRect/>
          </a:stretch>
        </p:blipFill>
        <p:spPr>
          <a:xfrm>
            <a:off x="0" y="1828800"/>
            <a:ext cx="3048000" cy="3657600"/>
          </a:xfrm>
          <a:prstGeom prst="rect">
            <a:avLst/>
          </a:prstGeom>
        </p:spPr>
      </p:pic>
      <p:sp>
        <p:nvSpPr>
          <p:cNvPr id="4" name="TextBox 3"/>
          <p:cNvSpPr txBox="1"/>
          <p:nvPr/>
        </p:nvSpPr>
        <p:spPr>
          <a:xfrm>
            <a:off x="0" y="5577840"/>
            <a:ext cx="3048000" cy="365760"/>
          </a:xfrm>
          <a:prstGeom prst="rect">
            <a:avLst/>
          </a:prstGeom>
          <a:noFill/>
        </p:spPr>
        <p:txBody>
          <a:bodyPr wrap="none">
            <a:spAutoFit/>
          </a:bodyPr>
          <a:lstStyle/>
          <a:p>
            <a:pPr algn="ctr">
              <a:defRPr sz="1200" b="1">
                <a:solidFill>
                  <a:srgbClr val="666666"/>
                </a:solidFill>
                <a:latin typeface="Source Sans Pro"/>
              </a:defRPr>
            </a:pPr>
            <a:r>
              <a:t>WHITE T-SHIRT</a:t>
            </a:r>
          </a:p>
        </p:txBody>
      </p:sp>
      <p:pic>
        <p:nvPicPr>
          <p:cNvPr id="5" name="Picture 4" descr="chaayos_tshirt_black_20250904_015004_5afa8b46.png"/>
          <p:cNvPicPr>
            <a:picLocks noChangeAspect="1"/>
          </p:cNvPicPr>
          <p:nvPr/>
        </p:nvPicPr>
        <p:blipFill>
          <a:blip r:embed="rId3"/>
          <a:stretch>
            <a:fillRect/>
          </a:stretch>
        </p:blipFill>
        <p:spPr>
          <a:xfrm>
            <a:off x="3048000" y="1828800"/>
            <a:ext cx="3048000" cy="3657600"/>
          </a:xfrm>
          <a:prstGeom prst="rect">
            <a:avLst/>
          </a:prstGeom>
        </p:spPr>
      </p:pic>
      <p:sp>
        <p:nvSpPr>
          <p:cNvPr id="6" name="TextBox 5"/>
          <p:cNvSpPr txBox="1"/>
          <p:nvPr/>
        </p:nvSpPr>
        <p:spPr>
          <a:xfrm>
            <a:off x="3048000" y="5577840"/>
            <a:ext cx="3048000" cy="365760"/>
          </a:xfrm>
          <a:prstGeom prst="rect">
            <a:avLst/>
          </a:prstGeom>
          <a:noFill/>
        </p:spPr>
        <p:txBody>
          <a:bodyPr wrap="none">
            <a:spAutoFit/>
          </a:bodyPr>
          <a:lstStyle/>
          <a:p>
            <a:pPr algn="ctr">
              <a:defRPr sz="1200" b="1">
                <a:solidFill>
                  <a:srgbClr val="666666"/>
                </a:solidFill>
                <a:latin typeface="Source Sans Pro"/>
              </a:defRPr>
            </a:pPr>
            <a:r>
              <a:t>BLACK T-SHIRT</a:t>
            </a:r>
          </a:p>
        </p:txBody>
      </p:sp>
      <p:pic>
        <p:nvPicPr>
          <p:cNvPr id="7" name="Picture 6" descr="chaayos_tshirt_yellow_20250904_015016_a13ee2ee.png"/>
          <p:cNvPicPr>
            <a:picLocks noChangeAspect="1"/>
          </p:cNvPicPr>
          <p:nvPr/>
        </p:nvPicPr>
        <p:blipFill>
          <a:blip r:embed="rId4"/>
          <a:stretch>
            <a:fillRect/>
          </a:stretch>
        </p:blipFill>
        <p:spPr>
          <a:xfrm>
            <a:off x="6096000" y="1828800"/>
            <a:ext cx="3048000" cy="3657600"/>
          </a:xfrm>
          <a:prstGeom prst="rect">
            <a:avLst/>
          </a:prstGeom>
        </p:spPr>
      </p:pic>
      <p:sp>
        <p:nvSpPr>
          <p:cNvPr id="8" name="TextBox 7"/>
          <p:cNvSpPr txBox="1"/>
          <p:nvPr/>
        </p:nvSpPr>
        <p:spPr>
          <a:xfrm>
            <a:off x="6096000" y="5577840"/>
            <a:ext cx="3048000" cy="365760"/>
          </a:xfrm>
          <a:prstGeom prst="rect">
            <a:avLst/>
          </a:prstGeom>
          <a:noFill/>
        </p:spPr>
        <p:txBody>
          <a:bodyPr wrap="none">
            <a:spAutoFit/>
          </a:bodyPr>
          <a:lstStyle/>
          <a:p>
            <a:pPr algn="ctr">
              <a:defRPr sz="1200" b="1">
                <a:solidFill>
                  <a:srgbClr val="666666"/>
                </a:solidFill>
                <a:latin typeface="Source Sans Pro"/>
              </a:defRPr>
            </a:pPr>
            <a:r>
              <a:t>YELLOW T-SHIRT</a:t>
            </a:r>
          </a:p>
        </p:txBody>
      </p:sp>
      <p:sp>
        <p:nvSpPr>
          <p:cNvPr id="9" name="TextBox 8"/>
          <p:cNvSpPr txBox="1"/>
          <p:nvPr/>
        </p:nvSpPr>
        <p:spPr>
          <a:xfrm>
            <a:off x="457200" y="6400800"/>
            <a:ext cx="8229600" cy="731520"/>
          </a:xfrm>
          <a:prstGeom prst="rect">
            <a:avLst/>
          </a:prstGeom>
          <a:noFill/>
        </p:spPr>
        <p:txBody>
          <a:bodyPr wrap="none">
            <a:spAutoFit/>
          </a:bodyPr>
          <a:lstStyle/>
          <a:p>
            <a:pPr algn="ctr">
              <a:defRPr sz="1400" b="0">
                <a:solidFill>
                  <a:srgbClr val="333333"/>
                </a:solidFill>
                <a:latin typeface="Source Sans Pro"/>
              </a:defRPr>
            </a:pPr>
            <a:r>
              <a:t>Brand merchandise featuring the exact Chaayos logo from our brand identity. These mockups demonstrate consistent logo application across different t-shirt colors while maintaining brand recognition and visual impact.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