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gradFill rotWithShape="1">
            <a:gsLst>
              <a:gs pos="0">
                <a:srgbClr val="059669"/>
              </a:gs>
              <a:gs pos="100000">
                <a:srgbClr val="BE185D"/>
              </a:gs>
            </a:gsLst>
            <a:lin scaled="0" ang="135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pic>
        <p:nvPicPr>
          <p:cNvPr id="3" name="Picture 2" descr="chaayos_logo_1_20250828_101601_d7821e31.png"/>
          <p:cNvPicPr>
            <a:picLocks noChangeAspect="1"/>
          </p:cNvPicPr>
          <p:nvPr/>
        </p:nvPicPr>
        <p:blipFill>
          <a:blip r:embed="rId2"/>
          <a:stretch>
            <a:fillRect/>
          </a:stretch>
        </p:blipFill>
        <p:spPr>
          <a:xfrm>
            <a:off x="1143000" y="1200150"/>
            <a:ext cx="1371600" cy="1485900"/>
          </a:xfrm>
          <a:prstGeom prst="rect">
            <a:avLst/>
          </a:prstGeom>
        </p:spPr>
      </p:pic>
      <p:sp>
        <p:nvSpPr>
          <p:cNvPr id="4" name="TextBox 3"/>
          <p:cNvSpPr txBox="1"/>
          <p:nvPr/>
        </p:nvSpPr>
        <p:spPr>
          <a:xfrm>
            <a:off x="1828800" y="2686050"/>
            <a:ext cx="5486400" cy="1485900"/>
          </a:xfrm>
          <a:prstGeom prst="rect">
            <a:avLst/>
          </a:prstGeom>
          <a:noFill/>
        </p:spPr>
        <p:txBody>
          <a:bodyPr wrap="none">
            <a:spAutoFit/>
          </a:bodyPr>
          <a:lstStyle/>
          <a:p>
            <a:pPr algn="ctr">
              <a:defRPr sz="4800" b="1">
                <a:solidFill>
                  <a:srgbClr val="059669"/>
                </a:solidFill>
                <a:latin typeface="Inter"/>
              </a:defRPr>
            </a:pPr>
            <a:r>
              <a:t>Chaayos</a:t>
            </a:r>
          </a:p>
        </p:txBody>
      </p:sp>
      <p:sp>
        <p:nvSpPr>
          <p:cNvPr id="5" name="TextBox 4"/>
          <p:cNvSpPr txBox="1"/>
          <p:nvPr/>
        </p:nvSpPr>
        <p:spPr>
          <a:xfrm>
            <a:off x="2514600" y="4171950"/>
            <a:ext cx="4114800" cy="742950"/>
          </a:xfrm>
          <a:prstGeom prst="rect">
            <a:avLst/>
          </a:prstGeom>
          <a:noFill/>
        </p:spPr>
        <p:txBody>
          <a:bodyPr wrap="none">
            <a:spAutoFit/>
          </a:bodyPr>
          <a:lstStyle/>
          <a:p>
            <a:pPr algn="ctr">
              <a:defRPr sz="2400" b="0">
                <a:solidFill>
                  <a:srgbClr val="059669"/>
                </a:solidFill>
                <a:latin typeface="Source Sans Pro"/>
              </a:defRPr>
            </a:pPr>
            <a:r>
              <a:t>Brand Book</a:t>
            </a:r>
          </a:p>
        </p:txBody>
      </p:sp>
      <p:sp>
        <p:nvSpPr>
          <p:cNvPr id="6" name="Oval 5"/>
          <p:cNvSpPr/>
          <p:nvPr/>
        </p:nvSpPr>
        <p:spPr>
          <a:xfrm>
            <a:off x="6629400" y="1200150"/>
            <a:ext cx="1371600" cy="1485900"/>
          </a:xfrm>
          <a:prstGeom prst="ellipse">
            <a:avLst/>
          </a:prstGeom>
          <a:solidFill>
            <a:srgbClr val="65A3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5657850"/>
            <a:ext cx="4114800" cy="742950"/>
          </a:xfrm>
          <a:prstGeom prst="rect">
            <a:avLst/>
          </a:prstGeom>
          <a:noFill/>
        </p:spPr>
        <p:txBody>
          <a:bodyPr wrap="none">
            <a:spAutoFit/>
          </a:bodyPr>
          <a:lstStyle/>
          <a:p>
            <a:pPr algn="l">
              <a:defRPr sz="1000" b="0">
                <a:solidFill>
                  <a:srgbClr val="059669"/>
                </a:solidFill>
                <a:latin typeface="Source Sans Pro"/>
              </a:defRPr>
            </a:pPr>
            <a:r>
              <a:t>Chaayos</a:t>
            </a:r>
          </a:p>
        </p:txBody>
      </p:sp>
      <p:sp>
        <p:nvSpPr>
          <p:cNvPr id="8" name="TextBox 7"/>
          <p:cNvSpPr txBox="1"/>
          <p:nvPr/>
        </p:nvSpPr>
        <p:spPr>
          <a:xfrm>
            <a:off x="4572000" y="5657850"/>
            <a:ext cx="4114800" cy="742950"/>
          </a:xfrm>
          <a:prstGeom prst="rect">
            <a:avLst/>
          </a:prstGeom>
          <a:noFill/>
        </p:spPr>
        <p:txBody>
          <a:bodyPr wrap="none">
            <a:spAutoFit/>
          </a:bodyPr>
          <a:lstStyle/>
          <a:p>
            <a:pPr algn="r">
              <a:defRPr sz="1000" b="0">
                <a:solidFill>
                  <a:srgbClr val="059669"/>
                </a:solidFill>
                <a:latin typeface="Source Sans Pro"/>
              </a:defRPr>
            </a:pPr>
            <a: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lgn="ctr">
              <a:defRPr sz="3200" b="1">
                <a:solidFill>
                  <a:srgbClr val="059669"/>
                </a:solidFill>
                <a:latin typeface="Inter"/>
              </a:defRPr>
            </a:pPr>
            <a:r>
              <a:t>Table of Contents</a:t>
            </a:r>
          </a:p>
        </p:txBody>
      </p:sp>
      <p:sp>
        <p:nvSpPr>
          <p:cNvPr id="4" name="TextBox 3"/>
          <p:cNvSpPr txBox="1"/>
          <p:nvPr/>
        </p:nvSpPr>
        <p:spPr>
          <a:xfrm>
            <a:off x="1143000" y="1943100"/>
            <a:ext cx="3429000" cy="3714750"/>
          </a:xfrm>
          <a:prstGeom prst="rect">
            <a:avLst/>
          </a:prstGeom>
          <a:noFill/>
        </p:spPr>
        <p:txBody>
          <a:bodyPr wrap="square">
            <a:spAutoFit/>
          </a:bodyPr>
          <a:lstStyle/>
          <a:p>
            <a:pPr>
              <a:defRPr sz="1600" b="0">
                <a:solidFill>
                  <a:srgbClr val="059669"/>
                </a:solidFill>
                <a:latin typeface="Source Sans Pro"/>
              </a:defRPr>
            </a:pPr>
            <a:r>
              <a:t>1. Company Profile</a:t>
            </a:r>
          </a:p>
          <a:p>
            <a:pPr>
              <a:defRPr sz="1600" b="0">
                <a:solidFill>
                  <a:srgbClr val="059669"/>
                </a:solidFill>
                <a:latin typeface="Source Sans Pro"/>
              </a:defRPr>
            </a:pPr>
            <a:r>
              <a:t>2. Market Analysis &amp; Insights</a:t>
            </a:r>
          </a:p>
          <a:p>
            <a:pPr>
              <a:defRPr sz="1600" b="0">
                <a:solidFill>
                  <a:srgbClr val="059669"/>
                </a:solidFill>
                <a:latin typeface="Source Sans Pro"/>
              </a:defRPr>
            </a:pPr>
            <a:r>
              <a:t>3. Brand Positioning</a:t>
            </a:r>
          </a:p>
          <a:p>
            <a:pPr>
              <a:defRPr sz="1600" b="0">
                <a:solidFill>
                  <a:srgbClr val="059669"/>
                </a:solidFill>
                <a:latin typeface="Source Sans Pro"/>
              </a:defRPr>
            </a:pPr>
            <a:r>
              <a:t>4. Logo Variations</a:t>
            </a:r>
          </a:p>
          <a:p>
            <a:pPr>
              <a:defRPr sz="1600" b="0">
                <a:solidFill>
                  <a:srgbClr val="059669"/>
                </a:solidFill>
                <a:latin typeface="Source Sans Pro"/>
              </a:defRPr>
            </a:pPr>
            <a:r>
              <a:t>5. Color Palette</a:t>
            </a:r>
          </a:p>
          <a:p>
            <a:pPr>
              <a:defRPr sz="1600" b="0">
                <a:solidFill>
                  <a:srgbClr val="059669"/>
                </a:solidFill>
                <a:latin typeface="Source Sans Pro"/>
              </a:defRPr>
            </a:pPr>
            <a:r>
              <a:t>6. Typography</a:t>
            </a:r>
          </a:p>
        </p:txBody>
      </p:sp>
      <p:sp>
        <p:nvSpPr>
          <p:cNvPr id="5" name="TextBox 4"/>
          <p:cNvSpPr txBox="1"/>
          <p:nvPr/>
        </p:nvSpPr>
        <p:spPr>
          <a:xfrm>
            <a:off x="5257800" y="1943100"/>
            <a:ext cx="3429000" cy="3714750"/>
          </a:xfrm>
          <a:prstGeom prst="rect">
            <a:avLst/>
          </a:prstGeom>
          <a:noFill/>
        </p:spPr>
        <p:txBody>
          <a:bodyPr wrap="square">
            <a:spAutoFit/>
          </a:bodyPr>
          <a:lstStyle/>
          <a:p>
            <a:pPr>
              <a:defRPr sz="1600" b="0">
                <a:solidFill>
                  <a:srgbClr val="059669"/>
                </a:solidFill>
                <a:latin typeface="Source Sans Pro"/>
              </a:defRPr>
            </a:pPr>
            <a:r>
              <a:t>7. Visual &amp; Photography Guidelines</a:t>
            </a:r>
          </a:p>
          <a:p>
            <a:pPr>
              <a:defRPr sz="1600" b="0">
                <a:solidFill>
                  <a:srgbClr val="059669"/>
                </a:solidFill>
                <a:latin typeface="Source Sans Pro"/>
              </a:defRPr>
            </a:pPr>
            <a:r>
              <a:t>8. Brand Story &amp; Mission</a:t>
            </a:r>
          </a:p>
          <a:p>
            <a:pPr>
              <a:defRPr sz="1600" b="0">
                <a:solidFill>
                  <a:srgbClr val="059669"/>
                </a:solidFill>
                <a:latin typeface="Source Sans Pro"/>
              </a:defRPr>
            </a:pPr>
            <a:r>
              <a:t>9. Brand Voice &amp; Tone</a:t>
            </a:r>
          </a:p>
          <a:p>
            <a:pPr>
              <a:defRPr sz="1600" b="0">
                <a:solidFill>
                  <a:srgbClr val="059669"/>
                </a:solidFill>
                <a:latin typeface="Source Sans Pro"/>
              </a:defRPr>
            </a:pPr>
            <a:r>
              <a:t>10. Messaging &amp; Value Propositions</a:t>
            </a:r>
          </a:p>
          <a:p>
            <a:pPr>
              <a:defRPr sz="1600" b="0">
                <a:solidFill>
                  <a:srgbClr val="059669"/>
                </a:solidFill>
                <a:latin typeface="Source Sans Pro"/>
              </a:defRPr>
            </a:pPr>
            <a:r>
              <a:t>11. Marketing Copy</a:t>
            </a:r>
          </a:p>
          <a:p>
            <a:pPr>
              <a:defRPr sz="1600" b="0">
                <a:solidFill>
                  <a:srgbClr val="059669"/>
                </a:solidFill>
                <a:latin typeface="Source Sans Pro"/>
              </a:defRPr>
            </a:pPr>
            <a:r>
              <a:t>12. Brand Collateral Templates</a:t>
            </a:r>
          </a:p>
        </p:txBody>
      </p:sp>
      <p:sp>
        <p:nvSpPr>
          <p:cNvPr id="6" name="TextBox 5"/>
          <p:cNvSpPr txBox="1"/>
          <p:nvPr/>
        </p:nvSpPr>
        <p:spPr>
          <a:xfrm>
            <a:off x="457200" y="5657850"/>
            <a:ext cx="4114800" cy="742950"/>
          </a:xfrm>
          <a:prstGeom prst="rect">
            <a:avLst/>
          </a:prstGeom>
          <a:noFill/>
        </p:spPr>
        <p:txBody>
          <a:bodyPr wrap="none">
            <a:spAutoFit/>
          </a:bodyPr>
          <a:lstStyle/>
          <a:p>
            <a:pPr algn="l">
              <a:defRPr sz="1000" b="0">
                <a:solidFill>
                  <a:srgbClr val="059669"/>
                </a:solidFill>
                <a:latin typeface="Source Sans Pro"/>
              </a:defRPr>
            </a:pPr>
            <a:r>
              <a:t>Chaayos</a:t>
            </a:r>
          </a:p>
        </p:txBody>
      </p:sp>
      <p:sp>
        <p:nvSpPr>
          <p:cNvPr id="7" name="TextBox 6"/>
          <p:cNvSpPr txBox="1"/>
          <p:nvPr/>
        </p:nvSpPr>
        <p:spPr>
          <a:xfrm>
            <a:off x="4572000" y="5657850"/>
            <a:ext cx="4114800" cy="742950"/>
          </a:xfrm>
          <a:prstGeom prst="rect">
            <a:avLst/>
          </a:prstGeom>
          <a:noFill/>
        </p:spPr>
        <p:txBody>
          <a:bodyPr wrap="none">
            <a:spAutoFit/>
          </a:bodyPr>
          <a:lstStyle/>
          <a:p>
            <a:pPr algn="r">
              <a:defRPr sz="1000" b="0">
                <a:solidFill>
                  <a:srgbClr val="059669"/>
                </a:solidFill>
                <a:latin typeface="Source Sans Pro"/>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059669"/>
                </a:solidFill>
                <a:latin typeface="Inter"/>
              </a:defRPr>
            </a:pPr>
            <a:r>
              <a:t>Company Profile</a:t>
            </a:r>
          </a:p>
        </p:txBody>
      </p:sp>
      <p:sp>
        <p:nvSpPr>
          <p:cNvPr id="4" name="TextBox 3"/>
          <p:cNvSpPr txBox="1"/>
          <p:nvPr/>
        </p:nvSpPr>
        <p:spPr>
          <a:xfrm>
            <a:off x="1143000" y="1943100"/>
            <a:ext cx="3429000" cy="2971800"/>
          </a:xfrm>
          <a:prstGeom prst="rect">
            <a:avLst/>
          </a:prstGeom>
          <a:noFill/>
        </p:spPr>
        <p:txBody>
          <a:bodyPr wrap="square">
            <a:spAutoFit/>
          </a:bodyPr>
          <a:lstStyle/>
          <a:p>
            <a:pPr>
              <a:defRPr sz="1600" b="0">
                <a:solidFill>
                  <a:srgbClr val="059669"/>
                </a:solidFill>
                <a:latin typeface="Source Sans Pro"/>
              </a:defRPr>
            </a:pPr>
            <a:r>
              <a:t>Company: Chaayos</a:t>
            </a:r>
          </a:p>
          <a:p>
            <a:pPr>
              <a:defRPr sz="1600" b="0">
                <a:solidFill>
                  <a:srgbClr val="059669"/>
                </a:solidFill>
                <a:latin typeface="Source Sans Pro"/>
              </a:defRPr>
            </a:pPr>
          </a:p>
          <a:p>
            <a:pPr>
              <a:defRPr sz="1600" b="0">
                <a:solidFill>
                  <a:srgbClr val="059669"/>
                </a:solidFill>
                <a:latin typeface="Source Sans Pro"/>
              </a:defRPr>
            </a:pPr>
            <a:r>
              <a:t>Industry: Food &amp; Beverage (F&amp;B), Quick Service Restaurants (QSR), Café/Tea Retail</a:t>
            </a:r>
          </a:p>
          <a:p>
            <a:pPr>
              <a:defRPr sz="1600" b="0">
                <a:solidFill>
                  <a:srgbClr val="059669"/>
                </a:solidFill>
                <a:latin typeface="Source Sans Pro"/>
              </a:defRPr>
            </a:pPr>
          </a:p>
          <a:p>
            <a:pPr>
              <a:defRPr sz="1600" b="0">
                <a:solidFill>
                  <a:srgbClr val="059669"/>
                </a:solidFill>
                <a:latin typeface="Source Sans Pro"/>
              </a:defRPr>
            </a:pPr>
            <a:r>
              <a:t>Target Audience: Urban millennials, Young professionals, Office-goers, Students, Tea enthusiasts, Digital-savvy consumers, Health-conscious individuals, People seeking a modern chai café experience.</a:t>
            </a:r>
          </a:p>
        </p:txBody>
      </p:sp>
      <p:sp>
        <p:nvSpPr>
          <p:cNvPr id="5" name="Rounded Rectangle 4"/>
          <p:cNvSpPr/>
          <p:nvPr/>
        </p:nvSpPr>
        <p:spPr>
          <a:xfrm>
            <a:off x="5257800" y="2034540"/>
            <a:ext cx="1280160" cy="560070"/>
          </a:xfrm>
          <a:prstGeom prst="roundRect">
            <a:avLst/>
          </a:prstGeom>
          <a:solidFill>
            <a:srgbClr val="65A3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57800" y="1943100"/>
            <a:ext cx="1371600" cy="742950"/>
          </a:xfrm>
          <a:prstGeom prst="rect">
            <a:avLst/>
          </a:prstGeom>
          <a:noFill/>
        </p:spPr>
        <p:txBody>
          <a:bodyPr wrap="none" anchor="ctr">
            <a:spAutoFit/>
          </a:bodyPr>
          <a:lstStyle/>
          <a:p>
            <a:pPr algn="ctr">
              <a:defRPr sz="1400" b="0">
                <a:solidFill>
                  <a:srgbClr val="FFFFFF"/>
                </a:solidFill>
                <a:latin typeface="Source Sans Pro"/>
              </a:defRPr>
            </a:pPr>
            <a:r>
              <a:t>Innovation</a:t>
            </a:r>
          </a:p>
        </p:txBody>
      </p:sp>
      <p:sp>
        <p:nvSpPr>
          <p:cNvPr id="7" name="Rounded Rectangle 6"/>
          <p:cNvSpPr/>
          <p:nvPr/>
        </p:nvSpPr>
        <p:spPr>
          <a:xfrm>
            <a:off x="6629400" y="2034540"/>
            <a:ext cx="1280160" cy="56007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29400" y="1943100"/>
            <a:ext cx="1371600" cy="742950"/>
          </a:xfrm>
          <a:prstGeom prst="rect">
            <a:avLst/>
          </a:prstGeom>
          <a:noFill/>
        </p:spPr>
        <p:txBody>
          <a:bodyPr wrap="none" anchor="ctr">
            <a:spAutoFit/>
          </a:bodyPr>
          <a:lstStyle/>
          <a:p>
            <a:pPr algn="ctr">
              <a:defRPr sz="1400" b="0">
                <a:solidFill>
                  <a:srgbClr val="FFFFFF"/>
                </a:solidFill>
                <a:latin typeface="Source Sans Pro"/>
              </a:defRPr>
            </a:pPr>
            <a:r>
              <a:t>Personalization</a:t>
            </a:r>
          </a:p>
        </p:txBody>
      </p:sp>
      <p:sp>
        <p:nvSpPr>
          <p:cNvPr id="9" name="Rounded Rectangle 8"/>
          <p:cNvSpPr/>
          <p:nvPr/>
        </p:nvSpPr>
        <p:spPr>
          <a:xfrm>
            <a:off x="5257800" y="2777490"/>
            <a:ext cx="1280160" cy="560070"/>
          </a:xfrm>
          <a:prstGeom prst="roundRect">
            <a:avLst/>
          </a:prstGeom>
          <a:solidFill>
            <a:srgbClr val="65A3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57800" y="2686050"/>
            <a:ext cx="1371600" cy="742950"/>
          </a:xfrm>
          <a:prstGeom prst="rect">
            <a:avLst/>
          </a:prstGeom>
          <a:noFill/>
        </p:spPr>
        <p:txBody>
          <a:bodyPr wrap="none" anchor="ctr">
            <a:spAutoFit/>
          </a:bodyPr>
          <a:lstStyle/>
          <a:p>
            <a:pPr algn="ctr">
              <a:defRPr sz="1400" b="0">
                <a:solidFill>
                  <a:srgbClr val="FFFFFF"/>
                </a:solidFill>
                <a:latin typeface="Source Sans Pro"/>
              </a:defRPr>
            </a:pPr>
            <a:r>
              <a:t>Customer Delight</a:t>
            </a:r>
          </a:p>
        </p:txBody>
      </p:sp>
      <p:sp>
        <p:nvSpPr>
          <p:cNvPr id="11" name="Rounded Rectangle 10"/>
          <p:cNvSpPr/>
          <p:nvPr/>
        </p:nvSpPr>
        <p:spPr>
          <a:xfrm>
            <a:off x="6629400" y="2777490"/>
            <a:ext cx="1280160" cy="56007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2686050"/>
            <a:ext cx="1371600" cy="742950"/>
          </a:xfrm>
          <a:prstGeom prst="rect">
            <a:avLst/>
          </a:prstGeom>
          <a:noFill/>
        </p:spPr>
        <p:txBody>
          <a:bodyPr wrap="none" anchor="ctr">
            <a:spAutoFit/>
          </a:bodyPr>
          <a:lstStyle/>
          <a:p>
            <a:pPr algn="ctr">
              <a:defRPr sz="1400" b="0">
                <a:solidFill>
                  <a:srgbClr val="FFFFFF"/>
                </a:solidFill>
                <a:latin typeface="Source Sans Pro"/>
              </a:defRPr>
            </a:pPr>
            <a:r>
              <a:t>Quality</a:t>
            </a:r>
          </a:p>
        </p:txBody>
      </p:sp>
      <p:sp>
        <p:nvSpPr>
          <p:cNvPr id="13" name="Rounded Rectangle 12"/>
          <p:cNvSpPr/>
          <p:nvPr/>
        </p:nvSpPr>
        <p:spPr>
          <a:xfrm>
            <a:off x="5257800" y="3520440"/>
            <a:ext cx="1280160" cy="560070"/>
          </a:xfrm>
          <a:prstGeom prst="roundRect">
            <a:avLst/>
          </a:prstGeom>
          <a:solidFill>
            <a:srgbClr val="65A3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57800" y="3429000"/>
            <a:ext cx="1371600" cy="742950"/>
          </a:xfrm>
          <a:prstGeom prst="rect">
            <a:avLst/>
          </a:prstGeom>
          <a:noFill/>
        </p:spPr>
        <p:txBody>
          <a:bodyPr wrap="none" anchor="ctr">
            <a:spAutoFit/>
          </a:bodyPr>
          <a:lstStyle/>
          <a:p>
            <a:pPr algn="ctr">
              <a:defRPr sz="1400" b="0">
                <a:solidFill>
                  <a:srgbClr val="FFFFFF"/>
                </a:solidFill>
                <a:latin typeface="Source Sans Pro"/>
              </a:defRPr>
            </a:pPr>
            <a:r>
              <a:t>Community</a:t>
            </a:r>
          </a:p>
        </p:txBody>
      </p:sp>
      <p:sp>
        <p:nvSpPr>
          <p:cNvPr id="15" name="Rounded Rectangle 14"/>
          <p:cNvSpPr/>
          <p:nvPr/>
        </p:nvSpPr>
        <p:spPr>
          <a:xfrm>
            <a:off x="6629400" y="3520440"/>
            <a:ext cx="1280160" cy="56007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29400" y="3429000"/>
            <a:ext cx="1371600" cy="742950"/>
          </a:xfrm>
          <a:prstGeom prst="rect">
            <a:avLst/>
          </a:prstGeom>
          <a:noFill/>
        </p:spPr>
        <p:txBody>
          <a:bodyPr wrap="none" anchor="ctr">
            <a:spAutoFit/>
          </a:bodyPr>
          <a:lstStyle/>
          <a:p>
            <a:pPr algn="ctr">
              <a:defRPr sz="1400" b="0">
                <a:solidFill>
                  <a:srgbClr val="FFFFFF"/>
                </a:solidFill>
                <a:latin typeface="Source Sans Pro"/>
              </a:defRPr>
            </a:pPr>
            <a:r>
              <a:t>Convenience</a:t>
            </a:r>
          </a:p>
        </p:txBody>
      </p:sp>
      <p:sp>
        <p:nvSpPr>
          <p:cNvPr id="17" name="TextBox 16"/>
          <p:cNvSpPr txBox="1"/>
          <p:nvPr/>
        </p:nvSpPr>
        <p:spPr>
          <a:xfrm>
            <a:off x="457200" y="5657850"/>
            <a:ext cx="4114800" cy="742950"/>
          </a:xfrm>
          <a:prstGeom prst="rect">
            <a:avLst/>
          </a:prstGeom>
          <a:noFill/>
        </p:spPr>
        <p:txBody>
          <a:bodyPr wrap="none">
            <a:spAutoFit/>
          </a:bodyPr>
          <a:lstStyle/>
          <a:p>
            <a:pPr algn="l">
              <a:defRPr sz="1000" b="0">
                <a:solidFill>
                  <a:srgbClr val="059669"/>
                </a:solidFill>
                <a:latin typeface="Source Sans Pro"/>
              </a:defRPr>
            </a:pPr>
            <a:r>
              <a:t>Chaayos</a:t>
            </a:r>
          </a:p>
        </p:txBody>
      </p:sp>
      <p:sp>
        <p:nvSpPr>
          <p:cNvPr id="18" name="TextBox 17"/>
          <p:cNvSpPr txBox="1"/>
          <p:nvPr/>
        </p:nvSpPr>
        <p:spPr>
          <a:xfrm>
            <a:off x="4572000" y="5657850"/>
            <a:ext cx="4114800" cy="742950"/>
          </a:xfrm>
          <a:prstGeom prst="rect">
            <a:avLst/>
          </a:prstGeom>
          <a:noFill/>
        </p:spPr>
        <p:txBody>
          <a:bodyPr wrap="none">
            <a:spAutoFit/>
          </a:bodyPr>
          <a:lstStyle/>
          <a:p>
            <a:pPr algn="r">
              <a:defRPr sz="1000" b="0">
                <a:solidFill>
                  <a:srgbClr val="059669"/>
                </a:solidFill>
                <a:latin typeface="Source Sans Pro"/>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059669"/>
                </a:solidFill>
                <a:latin typeface="Inter"/>
              </a:defRPr>
            </a:pPr>
            <a:r>
              <a:t>Market Analysis &amp; Insights</a:t>
            </a:r>
          </a:p>
        </p:txBody>
      </p:sp>
      <p:sp>
        <p:nvSpPr>
          <p:cNvPr id="4" name="TextBox 3"/>
          <p:cNvSpPr txBox="1"/>
          <p:nvPr/>
        </p:nvSpPr>
        <p:spPr>
          <a:xfrm>
            <a:off x="1143000" y="1943100"/>
            <a:ext cx="2743200" cy="1485900"/>
          </a:xfrm>
          <a:prstGeom prst="rect">
            <a:avLst/>
          </a:prstGeom>
          <a:noFill/>
        </p:spPr>
        <p:txBody>
          <a:bodyPr wrap="square">
            <a:spAutoFit/>
          </a:bodyPr>
          <a:lstStyle/>
          <a:p>
            <a:pPr>
              <a:defRPr sz="1800" b="0">
                <a:solidFill>
                  <a:srgbClr val="059669"/>
                </a:solidFill>
                <a:latin typeface="Source Sans Pro"/>
              </a:defRPr>
            </a:pPr>
            <a:r>
              <a:t>Industry Trends:</a:t>
            </a:r>
          </a:p>
          <a:p>
            <a:pPr>
              <a:defRPr sz="1400" b="0">
                <a:solidFill>
                  <a:srgbClr val="059669"/>
                </a:solidFill>
                <a:latin typeface="Source Sans Pro"/>
              </a:defRPr>
            </a:pPr>
            <a:r>
              <a:t>• New Openings Operations Staffing Product Updates Hospitality Now Stories for the Restaurant Community Subscribe Design</a:t>
            </a:r>
          </a:p>
        </p:txBody>
      </p:sp>
      <p:sp>
        <p:nvSpPr>
          <p:cNvPr id="5" name="TextBox 4"/>
          <p:cNvSpPr txBox="1"/>
          <p:nvPr/>
        </p:nvSpPr>
        <p:spPr>
          <a:xfrm>
            <a:off x="3886200" y="1943100"/>
            <a:ext cx="2743200" cy="1485900"/>
          </a:xfrm>
          <a:prstGeom prst="rect">
            <a:avLst/>
          </a:prstGeom>
          <a:noFill/>
        </p:spPr>
        <p:txBody>
          <a:bodyPr wrap="square">
            <a:spAutoFit/>
          </a:bodyPr>
          <a:lstStyle/>
          <a:p>
            <a:pPr>
              <a:defRPr sz="1800" b="0">
                <a:solidFill>
                  <a:srgbClr val="059669"/>
                </a:solidFill>
                <a:latin typeface="Source Sans Pro"/>
              </a:defRPr>
            </a:pPr>
            <a:r>
              <a:t>Key Competitors:</a:t>
            </a:r>
          </a:p>
          <a:p>
            <a:pPr>
              <a:defRPr sz="1400" b="0">
                <a:solidFill>
                  <a:srgbClr val="059669"/>
                </a:solidFill>
                <a:latin typeface="Source Sans Pro"/>
              </a:defRPr>
            </a:pPr>
            <a:r>
              <a:t>• Psychology</a:t>
            </a:r>
          </a:p>
          <a:p>
            <a:pPr>
              <a:defRPr sz="1400" b="0">
                <a:solidFill>
                  <a:srgbClr val="059669"/>
                </a:solidFill>
                <a:latin typeface="Source Sans Pro"/>
              </a:defRPr>
            </a:pPr>
            <a:r>
              <a:t>• How New</a:t>
            </a:r>
          </a:p>
          <a:p>
            <a:pPr>
              <a:defRPr sz="1400" b="0">
                <a:solidFill>
                  <a:srgbClr val="059669"/>
                </a:solidFill>
                <a:latin typeface="Source Sans Pro"/>
              </a:defRPr>
            </a:pPr>
            <a:r>
              <a:t>• JS</a:t>
            </a:r>
          </a:p>
          <a:p>
            <a:pPr>
              <a:defRPr sz="1400" b="0">
                <a:solidFill>
                  <a:srgbClr val="059669"/>
                </a:solidFill>
                <a:latin typeface="Source Sans Pro"/>
              </a:defRPr>
            </a:pPr>
            <a:r>
              <a:t>• Menu Website</a:t>
            </a:r>
          </a:p>
          <a:p>
            <a:pPr>
              <a:defRPr sz="1400" b="0">
                <a:solidFill>
                  <a:srgbClr val="059669"/>
                </a:solidFill>
                <a:latin typeface="Source Sans Pro"/>
              </a:defRPr>
            </a:pPr>
            <a:r>
              <a:t>• Generations Are</a:t>
            </a:r>
          </a:p>
          <a:p>
            <a:pPr>
              <a:defRPr sz="1400" b="0">
                <a:solidFill>
                  <a:srgbClr val="059669"/>
                </a:solidFill>
                <a:latin typeface="Source Sans Pro"/>
              </a:defRPr>
            </a:pPr>
            <a:r>
              <a:t>• Keep Guests</a:t>
            </a:r>
          </a:p>
        </p:txBody>
      </p:sp>
      <p:sp>
        <p:nvSpPr>
          <p:cNvPr id="6" name="TextBox 5"/>
          <p:cNvSpPr txBox="1"/>
          <p:nvPr/>
        </p:nvSpPr>
        <p:spPr>
          <a:xfrm>
            <a:off x="6629400" y="1943100"/>
            <a:ext cx="2057400" cy="1485900"/>
          </a:xfrm>
          <a:prstGeom prst="rect">
            <a:avLst/>
          </a:prstGeom>
          <a:noFill/>
        </p:spPr>
        <p:txBody>
          <a:bodyPr wrap="square">
            <a:spAutoFit/>
          </a:bodyPr>
          <a:lstStyle/>
          <a:p>
            <a:pPr>
              <a:defRPr sz="1800" b="0">
                <a:solidFill>
                  <a:srgbClr val="059669"/>
                </a:solidFill>
                <a:latin typeface="Source Sans Pro"/>
              </a:defRPr>
            </a:pPr>
            <a:r>
              <a:t>Design Styles:</a:t>
            </a:r>
          </a:p>
          <a:p>
            <a:pPr>
              <a:defRPr sz="1400" b="0">
                <a:solidFill>
                  <a:srgbClr val="059669"/>
                </a:solidFill>
                <a:latin typeface="Source Sans Pro"/>
              </a:defRPr>
            </a:pPr>
            <a:r>
              <a:t>• modern</a:t>
            </a:r>
          </a:p>
          <a:p>
            <a:pPr>
              <a:defRPr sz="1400" b="0">
                <a:solidFill>
                  <a:srgbClr val="059669"/>
                </a:solidFill>
                <a:latin typeface="Source Sans Pro"/>
              </a:defRPr>
            </a:pPr>
            <a:r>
              <a:t>• bold</a:t>
            </a:r>
          </a:p>
          <a:p>
            <a:pPr>
              <a:defRPr sz="1400" b="0">
                <a:solidFill>
                  <a:srgbClr val="059669"/>
                </a:solidFill>
                <a:latin typeface="Source Sans Pro"/>
              </a:defRPr>
            </a:pPr>
            <a:r>
              <a:t>• creative</a:t>
            </a:r>
          </a:p>
          <a:p>
            <a:pPr>
              <a:defRPr sz="1400" b="0">
                <a:solidFill>
                  <a:srgbClr val="059669"/>
                </a:solidFill>
                <a:latin typeface="Source Sans Pro"/>
              </a:defRPr>
            </a:pPr>
            <a:r>
              <a:t>• elegant</a:t>
            </a:r>
          </a:p>
        </p:txBody>
      </p:sp>
      <p:sp>
        <p:nvSpPr>
          <p:cNvPr id="7" name="TextBox 6"/>
          <p:cNvSpPr txBox="1"/>
          <p:nvPr/>
        </p:nvSpPr>
        <p:spPr>
          <a:xfrm>
            <a:off x="457200" y="5657850"/>
            <a:ext cx="4114800" cy="742950"/>
          </a:xfrm>
          <a:prstGeom prst="rect">
            <a:avLst/>
          </a:prstGeom>
          <a:noFill/>
        </p:spPr>
        <p:txBody>
          <a:bodyPr wrap="none">
            <a:spAutoFit/>
          </a:bodyPr>
          <a:lstStyle/>
          <a:p>
            <a:pPr algn="l">
              <a:defRPr sz="1000" b="0">
                <a:solidFill>
                  <a:srgbClr val="059669"/>
                </a:solidFill>
                <a:latin typeface="Source Sans Pro"/>
              </a:defRPr>
            </a:pPr>
            <a:r>
              <a:t>Chaayos</a:t>
            </a:r>
          </a:p>
        </p:txBody>
      </p:sp>
      <p:sp>
        <p:nvSpPr>
          <p:cNvPr id="8" name="TextBox 7"/>
          <p:cNvSpPr txBox="1"/>
          <p:nvPr/>
        </p:nvSpPr>
        <p:spPr>
          <a:xfrm>
            <a:off x="4572000" y="5657850"/>
            <a:ext cx="4114800" cy="742950"/>
          </a:xfrm>
          <a:prstGeom prst="rect">
            <a:avLst/>
          </a:prstGeom>
          <a:noFill/>
        </p:spPr>
        <p:txBody>
          <a:bodyPr wrap="none">
            <a:spAutoFit/>
          </a:bodyPr>
          <a:lstStyle/>
          <a:p>
            <a:pPr algn="r">
              <a:defRPr sz="1000" b="0">
                <a:solidFill>
                  <a:srgbClr val="059669"/>
                </a:solidFill>
                <a:latin typeface="Source Sans Pro"/>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059669"/>
                </a:solidFill>
                <a:latin typeface="Inter"/>
              </a:defRPr>
            </a:pPr>
            <a:r>
              <a:t>Brand Positioning</a:t>
            </a:r>
          </a:p>
        </p:txBody>
      </p:sp>
      <p:sp>
        <p:nvSpPr>
          <p:cNvPr id="4" name="TextBox 3"/>
          <p:cNvSpPr txBox="1"/>
          <p:nvPr/>
        </p:nvSpPr>
        <p:spPr>
          <a:xfrm>
            <a:off x="1143000" y="1943100"/>
            <a:ext cx="4114800" cy="1485900"/>
          </a:xfrm>
          <a:prstGeom prst="rect">
            <a:avLst/>
          </a:prstGeom>
          <a:noFill/>
        </p:spPr>
        <p:txBody>
          <a:bodyPr wrap="square">
            <a:spAutoFit/>
          </a:bodyPr>
          <a:lstStyle/>
          <a:p>
            <a:pPr>
              <a:defRPr sz="1600" b="0">
                <a:solidFill>
                  <a:srgbClr val="059669"/>
                </a:solidFill>
                <a:latin typeface="Source Sans Pro"/>
              </a:defRPr>
            </a:pPr>
            <a:r>
              <a:t>Unique Value Proposition:</a:t>
            </a:r>
          </a:p>
          <a:p>
            <a:pPr>
              <a:defRPr sz="1400" b="0">
                <a:solidFill>
                  <a:srgbClr val="059669"/>
                </a:solidFill>
                <a:latin typeface="Source Sans Pro"/>
              </a:defRPr>
            </a:pPr>
            <a:r>
              <a:t>Distinctive Food &amp; Beverage (F&amp;B), Quick Service Restaurants (QSR), Café/Tea Retail solution focused on Urban millennials, Young professionals, Office-goers, Students, Tea enthusiasts, Digital-savvy consumers, Health-conscious individuals, People seeking a modern chai café experience.</a:t>
            </a:r>
          </a:p>
        </p:txBody>
      </p:sp>
      <p:sp>
        <p:nvSpPr>
          <p:cNvPr id="5" name="TextBox 4"/>
          <p:cNvSpPr txBox="1"/>
          <p:nvPr/>
        </p:nvSpPr>
        <p:spPr>
          <a:xfrm>
            <a:off x="5257800" y="1943100"/>
            <a:ext cx="3429000" cy="1485900"/>
          </a:xfrm>
          <a:prstGeom prst="rect">
            <a:avLst/>
          </a:prstGeom>
          <a:noFill/>
        </p:spPr>
        <p:txBody>
          <a:bodyPr wrap="square">
            <a:spAutoFit/>
          </a:bodyPr>
          <a:lstStyle/>
          <a:p>
            <a:pPr>
              <a:defRPr sz="1600" b="0">
                <a:solidFill>
                  <a:srgbClr val="059669"/>
                </a:solidFill>
                <a:latin typeface="Source Sans Pro"/>
              </a:defRPr>
            </a:pPr>
            <a:r>
              <a:t>Brand Promise:</a:t>
            </a:r>
          </a:p>
          <a:p>
            <a:pPr>
              <a:defRPr sz="1400" b="0">
                <a:solidFill>
                  <a:srgbClr val="059669"/>
                </a:solidFill>
                <a:latin typeface="Source Sans Pro"/>
              </a:defRPr>
            </a:pPr>
            <a:r>
              <a:t>Empowering Urban millennials, Young professionals, Office-goers, Students, Tea enthusiasts, Digital-savvy consumers, Health-conscious individuals, People seeking a modern chai café experience. through innovative Food &amp; Beverage (F&amp;B), Quick Service Restaurants (QSR), Café/Tea Retail solutions</a:t>
            </a:r>
          </a:p>
        </p:txBody>
      </p:sp>
      <p:sp>
        <p:nvSpPr>
          <p:cNvPr id="6" name="Rounded Rectangle 5"/>
          <p:cNvSpPr/>
          <p:nvPr/>
        </p:nvSpPr>
        <p:spPr>
          <a:xfrm>
            <a:off x="1143000" y="3520440"/>
            <a:ext cx="1280160" cy="560070"/>
          </a:xfrm>
          <a:prstGeom prst="roundRect">
            <a:avLst/>
          </a:prstGeom>
          <a:solidFill>
            <a:srgbClr val="65A30D"/>
          </a:solidFill>
          <a:ln w="12700">
            <a:solidFill>
              <a:srgbClr val="65A30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3429000"/>
            <a:ext cx="1371600" cy="742950"/>
          </a:xfrm>
          <a:prstGeom prst="rect">
            <a:avLst/>
          </a:prstGeom>
          <a:noFill/>
        </p:spPr>
        <p:txBody>
          <a:bodyPr wrap="none" anchor="ctr">
            <a:spAutoFit/>
          </a:bodyPr>
          <a:lstStyle/>
          <a:p>
            <a:pPr algn="ctr">
              <a:defRPr sz="1200" b="0">
                <a:solidFill>
                  <a:srgbClr val="059669"/>
                </a:solidFill>
                <a:latin typeface="Source Sans Pro"/>
              </a:defRPr>
            </a:pPr>
            <a:r>
              <a:t>innovative</a:t>
            </a:r>
          </a:p>
        </p:txBody>
      </p:sp>
      <p:sp>
        <p:nvSpPr>
          <p:cNvPr id="8" name="Rounded Rectangle 7"/>
          <p:cNvSpPr/>
          <p:nvPr/>
        </p:nvSpPr>
        <p:spPr>
          <a:xfrm>
            <a:off x="2514600" y="3520440"/>
            <a:ext cx="1280160" cy="560070"/>
          </a:xfrm>
          <a:prstGeom prst="roundRect">
            <a:avLst/>
          </a:prstGeom>
          <a:solidFill>
            <a:srgbClr val="65A30D"/>
          </a:solidFill>
          <a:ln w="12700">
            <a:solidFill>
              <a:srgbClr val="65A30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14600" y="3429000"/>
            <a:ext cx="1371600" cy="742950"/>
          </a:xfrm>
          <a:prstGeom prst="rect">
            <a:avLst/>
          </a:prstGeom>
          <a:noFill/>
        </p:spPr>
        <p:txBody>
          <a:bodyPr wrap="none" anchor="ctr">
            <a:spAutoFit/>
          </a:bodyPr>
          <a:lstStyle/>
          <a:p>
            <a:pPr algn="ctr">
              <a:defRPr sz="1200" b="0">
                <a:solidFill>
                  <a:srgbClr val="059669"/>
                </a:solidFill>
                <a:latin typeface="Source Sans Pro"/>
              </a:defRPr>
            </a:pPr>
            <a:r>
              <a:t>forward-thinking</a:t>
            </a:r>
          </a:p>
        </p:txBody>
      </p:sp>
      <p:sp>
        <p:nvSpPr>
          <p:cNvPr id="10" name="Rounded Rectangle 9"/>
          <p:cNvSpPr/>
          <p:nvPr/>
        </p:nvSpPr>
        <p:spPr>
          <a:xfrm>
            <a:off x="3886200" y="3520440"/>
            <a:ext cx="1280160" cy="560070"/>
          </a:xfrm>
          <a:prstGeom prst="roundRect">
            <a:avLst/>
          </a:prstGeom>
          <a:solidFill>
            <a:srgbClr val="65A30D"/>
          </a:solidFill>
          <a:ln w="12700">
            <a:solidFill>
              <a:srgbClr val="65A30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86200" y="3429000"/>
            <a:ext cx="1371600" cy="742950"/>
          </a:xfrm>
          <a:prstGeom prst="rect">
            <a:avLst/>
          </a:prstGeom>
          <a:noFill/>
        </p:spPr>
        <p:txBody>
          <a:bodyPr wrap="none" anchor="ctr">
            <a:spAutoFit/>
          </a:bodyPr>
          <a:lstStyle/>
          <a:p>
            <a:pPr algn="ctr">
              <a:defRPr sz="1200" b="0">
                <a:solidFill>
                  <a:srgbClr val="059669"/>
                </a:solidFill>
                <a:latin typeface="Source Sans Pro"/>
              </a:defRPr>
            </a:pPr>
            <a:r>
              <a:t>creative</a:t>
            </a:r>
          </a:p>
        </p:txBody>
      </p:sp>
      <p:sp>
        <p:nvSpPr>
          <p:cNvPr id="12" name="Rounded Rectangle 11"/>
          <p:cNvSpPr/>
          <p:nvPr/>
        </p:nvSpPr>
        <p:spPr>
          <a:xfrm>
            <a:off x="5257800" y="3520440"/>
            <a:ext cx="1280160" cy="560070"/>
          </a:xfrm>
          <a:prstGeom prst="roundRect">
            <a:avLst/>
          </a:prstGeom>
          <a:solidFill>
            <a:srgbClr val="65A30D"/>
          </a:solidFill>
          <a:ln w="12700">
            <a:solidFill>
              <a:srgbClr val="65A30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57800" y="3429000"/>
            <a:ext cx="1371600" cy="742950"/>
          </a:xfrm>
          <a:prstGeom prst="rect">
            <a:avLst/>
          </a:prstGeom>
          <a:noFill/>
        </p:spPr>
        <p:txBody>
          <a:bodyPr wrap="none" anchor="ctr">
            <a:spAutoFit/>
          </a:bodyPr>
          <a:lstStyle/>
          <a:p>
            <a:pPr algn="ctr">
              <a:defRPr sz="1200" b="0">
                <a:solidFill>
                  <a:srgbClr val="059669"/>
                </a:solidFill>
                <a:latin typeface="Source Sans Pro"/>
              </a:defRPr>
            </a:pPr>
            <a:r>
              <a:t>reliable</a:t>
            </a:r>
          </a:p>
        </p:txBody>
      </p:sp>
      <p:sp>
        <p:nvSpPr>
          <p:cNvPr id="14" name="Rounded Rectangle 13"/>
          <p:cNvSpPr/>
          <p:nvPr/>
        </p:nvSpPr>
        <p:spPr>
          <a:xfrm>
            <a:off x="6629400" y="3520440"/>
            <a:ext cx="1280160" cy="560070"/>
          </a:xfrm>
          <a:prstGeom prst="roundRect">
            <a:avLst/>
          </a:prstGeom>
          <a:solidFill>
            <a:srgbClr val="65A30D"/>
          </a:solidFill>
          <a:ln w="12700">
            <a:solidFill>
              <a:srgbClr val="65A30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29400" y="3429000"/>
            <a:ext cx="1371600" cy="742950"/>
          </a:xfrm>
          <a:prstGeom prst="rect">
            <a:avLst/>
          </a:prstGeom>
          <a:noFill/>
        </p:spPr>
        <p:txBody>
          <a:bodyPr wrap="none" anchor="ctr">
            <a:spAutoFit/>
          </a:bodyPr>
          <a:lstStyle/>
          <a:p>
            <a:pPr algn="ctr">
              <a:defRPr sz="1200" b="0">
                <a:solidFill>
                  <a:srgbClr val="059669"/>
                </a:solidFill>
                <a:latin typeface="Source Sans Pro"/>
              </a:defRPr>
            </a:pPr>
            <a:r>
              <a:t>premium</a:t>
            </a:r>
          </a:p>
        </p:txBody>
      </p:sp>
      <p:sp>
        <p:nvSpPr>
          <p:cNvPr id="16" name="TextBox 15"/>
          <p:cNvSpPr txBox="1"/>
          <p:nvPr/>
        </p:nvSpPr>
        <p:spPr>
          <a:xfrm>
            <a:off x="1143000" y="4171950"/>
            <a:ext cx="7543800" cy="1485900"/>
          </a:xfrm>
          <a:prstGeom prst="rect">
            <a:avLst/>
          </a:prstGeom>
          <a:noFill/>
        </p:spPr>
        <p:txBody>
          <a:bodyPr wrap="square">
            <a:spAutoFit/>
          </a:bodyPr>
          <a:lstStyle/>
          <a:p>
            <a:pPr>
              <a:defRPr sz="1600" b="0">
                <a:solidFill>
                  <a:srgbClr val="059669"/>
                </a:solidFill>
                <a:latin typeface="Source Sans Pro"/>
              </a:defRPr>
            </a:pPr>
            <a:r>
              <a:t>Competitive Advantage:</a:t>
            </a:r>
          </a:p>
          <a:p>
            <a:pPr>
              <a:defRPr sz="1400" b="0">
                <a:solidFill>
                  <a:srgbClr val="059669"/>
                </a:solidFill>
                <a:latin typeface="Source Sans Pro"/>
              </a:defRPr>
            </a:pPr>
            <a:r>
              <a:t>User-centric design approach</a:t>
            </a:r>
          </a:p>
        </p:txBody>
      </p:sp>
      <p:sp>
        <p:nvSpPr>
          <p:cNvPr id="17" name="TextBox 16"/>
          <p:cNvSpPr txBox="1"/>
          <p:nvPr/>
        </p:nvSpPr>
        <p:spPr>
          <a:xfrm>
            <a:off x="457200" y="5657850"/>
            <a:ext cx="4114800" cy="742950"/>
          </a:xfrm>
          <a:prstGeom prst="rect">
            <a:avLst/>
          </a:prstGeom>
          <a:noFill/>
        </p:spPr>
        <p:txBody>
          <a:bodyPr wrap="none">
            <a:spAutoFit/>
          </a:bodyPr>
          <a:lstStyle/>
          <a:p>
            <a:pPr algn="l">
              <a:defRPr sz="1000" b="0">
                <a:solidFill>
                  <a:srgbClr val="059669"/>
                </a:solidFill>
                <a:latin typeface="Source Sans Pro"/>
              </a:defRPr>
            </a:pPr>
            <a:r>
              <a:t>Chaayos</a:t>
            </a:r>
          </a:p>
        </p:txBody>
      </p:sp>
      <p:sp>
        <p:nvSpPr>
          <p:cNvPr id="18" name="TextBox 17"/>
          <p:cNvSpPr txBox="1"/>
          <p:nvPr/>
        </p:nvSpPr>
        <p:spPr>
          <a:xfrm>
            <a:off x="4572000" y="5657850"/>
            <a:ext cx="4114800" cy="742950"/>
          </a:xfrm>
          <a:prstGeom prst="rect">
            <a:avLst/>
          </a:prstGeom>
          <a:noFill/>
        </p:spPr>
        <p:txBody>
          <a:bodyPr wrap="none">
            <a:spAutoFit/>
          </a:bodyPr>
          <a:lstStyle/>
          <a:p>
            <a:pPr algn="r">
              <a:defRPr sz="1000" b="0">
                <a:solidFill>
                  <a:srgbClr val="059669"/>
                </a:solidFill>
                <a:latin typeface="Source Sans Pro"/>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059669"/>
                </a:solidFill>
                <a:latin typeface="Inter"/>
              </a:defRPr>
            </a:pPr>
            <a:r>
              <a:t>Logo Variations (3 designs)</a:t>
            </a:r>
          </a:p>
        </p:txBody>
      </p:sp>
      <p:sp>
        <p:nvSpPr>
          <p:cNvPr id="4" name="Rectangle 3"/>
          <p:cNvSpPr/>
          <p:nvPr/>
        </p:nvSpPr>
        <p:spPr>
          <a:xfrm>
            <a:off x="1051560" y="1851660"/>
            <a:ext cx="1554480" cy="16687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ayos_logo_1_20250828_101601_d7821e31.png"/>
          <p:cNvPicPr>
            <a:picLocks noChangeAspect="1"/>
          </p:cNvPicPr>
          <p:nvPr/>
        </p:nvPicPr>
        <p:blipFill>
          <a:blip r:embed="rId2"/>
          <a:stretch>
            <a:fillRect/>
          </a:stretch>
        </p:blipFill>
        <p:spPr>
          <a:xfrm>
            <a:off x="1143000" y="1943100"/>
            <a:ext cx="1371600" cy="1485900"/>
          </a:xfrm>
          <a:prstGeom prst="rect">
            <a:avLst/>
          </a:prstGeom>
        </p:spPr>
      </p:pic>
      <p:sp>
        <p:nvSpPr>
          <p:cNvPr id="6" name="TextBox 5"/>
          <p:cNvSpPr txBox="1"/>
          <p:nvPr/>
        </p:nvSpPr>
        <p:spPr>
          <a:xfrm>
            <a:off x="1143000" y="3429000"/>
            <a:ext cx="1371600" cy="742950"/>
          </a:xfrm>
          <a:prstGeom prst="rect">
            <a:avLst/>
          </a:prstGeom>
          <a:noFill/>
        </p:spPr>
        <p:txBody>
          <a:bodyPr wrap="none">
            <a:spAutoFit/>
          </a:bodyPr>
          <a:lstStyle/>
          <a:p>
            <a:pPr algn="ctr">
              <a:defRPr sz="1200" b="0">
                <a:solidFill>
                  <a:srgbClr val="059669"/>
                </a:solidFill>
                <a:latin typeface="Source Sans Pro"/>
              </a:defRPr>
            </a:pPr>
            <a:r>
              <a:t>Version 1</a:t>
            </a:r>
          </a:p>
        </p:txBody>
      </p:sp>
      <p:sp>
        <p:nvSpPr>
          <p:cNvPr id="7" name="Rectangle 6"/>
          <p:cNvSpPr/>
          <p:nvPr/>
        </p:nvSpPr>
        <p:spPr>
          <a:xfrm>
            <a:off x="3108960" y="1851660"/>
            <a:ext cx="1554480" cy="16687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aayos_logo_2_20250828_101617_487fb825.png"/>
          <p:cNvPicPr>
            <a:picLocks noChangeAspect="1"/>
          </p:cNvPicPr>
          <p:nvPr/>
        </p:nvPicPr>
        <p:blipFill>
          <a:blip r:embed="rId3"/>
          <a:stretch>
            <a:fillRect/>
          </a:stretch>
        </p:blipFill>
        <p:spPr>
          <a:xfrm>
            <a:off x="3200400" y="1943100"/>
            <a:ext cx="1371600" cy="1485900"/>
          </a:xfrm>
          <a:prstGeom prst="rect">
            <a:avLst/>
          </a:prstGeom>
        </p:spPr>
      </p:pic>
      <p:sp>
        <p:nvSpPr>
          <p:cNvPr id="9" name="TextBox 8"/>
          <p:cNvSpPr txBox="1"/>
          <p:nvPr/>
        </p:nvSpPr>
        <p:spPr>
          <a:xfrm>
            <a:off x="3200400" y="3429000"/>
            <a:ext cx="1371600" cy="742950"/>
          </a:xfrm>
          <a:prstGeom prst="rect">
            <a:avLst/>
          </a:prstGeom>
          <a:noFill/>
        </p:spPr>
        <p:txBody>
          <a:bodyPr wrap="none">
            <a:spAutoFit/>
          </a:bodyPr>
          <a:lstStyle/>
          <a:p>
            <a:pPr algn="ctr">
              <a:defRPr sz="1200" b="0">
                <a:solidFill>
                  <a:srgbClr val="059669"/>
                </a:solidFill>
                <a:latin typeface="Source Sans Pro"/>
              </a:defRPr>
            </a:pPr>
            <a:r>
              <a:t>Version 2</a:t>
            </a:r>
          </a:p>
        </p:txBody>
      </p:sp>
      <p:sp>
        <p:nvSpPr>
          <p:cNvPr id="10" name="Rectangle 9"/>
          <p:cNvSpPr/>
          <p:nvPr/>
        </p:nvSpPr>
        <p:spPr>
          <a:xfrm>
            <a:off x="5166360" y="1851660"/>
            <a:ext cx="1554480" cy="16687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aayos_logo_3_20250828_101635_8bcb456f.png"/>
          <p:cNvPicPr>
            <a:picLocks noChangeAspect="1"/>
          </p:cNvPicPr>
          <p:nvPr/>
        </p:nvPicPr>
        <p:blipFill>
          <a:blip r:embed="rId4"/>
          <a:stretch>
            <a:fillRect/>
          </a:stretch>
        </p:blipFill>
        <p:spPr>
          <a:xfrm>
            <a:off x="5257800" y="1943100"/>
            <a:ext cx="1371600" cy="1485900"/>
          </a:xfrm>
          <a:prstGeom prst="rect">
            <a:avLst/>
          </a:prstGeom>
        </p:spPr>
      </p:pic>
      <p:sp>
        <p:nvSpPr>
          <p:cNvPr id="12" name="TextBox 11"/>
          <p:cNvSpPr txBox="1"/>
          <p:nvPr/>
        </p:nvSpPr>
        <p:spPr>
          <a:xfrm>
            <a:off x="5257800" y="3429000"/>
            <a:ext cx="1371600" cy="742950"/>
          </a:xfrm>
          <a:prstGeom prst="rect">
            <a:avLst/>
          </a:prstGeom>
          <a:noFill/>
        </p:spPr>
        <p:txBody>
          <a:bodyPr wrap="none">
            <a:spAutoFit/>
          </a:bodyPr>
          <a:lstStyle/>
          <a:p>
            <a:pPr algn="ctr">
              <a:defRPr sz="1200" b="0">
                <a:solidFill>
                  <a:srgbClr val="059669"/>
                </a:solidFill>
                <a:latin typeface="Source Sans Pro"/>
              </a:defRPr>
            </a:pPr>
            <a:r>
              <a:t>Version 3</a:t>
            </a:r>
          </a:p>
        </p:txBody>
      </p:sp>
      <p:sp>
        <p:nvSpPr>
          <p:cNvPr id="13" name="TextBox 12"/>
          <p:cNvSpPr txBox="1"/>
          <p:nvPr/>
        </p:nvSpPr>
        <p:spPr>
          <a:xfrm>
            <a:off x="1143000" y="4914900"/>
            <a:ext cx="7543800" cy="742950"/>
          </a:xfrm>
          <a:prstGeom prst="rect">
            <a:avLst/>
          </a:prstGeom>
          <a:noFill/>
        </p:spPr>
        <p:txBody>
          <a:bodyPr wrap="none">
            <a:spAutoFit/>
          </a:bodyPr>
          <a:lstStyle/>
          <a:p>
            <a:pPr algn="ctr">
              <a:defRPr sz="1200" b="0">
                <a:solidFill>
                  <a:srgbClr val="059669"/>
                </a:solidFill>
                <a:latin typeface="Source Sans Pro"/>
              </a:defRPr>
            </a:pPr>
            <a:r>
              <a:t>Minimum size: 0.5 inches • Clearspace: 0.25 inches on all sides</a:t>
            </a:r>
          </a:p>
        </p:txBody>
      </p:sp>
      <p:sp>
        <p:nvSpPr>
          <p:cNvPr id="14" name="TextBox 13"/>
          <p:cNvSpPr txBox="1"/>
          <p:nvPr/>
        </p:nvSpPr>
        <p:spPr>
          <a:xfrm>
            <a:off x="457200" y="5657850"/>
            <a:ext cx="4114800" cy="742950"/>
          </a:xfrm>
          <a:prstGeom prst="rect">
            <a:avLst/>
          </a:prstGeom>
          <a:noFill/>
        </p:spPr>
        <p:txBody>
          <a:bodyPr wrap="none">
            <a:spAutoFit/>
          </a:bodyPr>
          <a:lstStyle/>
          <a:p>
            <a:pPr algn="l">
              <a:defRPr sz="1000" b="0">
                <a:solidFill>
                  <a:srgbClr val="059669"/>
                </a:solidFill>
                <a:latin typeface="Source Sans Pro"/>
              </a:defRPr>
            </a:pPr>
            <a:r>
              <a:t>Chaayos</a:t>
            </a:r>
          </a:p>
        </p:txBody>
      </p:sp>
      <p:sp>
        <p:nvSpPr>
          <p:cNvPr id="15" name="TextBox 14"/>
          <p:cNvSpPr txBox="1"/>
          <p:nvPr/>
        </p:nvSpPr>
        <p:spPr>
          <a:xfrm>
            <a:off x="4572000" y="5657850"/>
            <a:ext cx="4114800" cy="742950"/>
          </a:xfrm>
          <a:prstGeom prst="rect">
            <a:avLst/>
          </a:prstGeom>
          <a:noFill/>
        </p:spPr>
        <p:txBody>
          <a:bodyPr wrap="none">
            <a:spAutoFit/>
          </a:bodyPr>
          <a:lstStyle/>
          <a:p>
            <a:pPr algn="r">
              <a:defRPr sz="1000" b="0">
                <a:solidFill>
                  <a:srgbClr val="059669"/>
                </a:solidFill>
                <a:latin typeface="Source Sans Pro"/>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059669"/>
                </a:solidFill>
                <a:latin typeface="Inter"/>
              </a:defRPr>
            </a:pPr>
            <a:r>
              <a:t>Color Palette</a:t>
            </a:r>
          </a:p>
        </p:txBody>
      </p:sp>
      <p:sp>
        <p:nvSpPr>
          <p:cNvPr id="4" name="Rectangle 3"/>
          <p:cNvSpPr/>
          <p:nvPr/>
        </p:nvSpPr>
        <p:spPr>
          <a:xfrm>
            <a:off x="1143000" y="1943100"/>
            <a:ext cx="2057400" cy="1485900"/>
          </a:xfrm>
          <a:prstGeom prst="rect">
            <a:avLst/>
          </a:prstGeom>
          <a:solidFill>
            <a:srgbClr val="059669"/>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3429000"/>
            <a:ext cx="2057400" cy="1485900"/>
          </a:xfrm>
          <a:prstGeom prst="rect">
            <a:avLst/>
          </a:prstGeom>
          <a:noFill/>
        </p:spPr>
        <p:txBody>
          <a:bodyPr wrap="square">
            <a:spAutoFit/>
          </a:bodyPr>
          <a:lstStyle/>
          <a:p>
            <a:pPr>
              <a:defRPr sz="1000" b="0">
                <a:solidFill>
                  <a:srgbClr val="059669"/>
                </a:solidFill>
                <a:latin typeface="Source Sans Pro"/>
              </a:defRPr>
            </a:pPr>
            <a:r>
              <a:t>Primary</a:t>
            </a:r>
          </a:p>
          <a:p>
            <a:pPr>
              <a:defRPr sz="1000" b="0">
                <a:solidFill>
                  <a:srgbClr val="059669"/>
                </a:solidFill>
                <a:latin typeface="Source Sans Pro"/>
              </a:defRPr>
            </a:pPr>
            <a:r>
              <a:t>#059669</a:t>
            </a:r>
          </a:p>
          <a:p>
            <a:pPr>
              <a:defRPr sz="1000" b="0">
                <a:solidFill>
                  <a:srgbClr val="059669"/>
                </a:solidFill>
                <a:latin typeface="Source Sans Pro"/>
              </a:defRPr>
            </a:pPr>
            <a:r>
              <a:t>RGB(5, 150, 105)</a:t>
            </a:r>
          </a:p>
          <a:p>
            <a:pPr>
              <a:defRPr sz="1000" b="0">
                <a:solidFill>
                  <a:srgbClr val="059669"/>
                </a:solidFill>
                <a:latin typeface="Source Sans Pro"/>
              </a:defRPr>
            </a:pPr>
            <a:r>
              <a:t>CMYK(96, 0, 30, 41)</a:t>
            </a:r>
          </a:p>
          <a:p>
            <a:pPr>
              <a:defRPr sz="1000" b="0">
                <a:solidFill>
                  <a:srgbClr val="059669"/>
                </a:solidFill>
                <a:latin typeface="Source Sans Pro"/>
              </a:defRPr>
            </a:pPr>
            <a:r>
              <a:t>Use Light Text</a:t>
            </a:r>
          </a:p>
        </p:txBody>
      </p:sp>
      <p:sp>
        <p:nvSpPr>
          <p:cNvPr id="6" name="Rectangle 5"/>
          <p:cNvSpPr/>
          <p:nvPr/>
        </p:nvSpPr>
        <p:spPr>
          <a:xfrm>
            <a:off x="3886200" y="1943100"/>
            <a:ext cx="2057400" cy="1485900"/>
          </a:xfrm>
          <a:prstGeom prst="rect">
            <a:avLst/>
          </a:prstGeom>
          <a:solidFill>
            <a:srgbClr val="BE185D"/>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86200" y="3429000"/>
            <a:ext cx="2057400" cy="1485900"/>
          </a:xfrm>
          <a:prstGeom prst="rect">
            <a:avLst/>
          </a:prstGeom>
          <a:noFill/>
        </p:spPr>
        <p:txBody>
          <a:bodyPr wrap="square">
            <a:spAutoFit/>
          </a:bodyPr>
          <a:lstStyle/>
          <a:p>
            <a:pPr>
              <a:defRPr sz="1000" b="0">
                <a:solidFill>
                  <a:srgbClr val="059669"/>
                </a:solidFill>
                <a:latin typeface="Source Sans Pro"/>
              </a:defRPr>
            </a:pPr>
            <a:r>
              <a:t>Secondary</a:t>
            </a:r>
          </a:p>
          <a:p>
            <a:pPr>
              <a:defRPr sz="1000" b="0">
                <a:solidFill>
                  <a:srgbClr val="059669"/>
                </a:solidFill>
                <a:latin typeface="Source Sans Pro"/>
              </a:defRPr>
            </a:pPr>
            <a:r>
              <a:t>#BE185D</a:t>
            </a:r>
          </a:p>
          <a:p>
            <a:pPr>
              <a:defRPr sz="1000" b="0">
                <a:solidFill>
                  <a:srgbClr val="059669"/>
                </a:solidFill>
                <a:latin typeface="Source Sans Pro"/>
              </a:defRPr>
            </a:pPr>
            <a:r>
              <a:t>RGB(190, 24, 93)</a:t>
            </a:r>
          </a:p>
          <a:p>
            <a:pPr>
              <a:defRPr sz="1000" b="0">
                <a:solidFill>
                  <a:srgbClr val="059669"/>
                </a:solidFill>
                <a:latin typeface="Source Sans Pro"/>
              </a:defRPr>
            </a:pPr>
            <a:r>
              <a:t>CMYK(0, 87, 51, 25)</a:t>
            </a:r>
          </a:p>
          <a:p>
            <a:pPr>
              <a:defRPr sz="1000" b="0">
                <a:solidFill>
                  <a:srgbClr val="059669"/>
                </a:solidFill>
                <a:latin typeface="Source Sans Pro"/>
              </a:defRPr>
            </a:pPr>
            <a:r>
              <a:t>Use Light Text</a:t>
            </a:r>
          </a:p>
        </p:txBody>
      </p:sp>
      <p:sp>
        <p:nvSpPr>
          <p:cNvPr id="8" name="Rectangle 7"/>
          <p:cNvSpPr/>
          <p:nvPr/>
        </p:nvSpPr>
        <p:spPr>
          <a:xfrm>
            <a:off x="6629400" y="1943100"/>
            <a:ext cx="2057400" cy="1485900"/>
          </a:xfrm>
          <a:prstGeom prst="rect">
            <a:avLst/>
          </a:prstGeom>
          <a:solidFill>
            <a:srgbClr val="65A30D"/>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9400" y="3429000"/>
            <a:ext cx="2057400" cy="1485900"/>
          </a:xfrm>
          <a:prstGeom prst="rect">
            <a:avLst/>
          </a:prstGeom>
          <a:noFill/>
        </p:spPr>
        <p:txBody>
          <a:bodyPr wrap="square">
            <a:spAutoFit/>
          </a:bodyPr>
          <a:lstStyle/>
          <a:p>
            <a:pPr>
              <a:defRPr sz="1000" b="0">
                <a:solidFill>
                  <a:srgbClr val="059669"/>
                </a:solidFill>
                <a:latin typeface="Source Sans Pro"/>
              </a:defRPr>
            </a:pPr>
            <a:r>
              <a:t>Accent</a:t>
            </a:r>
          </a:p>
          <a:p>
            <a:pPr>
              <a:defRPr sz="1000" b="0">
                <a:solidFill>
                  <a:srgbClr val="059669"/>
                </a:solidFill>
                <a:latin typeface="Source Sans Pro"/>
              </a:defRPr>
            </a:pPr>
            <a:r>
              <a:t>#65A30D</a:t>
            </a:r>
          </a:p>
          <a:p>
            <a:pPr>
              <a:defRPr sz="1000" b="0">
                <a:solidFill>
                  <a:srgbClr val="059669"/>
                </a:solidFill>
                <a:latin typeface="Source Sans Pro"/>
              </a:defRPr>
            </a:pPr>
            <a:r>
              <a:t>RGB(101, 163, 13)</a:t>
            </a:r>
          </a:p>
          <a:p>
            <a:pPr>
              <a:defRPr sz="1000" b="0">
                <a:solidFill>
                  <a:srgbClr val="059669"/>
                </a:solidFill>
                <a:latin typeface="Source Sans Pro"/>
              </a:defRPr>
            </a:pPr>
            <a:r>
              <a:t>CMYK(38, 0, 92, 36)</a:t>
            </a:r>
          </a:p>
          <a:p>
            <a:pPr>
              <a:defRPr sz="1000" b="0">
                <a:solidFill>
                  <a:srgbClr val="059669"/>
                </a:solidFill>
                <a:latin typeface="Source Sans Pro"/>
              </a:defRPr>
            </a:pPr>
            <a:r>
              <a:t>Use Light Text</a:t>
            </a:r>
          </a:p>
        </p:txBody>
      </p:sp>
      <p:sp>
        <p:nvSpPr>
          <p:cNvPr id="10" name="Rectangle 9"/>
          <p:cNvSpPr/>
          <p:nvPr/>
        </p:nvSpPr>
        <p:spPr>
          <a:xfrm>
            <a:off x="1143000" y="5657850"/>
            <a:ext cx="2057400" cy="1485900"/>
          </a:xfrm>
          <a:prstGeom prst="rect">
            <a:avLst/>
          </a:prstGeom>
          <a:solidFill>
            <a:srgbClr val="E11D48"/>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7143750"/>
            <a:ext cx="2057400" cy="1485900"/>
          </a:xfrm>
          <a:prstGeom prst="rect">
            <a:avLst/>
          </a:prstGeom>
          <a:noFill/>
        </p:spPr>
        <p:txBody>
          <a:bodyPr wrap="square">
            <a:spAutoFit/>
          </a:bodyPr>
          <a:lstStyle/>
          <a:p>
            <a:pPr>
              <a:defRPr sz="1000" b="0">
                <a:solidFill>
                  <a:srgbClr val="059669"/>
                </a:solidFill>
                <a:latin typeface="Source Sans Pro"/>
              </a:defRPr>
            </a:pPr>
            <a:r>
              <a:t>Supporting</a:t>
            </a:r>
          </a:p>
          <a:p>
            <a:pPr>
              <a:defRPr sz="1000" b="0">
                <a:solidFill>
                  <a:srgbClr val="059669"/>
                </a:solidFill>
                <a:latin typeface="Source Sans Pro"/>
              </a:defRPr>
            </a:pPr>
            <a:r>
              <a:t>#E11D48</a:t>
            </a:r>
          </a:p>
          <a:p>
            <a:pPr>
              <a:defRPr sz="1000" b="0">
                <a:solidFill>
                  <a:srgbClr val="059669"/>
                </a:solidFill>
                <a:latin typeface="Source Sans Pro"/>
              </a:defRPr>
            </a:pPr>
            <a:r>
              <a:t>RGB(225, 29, 72)</a:t>
            </a:r>
          </a:p>
          <a:p>
            <a:pPr>
              <a:defRPr sz="1000" b="0">
                <a:solidFill>
                  <a:srgbClr val="059669"/>
                </a:solidFill>
                <a:latin typeface="Source Sans Pro"/>
              </a:defRPr>
            </a:pPr>
            <a:r>
              <a:t>CMYK(0, 87, 68, 11)</a:t>
            </a:r>
          </a:p>
          <a:p>
            <a:pPr>
              <a:defRPr sz="1000" b="0">
                <a:solidFill>
                  <a:srgbClr val="059669"/>
                </a:solidFill>
                <a:latin typeface="Source Sans Pro"/>
              </a:defRPr>
            </a:pPr>
            <a:r>
              <a:t>Use Light Text</a:t>
            </a:r>
          </a:p>
        </p:txBody>
      </p:sp>
      <p:sp>
        <p:nvSpPr>
          <p:cNvPr id="12" name="Rectangle 11"/>
          <p:cNvSpPr/>
          <p:nvPr/>
        </p:nvSpPr>
        <p:spPr>
          <a:xfrm>
            <a:off x="3886200" y="5657850"/>
            <a:ext cx="2057400" cy="1485900"/>
          </a:xfrm>
          <a:prstGeom prst="rect">
            <a:avLst/>
          </a:prstGeom>
          <a:solidFill>
            <a:srgbClr val="059669"/>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86200" y="7143750"/>
            <a:ext cx="2057400" cy="1485900"/>
          </a:xfrm>
          <a:prstGeom prst="rect">
            <a:avLst/>
          </a:prstGeom>
          <a:noFill/>
        </p:spPr>
        <p:txBody>
          <a:bodyPr wrap="square">
            <a:spAutoFit/>
          </a:bodyPr>
          <a:lstStyle/>
          <a:p>
            <a:pPr>
              <a:defRPr sz="1000" b="0">
                <a:solidFill>
                  <a:srgbClr val="059669"/>
                </a:solidFill>
                <a:latin typeface="Source Sans Pro"/>
              </a:defRPr>
            </a:pPr>
            <a:r>
              <a:t>Hex_Codes</a:t>
            </a:r>
          </a:p>
          <a:p>
            <a:pPr>
              <a:defRPr sz="1000" b="0">
                <a:solidFill>
                  <a:srgbClr val="059669"/>
                </a:solidFill>
                <a:latin typeface="Source Sans Pro"/>
              </a:defRPr>
            </a:pPr>
            <a:r>
              <a:t>#059669</a:t>
            </a:r>
          </a:p>
          <a:p>
            <a:pPr>
              <a:defRPr sz="1000" b="0">
                <a:solidFill>
                  <a:srgbClr val="059669"/>
                </a:solidFill>
                <a:latin typeface="Source Sans Pro"/>
              </a:defRPr>
            </a:pPr>
            <a:r>
              <a:t>RGB(5, 150, 105)</a:t>
            </a:r>
          </a:p>
          <a:p>
            <a:pPr>
              <a:defRPr sz="1000" b="0">
                <a:solidFill>
                  <a:srgbClr val="059669"/>
                </a:solidFill>
                <a:latin typeface="Source Sans Pro"/>
              </a:defRPr>
            </a:pPr>
            <a:r>
              <a:t>CMYK(96, 0, 30, 41)</a:t>
            </a:r>
          </a:p>
          <a:p>
            <a:pPr>
              <a:defRPr sz="1000" b="0">
                <a:solidFill>
                  <a:srgbClr val="059669"/>
                </a:solidFill>
                <a:latin typeface="Source Sans Pro"/>
              </a:defRPr>
            </a:pPr>
            <a:r>
              <a:t>Use Light Text</a:t>
            </a:r>
          </a:p>
        </p:txBody>
      </p:sp>
      <p:sp>
        <p:nvSpPr>
          <p:cNvPr id="14" name="TextBox 13"/>
          <p:cNvSpPr txBox="1"/>
          <p:nvPr/>
        </p:nvSpPr>
        <p:spPr>
          <a:xfrm>
            <a:off x="457200" y="5657850"/>
            <a:ext cx="4114800" cy="742950"/>
          </a:xfrm>
          <a:prstGeom prst="rect">
            <a:avLst/>
          </a:prstGeom>
          <a:noFill/>
        </p:spPr>
        <p:txBody>
          <a:bodyPr wrap="none">
            <a:spAutoFit/>
          </a:bodyPr>
          <a:lstStyle/>
          <a:p>
            <a:pPr algn="l">
              <a:defRPr sz="1000" b="0">
                <a:solidFill>
                  <a:srgbClr val="059669"/>
                </a:solidFill>
                <a:latin typeface="Source Sans Pro"/>
              </a:defRPr>
            </a:pPr>
            <a:r>
              <a:t>Chaayos</a:t>
            </a:r>
          </a:p>
        </p:txBody>
      </p:sp>
      <p:sp>
        <p:nvSpPr>
          <p:cNvPr id="15" name="TextBox 14"/>
          <p:cNvSpPr txBox="1"/>
          <p:nvPr/>
        </p:nvSpPr>
        <p:spPr>
          <a:xfrm>
            <a:off x="4572000" y="5657850"/>
            <a:ext cx="4114800" cy="742950"/>
          </a:xfrm>
          <a:prstGeom prst="rect">
            <a:avLst/>
          </a:prstGeom>
          <a:noFill/>
        </p:spPr>
        <p:txBody>
          <a:bodyPr wrap="none">
            <a:spAutoFit/>
          </a:bodyPr>
          <a:lstStyle/>
          <a:p>
            <a:pPr algn="r">
              <a:defRPr sz="1000" b="0">
                <a:solidFill>
                  <a:srgbClr val="059669"/>
                </a:solidFill>
                <a:latin typeface="Source Sans Pro"/>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059669"/>
                </a:solidFill>
                <a:latin typeface="Inter"/>
              </a:defRPr>
            </a:pPr>
            <a:r>
              <a:t>Typography</a:t>
            </a:r>
          </a:p>
        </p:txBody>
      </p:sp>
      <p:sp>
        <p:nvSpPr>
          <p:cNvPr id="4" name="TextBox 3"/>
          <p:cNvSpPr txBox="1"/>
          <p:nvPr/>
        </p:nvSpPr>
        <p:spPr>
          <a:xfrm>
            <a:off x="1143000" y="1943100"/>
            <a:ext cx="3429000" cy="742950"/>
          </a:xfrm>
          <a:prstGeom prst="rect">
            <a:avLst/>
          </a:prstGeom>
          <a:noFill/>
        </p:spPr>
        <p:txBody>
          <a:bodyPr wrap="none">
            <a:spAutoFit/>
          </a:bodyPr>
          <a:lstStyle/>
          <a:p>
            <a:pPr>
              <a:defRPr sz="2000" b="0">
                <a:solidFill>
                  <a:srgbClr val="059669"/>
                </a:solidFill>
                <a:latin typeface="Source Sans Pro"/>
              </a:defRPr>
            </a:pPr>
            <a:r>
              <a:t>Primary Font: Inter</a:t>
            </a:r>
          </a:p>
        </p:txBody>
      </p:sp>
      <p:sp>
        <p:nvSpPr>
          <p:cNvPr id="5" name="TextBox 4"/>
          <p:cNvSpPr txBox="1"/>
          <p:nvPr/>
        </p:nvSpPr>
        <p:spPr>
          <a:xfrm>
            <a:off x="1143000" y="2686050"/>
            <a:ext cx="3429000" cy="742950"/>
          </a:xfrm>
          <a:prstGeom prst="rect">
            <a:avLst/>
          </a:prstGeom>
          <a:noFill/>
        </p:spPr>
        <p:txBody>
          <a:bodyPr wrap="none">
            <a:spAutoFit/>
          </a:bodyPr>
          <a:lstStyle/>
          <a:p>
            <a:pPr>
              <a:defRPr sz="3200" b="1">
                <a:solidFill>
                  <a:srgbClr val="059669"/>
                </a:solidFill>
                <a:latin typeface="Inter"/>
              </a:defRPr>
            </a:pPr>
            <a:r>
              <a:t>H1 Heading</a:t>
            </a:r>
          </a:p>
        </p:txBody>
      </p:sp>
      <p:sp>
        <p:nvSpPr>
          <p:cNvPr id="6" name="TextBox 5"/>
          <p:cNvSpPr txBox="1"/>
          <p:nvPr/>
        </p:nvSpPr>
        <p:spPr>
          <a:xfrm>
            <a:off x="1143000" y="3429000"/>
            <a:ext cx="3429000" cy="742950"/>
          </a:xfrm>
          <a:prstGeom prst="rect">
            <a:avLst/>
          </a:prstGeom>
          <a:noFill/>
        </p:spPr>
        <p:txBody>
          <a:bodyPr wrap="none">
            <a:spAutoFit/>
          </a:bodyPr>
          <a:lstStyle/>
          <a:p>
            <a:pPr>
              <a:defRPr sz="2400" b="1">
                <a:solidFill>
                  <a:srgbClr val="059669"/>
                </a:solidFill>
                <a:latin typeface="Inter"/>
              </a:defRPr>
            </a:pPr>
            <a:r>
              <a:t>H2 Heading</a:t>
            </a:r>
          </a:p>
        </p:txBody>
      </p:sp>
      <p:sp>
        <p:nvSpPr>
          <p:cNvPr id="7" name="TextBox 6"/>
          <p:cNvSpPr txBox="1"/>
          <p:nvPr/>
        </p:nvSpPr>
        <p:spPr>
          <a:xfrm>
            <a:off x="1143000" y="4171950"/>
            <a:ext cx="3429000" cy="742950"/>
          </a:xfrm>
          <a:prstGeom prst="rect">
            <a:avLst/>
          </a:prstGeom>
          <a:noFill/>
        </p:spPr>
        <p:txBody>
          <a:bodyPr wrap="none">
            <a:spAutoFit/>
          </a:bodyPr>
          <a:lstStyle/>
          <a:p>
            <a:pPr>
              <a:defRPr sz="2000" b="0">
                <a:solidFill>
                  <a:srgbClr val="059669"/>
                </a:solidFill>
                <a:latin typeface="Inter"/>
              </a:defRPr>
            </a:pPr>
            <a:r>
              <a:t>H3 Heading</a:t>
            </a:r>
          </a:p>
        </p:txBody>
      </p:sp>
      <p:sp>
        <p:nvSpPr>
          <p:cNvPr id="8" name="TextBox 7"/>
          <p:cNvSpPr txBox="1"/>
          <p:nvPr/>
        </p:nvSpPr>
        <p:spPr>
          <a:xfrm>
            <a:off x="5257800" y="1943100"/>
            <a:ext cx="3429000" cy="742950"/>
          </a:xfrm>
          <a:prstGeom prst="rect">
            <a:avLst/>
          </a:prstGeom>
          <a:noFill/>
        </p:spPr>
        <p:txBody>
          <a:bodyPr wrap="none">
            <a:spAutoFit/>
          </a:bodyPr>
          <a:lstStyle/>
          <a:p>
            <a:pPr>
              <a:defRPr sz="2000" b="0">
                <a:solidFill>
                  <a:srgbClr val="059669"/>
                </a:solidFill>
                <a:latin typeface="Source Sans Pro"/>
              </a:defRPr>
            </a:pPr>
            <a:r>
              <a:t>Secondary Font: Source Sans Pro</a:t>
            </a:r>
          </a:p>
        </p:txBody>
      </p:sp>
      <p:sp>
        <p:nvSpPr>
          <p:cNvPr id="9" name="TextBox 8"/>
          <p:cNvSpPr txBox="1"/>
          <p:nvPr/>
        </p:nvSpPr>
        <p:spPr>
          <a:xfrm>
            <a:off x="5257800" y="2686050"/>
            <a:ext cx="3429000" cy="742950"/>
          </a:xfrm>
          <a:prstGeom prst="rect">
            <a:avLst/>
          </a:prstGeom>
          <a:noFill/>
        </p:spPr>
        <p:txBody>
          <a:bodyPr wrap="none">
            <a:spAutoFit/>
          </a:bodyPr>
          <a:lstStyle/>
          <a:p>
            <a:pPr>
              <a:defRPr sz="1600" b="0">
                <a:solidFill>
                  <a:srgbClr val="059669"/>
                </a:solidFill>
                <a:latin typeface="Source Sans Pro"/>
              </a:defRPr>
            </a:pPr>
            <a:r>
              <a:t>Body Text</a:t>
            </a:r>
          </a:p>
        </p:txBody>
      </p:sp>
      <p:sp>
        <p:nvSpPr>
          <p:cNvPr id="10" name="TextBox 9"/>
          <p:cNvSpPr txBox="1"/>
          <p:nvPr/>
        </p:nvSpPr>
        <p:spPr>
          <a:xfrm>
            <a:off x="5257800" y="3429000"/>
            <a:ext cx="3429000" cy="742950"/>
          </a:xfrm>
          <a:prstGeom prst="rect">
            <a:avLst/>
          </a:prstGeom>
          <a:noFill/>
        </p:spPr>
        <p:txBody>
          <a:bodyPr wrap="none">
            <a:spAutoFit/>
          </a:bodyPr>
          <a:lstStyle/>
          <a:p>
            <a:pPr>
              <a:defRPr sz="1600" b="1">
                <a:solidFill>
                  <a:srgbClr val="059669"/>
                </a:solidFill>
                <a:latin typeface="Source Sans Pro"/>
              </a:defRPr>
            </a:pPr>
            <a:r>
              <a:t>Body Bold</a:t>
            </a:r>
          </a:p>
        </p:txBody>
      </p:sp>
      <p:sp>
        <p:nvSpPr>
          <p:cNvPr id="11" name="TextBox 10"/>
          <p:cNvSpPr txBox="1"/>
          <p:nvPr/>
        </p:nvSpPr>
        <p:spPr>
          <a:xfrm>
            <a:off x="5257800" y="4171950"/>
            <a:ext cx="3429000" cy="742950"/>
          </a:xfrm>
          <a:prstGeom prst="rect">
            <a:avLst/>
          </a:prstGeom>
          <a:noFill/>
        </p:spPr>
        <p:txBody>
          <a:bodyPr wrap="none">
            <a:spAutoFit/>
          </a:bodyPr>
          <a:lstStyle/>
          <a:p>
            <a:pPr>
              <a:defRPr sz="1200" b="0">
                <a:solidFill>
                  <a:srgbClr val="059669"/>
                </a:solidFill>
                <a:latin typeface="Source Sans Pro"/>
              </a:defRPr>
            </a:pPr>
            <a:r>
              <a:t>Caption Text</a:t>
            </a:r>
          </a:p>
        </p:txBody>
      </p:sp>
      <p:sp>
        <p:nvSpPr>
          <p:cNvPr id="12" name="TextBox 11"/>
          <p:cNvSpPr txBox="1"/>
          <p:nvPr/>
        </p:nvSpPr>
        <p:spPr>
          <a:xfrm>
            <a:off x="457200" y="5657850"/>
            <a:ext cx="4114800" cy="742950"/>
          </a:xfrm>
          <a:prstGeom prst="rect">
            <a:avLst/>
          </a:prstGeom>
          <a:noFill/>
        </p:spPr>
        <p:txBody>
          <a:bodyPr wrap="none">
            <a:spAutoFit/>
          </a:bodyPr>
          <a:lstStyle/>
          <a:p>
            <a:pPr algn="l">
              <a:defRPr sz="1000" b="0">
                <a:solidFill>
                  <a:srgbClr val="059669"/>
                </a:solidFill>
                <a:latin typeface="Source Sans Pro"/>
              </a:defRPr>
            </a:pPr>
            <a:r>
              <a:t>Chaayos</a:t>
            </a:r>
          </a:p>
        </p:txBody>
      </p:sp>
      <p:sp>
        <p:nvSpPr>
          <p:cNvPr id="13" name="TextBox 12"/>
          <p:cNvSpPr txBox="1"/>
          <p:nvPr/>
        </p:nvSpPr>
        <p:spPr>
          <a:xfrm>
            <a:off x="4572000" y="5657850"/>
            <a:ext cx="4114800" cy="742950"/>
          </a:xfrm>
          <a:prstGeom prst="rect">
            <a:avLst/>
          </a:prstGeom>
          <a:noFill/>
        </p:spPr>
        <p:txBody>
          <a:bodyPr wrap="none">
            <a:spAutoFit/>
          </a:bodyPr>
          <a:lstStyle/>
          <a:p>
            <a:pPr algn="r">
              <a:defRPr sz="1000" b="0">
                <a:solidFill>
                  <a:srgbClr val="059669"/>
                </a:solidFill>
                <a:latin typeface="Source Sans Pro"/>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059669"/>
                </a:solidFill>
                <a:latin typeface="Inter"/>
              </a:defRPr>
            </a:pPr>
            <a:r>
              <a:t>Visual &amp; Photography Guidelines</a:t>
            </a:r>
          </a:p>
        </p:txBody>
      </p:sp>
      <p:sp>
        <p:nvSpPr>
          <p:cNvPr id="4" name="TextBox 3"/>
          <p:cNvSpPr txBox="1"/>
          <p:nvPr/>
        </p:nvSpPr>
        <p:spPr>
          <a:xfrm>
            <a:off x="1143000" y="1943100"/>
            <a:ext cx="3429000" cy="2971800"/>
          </a:xfrm>
          <a:prstGeom prst="rect">
            <a:avLst/>
          </a:prstGeom>
          <a:noFill/>
        </p:spPr>
        <p:txBody>
          <a:bodyPr wrap="square">
            <a:spAutoFit/>
          </a:bodyPr>
          <a:lstStyle/>
          <a:p>
            <a:pPr>
              <a:defRPr sz="1800" b="0">
                <a:solidFill>
                  <a:srgbClr val="059669"/>
                </a:solidFill>
                <a:latin typeface="Source Sans Pro"/>
              </a:defRPr>
            </a:pPr>
            <a:r>
              <a:t>Visual Style Guidelines:</a:t>
            </a:r>
          </a:p>
          <a:p>
            <a:pPr>
              <a:defRPr sz="1400" b="0">
                <a:solidFill>
                  <a:srgbClr val="059669"/>
                </a:solidFill>
                <a:latin typeface="Source Sans Pro"/>
              </a:defRPr>
            </a:pPr>
            <a:r>
              <a:t>• Visual style for Chaayos in Food &amp; Beverage (F&amp;B)</a:t>
            </a:r>
          </a:p>
          <a:p>
            <a:pPr>
              <a:defRPr sz="1400" b="0">
                <a:solidFill>
                  <a:srgbClr val="059669"/>
                </a:solidFill>
                <a:latin typeface="Source Sans Pro"/>
              </a:defRPr>
            </a:pPr>
            <a:r>
              <a:t>• Quick Service Restaurants (QSR)</a:t>
            </a:r>
          </a:p>
          <a:p>
            <a:pPr>
              <a:defRPr sz="1400" b="0">
                <a:solidFill>
                  <a:srgbClr val="059669"/>
                </a:solidFill>
                <a:latin typeface="Source Sans Pro"/>
              </a:defRPr>
            </a:pPr>
            <a:r>
              <a:t>• Café/Tea Retail: Cartoon aesthetic</a:t>
            </a:r>
          </a:p>
          <a:p>
            <a:pPr>
              <a:defRPr sz="1400" b="0">
                <a:solidFill>
                  <a:srgbClr val="059669"/>
                </a:solidFill>
                <a:latin typeface="Source Sans Pro"/>
              </a:defRPr>
            </a:pPr>
            <a:r>
              <a:t>• values: Innovation</a:t>
            </a:r>
          </a:p>
          <a:p>
            <a:pPr>
              <a:defRPr sz="1400" b="0">
                <a:solidFill>
                  <a:srgbClr val="059669"/>
                </a:solidFill>
                <a:latin typeface="Source Sans Pro"/>
              </a:defRPr>
            </a:pPr>
            <a:r>
              <a:t>• Personalization</a:t>
            </a:r>
          </a:p>
        </p:txBody>
      </p:sp>
      <p:sp>
        <p:nvSpPr>
          <p:cNvPr id="5" name="TextBox 4"/>
          <p:cNvSpPr txBox="1"/>
          <p:nvPr/>
        </p:nvSpPr>
        <p:spPr>
          <a:xfrm>
            <a:off x="5257800" y="1943100"/>
            <a:ext cx="3429000" cy="2971800"/>
          </a:xfrm>
          <a:prstGeom prst="rect">
            <a:avLst/>
          </a:prstGeom>
          <a:noFill/>
        </p:spPr>
        <p:txBody>
          <a:bodyPr wrap="square">
            <a:spAutoFit/>
          </a:bodyPr>
          <a:lstStyle/>
          <a:p>
            <a:pPr>
              <a:defRPr sz="1800" b="0">
                <a:solidFill>
                  <a:srgbClr val="059669"/>
                </a:solidFill>
                <a:latin typeface="Source Sans Pro"/>
              </a:defRPr>
            </a:pPr>
            <a:r>
              <a:t>Photography Guidelines:</a:t>
            </a:r>
          </a:p>
          <a:p>
            <a:pPr>
              <a:defRPr sz="1400" b="0">
                <a:solidFill>
                  <a:srgbClr val="059669"/>
                </a:solidFill>
                <a:latin typeface="Source Sans Pro"/>
              </a:defRPr>
            </a:pPr>
            <a:r>
              <a:t>• Photography style for Chaayos: Cartoon and Food &amp; Beverage (F&amp;B)</a:t>
            </a:r>
          </a:p>
          <a:p>
            <a:pPr>
              <a:defRPr sz="1400" b="0">
                <a:solidFill>
                  <a:srgbClr val="059669"/>
                </a:solidFill>
                <a:latin typeface="Source Sans Pro"/>
              </a:defRPr>
            </a:pPr>
            <a:r>
              <a:t>• Quick Service Restaurants (QSR)</a:t>
            </a:r>
          </a:p>
          <a:p>
            <a:pPr>
              <a:defRPr sz="1400" b="0">
                <a:solidFill>
                  <a:srgbClr val="059669"/>
                </a:solidFill>
                <a:latin typeface="Source Sans Pro"/>
              </a:defRPr>
            </a:pPr>
            <a:r>
              <a:t>• Café/Tea Retail feel. Show diversity</a:t>
            </a:r>
          </a:p>
          <a:p>
            <a:pPr>
              <a:defRPr sz="1400" b="0">
                <a:solidFill>
                  <a:srgbClr val="059669"/>
                </a:solidFill>
                <a:latin typeface="Source Sans Pro"/>
              </a:defRPr>
            </a:pPr>
            <a:r>
              <a:t>• authenticity</a:t>
            </a:r>
          </a:p>
          <a:p>
            <a:pPr>
              <a:defRPr sz="1400" b="0">
                <a:solidFill>
                  <a:srgbClr val="059669"/>
                </a:solidFill>
                <a:latin typeface="Source Sans Pro"/>
              </a:defRPr>
            </a:pPr>
            <a:r>
              <a:t>• and lighting that supports brand values: Innovation</a:t>
            </a:r>
          </a:p>
        </p:txBody>
      </p:sp>
      <p:sp>
        <p:nvSpPr>
          <p:cNvPr id="6" name="Rectangle 5"/>
          <p:cNvSpPr/>
          <p:nvPr/>
        </p:nvSpPr>
        <p:spPr>
          <a:xfrm>
            <a:off x="5257800" y="4914900"/>
            <a:ext cx="685800" cy="742950"/>
          </a:xfrm>
          <a:prstGeom prst="rect">
            <a:avLst/>
          </a:prstGeom>
          <a:solidFill>
            <a:srgbClr val="404040"/>
          </a:solidFill>
          <a:ln w="1270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257800" y="5162550"/>
            <a:ext cx="685800" cy="247650"/>
          </a:xfrm>
          <a:prstGeom prst="rect">
            <a:avLst/>
          </a:prstGeom>
          <a:noFill/>
        </p:spPr>
        <p:txBody>
          <a:bodyPr wrap="none">
            <a:spAutoFit/>
          </a:bodyPr>
          <a:lstStyle/>
          <a:p>
            <a:pPr algn="ctr">
              <a:defRPr sz="800" b="0">
                <a:solidFill>
                  <a:srgbClr val="059669"/>
                </a:solidFill>
                <a:latin typeface="Source Sans Pro"/>
              </a:defRPr>
            </a:pPr>
            <a:r>
              <a:t>Example</a:t>
            </a:r>
          </a:p>
        </p:txBody>
      </p:sp>
      <p:sp>
        <p:nvSpPr>
          <p:cNvPr id="8" name="Rectangle 7"/>
          <p:cNvSpPr/>
          <p:nvPr/>
        </p:nvSpPr>
        <p:spPr>
          <a:xfrm>
            <a:off x="6629400" y="4914900"/>
            <a:ext cx="685800" cy="742950"/>
          </a:xfrm>
          <a:prstGeom prst="rect">
            <a:avLst/>
          </a:prstGeom>
          <a:solidFill>
            <a:srgbClr val="404040"/>
          </a:solidFill>
          <a:ln w="1270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9400" y="5162550"/>
            <a:ext cx="685800" cy="247650"/>
          </a:xfrm>
          <a:prstGeom prst="rect">
            <a:avLst/>
          </a:prstGeom>
          <a:noFill/>
        </p:spPr>
        <p:txBody>
          <a:bodyPr wrap="none">
            <a:spAutoFit/>
          </a:bodyPr>
          <a:lstStyle/>
          <a:p>
            <a:pPr algn="ctr">
              <a:defRPr sz="800" b="0">
                <a:solidFill>
                  <a:srgbClr val="059669"/>
                </a:solidFill>
                <a:latin typeface="Source Sans Pro"/>
              </a:defRPr>
            </a:pPr>
            <a:r>
              <a:t>Example</a:t>
            </a:r>
          </a:p>
        </p:txBody>
      </p:sp>
      <p:sp>
        <p:nvSpPr>
          <p:cNvPr id="10" name="Rectangle 9"/>
          <p:cNvSpPr/>
          <p:nvPr/>
        </p:nvSpPr>
        <p:spPr>
          <a:xfrm>
            <a:off x="8001000" y="4914900"/>
            <a:ext cx="685800" cy="742950"/>
          </a:xfrm>
          <a:prstGeom prst="rect">
            <a:avLst/>
          </a:prstGeom>
          <a:solidFill>
            <a:srgbClr val="404040"/>
          </a:solidFill>
          <a:ln w="1270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01000" y="5162550"/>
            <a:ext cx="685800" cy="247650"/>
          </a:xfrm>
          <a:prstGeom prst="rect">
            <a:avLst/>
          </a:prstGeom>
          <a:noFill/>
        </p:spPr>
        <p:txBody>
          <a:bodyPr wrap="none">
            <a:spAutoFit/>
          </a:bodyPr>
          <a:lstStyle/>
          <a:p>
            <a:pPr algn="ctr">
              <a:defRPr sz="800" b="0">
                <a:solidFill>
                  <a:srgbClr val="059669"/>
                </a:solidFill>
                <a:latin typeface="Source Sans Pro"/>
              </a:defRPr>
            </a:pPr>
            <a:r>
              <a:t>Example</a:t>
            </a:r>
          </a:p>
        </p:txBody>
      </p:sp>
      <p:sp>
        <p:nvSpPr>
          <p:cNvPr id="12" name="TextBox 11"/>
          <p:cNvSpPr txBox="1"/>
          <p:nvPr/>
        </p:nvSpPr>
        <p:spPr>
          <a:xfrm>
            <a:off x="457200" y="5657850"/>
            <a:ext cx="4114800" cy="742950"/>
          </a:xfrm>
          <a:prstGeom prst="rect">
            <a:avLst/>
          </a:prstGeom>
          <a:noFill/>
        </p:spPr>
        <p:txBody>
          <a:bodyPr wrap="none">
            <a:spAutoFit/>
          </a:bodyPr>
          <a:lstStyle/>
          <a:p>
            <a:pPr algn="l">
              <a:defRPr sz="1000" b="0">
                <a:solidFill>
                  <a:srgbClr val="059669"/>
                </a:solidFill>
                <a:latin typeface="Source Sans Pro"/>
              </a:defRPr>
            </a:pPr>
            <a:r>
              <a:t>Chaayos</a:t>
            </a:r>
          </a:p>
        </p:txBody>
      </p:sp>
      <p:sp>
        <p:nvSpPr>
          <p:cNvPr id="13" name="TextBox 12"/>
          <p:cNvSpPr txBox="1"/>
          <p:nvPr/>
        </p:nvSpPr>
        <p:spPr>
          <a:xfrm>
            <a:off x="4572000" y="5657850"/>
            <a:ext cx="4114800" cy="742950"/>
          </a:xfrm>
          <a:prstGeom prst="rect">
            <a:avLst/>
          </a:prstGeom>
          <a:noFill/>
        </p:spPr>
        <p:txBody>
          <a:bodyPr wrap="none">
            <a:spAutoFit/>
          </a:bodyPr>
          <a:lstStyle/>
          <a:p>
            <a:pPr algn="r">
              <a:defRPr sz="1000" b="0">
                <a:solidFill>
                  <a:srgbClr val="059669"/>
                </a:solidFill>
                <a:latin typeface="Source Sans Pro"/>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059669"/>
                </a:solidFill>
                <a:latin typeface="Inter"/>
              </a:defRPr>
            </a:pPr>
            <a:r>
              <a:t>Brand Story &amp; Mission (1/3)</a:t>
            </a:r>
          </a:p>
        </p:txBody>
      </p:sp>
      <p:sp>
        <p:nvSpPr>
          <p:cNvPr id="4" name="TextBox 3"/>
          <p:cNvSpPr txBox="1"/>
          <p:nvPr/>
        </p:nvSpPr>
        <p:spPr>
          <a:xfrm>
            <a:off x="1143000" y="1943100"/>
            <a:ext cx="6858000" cy="2971800"/>
          </a:xfrm>
          <a:prstGeom prst="rect">
            <a:avLst/>
          </a:prstGeom>
          <a:noFill/>
        </p:spPr>
        <p:txBody>
          <a:bodyPr wrap="square">
            <a:spAutoFit/>
          </a:bodyPr>
          <a:lstStyle/>
          <a:p>
            <a:pPr>
              <a:defRPr sz="1600" b="0">
                <a:solidFill>
                  <a:srgbClr val="059669"/>
                </a:solidFill>
                <a:latin typeface="Source Sans Pro"/>
              </a:defRPr>
            </a:pPr>
            <a:r>
              <a:t>Once upon a time in the bustling streets of a modern city, there stood a place where the aroma of freshly brewed chai filled the air, where innovation and tradition intertwined to create a unique experience for the urban millennials, young professionals, office-goers, students, and tea enthusiasts. This place was Chaayos - a sanctuary for those seeking a modern chai café experience like no other. At Chaayos, we believe in the power of a warm cup of chai to bring people together, to spark conversations, and to provide comfort in the midst of a busy day. Our core values of innovation, personalization, and customer delight guide everything we do, ensuring</a:t>
            </a:r>
          </a:p>
        </p:txBody>
      </p:sp>
      <p:sp>
        <p:nvSpPr>
          <p:cNvPr id="5" name="TextBox 4"/>
          <p:cNvSpPr txBox="1"/>
          <p:nvPr/>
        </p:nvSpPr>
        <p:spPr>
          <a:xfrm>
            <a:off x="457200" y="5657850"/>
            <a:ext cx="4114800" cy="742950"/>
          </a:xfrm>
          <a:prstGeom prst="rect">
            <a:avLst/>
          </a:prstGeom>
          <a:noFill/>
        </p:spPr>
        <p:txBody>
          <a:bodyPr wrap="none">
            <a:spAutoFit/>
          </a:bodyPr>
          <a:lstStyle/>
          <a:p>
            <a:pPr algn="l">
              <a:defRPr sz="1000" b="0">
                <a:solidFill>
                  <a:srgbClr val="059669"/>
                </a:solidFill>
                <a:latin typeface="Source Sans Pro"/>
              </a:defRPr>
            </a:pPr>
            <a:r>
              <a:t>Chaayos</a:t>
            </a:r>
          </a:p>
        </p:txBody>
      </p:sp>
      <p:sp>
        <p:nvSpPr>
          <p:cNvPr id="6" name="TextBox 5"/>
          <p:cNvSpPr txBox="1"/>
          <p:nvPr/>
        </p:nvSpPr>
        <p:spPr>
          <a:xfrm>
            <a:off x="4572000" y="5657850"/>
            <a:ext cx="4114800" cy="742950"/>
          </a:xfrm>
          <a:prstGeom prst="rect">
            <a:avLst/>
          </a:prstGeom>
          <a:noFill/>
        </p:spPr>
        <p:txBody>
          <a:bodyPr wrap="none">
            <a:spAutoFit/>
          </a:bodyPr>
          <a:lstStyle/>
          <a:p>
            <a:pPr algn="r">
              <a:defRPr sz="1000" b="0">
                <a:solidFill>
                  <a:srgbClr val="059669"/>
                </a:solidFill>
                <a:latin typeface="Source Sans Pro"/>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059669"/>
                </a:solidFill>
                <a:latin typeface="Inter"/>
              </a:defRPr>
            </a:pPr>
            <a:r>
              <a:t>Brand Story &amp; Mission (2/3)</a:t>
            </a:r>
          </a:p>
        </p:txBody>
      </p:sp>
      <p:sp>
        <p:nvSpPr>
          <p:cNvPr id="4" name="TextBox 3"/>
          <p:cNvSpPr txBox="1"/>
          <p:nvPr/>
        </p:nvSpPr>
        <p:spPr>
          <a:xfrm>
            <a:off x="1143000" y="1943100"/>
            <a:ext cx="6858000" cy="2971800"/>
          </a:xfrm>
          <a:prstGeom prst="rect">
            <a:avLst/>
          </a:prstGeom>
          <a:noFill/>
        </p:spPr>
        <p:txBody>
          <a:bodyPr wrap="square">
            <a:spAutoFit/>
          </a:bodyPr>
          <a:lstStyle/>
          <a:p>
            <a:pPr>
              <a:defRPr sz="1600" b="0">
                <a:solidFill>
                  <a:srgbClr val="059669"/>
                </a:solidFill>
                <a:latin typeface="Source Sans Pro"/>
              </a:defRPr>
            </a:pPr>
            <a:r>
              <a:t>that each visit to Chaayos is a memorable one. Step inside our cozy café, and you'll be greeted by the sound of steaming kettles and the sight of an array of teas from around the world. Whether you're a digital-savvy consumer looking for a unique tea blend or a health-conscious individual seeking a refreshing beverage, our menu has something for everyone. From classic masala chai to exotic herbal infusions, each cup is crafted with care and precision to deliver the perfect balance of flavors. But Chaayos is more than just a place to grab a quick cup of chai - it's a community, a hub of creativity and warmth where</a:t>
            </a:r>
          </a:p>
        </p:txBody>
      </p:sp>
      <p:sp>
        <p:nvSpPr>
          <p:cNvPr id="5" name="TextBox 4"/>
          <p:cNvSpPr txBox="1"/>
          <p:nvPr/>
        </p:nvSpPr>
        <p:spPr>
          <a:xfrm>
            <a:off x="457200" y="5657850"/>
            <a:ext cx="4114800" cy="742950"/>
          </a:xfrm>
          <a:prstGeom prst="rect">
            <a:avLst/>
          </a:prstGeom>
          <a:noFill/>
        </p:spPr>
        <p:txBody>
          <a:bodyPr wrap="none">
            <a:spAutoFit/>
          </a:bodyPr>
          <a:lstStyle/>
          <a:p>
            <a:pPr algn="l">
              <a:defRPr sz="1000" b="0">
                <a:solidFill>
                  <a:srgbClr val="059669"/>
                </a:solidFill>
                <a:latin typeface="Source Sans Pro"/>
              </a:defRPr>
            </a:pPr>
            <a:r>
              <a:t>Chaayos</a:t>
            </a:r>
          </a:p>
        </p:txBody>
      </p:sp>
      <p:sp>
        <p:nvSpPr>
          <p:cNvPr id="6" name="TextBox 5"/>
          <p:cNvSpPr txBox="1"/>
          <p:nvPr/>
        </p:nvSpPr>
        <p:spPr>
          <a:xfrm>
            <a:off x="4572000" y="5657850"/>
            <a:ext cx="4114800" cy="742950"/>
          </a:xfrm>
          <a:prstGeom prst="rect">
            <a:avLst/>
          </a:prstGeom>
          <a:noFill/>
        </p:spPr>
        <p:txBody>
          <a:bodyPr wrap="none">
            <a:spAutoFit/>
          </a:bodyPr>
          <a:lstStyle/>
          <a:p>
            <a:pPr algn="r">
              <a:defRPr sz="1000" b="0">
                <a:solidFill>
                  <a:srgbClr val="059669"/>
                </a:solidFill>
                <a:latin typeface="Source Sans Pro"/>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059669"/>
                </a:solidFill>
                <a:latin typeface="Inter"/>
              </a:defRPr>
            </a:pPr>
            <a:r>
              <a:t>Brand Story &amp; Mission (3/3)</a:t>
            </a:r>
          </a:p>
        </p:txBody>
      </p:sp>
      <p:sp>
        <p:nvSpPr>
          <p:cNvPr id="4" name="TextBox 3"/>
          <p:cNvSpPr txBox="1"/>
          <p:nvPr/>
        </p:nvSpPr>
        <p:spPr>
          <a:xfrm>
            <a:off x="1143000" y="1943100"/>
            <a:ext cx="6858000" cy="2971800"/>
          </a:xfrm>
          <a:prstGeom prst="rect">
            <a:avLst/>
          </a:prstGeom>
          <a:noFill/>
        </p:spPr>
        <p:txBody>
          <a:bodyPr wrap="square">
            <a:spAutoFit/>
          </a:bodyPr>
          <a:lstStyle/>
          <a:p>
            <a:pPr>
              <a:defRPr sz="1600" b="0">
                <a:solidFill>
                  <a:srgbClr val="059669"/>
                </a:solidFill>
                <a:latin typeface="Source Sans Pro"/>
              </a:defRPr>
            </a:pPr>
            <a:r>
              <a:t>ideas are born and friendships are forged. Our commitment to quality, authenticity, and consistency ensures that every visit to Chaayos is a delightful experience, whether you're stopping by for a quick chat with friends or settling in for a productive work session. As we continue to push the boundaries of what a chai café can be, we promise to empower urban millennials, young professionals, office-goers, students, tea enthusiasts, digital-savvy consumers, and health-conscious individuals with our innovative Food &amp; Beverage (F&amp;B), Quick Service Restaurants (QSR), and Café/Tea Retail solutions. Our unique value proposition lies in our ability to blend tradition with modernity,</a:t>
            </a:r>
          </a:p>
        </p:txBody>
      </p:sp>
      <p:sp>
        <p:nvSpPr>
          <p:cNvPr id="5" name="TextBox 4"/>
          <p:cNvSpPr txBox="1"/>
          <p:nvPr/>
        </p:nvSpPr>
        <p:spPr>
          <a:xfrm>
            <a:off x="457200" y="5657850"/>
            <a:ext cx="4114800" cy="742950"/>
          </a:xfrm>
          <a:prstGeom prst="rect">
            <a:avLst/>
          </a:prstGeom>
          <a:noFill/>
        </p:spPr>
        <p:txBody>
          <a:bodyPr wrap="none">
            <a:spAutoFit/>
          </a:bodyPr>
          <a:lstStyle/>
          <a:p>
            <a:pPr algn="l">
              <a:defRPr sz="1000" b="0">
                <a:solidFill>
                  <a:srgbClr val="059669"/>
                </a:solidFill>
                <a:latin typeface="Source Sans Pro"/>
              </a:defRPr>
            </a:pPr>
            <a:r>
              <a:t>Chaayos</a:t>
            </a:r>
          </a:p>
        </p:txBody>
      </p:sp>
      <p:sp>
        <p:nvSpPr>
          <p:cNvPr id="6" name="TextBox 5"/>
          <p:cNvSpPr txBox="1"/>
          <p:nvPr/>
        </p:nvSpPr>
        <p:spPr>
          <a:xfrm>
            <a:off x="4572000" y="5657850"/>
            <a:ext cx="4114800" cy="742950"/>
          </a:xfrm>
          <a:prstGeom prst="rect">
            <a:avLst/>
          </a:prstGeom>
          <a:noFill/>
        </p:spPr>
        <p:txBody>
          <a:bodyPr wrap="none">
            <a:spAutoFit/>
          </a:bodyPr>
          <a:lstStyle/>
          <a:p>
            <a:pPr algn="r">
              <a:defRPr sz="1000" b="0">
                <a:solidFill>
                  <a:srgbClr val="059669"/>
                </a:solidFill>
                <a:latin typeface="Source Sans Pro"/>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059669"/>
                </a:solidFill>
                <a:latin typeface="Inter"/>
              </a:defRPr>
            </a:pPr>
            <a:r>
              <a:t>Brand Voice &amp; Tone (1/2)</a:t>
            </a:r>
          </a:p>
        </p:txBody>
      </p:sp>
      <p:sp>
        <p:nvSpPr>
          <p:cNvPr id="4" name="TextBox 3"/>
          <p:cNvSpPr txBox="1"/>
          <p:nvPr/>
        </p:nvSpPr>
        <p:spPr>
          <a:xfrm>
            <a:off x="1143000" y="1943100"/>
            <a:ext cx="6858000" cy="2971800"/>
          </a:xfrm>
          <a:prstGeom prst="rect">
            <a:avLst/>
          </a:prstGeom>
          <a:noFill/>
        </p:spPr>
        <p:txBody>
          <a:bodyPr wrap="square">
            <a:spAutoFit/>
          </a:bodyPr>
          <a:lstStyle/>
          <a:p>
            <a:pPr>
              <a:defRPr sz="1600" b="0">
                <a:solidFill>
                  <a:srgbClr val="059669"/>
                </a:solidFill>
                <a:latin typeface="Source Sans Pro"/>
              </a:defRPr>
            </a:pPr>
            <a:r>
              <a:t>Chaayos' brand voice is friendly, innovative, and warm, with a touch of modern tradition. The tone is personal and engaging, focusing on creating a delightful experience for customers. The brand values quality, authenticity, and consistency, while also embracing convenience and community. The tone is friendly and approachable, catering to urban millennials, young professionals, office-goers, students, tea enthusiasts, digital-savvy consumers, and health-conscious individuals. It is inviting and welcoming, encouraging customers to feel at home in the cozy and modern chai café environment.</a:t>
            </a:r>
          </a:p>
        </p:txBody>
      </p:sp>
      <p:sp>
        <p:nvSpPr>
          <p:cNvPr id="5" name="TextBox 4"/>
          <p:cNvSpPr txBox="1"/>
          <p:nvPr/>
        </p:nvSpPr>
        <p:spPr>
          <a:xfrm>
            <a:off x="457200" y="5657850"/>
            <a:ext cx="4114800" cy="742950"/>
          </a:xfrm>
          <a:prstGeom prst="rect">
            <a:avLst/>
          </a:prstGeom>
          <a:noFill/>
        </p:spPr>
        <p:txBody>
          <a:bodyPr wrap="none">
            <a:spAutoFit/>
          </a:bodyPr>
          <a:lstStyle/>
          <a:p>
            <a:pPr algn="l">
              <a:defRPr sz="1000" b="0">
                <a:solidFill>
                  <a:srgbClr val="059669"/>
                </a:solidFill>
                <a:latin typeface="Source Sans Pro"/>
              </a:defRPr>
            </a:pPr>
            <a:r>
              <a:t>Chaayos</a:t>
            </a:r>
          </a:p>
        </p:txBody>
      </p:sp>
      <p:sp>
        <p:nvSpPr>
          <p:cNvPr id="6" name="TextBox 5"/>
          <p:cNvSpPr txBox="1"/>
          <p:nvPr/>
        </p:nvSpPr>
        <p:spPr>
          <a:xfrm>
            <a:off x="4572000" y="5657850"/>
            <a:ext cx="4114800" cy="742950"/>
          </a:xfrm>
          <a:prstGeom prst="rect">
            <a:avLst/>
          </a:prstGeom>
          <a:noFill/>
        </p:spPr>
        <p:txBody>
          <a:bodyPr wrap="none">
            <a:spAutoFit/>
          </a:bodyPr>
          <a:lstStyle/>
          <a:p>
            <a:pPr algn="r">
              <a:defRPr sz="1000" b="0">
                <a:solidFill>
                  <a:srgbClr val="059669"/>
                </a:solidFill>
                <a:latin typeface="Source Sans Pro"/>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059669"/>
                </a:solidFill>
                <a:latin typeface="Inter"/>
              </a:defRPr>
            </a:pPr>
            <a:r>
              <a:t>Brand Voice &amp; Tone (2/2)</a:t>
            </a:r>
          </a:p>
        </p:txBody>
      </p:sp>
      <p:sp>
        <p:nvSpPr>
          <p:cNvPr id="4" name="TextBox 3"/>
          <p:cNvSpPr txBox="1"/>
          <p:nvPr/>
        </p:nvSpPr>
        <p:spPr>
          <a:xfrm>
            <a:off x="1143000" y="1943100"/>
            <a:ext cx="6858000" cy="2971800"/>
          </a:xfrm>
          <a:prstGeom prst="rect">
            <a:avLst/>
          </a:prstGeom>
          <a:noFill/>
        </p:spPr>
        <p:txBody>
          <a:bodyPr wrap="square">
            <a:spAutoFit/>
          </a:bodyPr>
          <a:lstStyle/>
          <a:p>
            <a:pPr>
              <a:defRPr sz="1600" b="0">
                <a:solidFill>
                  <a:srgbClr val="059669"/>
                </a:solidFill>
                <a:latin typeface="Source Sans Pro"/>
              </a:defRPr>
            </a:pPr>
            <a:r>
              <a:t>Chaayos' brand voice is a blend</a:t>
            </a:r>
          </a:p>
        </p:txBody>
      </p:sp>
      <p:sp>
        <p:nvSpPr>
          <p:cNvPr id="5" name="TextBox 4"/>
          <p:cNvSpPr txBox="1"/>
          <p:nvPr/>
        </p:nvSpPr>
        <p:spPr>
          <a:xfrm>
            <a:off x="457200" y="5657850"/>
            <a:ext cx="4114800" cy="742950"/>
          </a:xfrm>
          <a:prstGeom prst="rect">
            <a:avLst/>
          </a:prstGeom>
          <a:noFill/>
        </p:spPr>
        <p:txBody>
          <a:bodyPr wrap="none">
            <a:spAutoFit/>
          </a:bodyPr>
          <a:lstStyle/>
          <a:p>
            <a:pPr algn="l">
              <a:defRPr sz="1000" b="0">
                <a:solidFill>
                  <a:srgbClr val="059669"/>
                </a:solidFill>
                <a:latin typeface="Source Sans Pro"/>
              </a:defRPr>
            </a:pPr>
            <a:r>
              <a:t>Chaayos</a:t>
            </a:r>
          </a:p>
        </p:txBody>
      </p:sp>
      <p:sp>
        <p:nvSpPr>
          <p:cNvPr id="6" name="TextBox 5"/>
          <p:cNvSpPr txBox="1"/>
          <p:nvPr/>
        </p:nvSpPr>
        <p:spPr>
          <a:xfrm>
            <a:off x="4572000" y="5657850"/>
            <a:ext cx="4114800" cy="742950"/>
          </a:xfrm>
          <a:prstGeom prst="rect">
            <a:avLst/>
          </a:prstGeom>
          <a:noFill/>
        </p:spPr>
        <p:txBody>
          <a:bodyPr wrap="none">
            <a:spAutoFit/>
          </a:bodyPr>
          <a:lstStyle/>
          <a:p>
            <a:pPr algn="r">
              <a:defRPr sz="1000" b="0">
                <a:solidFill>
                  <a:srgbClr val="059669"/>
                </a:solidFill>
                <a:latin typeface="Source Sans Pro"/>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059669"/>
                </a:solidFill>
                <a:latin typeface="Inter"/>
              </a:defRPr>
            </a:pPr>
            <a:r>
              <a:t>Messaging &amp; Value Propositions (1/2)</a:t>
            </a:r>
          </a:p>
        </p:txBody>
      </p:sp>
      <p:sp>
        <p:nvSpPr>
          <p:cNvPr id="4" name="TextBox 3"/>
          <p:cNvSpPr txBox="1"/>
          <p:nvPr/>
        </p:nvSpPr>
        <p:spPr>
          <a:xfrm>
            <a:off x="1143000" y="1943100"/>
            <a:ext cx="6858000" cy="2971800"/>
          </a:xfrm>
          <a:prstGeom prst="rect">
            <a:avLst/>
          </a:prstGeom>
          <a:noFill/>
        </p:spPr>
        <p:txBody>
          <a:bodyPr wrap="square">
            <a:spAutoFit/>
          </a:bodyPr>
          <a:lstStyle/>
          <a:p>
            <a:pPr>
              <a:defRPr sz="1600" b="0">
                <a:solidFill>
                  <a:srgbClr val="059669"/>
                </a:solidFill>
                <a:latin typeface="Source Sans Pro"/>
              </a:defRPr>
            </a:pPr>
            <a:r>
              <a:t>**Messaging Architecture for Chaayos:** 1. **Urban millennials &amp; Young professionals:** - Crafted for the young, bustling city life, Chaayos offers a modern twist to traditional chai, perfect for quick breaks or catch-ups with friends. 2. **Office-goers &amp; Students:** - Fuel your productivity with Chaayos' range of energizing teas and snacks, designed to keep you refreshed and focused throughout the day. 3. **Tea enthusiasts &amp; Health-conscious individuals:** - Indulge in Chaayos' premium selection of handcrafted teas, made with the finest ingredients for a flavorful and healthy tea experience.</a:t>
            </a:r>
          </a:p>
        </p:txBody>
      </p:sp>
      <p:sp>
        <p:nvSpPr>
          <p:cNvPr id="5" name="TextBox 4"/>
          <p:cNvSpPr txBox="1"/>
          <p:nvPr/>
        </p:nvSpPr>
        <p:spPr>
          <a:xfrm>
            <a:off x="457200" y="5657850"/>
            <a:ext cx="4114800" cy="742950"/>
          </a:xfrm>
          <a:prstGeom prst="rect">
            <a:avLst/>
          </a:prstGeom>
          <a:noFill/>
        </p:spPr>
        <p:txBody>
          <a:bodyPr wrap="none">
            <a:spAutoFit/>
          </a:bodyPr>
          <a:lstStyle/>
          <a:p>
            <a:pPr algn="l">
              <a:defRPr sz="1000" b="0">
                <a:solidFill>
                  <a:srgbClr val="059669"/>
                </a:solidFill>
                <a:latin typeface="Source Sans Pro"/>
              </a:defRPr>
            </a:pPr>
            <a:r>
              <a:t>Chaayos</a:t>
            </a:r>
          </a:p>
        </p:txBody>
      </p:sp>
      <p:sp>
        <p:nvSpPr>
          <p:cNvPr id="6" name="TextBox 5"/>
          <p:cNvSpPr txBox="1"/>
          <p:nvPr/>
        </p:nvSpPr>
        <p:spPr>
          <a:xfrm>
            <a:off x="4572000" y="5657850"/>
            <a:ext cx="4114800" cy="742950"/>
          </a:xfrm>
          <a:prstGeom prst="rect">
            <a:avLst/>
          </a:prstGeom>
          <a:noFill/>
        </p:spPr>
        <p:txBody>
          <a:bodyPr wrap="none">
            <a:spAutoFit/>
          </a:bodyPr>
          <a:lstStyle/>
          <a:p>
            <a:pPr algn="r">
              <a:defRPr sz="1000" b="0">
                <a:solidFill>
                  <a:srgbClr val="059669"/>
                </a:solidFill>
                <a:latin typeface="Source Sans Pro"/>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059669"/>
                </a:solidFill>
                <a:latin typeface="Inter"/>
              </a:defRPr>
            </a:pPr>
            <a:r>
              <a:t>Messaging &amp; Value Propositions (2/2)</a:t>
            </a:r>
          </a:p>
        </p:txBody>
      </p:sp>
      <p:sp>
        <p:nvSpPr>
          <p:cNvPr id="4" name="TextBox 3"/>
          <p:cNvSpPr txBox="1"/>
          <p:nvPr/>
        </p:nvSpPr>
        <p:spPr>
          <a:xfrm>
            <a:off x="1143000" y="1943100"/>
            <a:ext cx="6858000" cy="2971800"/>
          </a:xfrm>
          <a:prstGeom prst="rect">
            <a:avLst/>
          </a:prstGeom>
          <a:noFill/>
        </p:spPr>
        <p:txBody>
          <a:bodyPr wrap="square">
            <a:spAutoFit/>
          </a:bodyPr>
          <a:lstStyle/>
          <a:p>
            <a:pPr>
              <a:defRPr sz="1600" b="0">
                <a:solidFill>
                  <a:srgbClr val="059669"/>
                </a:solidFill>
                <a:latin typeface="Source Sans Pro"/>
              </a:defRPr>
            </a:pPr>
            <a:r>
              <a:t>4. **Digital-savvy consumers:** - Seamlessly order and customize your chai online with Chaayos' user-friendly app, ensuring your favorite cup of tea is just a click away. 5. **People seeking a</a:t>
            </a:r>
          </a:p>
        </p:txBody>
      </p:sp>
      <p:sp>
        <p:nvSpPr>
          <p:cNvPr id="5" name="TextBox 4"/>
          <p:cNvSpPr txBox="1"/>
          <p:nvPr/>
        </p:nvSpPr>
        <p:spPr>
          <a:xfrm>
            <a:off x="457200" y="5657850"/>
            <a:ext cx="4114800" cy="742950"/>
          </a:xfrm>
          <a:prstGeom prst="rect">
            <a:avLst/>
          </a:prstGeom>
          <a:noFill/>
        </p:spPr>
        <p:txBody>
          <a:bodyPr wrap="none">
            <a:spAutoFit/>
          </a:bodyPr>
          <a:lstStyle/>
          <a:p>
            <a:pPr algn="l">
              <a:defRPr sz="1000" b="0">
                <a:solidFill>
                  <a:srgbClr val="059669"/>
                </a:solidFill>
                <a:latin typeface="Source Sans Pro"/>
              </a:defRPr>
            </a:pPr>
            <a:r>
              <a:t>Chaayos</a:t>
            </a:r>
          </a:p>
        </p:txBody>
      </p:sp>
      <p:sp>
        <p:nvSpPr>
          <p:cNvPr id="6" name="TextBox 5"/>
          <p:cNvSpPr txBox="1"/>
          <p:nvPr/>
        </p:nvSpPr>
        <p:spPr>
          <a:xfrm>
            <a:off x="4572000" y="5657850"/>
            <a:ext cx="4114800" cy="742950"/>
          </a:xfrm>
          <a:prstGeom prst="rect">
            <a:avLst/>
          </a:prstGeom>
          <a:noFill/>
        </p:spPr>
        <p:txBody>
          <a:bodyPr wrap="none">
            <a:spAutoFit/>
          </a:bodyPr>
          <a:lstStyle/>
          <a:p>
            <a:pPr algn="r">
              <a:defRPr sz="1000" b="0">
                <a:solidFill>
                  <a:srgbClr val="059669"/>
                </a:solidFill>
                <a:latin typeface="Source Sans Pro"/>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059669"/>
                </a:solidFill>
                <a:latin typeface="Inter"/>
              </a:defRPr>
            </a:pPr>
            <a:r>
              <a:t>Marketing Copy: Website</a:t>
            </a:r>
          </a:p>
        </p:txBody>
      </p:sp>
      <p:sp>
        <p:nvSpPr>
          <p:cNvPr id="4" name="TextBox 3"/>
          <p:cNvSpPr txBox="1"/>
          <p:nvPr/>
        </p:nvSpPr>
        <p:spPr>
          <a:xfrm>
            <a:off x="1143000" y="1943100"/>
            <a:ext cx="6858000" cy="2971800"/>
          </a:xfrm>
          <a:prstGeom prst="rect">
            <a:avLst/>
          </a:prstGeom>
          <a:noFill/>
        </p:spPr>
        <p:txBody>
          <a:bodyPr wrap="square">
            <a:spAutoFit/>
          </a:bodyPr>
          <a:lstStyle/>
          <a:p>
            <a:pPr>
              <a:defRPr sz="1600" b="0">
                <a:solidFill>
                  <a:srgbClr val="059669"/>
                </a:solidFill>
                <a:latin typeface="Source Sans Pro"/>
              </a:defRPr>
            </a:pPr>
            <a:r>
              <a:t>Headline: Experience the Modern Tradition of Chai at Chaayos</a:t>
            </a:r>
          </a:p>
          <a:p>
            <a:pPr>
              <a:defRPr sz="1600" b="0">
                <a:solidFill>
                  <a:srgbClr val="059669"/>
                </a:solidFill>
                <a:latin typeface="Source Sans Pro"/>
              </a:defRPr>
            </a:pPr>
            <a:r>
              <a:t>Subheadline: Where Innovation, Quality, and Personalization Meet to Delight Customers in a Warm and Authentic Community Setting</a:t>
            </a:r>
          </a:p>
        </p:txBody>
      </p:sp>
      <p:sp>
        <p:nvSpPr>
          <p:cNvPr id="5" name="TextBox 4"/>
          <p:cNvSpPr txBox="1"/>
          <p:nvPr/>
        </p:nvSpPr>
        <p:spPr>
          <a:xfrm>
            <a:off x="457200" y="5657850"/>
            <a:ext cx="4114800" cy="742950"/>
          </a:xfrm>
          <a:prstGeom prst="rect">
            <a:avLst/>
          </a:prstGeom>
          <a:noFill/>
        </p:spPr>
        <p:txBody>
          <a:bodyPr wrap="none">
            <a:spAutoFit/>
          </a:bodyPr>
          <a:lstStyle/>
          <a:p>
            <a:pPr algn="l">
              <a:defRPr sz="1000" b="0">
                <a:solidFill>
                  <a:srgbClr val="059669"/>
                </a:solidFill>
                <a:latin typeface="Source Sans Pro"/>
              </a:defRPr>
            </a:pPr>
            <a:r>
              <a:t>Chaayos</a:t>
            </a:r>
          </a:p>
        </p:txBody>
      </p:sp>
      <p:sp>
        <p:nvSpPr>
          <p:cNvPr id="6" name="TextBox 5"/>
          <p:cNvSpPr txBox="1"/>
          <p:nvPr/>
        </p:nvSpPr>
        <p:spPr>
          <a:xfrm>
            <a:off x="4572000" y="5657850"/>
            <a:ext cx="4114800" cy="742950"/>
          </a:xfrm>
          <a:prstGeom prst="rect">
            <a:avLst/>
          </a:prstGeom>
          <a:noFill/>
        </p:spPr>
        <p:txBody>
          <a:bodyPr wrap="none">
            <a:spAutoFit/>
          </a:bodyPr>
          <a:lstStyle/>
          <a:p>
            <a:pPr algn="r">
              <a:defRPr sz="1000" b="0">
                <a:solidFill>
                  <a:srgbClr val="059669"/>
                </a:solidFill>
                <a:latin typeface="Source Sans Pro"/>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059669"/>
                </a:solidFill>
                <a:latin typeface="Inter"/>
              </a:defRPr>
            </a:pPr>
            <a:r>
              <a:t>Marketing Copy: Email</a:t>
            </a:r>
          </a:p>
        </p:txBody>
      </p:sp>
      <p:sp>
        <p:nvSpPr>
          <p:cNvPr id="4" name="TextBox 3"/>
          <p:cNvSpPr txBox="1"/>
          <p:nvPr/>
        </p:nvSpPr>
        <p:spPr>
          <a:xfrm>
            <a:off x="1143000" y="1943100"/>
            <a:ext cx="6858000" cy="2971800"/>
          </a:xfrm>
          <a:prstGeom prst="rect">
            <a:avLst/>
          </a:prstGeom>
          <a:noFill/>
        </p:spPr>
        <p:txBody>
          <a:bodyPr wrap="square">
            <a:spAutoFit/>
          </a:bodyPr>
          <a:lstStyle/>
          <a:p>
            <a:pPr>
              <a:defRPr sz="1600" b="0">
                <a:solidFill>
                  <a:srgbClr val="059669"/>
                </a:solidFill>
                <a:latin typeface="Source Sans Pro"/>
              </a:defRPr>
            </a:pPr>
            <a:r>
              <a:t>Subject: Experience Innovation and Authenticity at Chaayos - Your Modern Chai Café</a:t>
            </a:r>
          </a:p>
          <a:p>
            <a:pPr>
              <a:defRPr sz="1600" b="0">
                <a:solidFill>
                  <a:srgbClr val="059669"/>
                </a:solidFill>
                <a:latin typeface="Source Sans Pro"/>
              </a:defRPr>
            </a:pPr>
          </a:p>
          <a:p>
            <a:pPr>
              <a:defRPr sz="1600" b="0">
                <a:solidFill>
                  <a:srgbClr val="059669"/>
                </a:solidFill>
                <a:latin typeface="Source Sans Pro"/>
              </a:defRPr>
            </a:pPr>
            <a:r>
              <a:t>Preview Text: Discover the perfect blend of modern tradition, personalized service, and quality chai at Chaayos. Join a community of tea enthusiasts and enjoy a warm, authentic atmosphere while sipping on consistently delightful teas. Ideal for urban millennials, young professionals, and digital-savvy consumers seeking convenience and a touch of warmth in their daily routine.</a:t>
            </a:r>
          </a:p>
        </p:txBody>
      </p:sp>
      <p:sp>
        <p:nvSpPr>
          <p:cNvPr id="5" name="TextBox 4"/>
          <p:cNvSpPr txBox="1"/>
          <p:nvPr/>
        </p:nvSpPr>
        <p:spPr>
          <a:xfrm>
            <a:off x="457200" y="5657850"/>
            <a:ext cx="4114800" cy="742950"/>
          </a:xfrm>
          <a:prstGeom prst="rect">
            <a:avLst/>
          </a:prstGeom>
          <a:noFill/>
        </p:spPr>
        <p:txBody>
          <a:bodyPr wrap="none">
            <a:spAutoFit/>
          </a:bodyPr>
          <a:lstStyle/>
          <a:p>
            <a:pPr algn="l">
              <a:defRPr sz="1000" b="0">
                <a:solidFill>
                  <a:srgbClr val="059669"/>
                </a:solidFill>
                <a:latin typeface="Source Sans Pro"/>
              </a:defRPr>
            </a:pPr>
            <a:r>
              <a:t>Chaayos</a:t>
            </a:r>
          </a:p>
        </p:txBody>
      </p:sp>
      <p:sp>
        <p:nvSpPr>
          <p:cNvPr id="6" name="TextBox 5"/>
          <p:cNvSpPr txBox="1"/>
          <p:nvPr/>
        </p:nvSpPr>
        <p:spPr>
          <a:xfrm>
            <a:off x="4572000" y="5657850"/>
            <a:ext cx="4114800" cy="742950"/>
          </a:xfrm>
          <a:prstGeom prst="rect">
            <a:avLst/>
          </a:prstGeom>
          <a:noFill/>
        </p:spPr>
        <p:txBody>
          <a:bodyPr wrap="none">
            <a:spAutoFit/>
          </a:bodyPr>
          <a:lstStyle/>
          <a:p>
            <a:pPr algn="r">
              <a:defRPr sz="1000" b="0">
                <a:solidFill>
                  <a:srgbClr val="059669"/>
                </a:solidFill>
                <a:latin typeface="Source Sans Pro"/>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059669"/>
                </a:solidFill>
                <a:latin typeface="Inter"/>
              </a:defRPr>
            </a:pPr>
            <a:r>
              <a:t>Marketing Copy: Social Media</a:t>
            </a:r>
          </a:p>
        </p:txBody>
      </p:sp>
      <p:sp>
        <p:nvSpPr>
          <p:cNvPr id="4" name="TextBox 3"/>
          <p:cNvSpPr txBox="1"/>
          <p:nvPr/>
        </p:nvSpPr>
        <p:spPr>
          <a:xfrm>
            <a:off x="1143000" y="1943100"/>
            <a:ext cx="6858000" cy="2971800"/>
          </a:xfrm>
          <a:prstGeom prst="rect">
            <a:avLst/>
          </a:prstGeom>
          <a:noFill/>
        </p:spPr>
        <p:txBody>
          <a:bodyPr wrap="square">
            <a:spAutoFit/>
          </a:bodyPr>
          <a:lstStyle/>
          <a:p>
            <a:pPr>
              <a:defRPr sz="1600" b="0">
                <a:solidFill>
                  <a:srgbClr val="059669"/>
                </a:solidFill>
                <a:latin typeface="Source Sans Pro"/>
              </a:defRPr>
            </a:pPr>
            <a:r>
              <a:t>"Steeped in innovation, Chaayos is brewing up a storm for all you tea lovers! 🍵✨ Experience the perfect blend of personalization, quality, and warmth at our modern chai café. Whether you're a digital-savvy professional, health-conscious student, or just seeking a cozy spot to unwind, we've got you covered! Come join our tea-loving community and indulge in a cup of authentic goodness. Your taste buds will thank you! #Chaayos #InnovationInACup #CustomerDelight"</a:t>
            </a:r>
          </a:p>
        </p:txBody>
      </p:sp>
      <p:sp>
        <p:nvSpPr>
          <p:cNvPr id="5" name="TextBox 4"/>
          <p:cNvSpPr txBox="1"/>
          <p:nvPr/>
        </p:nvSpPr>
        <p:spPr>
          <a:xfrm>
            <a:off x="457200" y="5657850"/>
            <a:ext cx="4114800" cy="742950"/>
          </a:xfrm>
          <a:prstGeom prst="rect">
            <a:avLst/>
          </a:prstGeom>
          <a:noFill/>
        </p:spPr>
        <p:txBody>
          <a:bodyPr wrap="none">
            <a:spAutoFit/>
          </a:bodyPr>
          <a:lstStyle/>
          <a:p>
            <a:pPr algn="l">
              <a:defRPr sz="1000" b="0">
                <a:solidFill>
                  <a:srgbClr val="059669"/>
                </a:solidFill>
                <a:latin typeface="Source Sans Pro"/>
              </a:defRPr>
            </a:pPr>
            <a:r>
              <a:t>Chaayos</a:t>
            </a:r>
          </a:p>
        </p:txBody>
      </p:sp>
      <p:sp>
        <p:nvSpPr>
          <p:cNvPr id="6" name="TextBox 5"/>
          <p:cNvSpPr txBox="1"/>
          <p:nvPr/>
        </p:nvSpPr>
        <p:spPr>
          <a:xfrm>
            <a:off x="4572000" y="5657850"/>
            <a:ext cx="4114800" cy="742950"/>
          </a:xfrm>
          <a:prstGeom prst="rect">
            <a:avLst/>
          </a:prstGeom>
          <a:noFill/>
        </p:spPr>
        <p:txBody>
          <a:bodyPr wrap="none">
            <a:spAutoFit/>
          </a:bodyPr>
          <a:lstStyle/>
          <a:p>
            <a:pPr algn="r">
              <a:defRPr sz="1000" b="0">
                <a:solidFill>
                  <a:srgbClr val="059669"/>
                </a:solidFill>
                <a:latin typeface="Source Sans Pro"/>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059669"/>
                </a:solidFill>
                <a:latin typeface="Inter"/>
              </a:defRPr>
            </a:pPr>
            <a:r>
              <a:t>Marketing Copy: Ad Copy</a:t>
            </a:r>
          </a:p>
        </p:txBody>
      </p:sp>
      <p:sp>
        <p:nvSpPr>
          <p:cNvPr id="4" name="TextBox 3"/>
          <p:cNvSpPr txBox="1"/>
          <p:nvPr/>
        </p:nvSpPr>
        <p:spPr>
          <a:xfrm>
            <a:off x="1143000" y="1943100"/>
            <a:ext cx="6858000" cy="2971800"/>
          </a:xfrm>
          <a:prstGeom prst="rect">
            <a:avLst/>
          </a:prstGeom>
          <a:noFill/>
        </p:spPr>
        <p:txBody>
          <a:bodyPr wrap="square">
            <a:spAutoFit/>
          </a:bodyPr>
          <a:lstStyle/>
          <a:p>
            <a:pPr>
              <a:defRPr sz="1600" b="0">
                <a:solidFill>
                  <a:srgbClr val="059669"/>
                </a:solidFill>
                <a:latin typeface="Source Sans Pro"/>
              </a:defRPr>
            </a:pPr>
            <a:r>
              <a:t>"Calling all chai lovers! Indulge in a modern chai café experience at Chaayos. Sip on delicious handcrafted teas, curated just for you. Perfect for urban millennials, young professionals, and students on-the-go. Visit us today and elevate your tea game! #ChaiTimeRevolution"</a:t>
            </a:r>
          </a:p>
        </p:txBody>
      </p:sp>
      <p:sp>
        <p:nvSpPr>
          <p:cNvPr id="5" name="TextBox 4"/>
          <p:cNvSpPr txBox="1"/>
          <p:nvPr/>
        </p:nvSpPr>
        <p:spPr>
          <a:xfrm>
            <a:off x="457200" y="5657850"/>
            <a:ext cx="4114800" cy="742950"/>
          </a:xfrm>
          <a:prstGeom prst="rect">
            <a:avLst/>
          </a:prstGeom>
          <a:noFill/>
        </p:spPr>
        <p:txBody>
          <a:bodyPr wrap="none">
            <a:spAutoFit/>
          </a:bodyPr>
          <a:lstStyle/>
          <a:p>
            <a:pPr algn="l">
              <a:defRPr sz="1000" b="0">
                <a:solidFill>
                  <a:srgbClr val="059669"/>
                </a:solidFill>
                <a:latin typeface="Source Sans Pro"/>
              </a:defRPr>
            </a:pPr>
            <a:r>
              <a:t>Chaayos</a:t>
            </a:r>
          </a:p>
        </p:txBody>
      </p:sp>
      <p:sp>
        <p:nvSpPr>
          <p:cNvPr id="6" name="TextBox 5"/>
          <p:cNvSpPr txBox="1"/>
          <p:nvPr/>
        </p:nvSpPr>
        <p:spPr>
          <a:xfrm>
            <a:off x="4572000" y="5657850"/>
            <a:ext cx="4114800" cy="742950"/>
          </a:xfrm>
          <a:prstGeom prst="rect">
            <a:avLst/>
          </a:prstGeom>
          <a:noFill/>
        </p:spPr>
        <p:txBody>
          <a:bodyPr wrap="none">
            <a:spAutoFit/>
          </a:bodyPr>
          <a:lstStyle/>
          <a:p>
            <a:pPr algn="r">
              <a:defRPr sz="1000" b="0">
                <a:solidFill>
                  <a:srgbClr val="059669"/>
                </a:solidFill>
                <a:latin typeface="Source Sans Pro"/>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059669"/>
                </a:solidFill>
                <a:latin typeface="Inter"/>
              </a:defRPr>
            </a:pPr>
            <a:r>
              <a:t>Collateral: Business Card</a:t>
            </a:r>
          </a:p>
        </p:txBody>
      </p:sp>
      <p:sp>
        <p:nvSpPr>
          <p:cNvPr id="4" name="TextBox 3"/>
          <p:cNvSpPr txBox="1"/>
          <p:nvPr/>
        </p:nvSpPr>
        <p:spPr>
          <a:xfrm>
            <a:off x="1143000" y="1943100"/>
            <a:ext cx="6858000" cy="2971800"/>
          </a:xfrm>
          <a:prstGeom prst="rect">
            <a:avLst/>
          </a:prstGeom>
          <a:noFill/>
        </p:spPr>
        <p:txBody>
          <a:bodyPr wrap="square">
            <a:spAutoFit/>
          </a:bodyPr>
          <a:lstStyle/>
          <a:p>
            <a:pPr>
              <a:defRPr sz="1600" b="0">
                <a:solidFill>
                  <a:srgbClr val="059669"/>
                </a:solidFill>
                <a:latin typeface="Source Sans Pro"/>
              </a:defRPr>
            </a:pPr>
            <a:r>
              <a:t>Simple, clean business card layout for Chaayos in Food &amp; Beverage (F&amp;B), Quick Service Restaurants (QSR), Café/Tea Retail. Emphasize clarity, logo, and minimal info.</a:t>
            </a:r>
          </a:p>
        </p:txBody>
      </p:sp>
      <p:sp>
        <p:nvSpPr>
          <p:cNvPr id="5" name="TextBox 4"/>
          <p:cNvSpPr txBox="1"/>
          <p:nvPr/>
        </p:nvSpPr>
        <p:spPr>
          <a:xfrm>
            <a:off x="457200" y="5657850"/>
            <a:ext cx="4114800" cy="742950"/>
          </a:xfrm>
          <a:prstGeom prst="rect">
            <a:avLst/>
          </a:prstGeom>
          <a:noFill/>
        </p:spPr>
        <p:txBody>
          <a:bodyPr wrap="none">
            <a:spAutoFit/>
          </a:bodyPr>
          <a:lstStyle/>
          <a:p>
            <a:pPr algn="l">
              <a:defRPr sz="1000" b="0">
                <a:solidFill>
                  <a:srgbClr val="059669"/>
                </a:solidFill>
                <a:latin typeface="Source Sans Pro"/>
              </a:defRPr>
            </a:pPr>
            <a:r>
              <a:t>Chaayos</a:t>
            </a:r>
          </a:p>
        </p:txBody>
      </p:sp>
      <p:sp>
        <p:nvSpPr>
          <p:cNvPr id="6" name="TextBox 5"/>
          <p:cNvSpPr txBox="1"/>
          <p:nvPr/>
        </p:nvSpPr>
        <p:spPr>
          <a:xfrm>
            <a:off x="4572000" y="5657850"/>
            <a:ext cx="4114800" cy="742950"/>
          </a:xfrm>
          <a:prstGeom prst="rect">
            <a:avLst/>
          </a:prstGeom>
          <a:noFill/>
        </p:spPr>
        <p:txBody>
          <a:bodyPr wrap="none">
            <a:spAutoFit/>
          </a:bodyPr>
          <a:lstStyle/>
          <a:p>
            <a:pPr algn="r">
              <a:defRPr sz="1000" b="0">
                <a:solidFill>
                  <a:srgbClr val="059669"/>
                </a:solidFill>
                <a:latin typeface="Source Sans Pro"/>
              </a:defRPr>
            </a:pPr>
            <a: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059669"/>
                </a:solidFill>
                <a:latin typeface="Inter"/>
              </a:defRPr>
            </a:pPr>
            <a:r>
              <a:t>Collateral: Letterhead</a:t>
            </a:r>
          </a:p>
        </p:txBody>
      </p:sp>
      <p:sp>
        <p:nvSpPr>
          <p:cNvPr id="4" name="TextBox 3"/>
          <p:cNvSpPr txBox="1"/>
          <p:nvPr/>
        </p:nvSpPr>
        <p:spPr>
          <a:xfrm>
            <a:off x="1143000" y="1943100"/>
            <a:ext cx="6858000" cy="2971800"/>
          </a:xfrm>
          <a:prstGeom prst="rect">
            <a:avLst/>
          </a:prstGeom>
          <a:noFill/>
        </p:spPr>
        <p:txBody>
          <a:bodyPr wrap="square">
            <a:spAutoFit/>
          </a:bodyPr>
          <a:lstStyle/>
          <a:p>
            <a:pPr>
              <a:defRPr sz="1600" b="0">
                <a:solidFill>
                  <a:srgbClr val="059669"/>
                </a:solidFill>
                <a:latin typeface="Source Sans Pro"/>
              </a:defRPr>
            </a:pPr>
            <a:r>
              <a:t>Letterhead with Chaayos branding, address, and subtle color accent from brand palette.</a:t>
            </a:r>
          </a:p>
        </p:txBody>
      </p:sp>
      <p:sp>
        <p:nvSpPr>
          <p:cNvPr id="5" name="TextBox 4"/>
          <p:cNvSpPr txBox="1"/>
          <p:nvPr/>
        </p:nvSpPr>
        <p:spPr>
          <a:xfrm>
            <a:off x="457200" y="5657850"/>
            <a:ext cx="4114800" cy="742950"/>
          </a:xfrm>
          <a:prstGeom prst="rect">
            <a:avLst/>
          </a:prstGeom>
          <a:noFill/>
        </p:spPr>
        <p:txBody>
          <a:bodyPr wrap="none">
            <a:spAutoFit/>
          </a:bodyPr>
          <a:lstStyle/>
          <a:p>
            <a:pPr algn="l">
              <a:defRPr sz="1000" b="0">
                <a:solidFill>
                  <a:srgbClr val="059669"/>
                </a:solidFill>
                <a:latin typeface="Source Sans Pro"/>
              </a:defRPr>
            </a:pPr>
            <a:r>
              <a:t>Chaayos</a:t>
            </a:r>
          </a:p>
        </p:txBody>
      </p:sp>
      <p:sp>
        <p:nvSpPr>
          <p:cNvPr id="6" name="TextBox 5"/>
          <p:cNvSpPr txBox="1"/>
          <p:nvPr/>
        </p:nvSpPr>
        <p:spPr>
          <a:xfrm>
            <a:off x="4572000" y="5657850"/>
            <a:ext cx="4114800" cy="742950"/>
          </a:xfrm>
          <a:prstGeom prst="rect">
            <a:avLst/>
          </a:prstGeom>
          <a:noFill/>
        </p:spPr>
        <p:txBody>
          <a:bodyPr wrap="none">
            <a:spAutoFit/>
          </a:bodyPr>
          <a:lstStyle/>
          <a:p>
            <a:pPr algn="r">
              <a:defRPr sz="1000" b="0">
                <a:solidFill>
                  <a:srgbClr val="059669"/>
                </a:solidFill>
                <a:latin typeface="Source Sans Pro"/>
              </a:defRPr>
            </a:pPr>
            <a: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059669"/>
                </a:solidFill>
                <a:latin typeface="Inter"/>
              </a:defRPr>
            </a:pPr>
            <a:r>
              <a:t>Collateral: Email Signature</a:t>
            </a:r>
          </a:p>
        </p:txBody>
      </p:sp>
      <p:sp>
        <p:nvSpPr>
          <p:cNvPr id="4" name="TextBox 3"/>
          <p:cNvSpPr txBox="1"/>
          <p:nvPr/>
        </p:nvSpPr>
        <p:spPr>
          <a:xfrm>
            <a:off x="1143000" y="1943100"/>
            <a:ext cx="6858000" cy="2971800"/>
          </a:xfrm>
          <a:prstGeom prst="rect">
            <a:avLst/>
          </a:prstGeom>
          <a:noFill/>
        </p:spPr>
        <p:txBody>
          <a:bodyPr wrap="square">
            <a:spAutoFit/>
          </a:bodyPr>
          <a:lstStyle/>
          <a:p>
            <a:pPr>
              <a:defRPr sz="1600" b="0">
                <a:solidFill>
                  <a:srgbClr val="059669"/>
                </a:solidFill>
                <a:latin typeface="Source Sans Pro"/>
              </a:defRPr>
            </a:pPr>
            <a:r>
              <a:t>Professional email signature for Chaayos with logo, name, title, and key contact details.</a:t>
            </a:r>
          </a:p>
        </p:txBody>
      </p:sp>
      <p:sp>
        <p:nvSpPr>
          <p:cNvPr id="5" name="TextBox 4"/>
          <p:cNvSpPr txBox="1"/>
          <p:nvPr/>
        </p:nvSpPr>
        <p:spPr>
          <a:xfrm>
            <a:off x="457200" y="5657850"/>
            <a:ext cx="4114800" cy="742950"/>
          </a:xfrm>
          <a:prstGeom prst="rect">
            <a:avLst/>
          </a:prstGeom>
          <a:noFill/>
        </p:spPr>
        <p:txBody>
          <a:bodyPr wrap="none">
            <a:spAutoFit/>
          </a:bodyPr>
          <a:lstStyle/>
          <a:p>
            <a:pPr algn="l">
              <a:defRPr sz="1000" b="0">
                <a:solidFill>
                  <a:srgbClr val="059669"/>
                </a:solidFill>
                <a:latin typeface="Source Sans Pro"/>
              </a:defRPr>
            </a:pPr>
            <a:r>
              <a:t>Chaayos</a:t>
            </a:r>
          </a:p>
        </p:txBody>
      </p:sp>
      <p:sp>
        <p:nvSpPr>
          <p:cNvPr id="6" name="TextBox 5"/>
          <p:cNvSpPr txBox="1"/>
          <p:nvPr/>
        </p:nvSpPr>
        <p:spPr>
          <a:xfrm>
            <a:off x="4572000" y="5657850"/>
            <a:ext cx="4114800" cy="742950"/>
          </a:xfrm>
          <a:prstGeom prst="rect">
            <a:avLst/>
          </a:prstGeom>
          <a:noFill/>
        </p:spPr>
        <p:txBody>
          <a:bodyPr wrap="none">
            <a:spAutoFit/>
          </a:bodyPr>
          <a:lstStyle/>
          <a:p>
            <a:pPr algn="r">
              <a:defRPr sz="1000" b="0">
                <a:solidFill>
                  <a:srgbClr val="059669"/>
                </a:solidFill>
                <a:latin typeface="Source Sans Pro"/>
              </a:defRPr>
            </a:pPr>
            <a: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059669"/>
                </a:solidFill>
                <a:latin typeface="Inter"/>
              </a:defRPr>
            </a:pPr>
            <a:r>
              <a:t>Collateral: Presentation Template</a:t>
            </a:r>
          </a:p>
        </p:txBody>
      </p:sp>
      <p:sp>
        <p:nvSpPr>
          <p:cNvPr id="4" name="TextBox 3"/>
          <p:cNvSpPr txBox="1"/>
          <p:nvPr/>
        </p:nvSpPr>
        <p:spPr>
          <a:xfrm>
            <a:off x="1143000" y="1943100"/>
            <a:ext cx="6858000" cy="2971800"/>
          </a:xfrm>
          <a:prstGeom prst="rect">
            <a:avLst/>
          </a:prstGeom>
          <a:noFill/>
        </p:spPr>
        <p:txBody>
          <a:bodyPr wrap="square">
            <a:spAutoFit/>
          </a:bodyPr>
          <a:lstStyle/>
          <a:p>
            <a:pPr>
              <a:defRPr sz="1600" b="0">
                <a:solidFill>
                  <a:srgbClr val="059669"/>
                </a:solidFill>
                <a:latin typeface="Source Sans Pro"/>
              </a:defRPr>
            </a:pPr>
            <a:r>
              <a:t>PPT cover slide and content slide layouts using Chaayos palette and fonts.</a:t>
            </a:r>
          </a:p>
        </p:txBody>
      </p:sp>
      <p:sp>
        <p:nvSpPr>
          <p:cNvPr id="5" name="TextBox 4"/>
          <p:cNvSpPr txBox="1"/>
          <p:nvPr/>
        </p:nvSpPr>
        <p:spPr>
          <a:xfrm>
            <a:off x="457200" y="5657850"/>
            <a:ext cx="4114800" cy="742950"/>
          </a:xfrm>
          <a:prstGeom prst="rect">
            <a:avLst/>
          </a:prstGeom>
          <a:noFill/>
        </p:spPr>
        <p:txBody>
          <a:bodyPr wrap="none">
            <a:spAutoFit/>
          </a:bodyPr>
          <a:lstStyle/>
          <a:p>
            <a:pPr algn="l">
              <a:defRPr sz="1000" b="0">
                <a:solidFill>
                  <a:srgbClr val="059669"/>
                </a:solidFill>
                <a:latin typeface="Source Sans Pro"/>
              </a:defRPr>
            </a:pPr>
            <a:r>
              <a:t>Chaayos</a:t>
            </a:r>
          </a:p>
        </p:txBody>
      </p:sp>
      <p:sp>
        <p:nvSpPr>
          <p:cNvPr id="6" name="TextBox 5"/>
          <p:cNvSpPr txBox="1"/>
          <p:nvPr/>
        </p:nvSpPr>
        <p:spPr>
          <a:xfrm>
            <a:off x="4572000" y="5657850"/>
            <a:ext cx="4114800" cy="742950"/>
          </a:xfrm>
          <a:prstGeom prst="rect">
            <a:avLst/>
          </a:prstGeom>
          <a:noFill/>
        </p:spPr>
        <p:txBody>
          <a:bodyPr wrap="none">
            <a:spAutoFit/>
          </a:bodyPr>
          <a:lstStyle/>
          <a:p>
            <a:pPr algn="r">
              <a:defRPr sz="1000" b="0">
                <a:solidFill>
                  <a:srgbClr val="059669"/>
                </a:solidFill>
                <a:latin typeface="Source Sans Pro"/>
              </a:defRPr>
            </a:pPr>
            <a: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059669"/>
                </a:solidFill>
                <a:latin typeface="Inter"/>
              </a:defRPr>
            </a:pPr>
            <a:r>
              <a:t>Collateral: Social Templates</a:t>
            </a:r>
          </a:p>
        </p:txBody>
      </p:sp>
      <p:sp>
        <p:nvSpPr>
          <p:cNvPr id="4" name="TextBox 3"/>
          <p:cNvSpPr txBox="1"/>
          <p:nvPr/>
        </p:nvSpPr>
        <p:spPr>
          <a:xfrm>
            <a:off x="1143000" y="1943100"/>
            <a:ext cx="6858000" cy="2971800"/>
          </a:xfrm>
          <a:prstGeom prst="rect">
            <a:avLst/>
          </a:prstGeom>
          <a:noFill/>
        </p:spPr>
        <p:txBody>
          <a:bodyPr wrap="square">
            <a:spAutoFit/>
          </a:bodyPr>
          <a:lstStyle/>
          <a:p>
            <a:pPr>
              <a:defRPr sz="1600" b="0">
                <a:solidFill>
                  <a:srgbClr val="059669"/>
                </a:solidFill>
                <a:latin typeface="Source Sans Pro"/>
              </a:defRPr>
            </a:pPr>
            <a:r>
              <a:t>Instagram/Facebook post and story templates reflecting Chaayos's style and values.</a:t>
            </a:r>
          </a:p>
        </p:txBody>
      </p:sp>
      <p:sp>
        <p:nvSpPr>
          <p:cNvPr id="5" name="TextBox 4"/>
          <p:cNvSpPr txBox="1"/>
          <p:nvPr/>
        </p:nvSpPr>
        <p:spPr>
          <a:xfrm>
            <a:off x="457200" y="5657850"/>
            <a:ext cx="4114800" cy="742950"/>
          </a:xfrm>
          <a:prstGeom prst="rect">
            <a:avLst/>
          </a:prstGeom>
          <a:noFill/>
        </p:spPr>
        <p:txBody>
          <a:bodyPr wrap="none">
            <a:spAutoFit/>
          </a:bodyPr>
          <a:lstStyle/>
          <a:p>
            <a:pPr algn="l">
              <a:defRPr sz="1000" b="0">
                <a:solidFill>
                  <a:srgbClr val="059669"/>
                </a:solidFill>
                <a:latin typeface="Source Sans Pro"/>
              </a:defRPr>
            </a:pPr>
            <a:r>
              <a:t>Chaayos</a:t>
            </a:r>
          </a:p>
        </p:txBody>
      </p:sp>
      <p:sp>
        <p:nvSpPr>
          <p:cNvPr id="6" name="TextBox 5"/>
          <p:cNvSpPr txBox="1"/>
          <p:nvPr/>
        </p:nvSpPr>
        <p:spPr>
          <a:xfrm>
            <a:off x="4572000" y="5657850"/>
            <a:ext cx="4114800" cy="742950"/>
          </a:xfrm>
          <a:prstGeom prst="rect">
            <a:avLst/>
          </a:prstGeom>
          <a:noFill/>
        </p:spPr>
        <p:txBody>
          <a:bodyPr wrap="none">
            <a:spAutoFit/>
          </a:bodyPr>
          <a:lstStyle/>
          <a:p>
            <a:pPr algn="r">
              <a:defRPr sz="1000" b="0">
                <a:solidFill>
                  <a:srgbClr val="059669"/>
                </a:solidFill>
                <a:latin typeface="Source Sans Pro"/>
              </a:defRPr>
            </a:pPr>
            <a:r>
              <a:t>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