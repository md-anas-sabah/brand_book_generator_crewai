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20014_b8411bb2.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059669"/>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059669"/>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059669"/>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059669"/>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059669"/>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059669"/>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059669"/>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059669"/>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059669"/>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666666"/>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666666"/>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059669"/>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666666"/>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666666"/>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666666"/>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059669"/>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059669"/>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666666"/>
                </a:solidFill>
                <a:latin typeface="Source Sans Pro"/>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666666"/>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Welcome to Chaayos' brand identity system, where traditional chai culture meets modern café experience. As India's leading tea café chain, we've crafted a distinctive presence in the quick-service restaurant landscape that resonates across generations. Our identity system delivers an internationally appealing yet authentically Indian brand experience, ensuring consistent recognition while maintaining our proprietary edge. From customizable chai preparations to innovative food pairings, we serve the diverse needs of urban professionals, students, families, and tea enthusiasts alike, embodying our commitment to personalization, warmth, and exceptional quality in every cup we serve.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our vision is to redefine the tea experience for Urban youth, Working professionals, Tea enthusiasts, Families, Students, and Millennials by fostering a culture of creativity and connection. We aspire to be the catalyst for innovative tea solutions that inspire moments of warmth, joy, and discovery in every sip, shaping a vibrant and inclusive community of tea lovers.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Our mission at Chaayos is to craft exceptional Food &amp; Beverage experiences that celebrate the art of tea while delivering unparalleled customer delight. Through our distinctive Tea Cafés and Quick-service Restaurants, we aim to revolutionize the way people perceive and enjoy tea, offering a blend of quality, personalization, and authenticity that resonates with the diverse tastes and preferences of our target audience.</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the heart of Chaayos lie our core values of Warmth, Innovation, Authenticity, Customer Delight, Community, Quality, and Personalization. We infuse warmth into every cup we serve, constantly innovating to exceed expectations and deliver authentic tea experiences that delight our customers. Building a sense of community around tea, we uphold the highest standards of quality and personalize every interaction to create lasting connections with Urban youth, Working professionals, Tea enthusiasts, Families, Students, and Millennials.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Once upon a time in the bustling streets of the city, there was a place where the aroma of freshly brewed tea danced in the air, inviting all who passed by to step into a world of warmth and innovation. This place was Chaayos, a haven for urban youth, working professionals, tea enthusiasts, families, students, and millennials alike. At Chaayos, we believe in the power of a good cup of tea to bring people together, to create moments of joy and connection in the midst of a busy day. Our core values of authenticity, customer delight, and community are infused into every aspect of what we do, from sourcing the finest tea leaves to crafting unique and delicious blends that cater to the diverse tastes of our customers.</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But what sets Chaayos apart is our commitment to innovation and personalization. We understand that our customers are individuals with their own preferences and cravings, which is why we offer a menu that is as diverse and dynamic as they are. From classic chai to fusion teas with a modern twist, from hearty snacks to indulgent desserts, we have something for everyone. Our brand promise is simple yet powerful: to empower urban...</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059669"/>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0904_020014_b8411bb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2_20250904_020042_53d8a6c4.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3_20250904_020106_18ec959b.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059669"/>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Logo Primary</a:t>
            </a:r>
          </a:p>
          <a:p>
            <a:pPr algn="l">
              <a:spcAft>
                <a:spcPts val="300"/>
              </a:spcAft>
              <a:defRPr sz="1000" b="0">
                <a:solidFill>
                  <a:srgbClr val="000000"/>
                </a:solidFill>
                <a:latin typeface="Source Sans Pro"/>
              </a:defRPr>
            </a:pPr>
            <a:r>
              <a:t>#059669</a:t>
            </a:r>
          </a:p>
          <a:p>
            <a:pPr algn="l">
              <a:spcAft>
                <a:spcPts val="300"/>
              </a:spcAft>
              <a:defRPr sz="1000" b="0">
                <a:solidFill>
                  <a:srgbClr val="000000"/>
                </a:solidFill>
                <a:latin typeface="Source Sans Pro"/>
              </a:defRPr>
            </a:pPr>
            <a:r>
              <a:t>RGB(5, 150, 105)</a:t>
            </a:r>
          </a:p>
          <a:p>
            <a:pPr algn="l">
              <a:spcAft>
                <a:spcPts val="300"/>
              </a:spcAft>
              <a:defRPr sz="1000" b="0">
                <a:solidFill>
                  <a:srgbClr val="000000"/>
                </a:solidFill>
                <a:latin typeface="Source Sans Pro"/>
              </a:defRPr>
            </a:pPr>
            <a:r>
              <a:t>CMYK(96, 0, 30, 41)</a:t>
            </a:r>
          </a:p>
          <a:p>
            <a:pPr algn="l">
              <a:spcAft>
                <a:spcPts val="300"/>
              </a:spcAft>
              <a:defRPr sz="1000" b="0">
                <a:solidFill>
                  <a:srgbClr val="000000"/>
                </a:solidFill>
                <a:latin typeface="Source Sans Pro"/>
              </a:defRPr>
            </a:pPr>
            <a:r>
              <a:t>Use Dark Text</a:t>
            </a:r>
          </a:p>
        </p:txBody>
      </p:sp>
      <p:sp>
        <p:nvSpPr>
          <p:cNvPr id="4" name="Rectangle 3"/>
          <p:cNvSpPr/>
          <p:nvPr/>
        </p:nvSpPr>
        <p:spPr>
          <a:xfrm>
            <a:off x="4572000" y="1645920"/>
            <a:ext cx="1828800" cy="1371600"/>
          </a:xfrm>
          <a:prstGeom prst="rect">
            <a:avLst/>
          </a:prstGeom>
          <a:solidFill>
            <a:srgbClr val="2E86A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Primary Blue</a:t>
            </a:r>
          </a:p>
          <a:p>
            <a:pPr algn="l">
              <a:spcAft>
                <a:spcPts val="300"/>
              </a:spcAft>
              <a:defRPr sz="1000" b="0">
                <a:solidFill>
                  <a:srgbClr val="000000"/>
                </a:solidFill>
                <a:latin typeface="Source Sans Pro"/>
              </a:defRPr>
            </a:pPr>
            <a:r>
              <a:t>#2E86AB</a:t>
            </a:r>
          </a:p>
          <a:p>
            <a:pPr algn="l">
              <a:spcAft>
                <a:spcPts val="300"/>
              </a:spcAft>
              <a:defRPr sz="1000" b="0">
                <a:solidFill>
                  <a:srgbClr val="000000"/>
                </a:solidFill>
                <a:latin typeface="Source Sans Pro"/>
              </a:defRPr>
            </a:pPr>
            <a:r>
              <a:t>RGB(46, 134, 171)</a:t>
            </a:r>
          </a:p>
          <a:p>
            <a:pPr algn="l">
              <a:spcAft>
                <a:spcPts val="300"/>
              </a:spcAft>
              <a:defRPr sz="1000" b="0">
                <a:solidFill>
                  <a:srgbClr val="000000"/>
                </a:solidFill>
                <a:latin typeface="Source Sans Pro"/>
              </a:defRPr>
            </a:pPr>
            <a:r>
              <a:t>CMYK(73, 21, 0, 32)</a:t>
            </a:r>
          </a:p>
          <a:p>
            <a:pPr algn="l">
              <a:spcAft>
                <a:spcPts val="300"/>
              </a:spcAft>
              <a:defRPr sz="1000" b="0">
                <a:solidFill>
                  <a:srgbClr val="000000"/>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24A19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Accent Teal</a:t>
            </a:r>
          </a:p>
          <a:p>
            <a:pPr algn="l">
              <a:spcAft>
                <a:spcPts val="300"/>
              </a:spcAft>
              <a:defRPr sz="1000" b="0">
                <a:solidFill>
                  <a:srgbClr val="000000"/>
                </a:solidFill>
                <a:latin typeface="Source Sans Pro"/>
              </a:defRPr>
            </a:pPr>
            <a:r>
              <a:t>#24A19C</a:t>
            </a:r>
          </a:p>
          <a:p>
            <a:pPr algn="l">
              <a:spcAft>
                <a:spcPts val="300"/>
              </a:spcAft>
              <a:defRPr sz="1000" b="0">
                <a:solidFill>
                  <a:srgbClr val="000000"/>
                </a:solidFill>
                <a:latin typeface="Source Sans Pro"/>
              </a:defRPr>
            </a:pPr>
            <a:r>
              <a:t>RGB(36, 161, 156)</a:t>
            </a:r>
          </a:p>
          <a:p>
            <a:pPr algn="l">
              <a:spcAft>
                <a:spcPts val="300"/>
              </a:spcAft>
              <a:defRPr sz="1000" b="0">
                <a:solidFill>
                  <a:srgbClr val="000000"/>
                </a:solidFill>
                <a:latin typeface="Source Sans Pro"/>
              </a:defRPr>
            </a:pPr>
            <a:r>
              <a:t>CMYK(77, 0, 3, 36)</a:t>
            </a:r>
          </a:p>
          <a:p>
            <a:pPr algn="l">
              <a:spcAft>
                <a:spcPts val="300"/>
              </a:spcAft>
              <a:defRPr sz="1000" b="0">
                <a:solidFill>
                  <a:srgbClr val="000000"/>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1B365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Deep Navy</a:t>
            </a:r>
          </a:p>
          <a:p>
            <a:pPr algn="l">
              <a:spcAft>
                <a:spcPts val="300"/>
              </a:spcAft>
              <a:defRPr sz="1000" b="0">
                <a:solidFill>
                  <a:srgbClr val="000000"/>
                </a:solidFill>
                <a:latin typeface="Source Sans Pro"/>
              </a:defRPr>
            </a:pPr>
            <a:r>
              <a:t>#1B365D</a:t>
            </a:r>
          </a:p>
          <a:p>
            <a:pPr algn="l">
              <a:spcAft>
                <a:spcPts val="300"/>
              </a:spcAft>
              <a:defRPr sz="1000" b="0">
                <a:solidFill>
                  <a:srgbClr val="000000"/>
                </a:solidFill>
                <a:latin typeface="Source Sans Pro"/>
              </a:defRPr>
            </a:pPr>
            <a:r>
              <a:t>RGB(27, 54, 93)</a:t>
            </a:r>
          </a:p>
          <a:p>
            <a:pPr algn="l">
              <a:spcAft>
                <a:spcPts val="300"/>
              </a:spcAft>
              <a:defRPr sz="1000" b="0">
                <a:solidFill>
                  <a:srgbClr val="000000"/>
                </a:solidFill>
                <a:latin typeface="Source Sans Pro"/>
              </a:defRPr>
            </a:pPr>
            <a:r>
              <a:t>CMYK(70, 41, 0, 63)</a:t>
            </a:r>
          </a:p>
          <a:p>
            <a:pPr algn="l">
              <a:spcAft>
                <a:spcPts val="300"/>
              </a:spcAft>
              <a:defRPr sz="1000" b="0">
                <a:solidFill>
                  <a:srgbClr val="000000"/>
                </a:solidFill>
                <a:latin typeface="Source Sans Pro"/>
              </a:defRPr>
            </a:pPr>
            <a:r>
              <a:t>Use Light Text</a:t>
            </a:r>
          </a:p>
        </p:txBody>
      </p:sp>
      <p:cxnSp>
        <p:nvCxnSpPr>
          <p:cNvPr id="10" name="Connector 9"/>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Light Background</a:t>
            </a:r>
          </a:p>
          <a:p>
            <a:pPr algn="ctr">
              <a:spcAft>
                <a:spcPts val="300"/>
              </a:spcAft>
              <a:defRPr sz="1000" b="0">
                <a:solidFill>
                  <a:srgbClr val="000000"/>
                </a:solidFill>
                <a:latin typeface="Source Sans Pro"/>
              </a:defRPr>
            </a:pPr>
            <a:r>
              <a:t>#F8F9FA</a:t>
            </a:r>
          </a:p>
          <a:p>
            <a:pPr algn="ctr">
              <a:spcAft>
                <a:spcPts val="300"/>
              </a:spcAft>
              <a:defRPr sz="1000" b="0">
                <a:solidFill>
                  <a:srgbClr val="000000"/>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6B728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Medium Gray</a:t>
            </a:r>
          </a:p>
          <a:p>
            <a:pPr algn="ctr">
              <a:spcAft>
                <a:spcPts val="300"/>
              </a:spcAft>
              <a:defRPr sz="1000" b="0">
                <a:solidFill>
                  <a:srgbClr val="000000"/>
                </a:solidFill>
                <a:latin typeface="Source Sans Pro"/>
              </a:defRPr>
            </a:pPr>
            <a:r>
              <a:t>#6B7280</a:t>
            </a:r>
          </a:p>
          <a:p>
            <a:pPr algn="ctr">
              <a:spcAft>
                <a:spcPts val="300"/>
              </a:spcAft>
              <a:defRPr sz="1000" b="0">
                <a:solidFill>
                  <a:srgbClr val="000000"/>
                </a:solidFill>
                <a:latin typeface="Source Sans Pro"/>
              </a:defRPr>
            </a:pPr>
            <a:r>
              <a:t>Use Light Text</a:t>
            </a:r>
          </a:p>
        </p:txBody>
      </p:sp>
      <p:sp>
        <p:nvSpPr>
          <p:cNvPr id="6" name="Rectangle 5"/>
          <p:cNvSpPr/>
          <p:nvPr/>
        </p:nvSpPr>
        <p:spPr>
          <a:xfrm>
            <a:off x="5257800" y="1571625"/>
            <a:ext cx="1828800" cy="914400"/>
          </a:xfrm>
          <a:prstGeom prst="rect">
            <a:avLst/>
          </a:prstGeom>
          <a:solidFill>
            <a:srgbClr val="1F293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Dark Text</a:t>
            </a:r>
          </a:p>
          <a:p>
            <a:pPr algn="ctr">
              <a:spcAft>
                <a:spcPts val="300"/>
              </a:spcAft>
              <a:defRPr sz="1000" b="0">
                <a:solidFill>
                  <a:srgbClr val="000000"/>
                </a:solidFill>
                <a:latin typeface="Source Sans Pro"/>
              </a:defRPr>
            </a:pPr>
            <a:r>
              <a:t>#1F2937</a:t>
            </a:r>
          </a:p>
          <a:p>
            <a:pPr algn="ctr">
              <a:spcAft>
                <a:spcPts val="300"/>
              </a:spcAft>
              <a:defRPr sz="1000" b="0">
                <a:solidFill>
                  <a:srgbClr val="000000"/>
                </a:solidFill>
                <a:latin typeface="Source Sans Pro"/>
              </a:defRPr>
            </a:pPr>
            <a:r>
              <a:t>Use Light Text</a:t>
            </a:r>
          </a:p>
        </p:txBody>
      </p:sp>
      <p:sp>
        <p:nvSpPr>
          <p:cNvPr id="8" name="Rectangle 7"/>
          <p:cNvSpPr/>
          <p:nvPr/>
        </p:nvSpPr>
        <p:spPr>
          <a:xfrm>
            <a:off x="2171700" y="3429000"/>
            <a:ext cx="1828800" cy="914400"/>
          </a:xfrm>
          <a:prstGeom prst="rect">
            <a:avLst/>
          </a:prstGeom>
          <a:solidFill>
            <a:srgbClr val="E5E7E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Accent Light</a:t>
            </a:r>
          </a:p>
          <a:p>
            <a:pPr algn="ctr">
              <a:spcAft>
                <a:spcPts val="300"/>
              </a:spcAft>
              <a:defRPr sz="1000" b="0">
                <a:solidFill>
                  <a:srgbClr val="000000"/>
                </a:solidFill>
                <a:latin typeface="Source Sans Pro"/>
              </a:defRPr>
            </a:pPr>
            <a:r>
              <a:t>#E5E7EB</a:t>
            </a:r>
          </a:p>
          <a:p>
            <a:pPr algn="ctr">
              <a:spcAft>
                <a:spcPts val="300"/>
              </a:spcAft>
              <a:defRPr sz="1000" b="0">
                <a:solidFill>
                  <a:srgbClr val="000000"/>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F59E0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Warning Orange</a:t>
            </a:r>
          </a:p>
          <a:p>
            <a:pPr algn="ctr">
              <a:spcAft>
                <a:spcPts val="300"/>
              </a:spcAft>
              <a:defRPr sz="1000" b="0">
                <a:solidFill>
                  <a:srgbClr val="000000"/>
                </a:solidFill>
                <a:latin typeface="Source Sans Pro"/>
              </a:defRPr>
            </a:pPr>
            <a:r>
              <a:t>#F59E0B</a:t>
            </a:r>
          </a:p>
          <a:p>
            <a:pPr algn="ctr">
              <a:spcAft>
                <a:spcPts val="300"/>
              </a:spcAft>
              <a:defRPr sz="1000" b="0">
                <a:solidFill>
                  <a:srgbClr val="000000"/>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Primary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brand-critical elements:</a:t>
            </a:r>
          </a:p>
          <a:p>
            <a:pPr algn="l">
              <a:spcAft>
                <a:spcPts val="600"/>
              </a:spcAft>
              <a:defRPr sz="1400" b="0">
                <a:solidFill>
                  <a:srgbClr val="000000"/>
                </a:solidFill>
                <a:latin typeface="Source Sans Pro"/>
              </a:defRPr>
            </a:pPr>
            <a:r>
              <a:t>• Logos and main brand marks</a:t>
            </a:r>
          </a:p>
          <a:p>
            <a:pPr algn="l">
              <a:spcAft>
                <a:spcPts val="600"/>
              </a:spcAft>
              <a:defRPr sz="1400" b="0">
                <a:solidFill>
                  <a:srgbClr val="000000"/>
                </a:solidFill>
                <a:latin typeface="Source Sans Pro"/>
              </a:defRPr>
            </a:pPr>
            <a:r>
              <a:t>• Headlines and key text</a:t>
            </a:r>
          </a:p>
          <a:p>
            <a:pPr algn="l">
              <a:spcAft>
                <a:spcPts val="600"/>
              </a:spcAft>
              <a:defRPr sz="1400" b="0">
                <a:solidFill>
                  <a:srgbClr val="000000"/>
                </a:solidFill>
                <a:latin typeface="Source Sans Pro"/>
              </a:defRPr>
            </a:pPr>
            <a:r>
              <a:t>• CTA buttons and navigation</a:t>
            </a:r>
          </a:p>
          <a:p>
            <a:pPr algn="l">
              <a:spcAft>
                <a:spcPts val="600"/>
              </a:spcAft>
              <a:defRPr sz="1400" b="0">
                <a:solidFill>
                  <a:srgbClr val="000000"/>
                </a:solidFill>
                <a:latin typeface="Source Sans Pro"/>
              </a:defRPr>
            </a:pPr>
            <a:r>
              <a:t>• Hero sections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Logo Primary, Primary Blue, Accent Teal, Deep Navy</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Maximum brand recognition</a:t>
            </a:r>
          </a:p>
          <a:p>
            <a:pPr algn="l">
              <a:spcAft>
                <a:spcPts val="600"/>
              </a:spcAft>
              <a:defRPr sz="1400" b="0">
                <a:solidFill>
                  <a:srgbClr val="000000"/>
                </a:solidFill>
                <a:latin typeface="Source Sans Pro"/>
              </a:defRPr>
            </a:pPr>
            <a:r>
              <a:t>- Consistent application</a:t>
            </a:r>
          </a:p>
          <a:p>
            <a:pPr algn="l">
              <a:spcAft>
                <a:spcPts val="600"/>
              </a:spcAft>
              <a:defRPr sz="1400" b="0">
                <a:solidFill>
                  <a:srgbClr val="000000"/>
                </a:solidFill>
                <a:latin typeface="Source Sans Pro"/>
              </a:defRPr>
            </a:pPr>
            <a:r>
              <a:t>- Sufficient contrast</a:t>
            </a:r>
          </a:p>
          <a:p>
            <a:pPr algn="l">
              <a:spcAft>
                <a:spcPts val="600"/>
              </a:spcAft>
              <a:defRPr sz="1400" b="0">
                <a:solidFill>
                  <a:srgbClr val="000000"/>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Secondary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supporting elements:</a:t>
            </a:r>
          </a:p>
          <a:p>
            <a:pPr algn="l">
              <a:spcAft>
                <a:spcPts val="600"/>
              </a:spcAft>
              <a:defRPr sz="1400" b="0">
                <a:solidFill>
                  <a:srgbClr val="000000"/>
                </a:solidFill>
                <a:latin typeface="Source Sans Pro"/>
              </a:defRPr>
            </a:pPr>
            <a:r>
              <a:t>• Backgrounds and subtle accents</a:t>
            </a:r>
          </a:p>
          <a:p>
            <a:pPr algn="l">
              <a:spcAft>
                <a:spcPts val="600"/>
              </a:spcAft>
              <a:defRPr sz="1400" b="0">
                <a:solidFill>
                  <a:srgbClr val="000000"/>
                </a:solidFill>
                <a:latin typeface="Source Sans Pro"/>
              </a:defRPr>
            </a:pPr>
            <a:r>
              <a:t>• Secondary text</a:t>
            </a:r>
          </a:p>
          <a:p>
            <a:pPr algn="l">
              <a:spcAft>
                <a:spcPts val="600"/>
              </a:spcAft>
              <a:defRPr sz="1400" b="0">
                <a:solidFill>
                  <a:srgbClr val="000000"/>
                </a:solidFill>
                <a:latin typeface="Source Sans Pro"/>
              </a:defRPr>
            </a:pPr>
            <a:r>
              <a:t>• Borders and dividers</a:t>
            </a:r>
          </a:p>
          <a:p>
            <a:pPr algn="l">
              <a:spcAft>
                <a:spcPts val="600"/>
              </a:spcAft>
              <a:defRPr sz="1400" b="0">
                <a:solidFill>
                  <a:srgbClr val="000000"/>
                </a:solidFill>
                <a:latin typeface="Source Sans Pro"/>
              </a:defRPr>
            </a:pPr>
            <a:r>
              <a:t>• Hover states and icons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Light Background, Medium Gray, Dark Text, Accent Light, Warning Orange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Create visual hierarchy</a:t>
            </a:r>
          </a:p>
          <a:p>
            <a:pPr algn="l">
              <a:spcAft>
                <a:spcPts val="600"/>
              </a:spcAft>
              <a:defRPr sz="1400" b="0">
                <a:solidFill>
                  <a:srgbClr val="000000"/>
                </a:solidFill>
                <a:latin typeface="Source Sans Pro"/>
              </a:defRPr>
            </a:pPr>
            <a:r>
              <a:t>- Support, don't compete</a:t>
            </a:r>
          </a:p>
          <a:p>
            <a:pPr algn="l">
              <a:spcAft>
                <a:spcPts val="600"/>
              </a:spcAft>
              <a:defRPr sz="1400" b="0">
                <a:solidFill>
                  <a:srgbClr val="000000"/>
                </a:solidFill>
                <a:latin typeface="Source Sans Pro"/>
              </a:defRPr>
            </a:pPr>
            <a:r>
              <a:t>- Maintain readability</a:t>
            </a:r>
          </a:p>
          <a:p>
            <a:pPr algn="l">
              <a:spcAft>
                <a:spcPts val="600"/>
              </a:spcAft>
              <a:defRPr sz="1400" b="0">
                <a:solidFill>
                  <a:srgbClr val="000000"/>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059669"/>
                </a:solidFill>
                <a:latin typeface="Inter"/>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Primary Font: Inter</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Secondary Font: Source Sans Pro</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Font Hierarchy:</a:t>
            </a:r>
          </a:p>
          <a:p>
            <a:pPr algn="l">
              <a:spcAft>
                <a:spcPts val="800"/>
              </a:spcAft>
              <a:defRPr sz="2000" b="0">
                <a:solidFill>
                  <a:srgbClr val="000000"/>
                </a:solidFill>
                <a:latin typeface="Source Sans Pro"/>
              </a:defRPr>
            </a:pPr>
            <a:r>
              <a:t>• Headlines: Inter - Bold, 28-32pt</a:t>
            </a:r>
          </a:p>
          <a:p>
            <a:pPr algn="l">
              <a:spcAft>
                <a:spcPts val="800"/>
              </a:spcAft>
              <a:defRPr sz="2000" b="0">
                <a:solidFill>
                  <a:srgbClr val="000000"/>
                </a:solidFill>
                <a:latin typeface="Source Sans Pro"/>
              </a:defRPr>
            </a:pPr>
            <a:r>
              <a:t>• Subheadlines: Inter - Bold, 20-24pt</a:t>
            </a:r>
          </a:p>
          <a:p>
            <a:pPr algn="l">
              <a:spcAft>
                <a:spcPts val="800"/>
              </a:spcAft>
              <a:defRPr sz="2000" b="0">
                <a:solidFill>
                  <a:srgbClr val="000000"/>
                </a:solidFill>
                <a:latin typeface="Source Sans Pro"/>
              </a:defRPr>
            </a:pPr>
            <a:r>
              <a:t>• Body Text: Source Sans Pro - Regular, 16-18pt</a:t>
            </a:r>
          </a:p>
          <a:p>
            <a:pPr algn="l">
              <a:spcAft>
                <a:spcPts val="800"/>
              </a:spcAft>
              <a:defRPr sz="2000" b="0">
                <a:solidFill>
                  <a:srgbClr val="000000"/>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059669"/>
                </a:solidFill>
                <a:latin typeface="Inter"/>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Core Functional Icons</a:t>
            </a:r>
          </a:p>
        </p:txBody>
      </p:sp>
      <p:pic>
        <p:nvPicPr>
          <p:cNvPr id="3" name="Picture 2" descr="mdi_home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accoun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cog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briefcase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office-building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handshak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chart-line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presentation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calendar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email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lightbulb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rocket_059669.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account-group_059669.png"/>
          <p:cNvPicPr>
            <a:picLocks noChangeAspect="1"/>
          </p:cNvPicPr>
          <p:nvPr/>
        </p:nvPicPr>
        <p:blipFill>
          <a:blip r:embed="rId14"/>
          <a:stretch>
            <a:fillRect/>
          </a:stretch>
        </p:blipFill>
        <p:spPr>
          <a:xfrm>
            <a:off x="4160520" y="3840480"/>
            <a:ext cx="822960" cy="822960"/>
          </a:xfrm>
          <a:prstGeom prst="rect">
            <a:avLst/>
          </a:prstGeom>
        </p:spPr>
      </p:pic>
      <p:pic>
        <p:nvPicPr>
          <p:cNvPr id="16" name="Picture 15" descr="mdi_star_059669.png"/>
          <p:cNvPicPr>
            <a:picLocks noChangeAspect="1"/>
          </p:cNvPicPr>
          <p:nvPr/>
        </p:nvPicPr>
        <p:blipFill>
          <a:blip r:embed="rId15"/>
          <a:stretch>
            <a:fillRect/>
          </a:stretch>
        </p:blipFill>
        <p:spPr>
          <a:xfrm>
            <a:off x="5879592" y="3840480"/>
            <a:ext cx="822960" cy="822960"/>
          </a:xfrm>
          <a:prstGeom prst="rect">
            <a:avLst/>
          </a:prstGeom>
        </p:spPr>
      </p:pic>
      <p:cxnSp>
        <p:nvCxnSpPr>
          <p:cNvPr id="17" name="Connector 16"/>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Inter"/>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Food &amp; Beverage (Tea Cafés, Quick-Service Restaurants) Industry Icons</a:t>
            </a:r>
          </a:p>
        </p:txBody>
      </p:sp>
      <p:pic>
        <p:nvPicPr>
          <p:cNvPr id="3" name="Picture 2" descr="mdi_linkedin_059669.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microsoft_059669.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google_059669.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slack_059669.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dropbox_059669.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onedrive_059669.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facebook_059669.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twitter_059669.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lightbulb_059669.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rocket_059669.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account-group_059669.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star_059669.png"/>
          <p:cNvPicPr>
            <a:picLocks noChangeAspect="1"/>
          </p:cNvPicPr>
          <p:nvPr/>
        </p:nvPicPr>
        <p:blipFill>
          <a:blip r:embed="rId13"/>
          <a:stretch>
            <a:fillRect/>
          </a:stretch>
        </p:blipFill>
        <p:spPr>
          <a:xfrm>
            <a:off x="2441448" y="3840480"/>
            <a:ext cx="822960" cy="822960"/>
          </a:xfrm>
          <a:prstGeom prst="rect">
            <a:avLst/>
          </a:prstGeom>
        </p:spPr>
      </p:pic>
      <p:cxnSp>
        <p:nvCxnSpPr>
          <p:cNvPr id="15" name="Connector 14"/>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059669"/>
                </a:solidFill>
                <a:latin typeface="Inter"/>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Source Sans Pro"/>
              </a:defRPr>
            </a:pPr>
            <a:r>
              <a:t>Style: Minimalist design</a:t>
            </a:r>
          </a:p>
          <a:p>
            <a:pPr algn="l">
              <a:spcAft>
                <a:spcPts val="600"/>
              </a:spcAft>
              <a:defRPr sz="1800" b="0">
                <a:solidFill>
                  <a:srgbClr val="000000"/>
                </a:solidFill>
                <a:latin typeface="Source Sans Pro"/>
              </a:defRPr>
            </a:pPr>
            <a:r>
              <a:t>Color: #059669 on black background</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Size Requirements:</a:t>
            </a:r>
          </a:p>
          <a:p>
            <a:pPr algn="l">
              <a:spcAft>
                <a:spcPts val="600"/>
              </a:spcAft>
              <a:defRPr sz="1800" b="0">
                <a:solidFill>
                  <a:srgbClr val="000000"/>
                </a:solidFill>
                <a:latin typeface="Source Sans Pro"/>
              </a:defRPr>
            </a:pPr>
            <a:r>
              <a:t>• Minimum: 16px web, 0.5" print</a:t>
            </a:r>
          </a:p>
          <a:p>
            <a:pPr algn="l">
              <a:spcAft>
                <a:spcPts val="600"/>
              </a:spcAft>
              <a:defRPr sz="1800" b="0">
                <a:solidFill>
                  <a:srgbClr val="000000"/>
                </a:solidFill>
                <a:latin typeface="Source Sans Pro"/>
              </a:defRPr>
            </a:pPr>
            <a:r>
              <a:t>• Recommended: 24px+ web, 0.75"+ print</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Spacing:</a:t>
            </a:r>
          </a:p>
          <a:p>
            <a:pPr algn="l">
              <a:spcAft>
                <a:spcPts val="600"/>
              </a:spcAft>
              <a:defRPr sz="1800" b="0">
                <a:solidFill>
                  <a:srgbClr val="000000"/>
                </a:solidFill>
                <a:latin typeface="Source Sans Pro"/>
              </a:defRPr>
            </a:pPr>
            <a:r>
              <a:t>• Clear space: 50% of icon width</a:t>
            </a:r>
          </a:p>
          <a:p>
            <a:pPr algn="l">
              <a:spcAft>
                <a:spcPts val="600"/>
              </a:spcAft>
              <a:defRPr sz="1800" b="0">
                <a:solidFill>
                  <a:srgbClr val="000000"/>
                </a:solidFill>
                <a:latin typeface="Source Sans Pro"/>
              </a:defRPr>
            </a:pPr>
            <a:r>
              <a:t>• Consistent grid alignment</a:t>
            </a:r>
          </a:p>
        </p:txBody>
      </p:sp>
      <p:cxnSp>
        <p:nvCxnSpPr>
          <p:cNvPr id="3" name="Connector 2"/>
          <p:cNvCxnSpPr/>
          <p:nvPr/>
        </p:nvCxnSpPr>
        <p:spPr>
          <a:xfrm>
            <a:off x="457200" y="5286375.0"/>
            <a:ext cx="8229600" cy="0.0"/>
          </a:xfrm>
          <a:prstGeom prst="line">
            <a:avLst/>
          </a:prstGeom>
          <a:ln w="25400">
            <a:solidFill>
              <a:srgbClr val="059669"/>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059669"/>
                </a:solidFill>
                <a:latin typeface="Inter"/>
              </a:defRPr>
            </a:pPr>
            <a:r>
              <a:t>USAGE GUIDELINES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731520"/>
            <a:ext cx="5486400" cy="731520"/>
          </a:xfrm>
          <a:prstGeom prst="rect">
            <a:avLst/>
          </a:prstGeom>
          <a:noFill/>
        </p:spPr>
        <p:txBody>
          <a:bodyPr wrap="none">
            <a:spAutoFit/>
          </a:bodyPr>
          <a:lstStyle/>
          <a:p>
            <a:pPr algn="l">
              <a:defRPr sz="2800" b="1">
                <a:solidFill>
                  <a:srgbClr val="000000"/>
                </a:solidFill>
                <a:latin typeface="Inter"/>
              </a:defRPr>
            </a:pPr>
            <a:r>
              <a:t>BRAND APPAREL</a:t>
            </a:r>
          </a:p>
        </p:txBody>
      </p:sp>
      <p:pic>
        <p:nvPicPr>
          <p:cNvPr id="3" name="Picture 2" descr="chaayos_tshirt_white_20250904_020216_e359705d.png"/>
          <p:cNvPicPr>
            <a:picLocks noChangeAspect="1"/>
          </p:cNvPicPr>
          <p:nvPr/>
        </p:nvPicPr>
        <p:blipFill>
          <a:blip r:embed="rId2"/>
          <a:stretch>
            <a:fillRect/>
          </a:stretch>
        </p:blipFill>
        <p:spPr>
          <a:xfrm>
            <a:off x="411480" y="2286000"/>
            <a:ext cx="2286000" cy="2926080"/>
          </a:xfrm>
          <a:prstGeom prst="rect">
            <a:avLst/>
          </a:prstGeom>
        </p:spPr>
      </p:pic>
      <p:pic>
        <p:nvPicPr>
          <p:cNvPr id="4" name="Picture 3" descr="chaayos_tshirt_black_20250904_020225_9bdad484.png"/>
          <p:cNvPicPr>
            <a:picLocks noChangeAspect="1"/>
          </p:cNvPicPr>
          <p:nvPr/>
        </p:nvPicPr>
        <p:blipFill>
          <a:blip r:embed="rId3"/>
          <a:stretch>
            <a:fillRect/>
          </a:stretch>
        </p:blipFill>
        <p:spPr>
          <a:xfrm>
            <a:off x="3429000" y="2286000"/>
            <a:ext cx="2286000" cy="2926080"/>
          </a:xfrm>
          <a:prstGeom prst="rect">
            <a:avLst/>
          </a:prstGeom>
        </p:spPr>
      </p:pic>
      <p:pic>
        <p:nvPicPr>
          <p:cNvPr id="5" name="Picture 4" descr="chaayos_tshirt_yellow_20250904_020237_3ca59e6a.png"/>
          <p:cNvPicPr>
            <a:picLocks noChangeAspect="1"/>
          </p:cNvPicPr>
          <p:nvPr/>
        </p:nvPicPr>
        <p:blipFill>
          <a:blip r:embed="rId4"/>
          <a:stretch>
            <a:fillRect/>
          </a:stretch>
        </p:blipFill>
        <p:spPr>
          <a:xfrm>
            <a:off x="6446520" y="2286000"/>
            <a:ext cx="2286000" cy="2926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