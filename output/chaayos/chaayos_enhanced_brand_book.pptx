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image" Target="../media/image14.png"/><Relationship Id="rId13" Type="http://schemas.openxmlformats.org/officeDocument/2006/relationships/image" Target="../media/image15.png"/><Relationship Id="rId14" Type="http://schemas.openxmlformats.org/officeDocument/2006/relationships/image" Target="../media/image16.png"/><Relationship Id="rId15"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image" Target="../media/image27.jpg"/><Relationship Id="rId4" Type="http://schemas.openxmlformats.org/officeDocument/2006/relationships/image" Target="../media/image2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image" Target="../media/image30.jpg"/><Relationship Id="rId4" Type="http://schemas.openxmlformats.org/officeDocument/2006/relationships/image" Target="../media/image31.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logo_1_20251010_154104_f13e4532.png"/>
          <p:cNvPicPr>
            <a:picLocks noChangeAspect="1"/>
          </p:cNvPicPr>
          <p:nvPr/>
        </p:nvPicPr>
        <p:blipFill>
          <a:blip r:embed="rId2"/>
          <a:stretch>
            <a:fillRect/>
          </a:stretch>
        </p:blipFill>
        <p:spPr>
          <a:xfrm>
            <a:off x="0" y="0"/>
            <a:ext cx="9144000" cy="6858000"/>
          </a:xfrm>
          <a:prstGeom prst="rect">
            <a:avLst/>
          </a:prstGeom>
        </p:spPr>
      </p:pic>
      <p:cxnSp>
        <p:nvCxnSpPr>
          <p:cNvPr id="3" name="Connector 2"/>
          <p:cNvCxnSpPr/>
          <p:nvPr/>
        </p:nvCxnSpPr>
        <p:spPr>
          <a:xfrm>
            <a:off x="6629400.0" y="5657850.0"/>
            <a:ext cx="2057400.0" cy="0.0"/>
          </a:xfrm>
          <a:prstGeom prst="line">
            <a:avLst/>
          </a:prstGeom>
          <a:ln>
            <a:solidFill>
              <a:srgbClr val="A55C5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629400" y="5657850"/>
            <a:ext cx="2057400" cy="1485900"/>
          </a:xfrm>
          <a:prstGeom prst="rect">
            <a:avLst/>
          </a:prstGeom>
          <a:noFill/>
        </p:spPr>
        <p:txBody>
          <a:bodyPr wrap="none" anchor="ctr">
            <a:spAutoFit/>
          </a:bodyPr>
          <a:lstStyle/>
          <a:p>
            <a:pPr algn="ctr">
              <a:defRPr sz="1800" b="0">
                <a:solidFill>
                  <a:srgbClr val="A55C55"/>
                </a:solidFill>
                <a:latin typeface="Source Sans Pro"/>
              </a:defRPr>
            </a:pPr>
            <a:r>
              <a:t>Brand Identity System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457200"/>
            <a:ext cx="2743200" cy="731520"/>
          </a:xfrm>
          <a:prstGeom prst="rect">
            <a:avLst/>
          </a:prstGeom>
          <a:noFill/>
        </p:spPr>
        <p:txBody>
          <a:bodyPr wrap="none">
            <a:spAutoFit/>
          </a:bodyPr>
          <a:lstStyle/>
          <a:p>
            <a:pPr>
              <a:defRPr sz="2800" b="1">
                <a:solidFill>
                  <a:srgbClr val="A55C55"/>
                </a:solidFill>
                <a:latin typeface="Inter"/>
              </a:defRPr>
            </a:pPr>
            <a:r>
              <a:t>INDEX</a:t>
            </a:r>
          </a:p>
        </p:txBody>
      </p:sp>
      <p:cxnSp>
        <p:nvCxnSpPr>
          <p:cNvPr id="3" name="Connector 2"/>
          <p:cNvCxnSpPr/>
          <p:nvPr/>
        </p:nvCxnSpPr>
        <p:spPr>
          <a:xfrm>
            <a:off x="457200" y="1097280"/>
            <a:ext cx="8229600" cy="0"/>
          </a:xfrm>
          <a:prstGeom prst="line">
            <a:avLst/>
          </a:prstGeom>
          <a:ln w="25400">
            <a:solidFill>
              <a:srgbClr val="A55C5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554480"/>
            <a:ext cx="1828800" cy="274320"/>
          </a:xfrm>
          <a:prstGeom prst="rect">
            <a:avLst/>
          </a:prstGeom>
          <a:noFill/>
        </p:spPr>
        <p:txBody>
          <a:bodyPr wrap="none" lIns="0" rIns="0" tIns="0" bIns="0">
            <a:spAutoFit/>
          </a:bodyPr>
          <a:lstStyle/>
          <a:p>
            <a:pPr>
              <a:defRPr sz="1200" b="1">
                <a:solidFill>
                  <a:srgbClr val="000000"/>
                </a:solidFill>
                <a:latin typeface="Source Sans Pro"/>
              </a:defRPr>
            </a:pPr>
            <a:r>
              <a:t>Introduction</a:t>
            </a:r>
          </a:p>
        </p:txBody>
      </p:sp>
      <p:cxnSp>
        <p:nvCxnSpPr>
          <p:cNvPr id="5" name="Connector 4"/>
          <p:cNvCxnSpPr/>
          <p:nvPr/>
        </p:nvCxnSpPr>
        <p:spPr>
          <a:xfrm>
            <a:off x="2331719" y="1664208"/>
            <a:ext cx="365760" cy="0"/>
          </a:xfrm>
          <a:prstGeom prst="line">
            <a:avLst/>
          </a:prstGeom>
          <a:ln w="19050">
            <a:solidFill>
              <a:srgbClr val="A55C5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0" y="1554480"/>
            <a:ext cx="274320" cy="274320"/>
          </a:xfrm>
          <a:prstGeom prst="rect">
            <a:avLst/>
          </a:prstGeom>
          <a:noFill/>
        </p:spPr>
        <p:txBody>
          <a:bodyPr wrap="none" lIns="0" tIns="0" bIns="0">
            <a:spAutoFit/>
          </a:bodyPr>
          <a:lstStyle/>
          <a:p>
            <a:pPr>
              <a:defRPr sz="1200" b="1">
                <a:solidFill>
                  <a:srgbClr val="A55C55"/>
                </a:solidFill>
                <a:latin typeface="Source Sans Pro"/>
              </a:defRPr>
            </a:pPr>
            <a:r>
              <a:t>01</a:t>
            </a:r>
          </a:p>
        </p:txBody>
      </p:sp>
      <p:sp>
        <p:nvSpPr>
          <p:cNvPr id="7" name="TextBox 6"/>
          <p:cNvSpPr txBox="1"/>
          <p:nvPr/>
        </p:nvSpPr>
        <p:spPr>
          <a:xfrm>
            <a:off x="457200" y="2057400"/>
            <a:ext cx="1828800" cy="274320"/>
          </a:xfrm>
          <a:prstGeom prst="rect">
            <a:avLst/>
          </a:prstGeom>
          <a:noFill/>
        </p:spPr>
        <p:txBody>
          <a:bodyPr wrap="none" lIns="0" rIns="0" tIns="0" bIns="0">
            <a:spAutoFit/>
          </a:bodyPr>
          <a:lstStyle/>
          <a:p>
            <a:pPr>
              <a:defRPr sz="1200" b="1">
                <a:solidFill>
                  <a:srgbClr val="000000"/>
                </a:solidFill>
                <a:latin typeface="Source Sans Pro"/>
              </a:defRPr>
            </a:pPr>
            <a:r>
              <a:t>Brand Purpose (Vision)</a:t>
            </a:r>
          </a:p>
        </p:txBody>
      </p:sp>
      <p:cxnSp>
        <p:nvCxnSpPr>
          <p:cNvPr id="8" name="Connector 7"/>
          <p:cNvCxnSpPr/>
          <p:nvPr/>
        </p:nvCxnSpPr>
        <p:spPr>
          <a:xfrm>
            <a:off x="2331719" y="2167128"/>
            <a:ext cx="365760" cy="0"/>
          </a:xfrm>
          <a:prstGeom prst="line">
            <a:avLst/>
          </a:prstGeom>
          <a:ln w="19050">
            <a:solidFill>
              <a:srgbClr val="A55C55"/>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2057400"/>
            <a:ext cx="274320" cy="274320"/>
          </a:xfrm>
          <a:prstGeom prst="rect">
            <a:avLst/>
          </a:prstGeom>
          <a:noFill/>
        </p:spPr>
        <p:txBody>
          <a:bodyPr wrap="none" lIns="0" tIns="0" bIns="0">
            <a:spAutoFit/>
          </a:bodyPr>
          <a:lstStyle/>
          <a:p>
            <a:pPr>
              <a:defRPr sz="1200" b="1">
                <a:solidFill>
                  <a:srgbClr val="A55C55"/>
                </a:solidFill>
                <a:latin typeface="Source Sans Pro"/>
              </a:defRPr>
            </a:pPr>
            <a:r>
              <a:t>02</a:t>
            </a:r>
          </a:p>
        </p:txBody>
      </p:sp>
      <p:sp>
        <p:nvSpPr>
          <p:cNvPr id="10" name="TextBox 9"/>
          <p:cNvSpPr txBox="1"/>
          <p:nvPr/>
        </p:nvSpPr>
        <p:spPr>
          <a:xfrm>
            <a:off x="457200" y="2560320"/>
            <a:ext cx="1828800" cy="274320"/>
          </a:xfrm>
          <a:prstGeom prst="rect">
            <a:avLst/>
          </a:prstGeom>
          <a:noFill/>
        </p:spPr>
        <p:txBody>
          <a:bodyPr wrap="none" lIns="0" rIns="0" tIns="0" bIns="0">
            <a:spAutoFit/>
          </a:bodyPr>
          <a:lstStyle/>
          <a:p>
            <a:pPr>
              <a:defRPr sz="1200" b="1">
                <a:solidFill>
                  <a:srgbClr val="000000"/>
                </a:solidFill>
                <a:latin typeface="Source Sans Pro"/>
              </a:defRPr>
            </a:pPr>
            <a:r>
              <a:t>Brand Purpose (Mission)</a:t>
            </a:r>
          </a:p>
        </p:txBody>
      </p:sp>
      <p:cxnSp>
        <p:nvCxnSpPr>
          <p:cNvPr id="11" name="Connector 10"/>
          <p:cNvCxnSpPr/>
          <p:nvPr/>
        </p:nvCxnSpPr>
        <p:spPr>
          <a:xfrm>
            <a:off x="2331719" y="2670048"/>
            <a:ext cx="365760" cy="0"/>
          </a:xfrm>
          <a:prstGeom prst="line">
            <a:avLst/>
          </a:prstGeom>
          <a:ln w="19050">
            <a:solidFill>
              <a:srgbClr val="A55C55"/>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743200" y="2560320"/>
            <a:ext cx="274320" cy="274320"/>
          </a:xfrm>
          <a:prstGeom prst="rect">
            <a:avLst/>
          </a:prstGeom>
          <a:noFill/>
        </p:spPr>
        <p:txBody>
          <a:bodyPr wrap="none" lIns="0" tIns="0" bIns="0">
            <a:spAutoFit/>
          </a:bodyPr>
          <a:lstStyle/>
          <a:p>
            <a:pPr>
              <a:defRPr sz="1200" b="1">
                <a:solidFill>
                  <a:srgbClr val="A55C55"/>
                </a:solidFill>
                <a:latin typeface="Source Sans Pro"/>
              </a:defRPr>
            </a:pPr>
            <a:r>
              <a:t>03</a:t>
            </a:r>
          </a:p>
        </p:txBody>
      </p:sp>
      <p:sp>
        <p:nvSpPr>
          <p:cNvPr id="13" name="TextBox 12"/>
          <p:cNvSpPr txBox="1"/>
          <p:nvPr/>
        </p:nvSpPr>
        <p:spPr>
          <a:xfrm>
            <a:off x="3474720" y="1554480"/>
            <a:ext cx="1828800" cy="274320"/>
          </a:xfrm>
          <a:prstGeom prst="rect">
            <a:avLst/>
          </a:prstGeom>
          <a:noFill/>
        </p:spPr>
        <p:txBody>
          <a:bodyPr wrap="none" lIns="0" rIns="0" tIns="0" bIns="0">
            <a:spAutoFit/>
          </a:bodyPr>
          <a:lstStyle/>
          <a:p>
            <a:pPr>
              <a:defRPr sz="1200" b="1">
                <a:solidFill>
                  <a:srgbClr val="000000"/>
                </a:solidFill>
                <a:latin typeface="Source Sans Pro"/>
              </a:defRPr>
            </a:pPr>
            <a:r>
              <a:t>Brand Purpose (Values)</a:t>
            </a:r>
          </a:p>
        </p:txBody>
      </p:sp>
      <p:cxnSp>
        <p:nvCxnSpPr>
          <p:cNvPr id="14" name="Connector 13"/>
          <p:cNvCxnSpPr/>
          <p:nvPr/>
        </p:nvCxnSpPr>
        <p:spPr>
          <a:xfrm>
            <a:off x="5349239" y="1664208"/>
            <a:ext cx="365760" cy="0"/>
          </a:xfrm>
          <a:prstGeom prst="line">
            <a:avLst/>
          </a:prstGeom>
          <a:ln w="19050">
            <a:solidFill>
              <a:srgbClr val="A55C55"/>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760720" y="1554480"/>
            <a:ext cx="274320" cy="274320"/>
          </a:xfrm>
          <a:prstGeom prst="rect">
            <a:avLst/>
          </a:prstGeom>
          <a:noFill/>
        </p:spPr>
        <p:txBody>
          <a:bodyPr wrap="none" lIns="0" tIns="0" bIns="0">
            <a:spAutoFit/>
          </a:bodyPr>
          <a:lstStyle/>
          <a:p>
            <a:pPr>
              <a:defRPr sz="1200" b="1">
                <a:solidFill>
                  <a:srgbClr val="A55C55"/>
                </a:solidFill>
                <a:latin typeface="Source Sans Pro"/>
              </a:defRPr>
            </a:pPr>
            <a:r>
              <a:t>04</a:t>
            </a:r>
          </a:p>
        </p:txBody>
      </p:sp>
      <p:sp>
        <p:nvSpPr>
          <p:cNvPr id="16" name="TextBox 15"/>
          <p:cNvSpPr txBox="1"/>
          <p:nvPr/>
        </p:nvSpPr>
        <p:spPr>
          <a:xfrm>
            <a:off x="3474720" y="2057400"/>
            <a:ext cx="1828800" cy="274320"/>
          </a:xfrm>
          <a:prstGeom prst="rect">
            <a:avLst/>
          </a:prstGeom>
          <a:noFill/>
        </p:spPr>
        <p:txBody>
          <a:bodyPr wrap="none" lIns="0" rIns="0" tIns="0" bIns="0">
            <a:spAutoFit/>
          </a:bodyPr>
          <a:lstStyle/>
          <a:p>
            <a:pPr>
              <a:defRPr sz="1200" b="1">
                <a:solidFill>
                  <a:srgbClr val="000000"/>
                </a:solidFill>
                <a:latin typeface="Source Sans Pro"/>
              </a:defRPr>
            </a:pPr>
            <a:r>
              <a:t>Brand Story</a:t>
            </a:r>
          </a:p>
        </p:txBody>
      </p:sp>
      <p:cxnSp>
        <p:nvCxnSpPr>
          <p:cNvPr id="17" name="Connector 16"/>
          <p:cNvCxnSpPr/>
          <p:nvPr/>
        </p:nvCxnSpPr>
        <p:spPr>
          <a:xfrm>
            <a:off x="5349239" y="2167128"/>
            <a:ext cx="365760" cy="0"/>
          </a:xfrm>
          <a:prstGeom prst="line">
            <a:avLst/>
          </a:prstGeom>
          <a:ln w="19050">
            <a:solidFill>
              <a:srgbClr val="A55C55"/>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760720" y="2057400"/>
            <a:ext cx="274320" cy="274320"/>
          </a:xfrm>
          <a:prstGeom prst="rect">
            <a:avLst/>
          </a:prstGeom>
          <a:noFill/>
        </p:spPr>
        <p:txBody>
          <a:bodyPr wrap="none" lIns="0" tIns="0" bIns="0">
            <a:spAutoFit/>
          </a:bodyPr>
          <a:lstStyle/>
          <a:p>
            <a:pPr>
              <a:defRPr sz="1200" b="1">
                <a:solidFill>
                  <a:srgbClr val="A55C55"/>
                </a:solidFill>
                <a:latin typeface="Source Sans Pro"/>
              </a:defRPr>
            </a:pPr>
            <a:r>
              <a:t>05</a:t>
            </a:r>
          </a:p>
        </p:txBody>
      </p:sp>
      <p:sp>
        <p:nvSpPr>
          <p:cNvPr id="19" name="TextBox 18"/>
          <p:cNvSpPr txBox="1"/>
          <p:nvPr/>
        </p:nvSpPr>
        <p:spPr>
          <a:xfrm>
            <a:off x="3474720" y="2560320"/>
            <a:ext cx="1828800" cy="274320"/>
          </a:xfrm>
          <a:prstGeom prst="rect">
            <a:avLst/>
          </a:prstGeom>
          <a:noFill/>
        </p:spPr>
        <p:txBody>
          <a:bodyPr wrap="none" lIns="0" rIns="0" tIns="0" bIns="0">
            <a:spAutoFit/>
          </a:bodyPr>
          <a:lstStyle/>
          <a:p>
            <a:pPr>
              <a:defRPr sz="1200" b="1">
                <a:solidFill>
                  <a:srgbClr val="000000"/>
                </a:solidFill>
                <a:latin typeface="Source Sans Pro"/>
              </a:defRPr>
            </a:pPr>
            <a:r>
              <a:t>Logo Variations</a:t>
            </a:r>
          </a:p>
        </p:txBody>
      </p:sp>
      <p:cxnSp>
        <p:nvCxnSpPr>
          <p:cNvPr id="20" name="Connector 19"/>
          <p:cNvCxnSpPr/>
          <p:nvPr/>
        </p:nvCxnSpPr>
        <p:spPr>
          <a:xfrm>
            <a:off x="5349239" y="2670048"/>
            <a:ext cx="365760" cy="0"/>
          </a:xfrm>
          <a:prstGeom prst="line">
            <a:avLst/>
          </a:prstGeom>
          <a:ln w="19050">
            <a:solidFill>
              <a:srgbClr val="A55C5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760720" y="2560320"/>
            <a:ext cx="274320" cy="274320"/>
          </a:xfrm>
          <a:prstGeom prst="rect">
            <a:avLst/>
          </a:prstGeom>
          <a:noFill/>
        </p:spPr>
        <p:txBody>
          <a:bodyPr wrap="none" lIns="0" tIns="0" bIns="0">
            <a:spAutoFit/>
          </a:bodyPr>
          <a:lstStyle/>
          <a:p>
            <a:pPr>
              <a:defRPr sz="1200" b="1">
                <a:solidFill>
                  <a:srgbClr val="A55C55"/>
                </a:solidFill>
                <a:latin typeface="Source Sans Pro"/>
              </a:defRPr>
            </a:pPr>
            <a:r>
              <a:t>06</a:t>
            </a:r>
          </a:p>
        </p:txBody>
      </p:sp>
      <p:sp>
        <p:nvSpPr>
          <p:cNvPr id="22" name="TextBox 21"/>
          <p:cNvSpPr txBox="1"/>
          <p:nvPr/>
        </p:nvSpPr>
        <p:spPr>
          <a:xfrm>
            <a:off x="3657600" y="2926079"/>
            <a:ext cx="1828800" cy="228600"/>
          </a:xfrm>
          <a:prstGeom prst="rect">
            <a:avLst/>
          </a:prstGeom>
          <a:noFill/>
        </p:spPr>
        <p:txBody>
          <a:bodyPr wrap="none" lIns="0" tIns="0" bIns="0">
            <a:spAutoFit/>
          </a:bodyPr>
          <a:lstStyle/>
          <a:p>
            <a:pPr>
              <a:defRPr sz="900" b="0">
                <a:solidFill>
                  <a:srgbClr val="666666"/>
                </a:solidFill>
                <a:latin typeface="Source Sans Pro"/>
              </a:defRPr>
            </a:pPr>
            <a:r>
              <a:t>Variation 1</a:t>
            </a:r>
          </a:p>
        </p:txBody>
      </p:sp>
      <p:sp>
        <p:nvSpPr>
          <p:cNvPr id="23" name="TextBox 22"/>
          <p:cNvSpPr txBox="1"/>
          <p:nvPr/>
        </p:nvSpPr>
        <p:spPr>
          <a:xfrm>
            <a:off x="3657600" y="3154679"/>
            <a:ext cx="1828800" cy="228600"/>
          </a:xfrm>
          <a:prstGeom prst="rect">
            <a:avLst/>
          </a:prstGeom>
          <a:noFill/>
        </p:spPr>
        <p:txBody>
          <a:bodyPr wrap="none" lIns="0" tIns="0" bIns="0">
            <a:spAutoFit/>
          </a:bodyPr>
          <a:lstStyle/>
          <a:p>
            <a:pPr>
              <a:defRPr sz="900" b="0">
                <a:solidFill>
                  <a:srgbClr val="666666"/>
                </a:solidFill>
                <a:latin typeface="Source Sans Pro"/>
              </a:defRPr>
            </a:pPr>
            <a:r>
              <a:t>Variation 2</a:t>
            </a:r>
          </a:p>
        </p:txBody>
      </p:sp>
      <p:sp>
        <p:nvSpPr>
          <p:cNvPr id="24" name="TextBox 23"/>
          <p:cNvSpPr txBox="1"/>
          <p:nvPr/>
        </p:nvSpPr>
        <p:spPr>
          <a:xfrm>
            <a:off x="3657600" y="3383279"/>
            <a:ext cx="1828800" cy="228600"/>
          </a:xfrm>
          <a:prstGeom prst="rect">
            <a:avLst/>
          </a:prstGeom>
          <a:noFill/>
        </p:spPr>
        <p:txBody>
          <a:bodyPr wrap="none" lIns="0" tIns="0" bIns="0">
            <a:spAutoFit/>
          </a:bodyPr>
          <a:lstStyle/>
          <a:p>
            <a:pPr>
              <a:defRPr sz="900" b="0">
                <a:solidFill>
                  <a:srgbClr val="666666"/>
                </a:solidFill>
                <a:latin typeface="Source Sans Pro"/>
              </a:defRPr>
            </a:pPr>
            <a:r>
              <a:t>Variation 3</a:t>
            </a:r>
          </a:p>
        </p:txBody>
      </p:sp>
      <p:sp>
        <p:nvSpPr>
          <p:cNvPr id="25" name="TextBox 24"/>
          <p:cNvSpPr txBox="1"/>
          <p:nvPr/>
        </p:nvSpPr>
        <p:spPr>
          <a:xfrm>
            <a:off x="6492240" y="1554480"/>
            <a:ext cx="1828800" cy="274320"/>
          </a:xfrm>
          <a:prstGeom prst="rect">
            <a:avLst/>
          </a:prstGeom>
          <a:noFill/>
        </p:spPr>
        <p:txBody>
          <a:bodyPr wrap="none" lIns="0" rIns="0" tIns="0" bIns="0">
            <a:spAutoFit/>
          </a:bodyPr>
          <a:lstStyle/>
          <a:p>
            <a:pPr>
              <a:defRPr sz="1200" b="1">
                <a:solidFill>
                  <a:srgbClr val="000000"/>
                </a:solidFill>
                <a:latin typeface="Source Sans Pro"/>
              </a:defRPr>
            </a:pPr>
            <a:r>
              <a:t>Brand Colors</a:t>
            </a:r>
          </a:p>
        </p:txBody>
      </p:sp>
      <p:cxnSp>
        <p:nvCxnSpPr>
          <p:cNvPr id="26" name="Connector 25"/>
          <p:cNvCxnSpPr/>
          <p:nvPr/>
        </p:nvCxnSpPr>
        <p:spPr>
          <a:xfrm>
            <a:off x="8366759" y="1664208"/>
            <a:ext cx="365760" cy="0"/>
          </a:xfrm>
          <a:prstGeom prst="line">
            <a:avLst/>
          </a:prstGeom>
          <a:ln w="19050">
            <a:solidFill>
              <a:srgbClr val="A55C55"/>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778240" y="1554480"/>
            <a:ext cx="274320" cy="274320"/>
          </a:xfrm>
          <a:prstGeom prst="rect">
            <a:avLst/>
          </a:prstGeom>
          <a:noFill/>
        </p:spPr>
        <p:txBody>
          <a:bodyPr wrap="none" lIns="0" tIns="0" bIns="0">
            <a:spAutoFit/>
          </a:bodyPr>
          <a:lstStyle/>
          <a:p>
            <a:pPr>
              <a:defRPr sz="1200" b="1">
                <a:solidFill>
                  <a:srgbClr val="A55C55"/>
                </a:solidFill>
                <a:latin typeface="Source Sans Pro"/>
              </a:defRPr>
            </a:pPr>
            <a:r>
              <a:t>07</a:t>
            </a:r>
          </a:p>
        </p:txBody>
      </p:sp>
      <p:sp>
        <p:nvSpPr>
          <p:cNvPr id="28" name="TextBox 27"/>
          <p:cNvSpPr txBox="1"/>
          <p:nvPr/>
        </p:nvSpPr>
        <p:spPr>
          <a:xfrm>
            <a:off x="6675120" y="1920240"/>
            <a:ext cx="1828800" cy="228600"/>
          </a:xfrm>
          <a:prstGeom prst="rect">
            <a:avLst/>
          </a:prstGeom>
          <a:noFill/>
        </p:spPr>
        <p:txBody>
          <a:bodyPr wrap="none" lIns="0" tIns="0" bIns="0">
            <a:spAutoFit/>
          </a:bodyPr>
          <a:lstStyle/>
          <a:p>
            <a:pPr>
              <a:defRPr sz="900" b="0">
                <a:solidFill>
                  <a:srgbClr val="666666"/>
                </a:solidFill>
                <a:latin typeface="Source Sans Pro"/>
              </a:defRPr>
            </a:pPr>
            <a:r>
              <a:t>Primary Colors</a:t>
            </a:r>
          </a:p>
        </p:txBody>
      </p:sp>
      <p:sp>
        <p:nvSpPr>
          <p:cNvPr id="29" name="TextBox 28"/>
          <p:cNvSpPr txBox="1"/>
          <p:nvPr/>
        </p:nvSpPr>
        <p:spPr>
          <a:xfrm>
            <a:off x="6675120" y="2148840"/>
            <a:ext cx="1828800" cy="228600"/>
          </a:xfrm>
          <a:prstGeom prst="rect">
            <a:avLst/>
          </a:prstGeom>
          <a:noFill/>
        </p:spPr>
        <p:txBody>
          <a:bodyPr wrap="none" lIns="0" tIns="0" bIns="0">
            <a:spAutoFit/>
          </a:bodyPr>
          <a:lstStyle/>
          <a:p>
            <a:pPr>
              <a:defRPr sz="900" b="0">
                <a:solidFill>
                  <a:srgbClr val="666666"/>
                </a:solidFill>
                <a:latin typeface="Source Sans Pro"/>
              </a:defRPr>
            </a:pPr>
            <a:r>
              <a:t>Secondary Colors</a:t>
            </a:r>
          </a:p>
        </p:txBody>
      </p:sp>
      <p:sp>
        <p:nvSpPr>
          <p:cNvPr id="30" name="TextBox 29"/>
          <p:cNvSpPr txBox="1"/>
          <p:nvPr/>
        </p:nvSpPr>
        <p:spPr>
          <a:xfrm>
            <a:off x="6675120" y="2377440"/>
            <a:ext cx="1828800" cy="228600"/>
          </a:xfrm>
          <a:prstGeom prst="rect">
            <a:avLst/>
          </a:prstGeom>
          <a:noFill/>
        </p:spPr>
        <p:txBody>
          <a:bodyPr wrap="none" lIns="0" tIns="0" bIns="0">
            <a:spAutoFit/>
          </a:bodyPr>
          <a:lstStyle/>
          <a:p>
            <a:pPr>
              <a:defRPr sz="900" b="0">
                <a:solidFill>
                  <a:srgbClr val="666666"/>
                </a:solidFill>
                <a:latin typeface="Source Sans Pro"/>
              </a:defRPr>
            </a:pPr>
            <a:r>
              <a:t>Color Usage 1/2</a:t>
            </a:r>
          </a:p>
        </p:txBody>
      </p:sp>
      <p:sp>
        <p:nvSpPr>
          <p:cNvPr id="31" name="TextBox 30"/>
          <p:cNvSpPr txBox="1"/>
          <p:nvPr/>
        </p:nvSpPr>
        <p:spPr>
          <a:xfrm>
            <a:off x="6675120" y="2606040"/>
            <a:ext cx="1828800" cy="228600"/>
          </a:xfrm>
          <a:prstGeom prst="rect">
            <a:avLst/>
          </a:prstGeom>
          <a:noFill/>
        </p:spPr>
        <p:txBody>
          <a:bodyPr wrap="none" lIns="0" tIns="0" bIns="0">
            <a:spAutoFit/>
          </a:bodyPr>
          <a:lstStyle/>
          <a:p>
            <a:pPr>
              <a:defRPr sz="900" b="0">
                <a:solidFill>
                  <a:srgbClr val="666666"/>
                </a:solidFill>
                <a:latin typeface="Source Sans Pro"/>
              </a:defRPr>
            </a:pPr>
            <a:r>
              <a:t>Color Usage 2/2</a:t>
            </a:r>
          </a:p>
        </p:txBody>
      </p:sp>
      <p:sp>
        <p:nvSpPr>
          <p:cNvPr id="32" name="TextBox 31"/>
          <p:cNvSpPr txBox="1"/>
          <p:nvPr/>
        </p:nvSpPr>
        <p:spPr>
          <a:xfrm>
            <a:off x="6492240" y="2971800"/>
            <a:ext cx="1828800" cy="274320"/>
          </a:xfrm>
          <a:prstGeom prst="rect">
            <a:avLst/>
          </a:prstGeom>
          <a:noFill/>
        </p:spPr>
        <p:txBody>
          <a:bodyPr wrap="none" lIns="0" rIns="0" tIns="0" bIns="0">
            <a:spAutoFit/>
          </a:bodyPr>
          <a:lstStyle/>
          <a:p>
            <a:pPr>
              <a:defRPr sz="1200" b="1">
                <a:solidFill>
                  <a:srgbClr val="000000"/>
                </a:solidFill>
                <a:latin typeface="Source Sans Pro"/>
              </a:defRPr>
            </a:pPr>
            <a:r>
              <a:t>Typography</a:t>
            </a:r>
          </a:p>
        </p:txBody>
      </p:sp>
      <p:cxnSp>
        <p:nvCxnSpPr>
          <p:cNvPr id="33" name="Connector 32"/>
          <p:cNvCxnSpPr/>
          <p:nvPr/>
        </p:nvCxnSpPr>
        <p:spPr>
          <a:xfrm>
            <a:off x="8366759" y="3081528"/>
            <a:ext cx="365760" cy="0"/>
          </a:xfrm>
          <a:prstGeom prst="line">
            <a:avLst/>
          </a:prstGeom>
          <a:ln w="19050">
            <a:solidFill>
              <a:srgbClr val="A55C55"/>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778240" y="2971800"/>
            <a:ext cx="274320" cy="274320"/>
          </a:xfrm>
          <a:prstGeom prst="rect">
            <a:avLst/>
          </a:prstGeom>
          <a:noFill/>
        </p:spPr>
        <p:txBody>
          <a:bodyPr wrap="none" lIns="0" tIns="0" bIns="0">
            <a:spAutoFit/>
          </a:bodyPr>
          <a:lstStyle/>
          <a:p>
            <a:pPr>
              <a:defRPr sz="1200" b="1">
                <a:solidFill>
                  <a:srgbClr val="A55C55"/>
                </a:solidFill>
                <a:latin typeface="Source Sans Pro"/>
              </a:defRPr>
            </a:pPr>
            <a:r>
              <a:t>08</a:t>
            </a:r>
          </a:p>
        </p:txBody>
      </p:sp>
      <p:sp>
        <p:nvSpPr>
          <p:cNvPr id="35" name="TextBox 34"/>
          <p:cNvSpPr txBox="1"/>
          <p:nvPr/>
        </p:nvSpPr>
        <p:spPr>
          <a:xfrm>
            <a:off x="6675120" y="3337560"/>
            <a:ext cx="1828800" cy="228600"/>
          </a:xfrm>
          <a:prstGeom prst="rect">
            <a:avLst/>
          </a:prstGeom>
          <a:noFill/>
        </p:spPr>
        <p:txBody>
          <a:bodyPr wrap="none" lIns="0" tIns="0" bIns="0">
            <a:spAutoFit/>
          </a:bodyPr>
          <a:lstStyle/>
          <a:p>
            <a:pPr>
              <a:defRPr sz="900" b="0">
                <a:solidFill>
                  <a:srgbClr val="666666"/>
                </a:solidFill>
                <a:latin typeface="Source Sans Pro"/>
              </a:defRPr>
            </a:pPr>
            <a:r>
              <a:t>Brand Font</a:t>
            </a:r>
          </a:p>
        </p:txBody>
      </p:sp>
      <p:sp>
        <p:nvSpPr>
          <p:cNvPr id="36" name="TextBox 35"/>
          <p:cNvSpPr txBox="1"/>
          <p:nvPr/>
        </p:nvSpPr>
        <p:spPr>
          <a:xfrm>
            <a:off x="6675120" y="3566160"/>
            <a:ext cx="1828800" cy="228600"/>
          </a:xfrm>
          <a:prstGeom prst="rect">
            <a:avLst/>
          </a:prstGeom>
          <a:noFill/>
        </p:spPr>
        <p:txBody>
          <a:bodyPr wrap="none" lIns="0" tIns="0" bIns="0">
            <a:spAutoFit/>
          </a:bodyPr>
          <a:lstStyle/>
          <a:p>
            <a:pPr>
              <a:defRPr sz="900" b="0">
                <a:solidFill>
                  <a:srgbClr val="666666"/>
                </a:solidFill>
                <a:latin typeface="Source Sans Pro"/>
              </a:defRPr>
            </a:pPr>
            <a:r>
              <a:t>Font Usage</a:t>
            </a:r>
          </a:p>
        </p:txBody>
      </p:sp>
      <p:sp>
        <p:nvSpPr>
          <p:cNvPr id="37" name="TextBox 36"/>
          <p:cNvSpPr txBox="1"/>
          <p:nvPr/>
        </p:nvSpPr>
        <p:spPr>
          <a:xfrm>
            <a:off x="6675120" y="3794760"/>
            <a:ext cx="1828800" cy="228600"/>
          </a:xfrm>
          <a:prstGeom prst="rect">
            <a:avLst/>
          </a:prstGeom>
          <a:noFill/>
        </p:spPr>
        <p:txBody>
          <a:bodyPr wrap="none" lIns="0" tIns="0" bIns="0">
            <a:spAutoFit/>
          </a:bodyPr>
          <a:lstStyle/>
          <a:p>
            <a:pPr>
              <a:defRPr sz="900" b="0">
                <a:solidFill>
                  <a:srgbClr val="666666"/>
                </a:solidFill>
                <a:latin typeface="Source Sans Pro"/>
              </a:defRPr>
            </a:pPr>
            <a:r>
              <a:t>Text Hierarchy</a:t>
            </a:r>
          </a:p>
        </p:txBody>
      </p:sp>
      <p:sp>
        <p:nvSpPr>
          <p:cNvPr id="38" name="TextBox 37"/>
          <p:cNvSpPr txBox="1"/>
          <p:nvPr/>
        </p:nvSpPr>
        <p:spPr>
          <a:xfrm>
            <a:off x="6492240" y="4160520"/>
            <a:ext cx="1828800" cy="274320"/>
          </a:xfrm>
          <a:prstGeom prst="rect">
            <a:avLst/>
          </a:prstGeom>
          <a:noFill/>
        </p:spPr>
        <p:txBody>
          <a:bodyPr wrap="none" lIns="0" rIns="0" tIns="0" bIns="0">
            <a:spAutoFit/>
          </a:bodyPr>
          <a:lstStyle/>
          <a:p>
            <a:pPr>
              <a:defRPr sz="1200" b="1">
                <a:solidFill>
                  <a:srgbClr val="000000"/>
                </a:solidFill>
                <a:latin typeface="Source Sans Pro"/>
              </a:defRPr>
            </a:pPr>
            <a:r>
              <a:t>Imagery &amp; Visuals</a:t>
            </a:r>
          </a:p>
        </p:txBody>
      </p:sp>
      <p:cxnSp>
        <p:nvCxnSpPr>
          <p:cNvPr id="39" name="Connector 38"/>
          <p:cNvCxnSpPr/>
          <p:nvPr/>
        </p:nvCxnSpPr>
        <p:spPr>
          <a:xfrm>
            <a:off x="8366759" y="4270248"/>
            <a:ext cx="365760" cy="0"/>
          </a:xfrm>
          <a:prstGeom prst="line">
            <a:avLst/>
          </a:prstGeom>
          <a:ln w="19050">
            <a:solidFill>
              <a:srgbClr val="A55C5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778240" y="4160520"/>
            <a:ext cx="274320" cy="274320"/>
          </a:xfrm>
          <a:prstGeom prst="rect">
            <a:avLst/>
          </a:prstGeom>
          <a:noFill/>
        </p:spPr>
        <p:txBody>
          <a:bodyPr wrap="none" lIns="0" tIns="0" bIns="0">
            <a:spAutoFit/>
          </a:bodyPr>
          <a:lstStyle/>
          <a:p>
            <a:pPr>
              <a:defRPr sz="1200" b="1">
                <a:solidFill>
                  <a:srgbClr val="A55C55"/>
                </a:solidFill>
                <a:latin typeface="Source Sans Pro"/>
              </a:defRPr>
            </a:pPr>
            <a:r>
              <a:t>09</a:t>
            </a:r>
          </a:p>
        </p:txBody>
      </p:sp>
      <p:sp>
        <p:nvSpPr>
          <p:cNvPr id="41" name="TextBox 40"/>
          <p:cNvSpPr txBox="1"/>
          <p:nvPr/>
        </p:nvSpPr>
        <p:spPr>
          <a:xfrm>
            <a:off x="6675120" y="4526280"/>
            <a:ext cx="1828800" cy="228600"/>
          </a:xfrm>
          <a:prstGeom prst="rect">
            <a:avLst/>
          </a:prstGeom>
          <a:noFill/>
        </p:spPr>
        <p:txBody>
          <a:bodyPr wrap="none" lIns="0" tIns="0" bIns="0">
            <a:spAutoFit/>
          </a:bodyPr>
          <a:lstStyle/>
          <a:p>
            <a:pPr>
              <a:defRPr sz="900" b="0">
                <a:solidFill>
                  <a:srgbClr val="666666"/>
                </a:solidFill>
                <a:latin typeface="Source Sans Pro"/>
              </a:defRPr>
            </a:pPr>
            <a:r>
              <a:t>Illustrations</a:t>
            </a:r>
          </a:p>
        </p:txBody>
      </p:sp>
      <p:sp>
        <p:nvSpPr>
          <p:cNvPr id="42" name="TextBox 41"/>
          <p:cNvSpPr txBox="1"/>
          <p:nvPr/>
        </p:nvSpPr>
        <p:spPr>
          <a:xfrm>
            <a:off x="6675120" y="4754880"/>
            <a:ext cx="1828800" cy="228600"/>
          </a:xfrm>
          <a:prstGeom prst="rect">
            <a:avLst/>
          </a:prstGeom>
          <a:noFill/>
        </p:spPr>
        <p:txBody>
          <a:bodyPr wrap="none" lIns="0" tIns="0" bIns="0">
            <a:spAutoFit/>
          </a:bodyPr>
          <a:lstStyle/>
          <a:p>
            <a:pPr>
              <a:defRPr sz="900" b="0">
                <a:solidFill>
                  <a:srgbClr val="666666"/>
                </a:solidFill>
                <a:latin typeface="Source Sans Pro"/>
              </a:defRPr>
            </a:pPr>
            <a:r>
              <a:t>Iconography</a:t>
            </a:r>
          </a:p>
        </p:txBody>
      </p:sp>
      <p:sp>
        <p:nvSpPr>
          <p:cNvPr id="43" name="TextBox 42"/>
          <p:cNvSpPr txBox="1"/>
          <p:nvPr/>
        </p:nvSpPr>
        <p:spPr>
          <a:xfrm>
            <a:off x="6675120" y="4983480"/>
            <a:ext cx="1828800" cy="228600"/>
          </a:xfrm>
          <a:prstGeom prst="rect">
            <a:avLst/>
          </a:prstGeom>
          <a:noFill/>
        </p:spPr>
        <p:txBody>
          <a:bodyPr wrap="none" lIns="0" tIns="0" bIns="0">
            <a:spAutoFit/>
          </a:bodyPr>
          <a:lstStyle/>
          <a:p>
            <a:pPr>
              <a:defRPr sz="900" b="0">
                <a:solidFill>
                  <a:srgbClr val="666666"/>
                </a:solidFill>
                <a:latin typeface="Source Sans Pro"/>
              </a:defRPr>
            </a:pPr>
            <a:r>
              <a:t>Merchandise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Welcome to Chaayos's brand identity system - where contemporary café culture meets India's cherished tea traditions. As a pioneering quick-service tea café, we've crafted a distinctive experience that resonates with urban professionals, students, and tea enthusiasts alike. Our comprehensive identity system ensures a globally consistent yet culturally authentic brand presence, built on the pillars of personalization, innovation, and uncompromising quality. Through thoughtfully designed spaces and customizable tea experiences, we invite you to discover Chaayos - where every cup tells a story of tradition reimagined for today's world.</a:t>
            </a:r>
          </a:p>
        </p:txBody>
      </p:sp>
      <p:cxnSp>
        <p:nvCxnSpPr>
          <p:cNvPr id="3" name="Connector 2"/>
          <p:cNvCxnSpPr/>
          <p:nvPr/>
        </p:nvCxnSpPr>
        <p:spPr>
          <a:xfrm>
            <a:off x="457200" y="5943600"/>
            <a:ext cx="8229600" cy="0"/>
          </a:xfrm>
          <a:prstGeom prst="line">
            <a:avLst/>
          </a:prstGeom>
          <a:ln w="25400">
            <a:solidFill>
              <a:srgbClr val="A55C5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6217920"/>
            <a:ext cx="3657600" cy="731520"/>
          </a:xfrm>
          <a:prstGeom prst="rect">
            <a:avLst/>
          </a:prstGeom>
          <a:noFill/>
        </p:spPr>
        <p:txBody>
          <a:bodyPr wrap="none">
            <a:spAutoFit/>
          </a:bodyPr>
          <a:lstStyle/>
          <a:p>
            <a:pPr algn="l">
              <a:defRPr sz="2800" b="1">
                <a:solidFill>
                  <a:srgbClr val="A55C55"/>
                </a:solidFill>
                <a:latin typeface="Inter"/>
              </a:defRPr>
            </a:pPr>
            <a:r>
              <a:t>INTRODUCTION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Chaayos envisions a world where the simple act of savoring tea transcends mere refreshment to become a moment of personalized delight and innovation. Our ultimate goal is to inspire urban working professionals, college students, middle-to-upper class tea lovers, and the health-conscious with our forward-thinking approach, making every cup an experience to remember.</a:t>
            </a:r>
          </a:p>
        </p:txBody>
      </p:sp>
      <p:cxnSp>
        <p:nvCxnSpPr>
          <p:cNvPr id="3" name="Connector 2"/>
          <p:cNvCxnSpPr/>
          <p:nvPr/>
        </p:nvCxnSpPr>
        <p:spPr>
          <a:xfrm>
            <a:off x="457200" y="5943600"/>
            <a:ext cx="8229600" cy="0"/>
          </a:xfrm>
          <a:prstGeom prst="line">
            <a:avLst/>
          </a:prstGeom>
          <a:ln w="25400">
            <a:solidFill>
              <a:srgbClr val="A55C5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6217920"/>
            <a:ext cx="5486400" cy="731520"/>
          </a:xfrm>
          <a:prstGeom prst="rect">
            <a:avLst/>
          </a:prstGeom>
          <a:noFill/>
        </p:spPr>
        <p:txBody>
          <a:bodyPr wrap="none">
            <a:spAutoFit/>
          </a:bodyPr>
          <a:lstStyle/>
          <a:p>
            <a:pPr algn="l">
              <a:defRPr sz="2800" b="1">
                <a:solidFill>
                  <a:srgbClr val="A55C55"/>
                </a:solidFill>
                <a:latin typeface="Inter"/>
              </a:defRPr>
            </a:pPr>
            <a:r>
              <a:t>BRAND PURPOSE (VISION)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Chaayos is dedicated to revolutionizing the Food &amp; Beverage / QSR industry by offering distinctive tea-centric solutions that cater specifically to the needs of urban working professionals, college students, middle-to-upper class tea lovers, and the health-conscious. We strive to provide a unique blend of quality, innovation, and tradition in every cup, ensuring a memorable and personalized experience for our valued customers.</a:t>
            </a:r>
          </a:p>
        </p:txBody>
      </p:sp>
      <p:cxnSp>
        <p:nvCxnSpPr>
          <p:cNvPr id="3" name="Connector 2"/>
          <p:cNvCxnSpPr/>
          <p:nvPr/>
        </p:nvCxnSpPr>
        <p:spPr>
          <a:xfrm>
            <a:off x="457200" y="5943600"/>
            <a:ext cx="8229600" cy="0"/>
          </a:xfrm>
          <a:prstGeom prst="line">
            <a:avLst/>
          </a:prstGeom>
          <a:ln w="25400">
            <a:solidFill>
              <a:srgbClr val="A55C5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6217920"/>
            <a:ext cx="5486400" cy="731520"/>
          </a:xfrm>
          <a:prstGeom prst="rect">
            <a:avLst/>
          </a:prstGeom>
          <a:noFill/>
        </p:spPr>
        <p:txBody>
          <a:bodyPr wrap="none">
            <a:spAutoFit/>
          </a:bodyPr>
          <a:lstStyle/>
          <a:p>
            <a:pPr algn="l">
              <a:defRPr sz="2800" b="1">
                <a:solidFill>
                  <a:srgbClr val="A55C55"/>
                </a:solidFill>
                <a:latin typeface="Inter"/>
              </a:defRPr>
            </a:pPr>
            <a:r>
              <a:t>BRAND PURPOSE (MISSION)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At Chaayos, we embody a culture centered on personalization, quality, innovation, hygiene, customer experience, tradition, and relaxation. Our commitment to delivering excellence in every aspect of our service resonates with the discerning tastes of urban professionals, students, and tea enthusiasts alike. We blend the richness of tradition with the excitement of innovation, creating a space where relaxation meets creativity, and every interaction is infused with our unwavering dedication to customer satisfaction.</a:t>
            </a:r>
          </a:p>
        </p:txBody>
      </p:sp>
      <p:cxnSp>
        <p:nvCxnSpPr>
          <p:cNvPr id="3" name="Connector 2"/>
          <p:cNvCxnSpPr/>
          <p:nvPr/>
        </p:nvCxnSpPr>
        <p:spPr>
          <a:xfrm>
            <a:off x="457200" y="5943600"/>
            <a:ext cx="8229600" cy="0"/>
          </a:xfrm>
          <a:prstGeom prst="line">
            <a:avLst/>
          </a:prstGeom>
          <a:ln w="25400">
            <a:solidFill>
              <a:srgbClr val="A55C5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6217920"/>
            <a:ext cx="5486400" cy="731520"/>
          </a:xfrm>
          <a:prstGeom prst="rect">
            <a:avLst/>
          </a:prstGeom>
          <a:noFill/>
        </p:spPr>
        <p:txBody>
          <a:bodyPr wrap="none">
            <a:spAutoFit/>
          </a:bodyPr>
          <a:lstStyle/>
          <a:p>
            <a:pPr algn="l">
              <a:defRPr sz="2800" b="1">
                <a:solidFill>
                  <a:srgbClr val="A55C55"/>
                </a:solidFill>
                <a:latin typeface="Inter"/>
              </a:defRPr>
            </a:pPr>
            <a:r>
              <a:t>BRAND PURPOSE (VALUES)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In the heart of bustling city streets, where the urban rhythm pulses with energy and ambition, there lies a sanctuary for the discerning tea connoisseur - Chaayos. Born out of a deep passion for tradition and a relentless drive for innovation, Chaayos is not just a tea café; it is a haven for urban working professionals, college students, and tea lovers alike. At Chaayos, we understand that in the fast-paced world we live in, a moment of relaxation and indulgence is a precious commodity. That's why we have dedicated ourselves to crafting a unique experience for our customers, one that combines the warmth of tradition with the excitement of innovation.</a:t>
            </a:r>
          </a:p>
        </p:txBody>
      </p:sp>
      <p:cxnSp>
        <p:nvCxnSpPr>
          <p:cNvPr id="3" name="Connector 2"/>
          <p:cNvCxnSpPr/>
          <p:nvPr/>
        </p:nvCxnSpPr>
        <p:spPr>
          <a:xfrm>
            <a:off x="457200" y="5943600"/>
            <a:ext cx="8229600" cy="0"/>
          </a:xfrm>
          <a:prstGeom prst="line">
            <a:avLst/>
          </a:prstGeom>
          <a:ln w="25400">
            <a:solidFill>
              <a:srgbClr val="A55C5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6217920"/>
            <a:ext cx="5486400" cy="731520"/>
          </a:xfrm>
          <a:prstGeom prst="rect">
            <a:avLst/>
          </a:prstGeom>
          <a:noFill/>
        </p:spPr>
        <p:txBody>
          <a:bodyPr wrap="none">
            <a:spAutoFit/>
          </a:bodyPr>
          <a:lstStyle/>
          <a:p>
            <a:pPr algn="l">
              <a:defRPr sz="2800" b="1">
                <a:solidFill>
                  <a:srgbClr val="A55C55"/>
                </a:solidFill>
                <a:latin typeface="Inter"/>
              </a:defRPr>
            </a:pPr>
            <a:r>
              <a:t>BRAND STORY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Our menu is a fusion of timeless classics and bold new creations, all meticulously curated to delight the taste buds of our diverse clientele. We believe in the power of personalization, which is why we offer a wide range of options for our patrons to customize their tea, just the way they like it. Whether you prefer your chai strong and spicy or soothingly sweet, we have something for everyone. Our commitment to quality is unwavering, as we source the finest ingredients and uphold the highest standards of hygiene in...</a:t>
            </a:r>
          </a:p>
        </p:txBody>
      </p:sp>
      <p:cxnSp>
        <p:nvCxnSpPr>
          <p:cNvPr id="3" name="Connector 2"/>
          <p:cNvCxnSpPr/>
          <p:nvPr/>
        </p:nvCxnSpPr>
        <p:spPr>
          <a:xfrm>
            <a:off x="457200" y="5943600"/>
            <a:ext cx="8229600" cy="0"/>
          </a:xfrm>
          <a:prstGeom prst="line">
            <a:avLst/>
          </a:prstGeom>
          <a:ln w="25400">
            <a:solidFill>
              <a:srgbClr val="A55C5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6217920"/>
            <a:ext cx="5486400" cy="731520"/>
          </a:xfrm>
          <a:prstGeom prst="rect">
            <a:avLst/>
          </a:prstGeom>
          <a:noFill/>
        </p:spPr>
        <p:txBody>
          <a:bodyPr wrap="none">
            <a:spAutoFit/>
          </a:bodyPr>
          <a:lstStyle/>
          <a:p>
            <a:pPr algn="l">
              <a:defRPr sz="2800" b="1">
                <a:solidFill>
                  <a:srgbClr val="A55C55"/>
                </a:solidFill>
                <a:latin typeface="Inter"/>
              </a:defRPr>
            </a:pPr>
            <a:r>
              <a:t>BRAND STORY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logo_1_20251010_154104_f13e4532.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000000"/>
                </a:solidFill>
                <a:latin typeface="Source Sans Pro"/>
              </a:defRPr>
            </a:pPr>
            <a:r>
              <a:t>Choose for maximum impact and brand recognition in primary applications.</a:t>
            </a:r>
          </a:p>
        </p:txBody>
      </p:sp>
      <p:cxnSp>
        <p:nvCxnSpPr>
          <p:cNvPr id="4" name="Connector 3"/>
          <p:cNvCxnSpPr/>
          <p:nvPr/>
        </p:nvCxnSpPr>
        <p:spPr>
          <a:xfrm>
            <a:off x="457200" y="5943600"/>
            <a:ext cx="8229600" cy="0"/>
          </a:xfrm>
          <a:prstGeom prst="line">
            <a:avLst/>
          </a:prstGeom>
          <a:ln w="25400">
            <a:solidFill>
              <a:srgbClr val="A55C5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6217920"/>
            <a:ext cx="5486400" cy="731520"/>
          </a:xfrm>
          <a:prstGeom prst="rect">
            <a:avLst/>
          </a:prstGeom>
          <a:noFill/>
        </p:spPr>
        <p:txBody>
          <a:bodyPr wrap="none">
            <a:spAutoFit/>
          </a:bodyPr>
          <a:lstStyle/>
          <a:p>
            <a:pPr algn="l">
              <a:defRPr sz="2800" b="1">
                <a:solidFill>
                  <a:srgbClr val="A55C55"/>
                </a:solidFill>
                <a:latin typeface="Inter"/>
              </a:defRPr>
            </a:pPr>
            <a:r>
              <a:t>Logo Variation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logo_2_20251010_154120_9ecd1c67.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000000"/>
                </a:solidFill>
                <a:latin typeface="Source Sans Pro"/>
              </a:defRPr>
            </a:pPr>
            <a:r>
              <a:t>Perfect for constrained spaces while maintaining professional brand presence and clarity.</a:t>
            </a:r>
          </a:p>
        </p:txBody>
      </p:sp>
      <p:cxnSp>
        <p:nvCxnSpPr>
          <p:cNvPr id="4" name="Connector 3"/>
          <p:cNvCxnSpPr/>
          <p:nvPr/>
        </p:nvCxnSpPr>
        <p:spPr>
          <a:xfrm>
            <a:off x="457200" y="5943600"/>
            <a:ext cx="8229600" cy="0"/>
          </a:xfrm>
          <a:prstGeom prst="line">
            <a:avLst/>
          </a:prstGeom>
          <a:ln w="25400">
            <a:solidFill>
              <a:srgbClr val="A55C5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6217920"/>
            <a:ext cx="5486400" cy="731520"/>
          </a:xfrm>
          <a:prstGeom prst="rect">
            <a:avLst/>
          </a:prstGeom>
          <a:noFill/>
        </p:spPr>
        <p:txBody>
          <a:bodyPr wrap="none">
            <a:spAutoFit/>
          </a:bodyPr>
          <a:lstStyle/>
          <a:p>
            <a:pPr algn="l">
              <a:defRPr sz="2800" b="1">
                <a:solidFill>
                  <a:srgbClr val="A55C55"/>
                </a:solidFill>
                <a:latin typeface="Inter"/>
              </a:defRPr>
            </a:pPr>
            <a:r>
              <a:t>Logo Variation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logo_3_20251010_154134_11b29e9b.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000000"/>
                </a:solidFill>
                <a:latin typeface="Source Sans Pro"/>
              </a:defRPr>
            </a:pPr>
            <a:r>
              <a:t>Ideal for small sizes, watermarks, and applications requiring simplified brand representation.</a:t>
            </a:r>
          </a:p>
        </p:txBody>
      </p:sp>
      <p:cxnSp>
        <p:nvCxnSpPr>
          <p:cNvPr id="4" name="Connector 3"/>
          <p:cNvCxnSpPr/>
          <p:nvPr/>
        </p:nvCxnSpPr>
        <p:spPr>
          <a:xfrm>
            <a:off x="457200" y="5943600"/>
            <a:ext cx="8229600" cy="0"/>
          </a:xfrm>
          <a:prstGeom prst="line">
            <a:avLst/>
          </a:prstGeom>
          <a:ln w="25400">
            <a:solidFill>
              <a:srgbClr val="A55C5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6217920"/>
            <a:ext cx="5486400" cy="731520"/>
          </a:xfrm>
          <a:prstGeom prst="rect">
            <a:avLst/>
          </a:prstGeom>
          <a:noFill/>
        </p:spPr>
        <p:txBody>
          <a:bodyPr wrap="none">
            <a:spAutoFit/>
          </a:bodyPr>
          <a:lstStyle/>
          <a:p>
            <a:pPr algn="l">
              <a:defRPr sz="2800" b="1">
                <a:solidFill>
                  <a:srgbClr val="A55C55"/>
                </a:solidFill>
                <a:latin typeface="Inter"/>
              </a:defRPr>
            </a:pPr>
            <a:r>
              <a:t>Logo Variation 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143000" y="1645920"/>
            <a:ext cx="1828800" cy="1371600"/>
          </a:xfrm>
          <a:prstGeom prst="rect">
            <a:avLst/>
          </a:prstGeom>
          <a:solidFill>
            <a:srgbClr val="A55C55"/>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54680" y="1645920"/>
            <a:ext cx="3017520" cy="1371600"/>
          </a:xfrm>
          <a:prstGeom prst="rect">
            <a:avLst/>
          </a:prstGeom>
          <a:noFill/>
        </p:spPr>
        <p:txBody>
          <a:bodyPr wrap="square" lIns="0" rIns="0" tIns="0" bIns="0">
            <a:spAutoFit/>
          </a:bodyPr>
          <a:lstStyle/>
          <a:p>
            <a:pPr algn="l">
              <a:spcAft>
                <a:spcPts val="300"/>
              </a:spcAft>
              <a:defRPr sz="1000" b="0">
                <a:solidFill>
                  <a:srgbClr val="000000"/>
                </a:solidFill>
                <a:latin typeface="Source Sans Pro"/>
              </a:defRPr>
            </a:pPr>
            <a:r>
              <a:t>Chaayos Chai</a:t>
            </a:r>
          </a:p>
          <a:p>
            <a:pPr algn="l">
              <a:spcAft>
                <a:spcPts val="300"/>
              </a:spcAft>
              <a:defRPr sz="1000" b="0">
                <a:solidFill>
                  <a:srgbClr val="000000"/>
                </a:solidFill>
                <a:latin typeface="Source Sans Pro"/>
              </a:defRPr>
            </a:pPr>
            <a:r>
              <a:t>#A55C55</a:t>
            </a:r>
          </a:p>
          <a:p>
            <a:pPr algn="l">
              <a:spcAft>
                <a:spcPts val="300"/>
              </a:spcAft>
              <a:defRPr sz="1000" b="0">
                <a:solidFill>
                  <a:srgbClr val="000000"/>
                </a:solidFill>
                <a:latin typeface="Source Sans Pro"/>
              </a:defRPr>
            </a:pPr>
            <a:r>
              <a:t>RGB(165, 92, 85)</a:t>
            </a:r>
          </a:p>
          <a:p>
            <a:pPr algn="l">
              <a:spcAft>
                <a:spcPts val="300"/>
              </a:spcAft>
              <a:defRPr sz="1000" b="0">
                <a:solidFill>
                  <a:srgbClr val="000000"/>
                </a:solidFill>
                <a:latin typeface="Source Sans Pro"/>
              </a:defRPr>
            </a:pPr>
            <a:r>
              <a:t>CMYK(0, 44, 48, 35)</a:t>
            </a:r>
          </a:p>
          <a:p>
            <a:pPr algn="l">
              <a:spcAft>
                <a:spcPts val="300"/>
              </a:spcAft>
              <a:defRPr sz="1000" b="0">
                <a:solidFill>
                  <a:srgbClr val="000000"/>
                </a:solidFill>
                <a:latin typeface="Source Sans Pro"/>
              </a:defRPr>
            </a:pPr>
            <a:r>
              <a:t>Use Light Text</a:t>
            </a:r>
          </a:p>
        </p:txBody>
      </p:sp>
      <p:sp>
        <p:nvSpPr>
          <p:cNvPr id="4" name="Rectangle 3"/>
          <p:cNvSpPr/>
          <p:nvPr/>
        </p:nvSpPr>
        <p:spPr>
          <a:xfrm>
            <a:off x="4572000" y="1645920"/>
            <a:ext cx="1828800" cy="1371600"/>
          </a:xfrm>
          <a:prstGeom prst="rect">
            <a:avLst/>
          </a:prstGeom>
          <a:solidFill>
            <a:srgbClr val="A7D7C5"/>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0" y="1645920"/>
            <a:ext cx="3017520" cy="1371600"/>
          </a:xfrm>
          <a:prstGeom prst="rect">
            <a:avLst/>
          </a:prstGeom>
          <a:noFill/>
        </p:spPr>
        <p:txBody>
          <a:bodyPr wrap="square" lIns="0" rIns="0" tIns="0" bIns="0">
            <a:spAutoFit/>
          </a:bodyPr>
          <a:lstStyle/>
          <a:p>
            <a:pPr algn="l">
              <a:spcAft>
                <a:spcPts val="300"/>
              </a:spcAft>
              <a:defRPr sz="1000" b="0">
                <a:solidFill>
                  <a:srgbClr val="000000"/>
                </a:solidFill>
                <a:latin typeface="Source Sans Pro"/>
              </a:defRPr>
            </a:pPr>
            <a:r>
              <a:t>Minty Fresh</a:t>
            </a:r>
          </a:p>
          <a:p>
            <a:pPr algn="l">
              <a:spcAft>
                <a:spcPts val="300"/>
              </a:spcAft>
              <a:defRPr sz="1000" b="0">
                <a:solidFill>
                  <a:srgbClr val="000000"/>
                </a:solidFill>
                <a:latin typeface="Source Sans Pro"/>
              </a:defRPr>
            </a:pPr>
            <a:r>
              <a:t>#A7D7C5</a:t>
            </a:r>
          </a:p>
          <a:p>
            <a:pPr algn="l">
              <a:spcAft>
                <a:spcPts val="300"/>
              </a:spcAft>
              <a:defRPr sz="1000" b="0">
                <a:solidFill>
                  <a:srgbClr val="000000"/>
                </a:solidFill>
                <a:latin typeface="Source Sans Pro"/>
              </a:defRPr>
            </a:pPr>
            <a:r>
              <a:t>RGB(167, 215, 197)</a:t>
            </a:r>
          </a:p>
          <a:p>
            <a:pPr algn="l">
              <a:spcAft>
                <a:spcPts val="300"/>
              </a:spcAft>
              <a:defRPr sz="1000" b="0">
                <a:solidFill>
                  <a:srgbClr val="000000"/>
                </a:solidFill>
                <a:latin typeface="Source Sans Pro"/>
              </a:defRPr>
            </a:pPr>
            <a:r>
              <a:t>CMYK(22, 0, 8, 15)</a:t>
            </a:r>
          </a:p>
          <a:p>
            <a:pPr algn="l">
              <a:spcAft>
                <a:spcPts val="300"/>
              </a:spcAft>
              <a:defRPr sz="1000" b="0">
                <a:solidFill>
                  <a:srgbClr val="000000"/>
                </a:solidFill>
                <a:latin typeface="Source Sans Pro"/>
              </a:defRPr>
            </a:pPr>
            <a:r>
              <a:t>Use Dark Text</a:t>
            </a:r>
          </a:p>
        </p:txBody>
      </p:sp>
      <p:sp>
        <p:nvSpPr>
          <p:cNvPr id="6" name="Rectangle 5"/>
          <p:cNvSpPr/>
          <p:nvPr/>
        </p:nvSpPr>
        <p:spPr>
          <a:xfrm>
            <a:off x="1143000" y="3726180"/>
            <a:ext cx="1828800" cy="1371600"/>
          </a:xfrm>
          <a:prstGeom prst="rect">
            <a:avLst/>
          </a:prstGeom>
          <a:solidFill>
            <a:srgbClr val="E5AA70"/>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54680" y="3726180"/>
            <a:ext cx="3017520" cy="1371600"/>
          </a:xfrm>
          <a:prstGeom prst="rect">
            <a:avLst/>
          </a:prstGeom>
          <a:noFill/>
        </p:spPr>
        <p:txBody>
          <a:bodyPr wrap="square" lIns="0" rIns="0" tIns="0" bIns="0">
            <a:spAutoFit/>
          </a:bodyPr>
          <a:lstStyle/>
          <a:p>
            <a:pPr algn="l">
              <a:spcAft>
                <a:spcPts val="300"/>
              </a:spcAft>
              <a:defRPr sz="1000" b="0">
                <a:solidFill>
                  <a:srgbClr val="000000"/>
                </a:solidFill>
                <a:latin typeface="Source Sans Pro"/>
              </a:defRPr>
            </a:pPr>
            <a:r>
              <a:t>Golden Glow</a:t>
            </a:r>
          </a:p>
          <a:p>
            <a:pPr algn="l">
              <a:spcAft>
                <a:spcPts val="300"/>
              </a:spcAft>
              <a:defRPr sz="1000" b="0">
                <a:solidFill>
                  <a:srgbClr val="000000"/>
                </a:solidFill>
                <a:latin typeface="Source Sans Pro"/>
              </a:defRPr>
            </a:pPr>
            <a:r>
              <a:t>#E5AA70</a:t>
            </a:r>
          </a:p>
          <a:p>
            <a:pPr algn="l">
              <a:spcAft>
                <a:spcPts val="300"/>
              </a:spcAft>
              <a:defRPr sz="1000" b="0">
                <a:solidFill>
                  <a:srgbClr val="000000"/>
                </a:solidFill>
                <a:latin typeface="Source Sans Pro"/>
              </a:defRPr>
            </a:pPr>
            <a:r>
              <a:t>RGB(229, 170, 112)</a:t>
            </a:r>
          </a:p>
          <a:p>
            <a:pPr algn="l">
              <a:spcAft>
                <a:spcPts val="300"/>
              </a:spcAft>
              <a:defRPr sz="1000" b="0">
                <a:solidFill>
                  <a:srgbClr val="000000"/>
                </a:solidFill>
                <a:latin typeface="Source Sans Pro"/>
              </a:defRPr>
            </a:pPr>
            <a:r>
              <a:t>CMYK(0, 25, 51, 10)</a:t>
            </a:r>
          </a:p>
          <a:p>
            <a:pPr algn="l">
              <a:spcAft>
                <a:spcPts val="300"/>
              </a:spcAft>
              <a:defRPr sz="1000" b="0">
                <a:solidFill>
                  <a:srgbClr val="000000"/>
                </a:solidFill>
                <a:latin typeface="Source Sans Pro"/>
              </a:defRPr>
            </a:pPr>
            <a:r>
              <a:t>Use Dark Text</a:t>
            </a:r>
          </a:p>
        </p:txBody>
      </p:sp>
      <p:sp>
        <p:nvSpPr>
          <p:cNvPr id="8" name="Rectangle 7"/>
          <p:cNvSpPr/>
          <p:nvPr/>
        </p:nvSpPr>
        <p:spPr>
          <a:xfrm>
            <a:off x="4572000" y="3726180"/>
            <a:ext cx="1828800" cy="1371600"/>
          </a:xfrm>
          <a:prstGeom prst="rect">
            <a:avLst/>
          </a:prstGeom>
          <a:solidFill>
            <a:srgbClr val="5D6D7E"/>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3726180"/>
            <a:ext cx="3017520" cy="1371600"/>
          </a:xfrm>
          <a:prstGeom prst="rect">
            <a:avLst/>
          </a:prstGeom>
          <a:noFill/>
        </p:spPr>
        <p:txBody>
          <a:bodyPr wrap="square" lIns="0" rIns="0" tIns="0" bIns="0">
            <a:spAutoFit/>
          </a:bodyPr>
          <a:lstStyle/>
          <a:p>
            <a:pPr algn="l">
              <a:spcAft>
                <a:spcPts val="300"/>
              </a:spcAft>
              <a:defRPr sz="1000" b="0">
                <a:solidFill>
                  <a:srgbClr val="000000"/>
                </a:solidFill>
                <a:latin typeface="Source Sans Pro"/>
              </a:defRPr>
            </a:pPr>
            <a:r>
              <a:t>Urban Slate</a:t>
            </a:r>
          </a:p>
          <a:p>
            <a:pPr algn="l">
              <a:spcAft>
                <a:spcPts val="300"/>
              </a:spcAft>
              <a:defRPr sz="1000" b="0">
                <a:solidFill>
                  <a:srgbClr val="000000"/>
                </a:solidFill>
                <a:latin typeface="Source Sans Pro"/>
              </a:defRPr>
            </a:pPr>
            <a:r>
              <a:t>#5D6D7E</a:t>
            </a:r>
          </a:p>
          <a:p>
            <a:pPr algn="l">
              <a:spcAft>
                <a:spcPts val="300"/>
              </a:spcAft>
              <a:defRPr sz="1000" b="0">
                <a:solidFill>
                  <a:srgbClr val="000000"/>
                </a:solidFill>
                <a:latin typeface="Source Sans Pro"/>
              </a:defRPr>
            </a:pPr>
            <a:r>
              <a:t>RGB(93, 109, 126)</a:t>
            </a:r>
          </a:p>
          <a:p>
            <a:pPr algn="l">
              <a:spcAft>
                <a:spcPts val="300"/>
              </a:spcAft>
              <a:defRPr sz="1000" b="0">
                <a:solidFill>
                  <a:srgbClr val="000000"/>
                </a:solidFill>
                <a:latin typeface="Source Sans Pro"/>
              </a:defRPr>
            </a:pPr>
            <a:r>
              <a:t>CMYK(26, 13, 0, 50)</a:t>
            </a:r>
          </a:p>
          <a:p>
            <a:pPr algn="l">
              <a:spcAft>
                <a:spcPts val="300"/>
              </a:spcAft>
              <a:defRPr sz="1000" b="0">
                <a:solidFill>
                  <a:srgbClr val="000000"/>
                </a:solidFill>
                <a:latin typeface="Source Sans Pro"/>
              </a:defRPr>
            </a:pPr>
            <a:r>
              <a:t>Use Light Text</a:t>
            </a:r>
          </a:p>
        </p:txBody>
      </p:sp>
      <p:cxnSp>
        <p:nvCxnSpPr>
          <p:cNvPr id="10" name="Connector 9"/>
          <p:cNvCxnSpPr/>
          <p:nvPr/>
        </p:nvCxnSpPr>
        <p:spPr>
          <a:xfrm>
            <a:off x="457200" y="5943600"/>
            <a:ext cx="8229600" cy="0"/>
          </a:xfrm>
          <a:prstGeom prst="line">
            <a:avLst/>
          </a:prstGeom>
          <a:ln w="25400">
            <a:solidFill>
              <a:srgbClr val="A55C55"/>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6217920"/>
            <a:ext cx="5486400" cy="731520"/>
          </a:xfrm>
          <a:prstGeom prst="rect">
            <a:avLst/>
          </a:prstGeom>
          <a:noFill/>
        </p:spPr>
        <p:txBody>
          <a:bodyPr wrap="none">
            <a:spAutoFit/>
          </a:bodyPr>
          <a:lstStyle/>
          <a:p>
            <a:pPr algn="l">
              <a:defRPr sz="2800" b="1">
                <a:solidFill>
                  <a:srgbClr val="A55C55"/>
                </a:solidFill>
                <a:latin typeface="Inter"/>
              </a:defRPr>
            </a:pPr>
            <a:r>
              <a:t>Primary Colors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143000" y="1571625"/>
            <a:ext cx="1828800" cy="914400"/>
          </a:xfrm>
          <a:prstGeom prst="rect">
            <a:avLst/>
          </a:prstGeom>
          <a:solidFill>
            <a:srgbClr val="F2BFA0"/>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2668905"/>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Source Sans Pro"/>
              </a:defRPr>
            </a:pPr>
            <a:r>
              <a:t>Soft Peach</a:t>
            </a:r>
          </a:p>
          <a:p>
            <a:pPr algn="ctr">
              <a:spcAft>
                <a:spcPts val="300"/>
              </a:spcAft>
              <a:defRPr sz="1000" b="0">
                <a:solidFill>
                  <a:srgbClr val="000000"/>
                </a:solidFill>
                <a:latin typeface="Source Sans Pro"/>
              </a:defRPr>
            </a:pPr>
            <a:r>
              <a:t>#F2BFA0</a:t>
            </a:r>
          </a:p>
          <a:p>
            <a:pPr algn="ctr">
              <a:spcAft>
                <a:spcPts val="300"/>
              </a:spcAft>
              <a:defRPr sz="1000" b="0">
                <a:solidFill>
                  <a:srgbClr val="000000"/>
                </a:solidFill>
                <a:latin typeface="Source Sans Pro"/>
              </a:defRPr>
            </a:pPr>
            <a:r>
              <a:t>Use Dark Text</a:t>
            </a:r>
          </a:p>
        </p:txBody>
      </p:sp>
      <p:sp>
        <p:nvSpPr>
          <p:cNvPr id="4" name="Rectangle 3"/>
          <p:cNvSpPr/>
          <p:nvPr/>
        </p:nvSpPr>
        <p:spPr>
          <a:xfrm>
            <a:off x="3200400" y="1571625"/>
            <a:ext cx="1828800" cy="914400"/>
          </a:xfrm>
          <a:prstGeom prst="rect">
            <a:avLst/>
          </a:prstGeom>
          <a:solidFill>
            <a:srgbClr val="8AA1B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0" y="2668905"/>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Source Sans Pro"/>
              </a:defRPr>
            </a:pPr>
            <a:r>
              <a:t>Dusty Blue</a:t>
            </a:r>
          </a:p>
          <a:p>
            <a:pPr algn="ctr">
              <a:spcAft>
                <a:spcPts val="300"/>
              </a:spcAft>
              <a:defRPr sz="1000" b="0">
                <a:solidFill>
                  <a:srgbClr val="000000"/>
                </a:solidFill>
                <a:latin typeface="Source Sans Pro"/>
              </a:defRPr>
            </a:pPr>
            <a:r>
              <a:t>#8AA1B6</a:t>
            </a:r>
          </a:p>
          <a:p>
            <a:pPr algn="ctr">
              <a:spcAft>
                <a:spcPts val="300"/>
              </a:spcAft>
              <a:defRPr sz="1000" b="0">
                <a:solidFill>
                  <a:srgbClr val="000000"/>
                </a:solidFill>
                <a:latin typeface="Source Sans Pro"/>
              </a:defRPr>
            </a:pPr>
            <a:r>
              <a:t>Use Dark Text</a:t>
            </a:r>
          </a:p>
        </p:txBody>
      </p:sp>
      <p:sp>
        <p:nvSpPr>
          <p:cNvPr id="6" name="Rectangle 5"/>
          <p:cNvSpPr/>
          <p:nvPr/>
        </p:nvSpPr>
        <p:spPr>
          <a:xfrm>
            <a:off x="5257800" y="1571625"/>
            <a:ext cx="1828800" cy="914400"/>
          </a:xfrm>
          <a:prstGeom prst="rect">
            <a:avLst/>
          </a:prstGeom>
          <a:solidFill>
            <a:srgbClr val="A2B08D"/>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2668905"/>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Source Sans Pro"/>
              </a:defRPr>
            </a:pPr>
            <a:r>
              <a:t>Muted Green</a:t>
            </a:r>
          </a:p>
          <a:p>
            <a:pPr algn="ctr">
              <a:spcAft>
                <a:spcPts val="300"/>
              </a:spcAft>
              <a:defRPr sz="1000" b="0">
                <a:solidFill>
                  <a:srgbClr val="000000"/>
                </a:solidFill>
                <a:latin typeface="Source Sans Pro"/>
              </a:defRPr>
            </a:pPr>
            <a:r>
              <a:t>#A2B08D</a:t>
            </a:r>
          </a:p>
          <a:p>
            <a:pPr algn="ctr">
              <a:spcAft>
                <a:spcPts val="300"/>
              </a:spcAft>
              <a:defRPr sz="1000" b="0">
                <a:solidFill>
                  <a:srgbClr val="000000"/>
                </a:solidFill>
                <a:latin typeface="Source Sans Pro"/>
              </a:defRPr>
            </a:pPr>
            <a:r>
              <a:t>Use Dark Text</a:t>
            </a:r>
          </a:p>
        </p:txBody>
      </p:sp>
      <p:sp>
        <p:nvSpPr>
          <p:cNvPr id="8" name="Rectangle 7"/>
          <p:cNvSpPr/>
          <p:nvPr/>
        </p:nvSpPr>
        <p:spPr>
          <a:xfrm>
            <a:off x="2171700" y="3429000"/>
            <a:ext cx="1828800" cy="914400"/>
          </a:xfrm>
          <a:prstGeom prst="rect">
            <a:avLst/>
          </a:prstGeom>
          <a:solidFill>
            <a:srgbClr val="E6B8A2"/>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71700" y="4526280"/>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Source Sans Pro"/>
              </a:defRPr>
            </a:pPr>
            <a:r>
              <a:t>Rose Gold</a:t>
            </a:r>
          </a:p>
          <a:p>
            <a:pPr algn="ctr">
              <a:spcAft>
                <a:spcPts val="300"/>
              </a:spcAft>
              <a:defRPr sz="1000" b="0">
                <a:solidFill>
                  <a:srgbClr val="000000"/>
                </a:solidFill>
                <a:latin typeface="Source Sans Pro"/>
              </a:defRPr>
            </a:pPr>
            <a:r>
              <a:t>#E6B8A2</a:t>
            </a:r>
          </a:p>
          <a:p>
            <a:pPr algn="ctr">
              <a:spcAft>
                <a:spcPts val="300"/>
              </a:spcAft>
              <a:defRPr sz="1000" b="0">
                <a:solidFill>
                  <a:srgbClr val="000000"/>
                </a:solidFill>
                <a:latin typeface="Source Sans Pro"/>
              </a:defRPr>
            </a:pPr>
            <a:r>
              <a:t>Use Dark Text</a:t>
            </a:r>
          </a:p>
        </p:txBody>
      </p:sp>
      <p:sp>
        <p:nvSpPr>
          <p:cNvPr id="10" name="Rectangle 9"/>
          <p:cNvSpPr/>
          <p:nvPr/>
        </p:nvSpPr>
        <p:spPr>
          <a:xfrm>
            <a:off x="4229100" y="3429000"/>
            <a:ext cx="1828800" cy="914400"/>
          </a:xfrm>
          <a:prstGeom prst="rect">
            <a:avLst/>
          </a:prstGeom>
          <a:solidFill>
            <a:srgbClr val="6B7C8D"/>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29100" y="4526280"/>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Source Sans Pro"/>
              </a:defRPr>
            </a:pPr>
            <a:r>
              <a:t>Slate Gray</a:t>
            </a:r>
          </a:p>
          <a:p>
            <a:pPr algn="ctr">
              <a:spcAft>
                <a:spcPts val="300"/>
              </a:spcAft>
              <a:defRPr sz="1000" b="0">
                <a:solidFill>
                  <a:srgbClr val="000000"/>
                </a:solidFill>
                <a:latin typeface="Source Sans Pro"/>
              </a:defRPr>
            </a:pPr>
            <a:r>
              <a:t>#6B7C8D</a:t>
            </a:r>
          </a:p>
          <a:p>
            <a:pPr algn="ctr">
              <a:spcAft>
                <a:spcPts val="300"/>
              </a:spcAft>
              <a:defRPr sz="1000" b="0">
                <a:solidFill>
                  <a:srgbClr val="000000"/>
                </a:solidFill>
                <a:latin typeface="Source Sans Pro"/>
              </a:defRPr>
            </a:pPr>
            <a:r>
              <a:t>Use Dark Text</a:t>
            </a:r>
          </a:p>
        </p:txBody>
      </p:sp>
      <p:cxnSp>
        <p:nvCxnSpPr>
          <p:cNvPr id="12" name="Connector 11"/>
          <p:cNvCxnSpPr/>
          <p:nvPr/>
        </p:nvCxnSpPr>
        <p:spPr>
          <a:xfrm>
            <a:off x="457200" y="5943600"/>
            <a:ext cx="8229600" cy="0"/>
          </a:xfrm>
          <a:prstGeom prst="line">
            <a:avLst/>
          </a:prstGeom>
          <a:ln w="25400">
            <a:solidFill>
              <a:srgbClr val="A55C5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6217920"/>
            <a:ext cx="5486400" cy="731520"/>
          </a:xfrm>
          <a:prstGeom prst="rect">
            <a:avLst/>
          </a:prstGeom>
          <a:noFill/>
        </p:spPr>
        <p:txBody>
          <a:bodyPr wrap="none">
            <a:spAutoFit/>
          </a:bodyPr>
          <a:lstStyle/>
          <a:p>
            <a:pPr algn="l">
              <a:defRPr sz="2800" b="1">
                <a:solidFill>
                  <a:srgbClr val="A55C55"/>
                </a:solidFill>
                <a:latin typeface="Inter"/>
              </a:defRPr>
            </a:pPr>
            <a:r>
              <a:t>Secondary Colors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600"/>
              </a:spcAft>
              <a:defRPr sz="1400" b="0">
                <a:solidFill>
                  <a:srgbClr val="000000"/>
                </a:solidFill>
                <a:latin typeface="Source Sans Pro"/>
              </a:defRPr>
            </a:pPr>
            <a:r>
              <a:t>Primary Color Usage</a:t>
            </a:r>
          </a:p>
          <a:p>
            <a:pPr algn="l">
              <a:spcAft>
                <a:spcPts val="600"/>
              </a:spcAft>
              <a:defRPr sz="1400" b="0">
                <a:solidFill>
                  <a:srgbClr val="000000"/>
                </a:solidFill>
                <a:latin typeface="Source Sans Pro"/>
              </a:defRPr>
            </a:pPr>
          </a:p>
          <a:p>
            <a:pPr algn="l">
              <a:spcAft>
                <a:spcPts val="600"/>
              </a:spcAft>
              <a:defRPr sz="1400" b="0">
                <a:solidFill>
                  <a:srgbClr val="000000"/>
                </a:solidFill>
                <a:latin typeface="Source Sans Pro"/>
              </a:defRPr>
            </a:pPr>
            <a:r>
              <a:t>Use for brand-critical elements:</a:t>
            </a:r>
          </a:p>
          <a:p>
            <a:pPr algn="l">
              <a:spcAft>
                <a:spcPts val="600"/>
              </a:spcAft>
              <a:defRPr sz="1400" b="0">
                <a:solidFill>
                  <a:srgbClr val="000000"/>
                </a:solidFill>
                <a:latin typeface="Source Sans Pro"/>
              </a:defRPr>
            </a:pPr>
            <a:r>
              <a:t>• Logos and main brand marks</a:t>
            </a:r>
          </a:p>
          <a:p>
            <a:pPr algn="l">
              <a:spcAft>
                <a:spcPts val="600"/>
              </a:spcAft>
              <a:defRPr sz="1400" b="0">
                <a:solidFill>
                  <a:srgbClr val="000000"/>
                </a:solidFill>
                <a:latin typeface="Source Sans Pro"/>
              </a:defRPr>
            </a:pPr>
            <a:r>
              <a:t>• Headlines and key text</a:t>
            </a:r>
          </a:p>
          <a:p>
            <a:pPr algn="l">
              <a:spcAft>
                <a:spcPts val="600"/>
              </a:spcAft>
              <a:defRPr sz="1400" b="0">
                <a:solidFill>
                  <a:srgbClr val="000000"/>
                </a:solidFill>
                <a:latin typeface="Source Sans Pro"/>
              </a:defRPr>
            </a:pPr>
            <a:r>
              <a:t>• CTA buttons and navigation</a:t>
            </a:r>
          </a:p>
          <a:p>
            <a:pPr algn="l">
              <a:spcAft>
                <a:spcPts val="600"/>
              </a:spcAft>
              <a:defRPr sz="1400" b="0">
                <a:solidFill>
                  <a:srgbClr val="000000"/>
                </a:solidFill>
                <a:latin typeface="Source Sans Pro"/>
              </a:defRPr>
            </a:pPr>
            <a:r>
              <a:t>• Hero sections</a:t>
            </a:r>
          </a:p>
          <a:p>
            <a:pPr algn="l">
              <a:spcAft>
                <a:spcPts val="600"/>
              </a:spcAft>
              <a:defRPr sz="1400" b="0">
                <a:solidFill>
                  <a:srgbClr val="000000"/>
                </a:solidFill>
                <a:latin typeface="Source Sans Pro"/>
              </a:defRPr>
            </a:pPr>
          </a:p>
          <a:p>
            <a:pPr algn="l">
              <a:spcAft>
                <a:spcPts val="600"/>
              </a:spcAft>
              <a:defRPr sz="1400" b="0">
                <a:solidFill>
                  <a:srgbClr val="000000"/>
                </a:solidFill>
                <a:latin typeface="Source Sans Pro"/>
              </a:defRPr>
            </a:pPr>
            <a:r>
              <a:t>Colors: Chaayos Chai, Minty Fresh, Golden Glow, Urban Slate</a:t>
            </a:r>
          </a:p>
          <a:p>
            <a:pPr algn="l">
              <a:spcAft>
                <a:spcPts val="600"/>
              </a:spcAft>
              <a:defRPr sz="1400" b="0">
                <a:solidFill>
                  <a:srgbClr val="000000"/>
                </a:solidFill>
                <a:latin typeface="Source Sans Pro"/>
              </a:defRPr>
            </a:pPr>
          </a:p>
          <a:p>
            <a:pPr algn="l">
              <a:spcAft>
                <a:spcPts val="600"/>
              </a:spcAft>
              <a:defRPr sz="1400" b="0">
                <a:solidFill>
                  <a:srgbClr val="000000"/>
                </a:solidFill>
                <a:latin typeface="Source Sans Pro"/>
              </a:defRPr>
            </a:pPr>
            <a:r>
              <a:t>Best Practices:</a:t>
            </a:r>
          </a:p>
          <a:p>
            <a:pPr algn="l">
              <a:spcAft>
                <a:spcPts val="600"/>
              </a:spcAft>
              <a:defRPr sz="1400" b="0">
                <a:solidFill>
                  <a:srgbClr val="000000"/>
                </a:solidFill>
                <a:latin typeface="Source Sans Pro"/>
              </a:defRPr>
            </a:pPr>
            <a:r>
              <a:t>- Maximum brand recognition</a:t>
            </a:r>
          </a:p>
          <a:p>
            <a:pPr algn="l">
              <a:spcAft>
                <a:spcPts val="600"/>
              </a:spcAft>
              <a:defRPr sz="1400" b="0">
                <a:solidFill>
                  <a:srgbClr val="000000"/>
                </a:solidFill>
                <a:latin typeface="Source Sans Pro"/>
              </a:defRPr>
            </a:pPr>
            <a:r>
              <a:t>- Consistent application</a:t>
            </a:r>
          </a:p>
          <a:p>
            <a:pPr algn="l">
              <a:spcAft>
                <a:spcPts val="600"/>
              </a:spcAft>
              <a:defRPr sz="1400" b="0">
                <a:solidFill>
                  <a:srgbClr val="000000"/>
                </a:solidFill>
                <a:latin typeface="Source Sans Pro"/>
              </a:defRPr>
            </a:pPr>
            <a:r>
              <a:t>- Sufficient contrast</a:t>
            </a:r>
          </a:p>
          <a:p>
            <a:pPr algn="l">
              <a:spcAft>
                <a:spcPts val="600"/>
              </a:spcAft>
              <a:defRPr sz="1400" b="0">
                <a:solidFill>
                  <a:srgbClr val="000000"/>
                </a:solidFill>
                <a:latin typeface="Source Sans Pro"/>
              </a:defRPr>
            </a:pPr>
            <a:r>
              <a:t>- Accessibility compliance</a:t>
            </a:r>
          </a:p>
        </p:txBody>
      </p:sp>
      <p:cxnSp>
        <p:nvCxnSpPr>
          <p:cNvPr id="3" name="Connector 2"/>
          <p:cNvCxnSpPr/>
          <p:nvPr/>
        </p:nvCxnSpPr>
        <p:spPr>
          <a:xfrm>
            <a:off x="457200" y="5943600"/>
            <a:ext cx="8229600" cy="0"/>
          </a:xfrm>
          <a:prstGeom prst="line">
            <a:avLst/>
          </a:prstGeom>
          <a:ln w="25400">
            <a:solidFill>
              <a:srgbClr val="A55C5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217920"/>
            <a:ext cx="5486400" cy="731520"/>
          </a:xfrm>
          <a:prstGeom prst="rect">
            <a:avLst/>
          </a:prstGeom>
          <a:noFill/>
        </p:spPr>
        <p:txBody>
          <a:bodyPr wrap="none">
            <a:spAutoFit/>
          </a:bodyPr>
          <a:lstStyle/>
          <a:p>
            <a:pPr algn="l">
              <a:defRPr sz="2800" b="1">
                <a:solidFill>
                  <a:srgbClr val="A55C55"/>
                </a:solidFill>
                <a:latin typeface="Inter"/>
              </a:defRPr>
            </a:pPr>
            <a:r>
              <a:t>Color Usage 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600"/>
              </a:spcAft>
              <a:defRPr sz="1400" b="0">
                <a:solidFill>
                  <a:srgbClr val="000000"/>
                </a:solidFill>
                <a:latin typeface="Source Sans Pro"/>
              </a:defRPr>
            </a:pPr>
            <a:r>
              <a:t>Secondary Color Usage</a:t>
            </a:r>
          </a:p>
          <a:p>
            <a:pPr algn="l">
              <a:spcAft>
                <a:spcPts val="600"/>
              </a:spcAft>
              <a:defRPr sz="1400" b="0">
                <a:solidFill>
                  <a:srgbClr val="000000"/>
                </a:solidFill>
                <a:latin typeface="Source Sans Pro"/>
              </a:defRPr>
            </a:pPr>
          </a:p>
          <a:p>
            <a:pPr algn="l">
              <a:spcAft>
                <a:spcPts val="600"/>
              </a:spcAft>
              <a:defRPr sz="1400" b="0">
                <a:solidFill>
                  <a:srgbClr val="000000"/>
                </a:solidFill>
                <a:latin typeface="Source Sans Pro"/>
              </a:defRPr>
            </a:pPr>
            <a:r>
              <a:t>Use for supporting elements:</a:t>
            </a:r>
          </a:p>
          <a:p>
            <a:pPr algn="l">
              <a:spcAft>
                <a:spcPts val="600"/>
              </a:spcAft>
              <a:defRPr sz="1400" b="0">
                <a:solidFill>
                  <a:srgbClr val="000000"/>
                </a:solidFill>
                <a:latin typeface="Source Sans Pro"/>
              </a:defRPr>
            </a:pPr>
            <a:r>
              <a:t>• Backgrounds and subtle accents</a:t>
            </a:r>
          </a:p>
          <a:p>
            <a:pPr algn="l">
              <a:spcAft>
                <a:spcPts val="600"/>
              </a:spcAft>
              <a:defRPr sz="1400" b="0">
                <a:solidFill>
                  <a:srgbClr val="000000"/>
                </a:solidFill>
                <a:latin typeface="Source Sans Pro"/>
              </a:defRPr>
            </a:pPr>
            <a:r>
              <a:t>• Secondary text</a:t>
            </a:r>
          </a:p>
          <a:p>
            <a:pPr algn="l">
              <a:spcAft>
                <a:spcPts val="600"/>
              </a:spcAft>
              <a:defRPr sz="1400" b="0">
                <a:solidFill>
                  <a:srgbClr val="000000"/>
                </a:solidFill>
                <a:latin typeface="Source Sans Pro"/>
              </a:defRPr>
            </a:pPr>
            <a:r>
              <a:t>• Borders and dividers</a:t>
            </a:r>
          </a:p>
          <a:p>
            <a:pPr algn="l">
              <a:spcAft>
                <a:spcPts val="600"/>
              </a:spcAft>
              <a:defRPr sz="1400" b="0">
                <a:solidFill>
                  <a:srgbClr val="000000"/>
                </a:solidFill>
                <a:latin typeface="Source Sans Pro"/>
              </a:defRPr>
            </a:pPr>
            <a:r>
              <a:t>• Hover states and icons</a:t>
            </a:r>
          </a:p>
          <a:p>
            <a:pPr algn="l">
              <a:spcAft>
                <a:spcPts val="600"/>
              </a:spcAft>
              <a:defRPr sz="1400" b="0">
                <a:solidFill>
                  <a:srgbClr val="000000"/>
                </a:solidFill>
                <a:latin typeface="Source Sans Pro"/>
              </a:defRPr>
            </a:pPr>
          </a:p>
          <a:p>
            <a:pPr algn="l">
              <a:spcAft>
                <a:spcPts val="600"/>
              </a:spcAft>
              <a:defRPr sz="1400" b="0">
                <a:solidFill>
                  <a:srgbClr val="000000"/>
                </a:solidFill>
                <a:latin typeface="Source Sans Pro"/>
              </a:defRPr>
            </a:pPr>
            <a:r>
              <a:t>Colors: Soft Peach, Dusty Blue, Muted Green, Rose Gold, Slate Gray</a:t>
            </a:r>
          </a:p>
          <a:p>
            <a:pPr algn="l">
              <a:spcAft>
                <a:spcPts val="600"/>
              </a:spcAft>
              <a:defRPr sz="1400" b="0">
                <a:solidFill>
                  <a:srgbClr val="000000"/>
                </a:solidFill>
                <a:latin typeface="Source Sans Pro"/>
              </a:defRPr>
            </a:pPr>
          </a:p>
          <a:p>
            <a:pPr algn="l">
              <a:spcAft>
                <a:spcPts val="600"/>
              </a:spcAft>
              <a:defRPr sz="1400" b="0">
                <a:solidFill>
                  <a:srgbClr val="000000"/>
                </a:solidFill>
                <a:latin typeface="Source Sans Pro"/>
              </a:defRPr>
            </a:pPr>
            <a:r>
              <a:t>Best Practices:</a:t>
            </a:r>
          </a:p>
          <a:p>
            <a:pPr algn="l">
              <a:spcAft>
                <a:spcPts val="600"/>
              </a:spcAft>
              <a:defRPr sz="1400" b="0">
                <a:solidFill>
                  <a:srgbClr val="000000"/>
                </a:solidFill>
                <a:latin typeface="Source Sans Pro"/>
              </a:defRPr>
            </a:pPr>
            <a:r>
              <a:t>- Create visual hierarchy</a:t>
            </a:r>
          </a:p>
          <a:p>
            <a:pPr algn="l">
              <a:spcAft>
                <a:spcPts val="600"/>
              </a:spcAft>
              <a:defRPr sz="1400" b="0">
                <a:solidFill>
                  <a:srgbClr val="000000"/>
                </a:solidFill>
                <a:latin typeface="Source Sans Pro"/>
              </a:defRPr>
            </a:pPr>
            <a:r>
              <a:t>- Support, don't compete</a:t>
            </a:r>
          </a:p>
          <a:p>
            <a:pPr algn="l">
              <a:spcAft>
                <a:spcPts val="600"/>
              </a:spcAft>
              <a:defRPr sz="1400" b="0">
                <a:solidFill>
                  <a:srgbClr val="000000"/>
                </a:solidFill>
                <a:latin typeface="Source Sans Pro"/>
              </a:defRPr>
            </a:pPr>
            <a:r>
              <a:t>- Maintain readability</a:t>
            </a:r>
          </a:p>
          <a:p>
            <a:pPr algn="l">
              <a:spcAft>
                <a:spcPts val="600"/>
              </a:spcAft>
              <a:defRPr sz="1400" b="0">
                <a:solidFill>
                  <a:srgbClr val="000000"/>
                </a:solidFill>
                <a:latin typeface="Source Sans Pro"/>
              </a:defRPr>
            </a:pPr>
            <a:r>
              <a:t>- Use sparingly</a:t>
            </a:r>
          </a:p>
        </p:txBody>
      </p:sp>
      <p:cxnSp>
        <p:nvCxnSpPr>
          <p:cNvPr id="3" name="Connector 2"/>
          <p:cNvCxnSpPr/>
          <p:nvPr/>
        </p:nvCxnSpPr>
        <p:spPr>
          <a:xfrm>
            <a:off x="457200" y="5943600"/>
            <a:ext cx="8229600" cy="0"/>
          </a:xfrm>
          <a:prstGeom prst="line">
            <a:avLst/>
          </a:prstGeom>
          <a:ln w="25400">
            <a:solidFill>
              <a:srgbClr val="A55C5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217920"/>
            <a:ext cx="5486400" cy="731520"/>
          </a:xfrm>
          <a:prstGeom prst="rect">
            <a:avLst/>
          </a:prstGeom>
          <a:noFill/>
        </p:spPr>
        <p:txBody>
          <a:bodyPr wrap="none">
            <a:spAutoFit/>
          </a:bodyPr>
          <a:lstStyle/>
          <a:p>
            <a:pPr algn="l">
              <a:defRPr sz="2800" b="1">
                <a:solidFill>
                  <a:srgbClr val="A55C55"/>
                </a:solidFill>
                <a:latin typeface="Inter"/>
              </a:defRPr>
            </a:pPr>
            <a:r>
              <a:t>Color Usage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Primary Font: Inter</a:t>
            </a:r>
          </a:p>
          <a:p>
            <a:pPr algn="l">
              <a:spcAft>
                <a:spcPts val="800"/>
              </a:spcAft>
              <a:defRPr sz="2000" b="0">
                <a:solidFill>
                  <a:srgbClr val="000000"/>
                </a:solidFill>
                <a:latin typeface="Source Sans Pro"/>
              </a:defRPr>
            </a:pPr>
          </a:p>
          <a:p>
            <a:pPr algn="l">
              <a:spcAft>
                <a:spcPts val="800"/>
              </a:spcAft>
              <a:defRPr sz="2000" b="0">
                <a:solidFill>
                  <a:srgbClr val="000000"/>
                </a:solidFill>
                <a:latin typeface="Source Sans Pro"/>
              </a:defRPr>
            </a:pPr>
            <a:r>
              <a:t>Secondary Font: Source Sans Pro</a:t>
            </a:r>
          </a:p>
          <a:p>
            <a:pPr algn="l">
              <a:spcAft>
                <a:spcPts val="800"/>
              </a:spcAft>
              <a:defRPr sz="2000" b="0">
                <a:solidFill>
                  <a:srgbClr val="000000"/>
                </a:solidFill>
                <a:latin typeface="Source Sans Pro"/>
              </a:defRPr>
            </a:pPr>
          </a:p>
          <a:p>
            <a:pPr algn="l">
              <a:spcAft>
                <a:spcPts val="800"/>
              </a:spcAft>
              <a:defRPr sz="2000" b="0">
                <a:solidFill>
                  <a:srgbClr val="000000"/>
                </a:solidFill>
                <a:latin typeface="Source Sans Pro"/>
              </a:defRPr>
            </a:pPr>
            <a:r>
              <a:t>Font Hierarchy:</a:t>
            </a:r>
          </a:p>
          <a:p>
            <a:pPr algn="l">
              <a:spcAft>
                <a:spcPts val="800"/>
              </a:spcAft>
              <a:defRPr sz="2000" b="0">
                <a:solidFill>
                  <a:srgbClr val="000000"/>
                </a:solidFill>
                <a:latin typeface="Source Sans Pro"/>
              </a:defRPr>
            </a:pPr>
            <a:r>
              <a:t>• Headlines: Inter - Bold, 28-32pt</a:t>
            </a:r>
          </a:p>
          <a:p>
            <a:pPr algn="l">
              <a:spcAft>
                <a:spcPts val="800"/>
              </a:spcAft>
              <a:defRPr sz="2000" b="0">
                <a:solidFill>
                  <a:srgbClr val="000000"/>
                </a:solidFill>
                <a:latin typeface="Source Sans Pro"/>
              </a:defRPr>
            </a:pPr>
            <a:r>
              <a:t>• Subheadlines: Inter - Bold, 20-24pt</a:t>
            </a:r>
          </a:p>
          <a:p>
            <a:pPr algn="l">
              <a:spcAft>
                <a:spcPts val="800"/>
              </a:spcAft>
              <a:defRPr sz="2000" b="0">
                <a:solidFill>
                  <a:srgbClr val="000000"/>
                </a:solidFill>
                <a:latin typeface="Source Sans Pro"/>
              </a:defRPr>
            </a:pPr>
            <a:r>
              <a:t>• Body Text: Source Sans Pro - Regular, 16-18pt</a:t>
            </a:r>
          </a:p>
          <a:p>
            <a:pPr algn="l">
              <a:spcAft>
                <a:spcPts val="800"/>
              </a:spcAft>
              <a:defRPr sz="2000" b="0">
                <a:solidFill>
                  <a:srgbClr val="000000"/>
                </a:solidFill>
                <a:latin typeface="Source Sans Pro"/>
              </a:defRPr>
            </a:pPr>
            <a:r>
              <a:t>• Caption Text: Source Sans Pro - Regular, 12-14pt</a:t>
            </a:r>
          </a:p>
        </p:txBody>
      </p:sp>
      <p:cxnSp>
        <p:nvCxnSpPr>
          <p:cNvPr id="3" name="Connector 2"/>
          <p:cNvCxnSpPr/>
          <p:nvPr/>
        </p:nvCxnSpPr>
        <p:spPr>
          <a:xfrm>
            <a:off x="457200" y="5943600"/>
            <a:ext cx="8229600" cy="0"/>
          </a:xfrm>
          <a:prstGeom prst="line">
            <a:avLst/>
          </a:prstGeom>
          <a:ln w="25400">
            <a:solidFill>
              <a:srgbClr val="A55C5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6217920"/>
            <a:ext cx="3657600" cy="731520"/>
          </a:xfrm>
          <a:prstGeom prst="rect">
            <a:avLst/>
          </a:prstGeom>
          <a:noFill/>
        </p:spPr>
        <p:txBody>
          <a:bodyPr wrap="none">
            <a:spAutoFit/>
          </a:bodyPr>
          <a:lstStyle/>
          <a:p>
            <a:pPr algn="l">
              <a:defRPr sz="2800" b="1">
                <a:solidFill>
                  <a:srgbClr val="A55C55"/>
                </a:solidFill>
                <a:latin typeface="Inter"/>
              </a:defRPr>
            </a:pPr>
            <a:r>
              <a:t>TYPOGRAPHY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4663440"/>
            <a:ext cx="7315200" cy="731520"/>
          </a:xfrm>
          <a:prstGeom prst="rect">
            <a:avLst/>
          </a:prstGeom>
          <a:noFill/>
        </p:spPr>
        <p:txBody>
          <a:bodyPr wrap="square" lIns="0" rIns="0" tIns="0" bIns="0">
            <a:spAutoFit/>
          </a:bodyPr>
          <a:lstStyle/>
          <a:p>
            <a:pPr algn="ctr">
              <a:defRPr sz="1000" b="0">
                <a:solidFill>
                  <a:srgbClr val="000000"/>
                </a:solidFill>
                <a:latin typeface="Source Sans Pro"/>
              </a:defRPr>
            </a:pPr>
            <a:r>
              <a:t>USAGE NOTES: These illustrations define the visual storytelling style of the brand. Use them consistently across presentations, reports, and marketing materials to maintain brand coherence.</a:t>
            </a:r>
          </a:p>
        </p:txBody>
      </p:sp>
      <p:cxnSp>
        <p:nvCxnSpPr>
          <p:cNvPr id="3" name="Connector 2"/>
          <p:cNvCxnSpPr/>
          <p:nvPr/>
        </p:nvCxnSpPr>
        <p:spPr>
          <a:xfrm>
            <a:off x="457200" y="5943600"/>
            <a:ext cx="8229600" cy="0"/>
          </a:xfrm>
          <a:prstGeom prst="line">
            <a:avLst/>
          </a:prstGeom>
          <a:ln w="25400">
            <a:solidFill>
              <a:srgbClr val="A55C5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6217920"/>
            <a:ext cx="5486400" cy="731520"/>
          </a:xfrm>
          <a:prstGeom prst="rect">
            <a:avLst/>
          </a:prstGeom>
          <a:noFill/>
        </p:spPr>
        <p:txBody>
          <a:bodyPr wrap="none" lIns="0" rIns="0" tIns="0" bIns="0">
            <a:spAutoFit/>
          </a:bodyPr>
          <a:lstStyle/>
          <a:p>
            <a:pPr algn="l">
              <a:defRPr sz="2800" b="1">
                <a:solidFill>
                  <a:srgbClr val="A55C55"/>
                </a:solidFill>
                <a:latin typeface="Inter"/>
              </a:defRPr>
            </a:pPr>
            <a:r>
              <a:t>BRAND ILLUSTRATIONS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74295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Chaayos - Core Functional Icons</a:t>
            </a:r>
          </a:p>
        </p:txBody>
      </p:sp>
      <p:pic>
        <p:nvPicPr>
          <p:cNvPr id="3" name="Picture 2" descr="mdi_home_A55C55.png"/>
          <p:cNvPicPr>
            <a:picLocks noChangeAspect="1"/>
          </p:cNvPicPr>
          <p:nvPr/>
        </p:nvPicPr>
        <p:blipFill>
          <a:blip r:embed="rId2"/>
          <a:stretch>
            <a:fillRect/>
          </a:stretch>
        </p:blipFill>
        <p:spPr>
          <a:xfrm>
            <a:off x="722376" y="1645920"/>
            <a:ext cx="822960" cy="822960"/>
          </a:xfrm>
          <a:prstGeom prst="rect">
            <a:avLst/>
          </a:prstGeom>
        </p:spPr>
      </p:pic>
      <p:pic>
        <p:nvPicPr>
          <p:cNvPr id="4" name="Picture 3" descr="mdi_account_A55C55.png"/>
          <p:cNvPicPr>
            <a:picLocks noChangeAspect="1"/>
          </p:cNvPicPr>
          <p:nvPr/>
        </p:nvPicPr>
        <p:blipFill>
          <a:blip r:embed="rId3"/>
          <a:stretch>
            <a:fillRect/>
          </a:stretch>
        </p:blipFill>
        <p:spPr>
          <a:xfrm>
            <a:off x="2441448" y="1645920"/>
            <a:ext cx="822960" cy="822960"/>
          </a:xfrm>
          <a:prstGeom prst="rect">
            <a:avLst/>
          </a:prstGeom>
        </p:spPr>
      </p:pic>
      <p:pic>
        <p:nvPicPr>
          <p:cNvPr id="5" name="Picture 4" descr="mdi_cog_A55C55.png"/>
          <p:cNvPicPr>
            <a:picLocks noChangeAspect="1"/>
          </p:cNvPicPr>
          <p:nvPr/>
        </p:nvPicPr>
        <p:blipFill>
          <a:blip r:embed="rId4"/>
          <a:stretch>
            <a:fillRect/>
          </a:stretch>
        </p:blipFill>
        <p:spPr>
          <a:xfrm>
            <a:off x="4160520" y="1645920"/>
            <a:ext cx="822960" cy="822960"/>
          </a:xfrm>
          <a:prstGeom prst="rect">
            <a:avLst/>
          </a:prstGeom>
        </p:spPr>
      </p:pic>
      <p:pic>
        <p:nvPicPr>
          <p:cNvPr id="6" name="Picture 5" descr="mdi_briefcase_A55C55.png"/>
          <p:cNvPicPr>
            <a:picLocks noChangeAspect="1"/>
          </p:cNvPicPr>
          <p:nvPr/>
        </p:nvPicPr>
        <p:blipFill>
          <a:blip r:embed="rId5"/>
          <a:stretch>
            <a:fillRect/>
          </a:stretch>
        </p:blipFill>
        <p:spPr>
          <a:xfrm>
            <a:off x="5879592" y="1645920"/>
            <a:ext cx="822960" cy="822960"/>
          </a:xfrm>
          <a:prstGeom prst="rect">
            <a:avLst/>
          </a:prstGeom>
        </p:spPr>
      </p:pic>
      <p:pic>
        <p:nvPicPr>
          <p:cNvPr id="7" name="Picture 6" descr="mdi_office-building_A55C55.png"/>
          <p:cNvPicPr>
            <a:picLocks noChangeAspect="1"/>
          </p:cNvPicPr>
          <p:nvPr/>
        </p:nvPicPr>
        <p:blipFill>
          <a:blip r:embed="rId6"/>
          <a:stretch>
            <a:fillRect/>
          </a:stretch>
        </p:blipFill>
        <p:spPr>
          <a:xfrm>
            <a:off x="7598664" y="1645920"/>
            <a:ext cx="822960" cy="822960"/>
          </a:xfrm>
          <a:prstGeom prst="rect">
            <a:avLst/>
          </a:prstGeom>
        </p:spPr>
      </p:pic>
      <p:pic>
        <p:nvPicPr>
          <p:cNvPr id="8" name="Picture 7" descr="mdi_handshake_A55C55.png"/>
          <p:cNvPicPr>
            <a:picLocks noChangeAspect="1"/>
          </p:cNvPicPr>
          <p:nvPr/>
        </p:nvPicPr>
        <p:blipFill>
          <a:blip r:embed="rId7"/>
          <a:stretch>
            <a:fillRect/>
          </a:stretch>
        </p:blipFill>
        <p:spPr>
          <a:xfrm>
            <a:off x="722376" y="2743200"/>
            <a:ext cx="822960" cy="822960"/>
          </a:xfrm>
          <a:prstGeom prst="rect">
            <a:avLst/>
          </a:prstGeom>
        </p:spPr>
      </p:pic>
      <p:pic>
        <p:nvPicPr>
          <p:cNvPr id="9" name="Picture 8" descr="mdi_chart-line_A55C55.png"/>
          <p:cNvPicPr>
            <a:picLocks noChangeAspect="1"/>
          </p:cNvPicPr>
          <p:nvPr/>
        </p:nvPicPr>
        <p:blipFill>
          <a:blip r:embed="rId8"/>
          <a:stretch>
            <a:fillRect/>
          </a:stretch>
        </p:blipFill>
        <p:spPr>
          <a:xfrm>
            <a:off x="2441448" y="2743200"/>
            <a:ext cx="822960" cy="822960"/>
          </a:xfrm>
          <a:prstGeom prst="rect">
            <a:avLst/>
          </a:prstGeom>
        </p:spPr>
      </p:pic>
      <p:pic>
        <p:nvPicPr>
          <p:cNvPr id="10" name="Picture 9" descr="mdi_presentation_A55C55.png"/>
          <p:cNvPicPr>
            <a:picLocks noChangeAspect="1"/>
          </p:cNvPicPr>
          <p:nvPr/>
        </p:nvPicPr>
        <p:blipFill>
          <a:blip r:embed="rId9"/>
          <a:stretch>
            <a:fillRect/>
          </a:stretch>
        </p:blipFill>
        <p:spPr>
          <a:xfrm>
            <a:off x="4160520" y="2743200"/>
            <a:ext cx="822960" cy="822960"/>
          </a:xfrm>
          <a:prstGeom prst="rect">
            <a:avLst/>
          </a:prstGeom>
        </p:spPr>
      </p:pic>
      <p:pic>
        <p:nvPicPr>
          <p:cNvPr id="11" name="Picture 10" descr="mdi_calendar_A55C55.png"/>
          <p:cNvPicPr>
            <a:picLocks noChangeAspect="1"/>
          </p:cNvPicPr>
          <p:nvPr/>
        </p:nvPicPr>
        <p:blipFill>
          <a:blip r:embed="rId10"/>
          <a:stretch>
            <a:fillRect/>
          </a:stretch>
        </p:blipFill>
        <p:spPr>
          <a:xfrm>
            <a:off x="5879592" y="2743200"/>
            <a:ext cx="822960" cy="822960"/>
          </a:xfrm>
          <a:prstGeom prst="rect">
            <a:avLst/>
          </a:prstGeom>
        </p:spPr>
      </p:pic>
      <p:pic>
        <p:nvPicPr>
          <p:cNvPr id="12" name="Picture 11" descr="mdi_email_A55C55.png"/>
          <p:cNvPicPr>
            <a:picLocks noChangeAspect="1"/>
          </p:cNvPicPr>
          <p:nvPr/>
        </p:nvPicPr>
        <p:blipFill>
          <a:blip r:embed="rId11"/>
          <a:stretch>
            <a:fillRect/>
          </a:stretch>
        </p:blipFill>
        <p:spPr>
          <a:xfrm>
            <a:off x="7598664" y="2743200"/>
            <a:ext cx="822960" cy="822960"/>
          </a:xfrm>
          <a:prstGeom prst="rect">
            <a:avLst/>
          </a:prstGeom>
        </p:spPr>
      </p:pic>
      <p:pic>
        <p:nvPicPr>
          <p:cNvPr id="13" name="Picture 12" descr="mdi_lightbulb_A55C55.png"/>
          <p:cNvPicPr>
            <a:picLocks noChangeAspect="1"/>
          </p:cNvPicPr>
          <p:nvPr/>
        </p:nvPicPr>
        <p:blipFill>
          <a:blip r:embed="rId12"/>
          <a:stretch>
            <a:fillRect/>
          </a:stretch>
        </p:blipFill>
        <p:spPr>
          <a:xfrm>
            <a:off x="722376" y="3840480"/>
            <a:ext cx="822960" cy="822960"/>
          </a:xfrm>
          <a:prstGeom prst="rect">
            <a:avLst/>
          </a:prstGeom>
        </p:spPr>
      </p:pic>
      <p:pic>
        <p:nvPicPr>
          <p:cNvPr id="14" name="Picture 13" descr="mdi_rocket_A55C55.png"/>
          <p:cNvPicPr>
            <a:picLocks noChangeAspect="1"/>
          </p:cNvPicPr>
          <p:nvPr/>
        </p:nvPicPr>
        <p:blipFill>
          <a:blip r:embed="rId13"/>
          <a:stretch>
            <a:fillRect/>
          </a:stretch>
        </p:blipFill>
        <p:spPr>
          <a:xfrm>
            <a:off x="2441448" y="3840480"/>
            <a:ext cx="822960" cy="822960"/>
          </a:xfrm>
          <a:prstGeom prst="rect">
            <a:avLst/>
          </a:prstGeom>
        </p:spPr>
      </p:pic>
      <p:pic>
        <p:nvPicPr>
          <p:cNvPr id="15" name="Picture 14" descr="mdi_star_A55C55.png"/>
          <p:cNvPicPr>
            <a:picLocks noChangeAspect="1"/>
          </p:cNvPicPr>
          <p:nvPr/>
        </p:nvPicPr>
        <p:blipFill>
          <a:blip r:embed="rId14"/>
          <a:stretch>
            <a:fillRect/>
          </a:stretch>
        </p:blipFill>
        <p:spPr>
          <a:xfrm>
            <a:off x="4160520" y="3840480"/>
            <a:ext cx="822960" cy="822960"/>
          </a:xfrm>
          <a:prstGeom prst="rect">
            <a:avLst/>
          </a:prstGeom>
        </p:spPr>
      </p:pic>
      <p:pic>
        <p:nvPicPr>
          <p:cNvPr id="16" name="Picture 15" descr="mdi_medal_A55C55.png"/>
          <p:cNvPicPr>
            <a:picLocks noChangeAspect="1"/>
          </p:cNvPicPr>
          <p:nvPr/>
        </p:nvPicPr>
        <p:blipFill>
          <a:blip r:embed="rId15"/>
          <a:stretch>
            <a:fillRect/>
          </a:stretch>
        </p:blipFill>
        <p:spPr>
          <a:xfrm>
            <a:off x="5879592" y="3840480"/>
            <a:ext cx="822960" cy="822960"/>
          </a:xfrm>
          <a:prstGeom prst="rect">
            <a:avLst/>
          </a:prstGeom>
        </p:spPr>
      </p:pic>
      <p:pic>
        <p:nvPicPr>
          <p:cNvPr id="17" name="Picture 16" descr="mdi_briefcase_A55C55.png"/>
          <p:cNvPicPr>
            <a:picLocks noChangeAspect="1"/>
          </p:cNvPicPr>
          <p:nvPr/>
        </p:nvPicPr>
        <p:blipFill>
          <a:blip r:embed="rId5"/>
          <a:stretch>
            <a:fillRect/>
          </a:stretch>
        </p:blipFill>
        <p:spPr>
          <a:xfrm>
            <a:off x="7598664" y="3840480"/>
            <a:ext cx="822960" cy="822960"/>
          </a:xfrm>
          <a:prstGeom prst="rect">
            <a:avLst/>
          </a:prstGeom>
        </p:spPr>
      </p:pic>
      <p:cxnSp>
        <p:nvCxnSpPr>
          <p:cNvPr id="18" name="Connector 17"/>
          <p:cNvCxnSpPr/>
          <p:nvPr/>
        </p:nvCxnSpPr>
        <p:spPr>
          <a:xfrm>
            <a:off x="457200" y="5943600"/>
            <a:ext cx="8229600" cy="0"/>
          </a:xfrm>
          <a:prstGeom prst="line">
            <a:avLst/>
          </a:prstGeom>
          <a:ln w="25400">
            <a:solidFill>
              <a:srgbClr val="A55C55"/>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00100" y="6217920"/>
            <a:ext cx="3657600" cy="731520"/>
          </a:xfrm>
          <a:prstGeom prst="rect">
            <a:avLst/>
          </a:prstGeom>
          <a:noFill/>
        </p:spPr>
        <p:txBody>
          <a:bodyPr wrap="none">
            <a:spAutoFit/>
          </a:bodyPr>
          <a:lstStyle/>
          <a:p>
            <a:pPr algn="l">
              <a:defRPr sz="2800" b="1">
                <a:solidFill>
                  <a:srgbClr val="A55C55"/>
                </a:solidFill>
                <a:latin typeface="Inter"/>
              </a:defRPr>
            </a:pPr>
            <a:r>
              <a:t>ICONOGRAPHY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74295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Chaayos - Food &amp; Beverage / Qsr (Quick Service Tea Café) Industry Icons</a:t>
            </a:r>
          </a:p>
        </p:txBody>
      </p:sp>
      <p:pic>
        <p:nvPicPr>
          <p:cNvPr id="3" name="Picture 2" descr="mdi_linkedin_A55C55.png"/>
          <p:cNvPicPr>
            <a:picLocks noChangeAspect="1"/>
          </p:cNvPicPr>
          <p:nvPr/>
        </p:nvPicPr>
        <p:blipFill>
          <a:blip r:embed="rId2"/>
          <a:stretch>
            <a:fillRect/>
          </a:stretch>
        </p:blipFill>
        <p:spPr>
          <a:xfrm>
            <a:off x="722376" y="1645920"/>
            <a:ext cx="822960" cy="822960"/>
          </a:xfrm>
          <a:prstGeom prst="rect">
            <a:avLst/>
          </a:prstGeom>
        </p:spPr>
      </p:pic>
      <p:pic>
        <p:nvPicPr>
          <p:cNvPr id="4" name="Picture 3" descr="mdi_microsoft_A55C55.png"/>
          <p:cNvPicPr>
            <a:picLocks noChangeAspect="1"/>
          </p:cNvPicPr>
          <p:nvPr/>
        </p:nvPicPr>
        <p:blipFill>
          <a:blip r:embed="rId3"/>
          <a:stretch>
            <a:fillRect/>
          </a:stretch>
        </p:blipFill>
        <p:spPr>
          <a:xfrm>
            <a:off x="2441448" y="1645920"/>
            <a:ext cx="822960" cy="822960"/>
          </a:xfrm>
          <a:prstGeom prst="rect">
            <a:avLst/>
          </a:prstGeom>
        </p:spPr>
      </p:pic>
      <p:pic>
        <p:nvPicPr>
          <p:cNvPr id="5" name="Picture 4" descr="mdi_google_A55C55.png"/>
          <p:cNvPicPr>
            <a:picLocks noChangeAspect="1"/>
          </p:cNvPicPr>
          <p:nvPr/>
        </p:nvPicPr>
        <p:blipFill>
          <a:blip r:embed="rId4"/>
          <a:stretch>
            <a:fillRect/>
          </a:stretch>
        </p:blipFill>
        <p:spPr>
          <a:xfrm>
            <a:off x="4160520" y="1645920"/>
            <a:ext cx="822960" cy="822960"/>
          </a:xfrm>
          <a:prstGeom prst="rect">
            <a:avLst/>
          </a:prstGeom>
        </p:spPr>
      </p:pic>
      <p:pic>
        <p:nvPicPr>
          <p:cNvPr id="6" name="Picture 5" descr="mdi_slack_A55C55.png"/>
          <p:cNvPicPr>
            <a:picLocks noChangeAspect="1"/>
          </p:cNvPicPr>
          <p:nvPr/>
        </p:nvPicPr>
        <p:blipFill>
          <a:blip r:embed="rId5"/>
          <a:stretch>
            <a:fillRect/>
          </a:stretch>
        </p:blipFill>
        <p:spPr>
          <a:xfrm>
            <a:off x="5879592" y="1645920"/>
            <a:ext cx="822960" cy="822960"/>
          </a:xfrm>
          <a:prstGeom prst="rect">
            <a:avLst/>
          </a:prstGeom>
        </p:spPr>
      </p:pic>
      <p:pic>
        <p:nvPicPr>
          <p:cNvPr id="7" name="Picture 6" descr="mdi_dropbox_A55C55.png"/>
          <p:cNvPicPr>
            <a:picLocks noChangeAspect="1"/>
          </p:cNvPicPr>
          <p:nvPr/>
        </p:nvPicPr>
        <p:blipFill>
          <a:blip r:embed="rId6"/>
          <a:stretch>
            <a:fillRect/>
          </a:stretch>
        </p:blipFill>
        <p:spPr>
          <a:xfrm>
            <a:off x="7598664" y="1645920"/>
            <a:ext cx="822960" cy="822960"/>
          </a:xfrm>
          <a:prstGeom prst="rect">
            <a:avLst/>
          </a:prstGeom>
        </p:spPr>
      </p:pic>
      <p:pic>
        <p:nvPicPr>
          <p:cNvPr id="8" name="Picture 7" descr="mdi_onedrive_A55C55.png"/>
          <p:cNvPicPr>
            <a:picLocks noChangeAspect="1"/>
          </p:cNvPicPr>
          <p:nvPr/>
        </p:nvPicPr>
        <p:blipFill>
          <a:blip r:embed="rId7"/>
          <a:stretch>
            <a:fillRect/>
          </a:stretch>
        </p:blipFill>
        <p:spPr>
          <a:xfrm>
            <a:off x="722376" y="2743200"/>
            <a:ext cx="822960" cy="822960"/>
          </a:xfrm>
          <a:prstGeom prst="rect">
            <a:avLst/>
          </a:prstGeom>
        </p:spPr>
      </p:pic>
      <p:pic>
        <p:nvPicPr>
          <p:cNvPr id="9" name="Picture 8" descr="mdi_facebook_A55C55.png"/>
          <p:cNvPicPr>
            <a:picLocks noChangeAspect="1"/>
          </p:cNvPicPr>
          <p:nvPr/>
        </p:nvPicPr>
        <p:blipFill>
          <a:blip r:embed="rId8"/>
          <a:stretch>
            <a:fillRect/>
          </a:stretch>
        </p:blipFill>
        <p:spPr>
          <a:xfrm>
            <a:off x="2441448" y="2743200"/>
            <a:ext cx="822960" cy="822960"/>
          </a:xfrm>
          <a:prstGeom prst="rect">
            <a:avLst/>
          </a:prstGeom>
        </p:spPr>
      </p:pic>
      <p:pic>
        <p:nvPicPr>
          <p:cNvPr id="10" name="Picture 9" descr="mdi_twitter_A55C55.png"/>
          <p:cNvPicPr>
            <a:picLocks noChangeAspect="1"/>
          </p:cNvPicPr>
          <p:nvPr/>
        </p:nvPicPr>
        <p:blipFill>
          <a:blip r:embed="rId9"/>
          <a:stretch>
            <a:fillRect/>
          </a:stretch>
        </p:blipFill>
        <p:spPr>
          <a:xfrm>
            <a:off x="4160520" y="2743200"/>
            <a:ext cx="822960" cy="822960"/>
          </a:xfrm>
          <a:prstGeom prst="rect">
            <a:avLst/>
          </a:prstGeom>
        </p:spPr>
      </p:pic>
      <p:pic>
        <p:nvPicPr>
          <p:cNvPr id="11" name="Picture 10" descr="mdi_lightbulb_A55C55.png"/>
          <p:cNvPicPr>
            <a:picLocks noChangeAspect="1"/>
          </p:cNvPicPr>
          <p:nvPr/>
        </p:nvPicPr>
        <p:blipFill>
          <a:blip r:embed="rId10"/>
          <a:stretch>
            <a:fillRect/>
          </a:stretch>
        </p:blipFill>
        <p:spPr>
          <a:xfrm>
            <a:off x="5879592" y="2743200"/>
            <a:ext cx="822960" cy="822960"/>
          </a:xfrm>
          <a:prstGeom prst="rect">
            <a:avLst/>
          </a:prstGeom>
        </p:spPr>
      </p:pic>
      <p:pic>
        <p:nvPicPr>
          <p:cNvPr id="12" name="Picture 11" descr="mdi_rocket_A55C55.png"/>
          <p:cNvPicPr>
            <a:picLocks noChangeAspect="1"/>
          </p:cNvPicPr>
          <p:nvPr/>
        </p:nvPicPr>
        <p:blipFill>
          <a:blip r:embed="rId11"/>
          <a:stretch>
            <a:fillRect/>
          </a:stretch>
        </p:blipFill>
        <p:spPr>
          <a:xfrm>
            <a:off x="7598664" y="2743200"/>
            <a:ext cx="822960" cy="822960"/>
          </a:xfrm>
          <a:prstGeom prst="rect">
            <a:avLst/>
          </a:prstGeom>
        </p:spPr>
      </p:pic>
      <p:pic>
        <p:nvPicPr>
          <p:cNvPr id="13" name="Picture 12" descr="mdi_star_A55C55.png"/>
          <p:cNvPicPr>
            <a:picLocks noChangeAspect="1"/>
          </p:cNvPicPr>
          <p:nvPr/>
        </p:nvPicPr>
        <p:blipFill>
          <a:blip r:embed="rId12"/>
          <a:stretch>
            <a:fillRect/>
          </a:stretch>
        </p:blipFill>
        <p:spPr>
          <a:xfrm>
            <a:off x="722376" y="3840480"/>
            <a:ext cx="822960" cy="822960"/>
          </a:xfrm>
          <a:prstGeom prst="rect">
            <a:avLst/>
          </a:prstGeom>
        </p:spPr>
      </p:pic>
      <p:pic>
        <p:nvPicPr>
          <p:cNvPr id="14" name="Picture 13" descr="mdi_medal_A55C55.png"/>
          <p:cNvPicPr>
            <a:picLocks noChangeAspect="1"/>
          </p:cNvPicPr>
          <p:nvPr/>
        </p:nvPicPr>
        <p:blipFill>
          <a:blip r:embed="rId13"/>
          <a:stretch>
            <a:fillRect/>
          </a:stretch>
        </p:blipFill>
        <p:spPr>
          <a:xfrm>
            <a:off x="2441448" y="3840480"/>
            <a:ext cx="822960" cy="822960"/>
          </a:xfrm>
          <a:prstGeom prst="rect">
            <a:avLst/>
          </a:prstGeom>
        </p:spPr>
      </p:pic>
      <p:pic>
        <p:nvPicPr>
          <p:cNvPr id="15" name="Picture 14" descr="mdi_briefcase_A55C55.png"/>
          <p:cNvPicPr>
            <a:picLocks noChangeAspect="1"/>
          </p:cNvPicPr>
          <p:nvPr/>
        </p:nvPicPr>
        <p:blipFill>
          <a:blip r:embed="rId14"/>
          <a:stretch>
            <a:fillRect/>
          </a:stretch>
        </p:blipFill>
        <p:spPr>
          <a:xfrm>
            <a:off x="4160520" y="3840480"/>
            <a:ext cx="822960" cy="822960"/>
          </a:xfrm>
          <a:prstGeom prst="rect">
            <a:avLst/>
          </a:prstGeom>
        </p:spPr>
      </p:pic>
      <p:cxnSp>
        <p:nvCxnSpPr>
          <p:cNvPr id="16" name="Connector 15"/>
          <p:cNvCxnSpPr/>
          <p:nvPr/>
        </p:nvCxnSpPr>
        <p:spPr>
          <a:xfrm>
            <a:off x="457200" y="5943600"/>
            <a:ext cx="8229600" cy="0"/>
          </a:xfrm>
          <a:prstGeom prst="line">
            <a:avLst/>
          </a:prstGeom>
          <a:ln w="25400">
            <a:solidFill>
              <a:srgbClr val="A55C5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0100" y="6217920"/>
            <a:ext cx="3657600" cy="731520"/>
          </a:xfrm>
          <a:prstGeom prst="rect">
            <a:avLst/>
          </a:prstGeom>
          <a:noFill/>
        </p:spPr>
        <p:txBody>
          <a:bodyPr wrap="none">
            <a:spAutoFit/>
          </a:bodyPr>
          <a:lstStyle/>
          <a:p>
            <a:pPr algn="l">
              <a:defRPr sz="2800" b="1">
                <a:solidFill>
                  <a:srgbClr val="A55C55"/>
                </a:solidFill>
                <a:latin typeface="Inter"/>
              </a:defRPr>
            </a:pPr>
            <a:r>
              <a:t>ICONOGRAPHY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228850"/>
          </a:xfrm>
          <a:prstGeom prst="rect">
            <a:avLst/>
          </a:prstGeom>
          <a:noFill/>
        </p:spPr>
        <p:txBody>
          <a:bodyPr wrap="square" lIns="0" rIns="0" tIns="0" bIns="0">
            <a:spAutoFit/>
          </a:bodyPr>
          <a:lstStyle/>
          <a:p>
            <a:pPr algn="l">
              <a:spcAft>
                <a:spcPts val="600"/>
              </a:spcAft>
              <a:defRPr sz="1800" b="0">
                <a:solidFill>
                  <a:srgbClr val="000000"/>
                </a:solidFill>
                <a:latin typeface="Source Sans Pro"/>
              </a:defRPr>
            </a:pPr>
            <a:r>
              <a:t>Style: Minimalist design</a:t>
            </a:r>
          </a:p>
          <a:p>
            <a:pPr algn="l">
              <a:spcAft>
                <a:spcPts val="600"/>
              </a:spcAft>
              <a:defRPr sz="1800" b="0">
                <a:solidFill>
                  <a:srgbClr val="000000"/>
                </a:solidFill>
                <a:latin typeface="Source Sans Pro"/>
              </a:defRPr>
            </a:pPr>
            <a:r>
              <a:t>Color: #A55C55 on black background</a:t>
            </a:r>
          </a:p>
          <a:p>
            <a:pPr algn="l">
              <a:spcAft>
                <a:spcPts val="600"/>
              </a:spcAft>
              <a:defRPr sz="1800" b="0">
                <a:solidFill>
                  <a:srgbClr val="000000"/>
                </a:solidFill>
                <a:latin typeface="Source Sans Pro"/>
              </a:defRPr>
            </a:pPr>
          </a:p>
          <a:p>
            <a:pPr algn="l">
              <a:spcAft>
                <a:spcPts val="600"/>
              </a:spcAft>
              <a:defRPr sz="1800" b="0">
                <a:solidFill>
                  <a:srgbClr val="000000"/>
                </a:solidFill>
                <a:latin typeface="Source Sans Pro"/>
              </a:defRPr>
            </a:pPr>
            <a:r>
              <a:t>Size Requirements:</a:t>
            </a:r>
          </a:p>
          <a:p>
            <a:pPr algn="l">
              <a:spcAft>
                <a:spcPts val="600"/>
              </a:spcAft>
              <a:defRPr sz="1800" b="0">
                <a:solidFill>
                  <a:srgbClr val="000000"/>
                </a:solidFill>
                <a:latin typeface="Source Sans Pro"/>
              </a:defRPr>
            </a:pPr>
            <a:r>
              <a:t>• Minimum: 16px web, 0.5" print</a:t>
            </a:r>
          </a:p>
          <a:p>
            <a:pPr algn="l">
              <a:spcAft>
                <a:spcPts val="600"/>
              </a:spcAft>
              <a:defRPr sz="1800" b="0">
                <a:solidFill>
                  <a:srgbClr val="000000"/>
                </a:solidFill>
                <a:latin typeface="Source Sans Pro"/>
              </a:defRPr>
            </a:pPr>
            <a:r>
              <a:t>• Recommended: 24px+ web, 0.75"+ print</a:t>
            </a:r>
          </a:p>
          <a:p>
            <a:pPr algn="l">
              <a:spcAft>
                <a:spcPts val="600"/>
              </a:spcAft>
              <a:defRPr sz="1800" b="0">
                <a:solidFill>
                  <a:srgbClr val="000000"/>
                </a:solidFill>
                <a:latin typeface="Source Sans Pro"/>
              </a:defRPr>
            </a:pPr>
          </a:p>
          <a:p>
            <a:pPr algn="l">
              <a:spcAft>
                <a:spcPts val="600"/>
              </a:spcAft>
              <a:defRPr sz="1800" b="0">
                <a:solidFill>
                  <a:srgbClr val="000000"/>
                </a:solidFill>
                <a:latin typeface="Source Sans Pro"/>
              </a:defRPr>
            </a:pPr>
            <a:r>
              <a:t>Spacing:</a:t>
            </a:r>
          </a:p>
          <a:p>
            <a:pPr algn="l">
              <a:spcAft>
                <a:spcPts val="600"/>
              </a:spcAft>
              <a:defRPr sz="1800" b="0">
                <a:solidFill>
                  <a:srgbClr val="000000"/>
                </a:solidFill>
                <a:latin typeface="Source Sans Pro"/>
              </a:defRPr>
            </a:pPr>
            <a:r>
              <a:t>• Clear space: 50% of icon width</a:t>
            </a:r>
          </a:p>
          <a:p>
            <a:pPr algn="l">
              <a:spcAft>
                <a:spcPts val="600"/>
              </a:spcAft>
              <a:defRPr sz="1800" b="0">
                <a:solidFill>
                  <a:srgbClr val="000000"/>
                </a:solidFill>
                <a:latin typeface="Source Sans Pro"/>
              </a:defRPr>
            </a:pPr>
            <a:r>
              <a:t>• Consistent grid alignment</a:t>
            </a:r>
          </a:p>
        </p:txBody>
      </p:sp>
      <p:cxnSp>
        <p:nvCxnSpPr>
          <p:cNvPr id="3" name="Connector 2"/>
          <p:cNvCxnSpPr/>
          <p:nvPr/>
        </p:nvCxnSpPr>
        <p:spPr>
          <a:xfrm>
            <a:off x="457200" y="5943600"/>
            <a:ext cx="8229600" cy="0"/>
          </a:xfrm>
          <a:prstGeom prst="line">
            <a:avLst/>
          </a:prstGeom>
          <a:ln w="25400">
            <a:solidFill>
              <a:srgbClr val="A55C5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6217920"/>
            <a:ext cx="5486400" cy="731520"/>
          </a:xfrm>
          <a:prstGeom prst="rect">
            <a:avLst/>
          </a:prstGeom>
          <a:noFill/>
        </p:spPr>
        <p:txBody>
          <a:bodyPr wrap="none">
            <a:spAutoFit/>
          </a:bodyPr>
          <a:lstStyle/>
          <a:p>
            <a:pPr algn="l">
              <a:defRPr sz="2800" b="1">
                <a:solidFill>
                  <a:srgbClr val="A55C55"/>
                </a:solidFill>
                <a:latin typeface="Inter"/>
              </a:defRPr>
            </a:pPr>
            <a:r>
              <a:t>USAGE GUIDELINES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tshirt_white_20251010_154333_bc5eb307.png"/>
          <p:cNvPicPr>
            <a:picLocks noChangeAspect="1"/>
          </p:cNvPicPr>
          <p:nvPr/>
        </p:nvPicPr>
        <p:blipFill>
          <a:blip r:embed="rId2"/>
          <a:stretch>
            <a:fillRect/>
          </a:stretch>
        </p:blipFill>
        <p:spPr>
          <a:xfrm>
            <a:off x="411480" y="2286000"/>
            <a:ext cx="2286000" cy="2926080"/>
          </a:xfrm>
          <a:prstGeom prst="rect">
            <a:avLst/>
          </a:prstGeom>
        </p:spPr>
      </p:pic>
      <p:pic>
        <p:nvPicPr>
          <p:cNvPr id="3" name="Picture 2" descr="chaayos_tshirt_black_20251010_154343_1d3bed03.png"/>
          <p:cNvPicPr>
            <a:picLocks noChangeAspect="1"/>
          </p:cNvPicPr>
          <p:nvPr/>
        </p:nvPicPr>
        <p:blipFill>
          <a:blip r:embed="rId3"/>
          <a:stretch>
            <a:fillRect/>
          </a:stretch>
        </p:blipFill>
        <p:spPr>
          <a:xfrm>
            <a:off x="3429000" y="2286000"/>
            <a:ext cx="2286000" cy="2926080"/>
          </a:xfrm>
          <a:prstGeom prst="rect">
            <a:avLst/>
          </a:prstGeom>
        </p:spPr>
      </p:pic>
      <p:pic>
        <p:nvPicPr>
          <p:cNvPr id="4" name="Picture 3" descr="chaayos_tshirt_yellow_20251010_154351_ce7b8c29.png"/>
          <p:cNvPicPr>
            <a:picLocks noChangeAspect="1"/>
          </p:cNvPicPr>
          <p:nvPr/>
        </p:nvPicPr>
        <p:blipFill>
          <a:blip r:embed="rId4"/>
          <a:stretch>
            <a:fillRect/>
          </a:stretch>
        </p:blipFill>
        <p:spPr>
          <a:xfrm>
            <a:off x="6446520" y="2286000"/>
            <a:ext cx="2286000" cy="2926080"/>
          </a:xfrm>
          <a:prstGeom prst="rect">
            <a:avLst/>
          </a:prstGeom>
        </p:spPr>
      </p:pic>
      <p:cxnSp>
        <p:nvCxnSpPr>
          <p:cNvPr id="5" name="Connector 4"/>
          <p:cNvCxnSpPr/>
          <p:nvPr/>
        </p:nvCxnSpPr>
        <p:spPr>
          <a:xfrm>
            <a:off x="457200" y="5943600"/>
            <a:ext cx="8229600" cy="0"/>
          </a:xfrm>
          <a:prstGeom prst="line">
            <a:avLst/>
          </a:prstGeom>
          <a:ln w="2540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00100" y="6217920"/>
            <a:ext cx="5486400" cy="731520"/>
          </a:xfrm>
          <a:prstGeom prst="rect">
            <a:avLst/>
          </a:prstGeom>
          <a:noFill/>
        </p:spPr>
        <p:txBody>
          <a:bodyPr wrap="none">
            <a:spAutoFit/>
          </a:bodyPr>
          <a:lstStyle/>
          <a:p>
            <a:pPr algn="l">
              <a:defRPr sz="2800" b="1">
                <a:solidFill>
                  <a:srgbClr val="000000"/>
                </a:solidFill>
                <a:latin typeface="Inter"/>
              </a:defRPr>
            </a:pPr>
            <a:r>
              <a:t>BRAND APPAREL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mug_white_20251010_154400_4fd4bece.png"/>
          <p:cNvPicPr>
            <a:picLocks noChangeAspect="1"/>
          </p:cNvPicPr>
          <p:nvPr/>
        </p:nvPicPr>
        <p:blipFill>
          <a:blip r:embed="rId2"/>
          <a:stretch>
            <a:fillRect/>
          </a:stretch>
        </p:blipFill>
        <p:spPr>
          <a:xfrm>
            <a:off x="411480" y="2286000"/>
            <a:ext cx="2286000" cy="2926080"/>
          </a:xfrm>
          <a:prstGeom prst="rect">
            <a:avLst/>
          </a:prstGeom>
        </p:spPr>
      </p:pic>
      <p:pic>
        <p:nvPicPr>
          <p:cNvPr id="3" name="Picture 2" descr="chaayos_mug_black_20251010_154408_a48302bc.png"/>
          <p:cNvPicPr>
            <a:picLocks noChangeAspect="1"/>
          </p:cNvPicPr>
          <p:nvPr/>
        </p:nvPicPr>
        <p:blipFill>
          <a:blip r:embed="rId3"/>
          <a:stretch>
            <a:fillRect/>
          </a:stretch>
        </p:blipFill>
        <p:spPr>
          <a:xfrm>
            <a:off x="3429000" y="2286000"/>
            <a:ext cx="2286000" cy="2926080"/>
          </a:xfrm>
          <a:prstGeom prst="rect">
            <a:avLst/>
          </a:prstGeom>
        </p:spPr>
      </p:pic>
      <p:pic>
        <p:nvPicPr>
          <p:cNvPr id="4" name="Picture 3" descr="chaayos_mug_primary_20251010_154417_288c681d.png"/>
          <p:cNvPicPr>
            <a:picLocks noChangeAspect="1"/>
          </p:cNvPicPr>
          <p:nvPr/>
        </p:nvPicPr>
        <p:blipFill>
          <a:blip r:embed="rId4"/>
          <a:stretch>
            <a:fillRect/>
          </a:stretch>
        </p:blipFill>
        <p:spPr>
          <a:xfrm>
            <a:off x="6446520" y="2286000"/>
            <a:ext cx="2286000" cy="2926080"/>
          </a:xfrm>
          <a:prstGeom prst="rect">
            <a:avLst/>
          </a:prstGeom>
        </p:spPr>
      </p:pic>
      <p:cxnSp>
        <p:nvCxnSpPr>
          <p:cNvPr id="5" name="Connector 4"/>
          <p:cNvCxnSpPr/>
          <p:nvPr/>
        </p:nvCxnSpPr>
        <p:spPr>
          <a:xfrm>
            <a:off x="457200" y="5943600"/>
            <a:ext cx="8229600" cy="0"/>
          </a:xfrm>
          <a:prstGeom prst="line">
            <a:avLst/>
          </a:prstGeom>
          <a:ln w="2540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00100" y="6217920"/>
            <a:ext cx="5486400" cy="731520"/>
          </a:xfrm>
          <a:prstGeom prst="rect">
            <a:avLst/>
          </a:prstGeom>
          <a:noFill/>
        </p:spPr>
        <p:txBody>
          <a:bodyPr wrap="none">
            <a:spAutoFit/>
          </a:bodyPr>
          <a:lstStyle/>
          <a:p>
            <a:pPr algn="l">
              <a:defRPr sz="2800" b="1">
                <a:solidFill>
                  <a:srgbClr val="000000"/>
                </a:solidFill>
                <a:latin typeface="Inter"/>
              </a:defRPr>
            </a:pPr>
            <a:r>
              <a:t>BRAND MUGS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