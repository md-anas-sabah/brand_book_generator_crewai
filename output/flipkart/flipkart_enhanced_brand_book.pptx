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lipkart_logo_1_20250828_181950_a6e442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943100"/>
            <a:ext cx="2057400" cy="22288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43000" y="4171950"/>
            <a:ext cx="27432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Inter"/>
              </a:defRPr>
            </a:pPr>
            <a:r>
              <a:t>Flipkart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629400.0" y="5657850.0"/>
            <a:ext cx="2057400.0" cy="0.0"/>
          </a:xfrm>
          <a:prstGeom prst="line">
            <a:avLst/>
          </a:prstGeom>
          <a:ln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629400" y="5657850"/>
            <a:ext cx="2057400" cy="14859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0">
                <a:solidFill>
                  <a:srgbClr val="EA580C"/>
                </a:solidFill>
                <a:latin typeface="Source Sans Pro"/>
              </a:defRPr>
            </a:pPr>
            <a:r>
              <a:t>Brand Identity System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2743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EA580C"/>
                </a:solidFill>
                <a:latin typeface="Inter"/>
              </a:defRPr>
            </a:pPr>
            <a:r>
              <a:t>INDEX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97280"/>
            <a:ext cx="8229600" cy="0"/>
          </a:xfrm>
          <a:prstGeom prst="line">
            <a:avLst/>
          </a:prstGeom>
          <a:ln w="2540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55448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Introduction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331719" y="1664208"/>
            <a:ext cx="365760" cy="0"/>
          </a:xfrm>
          <a:prstGeom prst="line">
            <a:avLst/>
          </a:prstGeom>
          <a:ln w="1905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2743200" y="155448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EA580C"/>
                </a:solidFill>
                <a:latin typeface="Source Sans Pro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5740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Brand Purpose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331719" y="2167128"/>
            <a:ext cx="365760" cy="0"/>
          </a:xfrm>
          <a:prstGeom prst="line">
            <a:avLst/>
          </a:prstGeom>
          <a:ln w="1905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0" y="205740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EA580C"/>
                </a:solidFill>
                <a:latin typeface="Source Sans Pro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6032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Brand Story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331719" y="2670048"/>
            <a:ext cx="365760" cy="0"/>
          </a:xfrm>
          <a:prstGeom prst="line">
            <a:avLst/>
          </a:prstGeom>
          <a:ln w="1905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743200" y="256032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EA580C"/>
                </a:solidFill>
                <a:latin typeface="Source Sans Pro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155448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Logo Variations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49239" y="1664208"/>
            <a:ext cx="365760" cy="0"/>
          </a:xfrm>
          <a:prstGeom prst="line">
            <a:avLst/>
          </a:prstGeom>
          <a:ln w="1905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760720" y="155448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EA580C"/>
                </a:solidFill>
                <a:latin typeface="Source Sans Pro"/>
              </a:defRPr>
            </a:pPr>
            <a: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192024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Logo 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214884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Clear Space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37744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Usage Guidelines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274320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Brand Colors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349239" y="2852928"/>
            <a:ext cx="365760" cy="0"/>
          </a:xfrm>
          <a:prstGeom prst="line">
            <a:avLst/>
          </a:prstGeom>
          <a:ln w="1905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760720" y="274320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EA580C"/>
                </a:solidFill>
                <a:latin typeface="Source Sans Pro"/>
              </a:defRPr>
            </a:pPr>
            <a: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310896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Primary Colors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333756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Secondary Colors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356616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Color Usage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4720" y="393192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Typography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349239" y="4041648"/>
            <a:ext cx="365760" cy="0"/>
          </a:xfrm>
          <a:prstGeom prst="line">
            <a:avLst/>
          </a:prstGeom>
          <a:ln w="1905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760720" y="393192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EA580C"/>
                </a:solidFill>
                <a:latin typeface="Source Sans Pro"/>
              </a:defRPr>
            </a:pPr>
            <a: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429768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Brand Font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452628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Font Usage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0" y="475488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Text Hierarchy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155448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Visual Guidelines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366759" y="1664208"/>
            <a:ext cx="365760" cy="0"/>
          </a:xfrm>
          <a:prstGeom prst="line">
            <a:avLst/>
          </a:prstGeom>
          <a:ln w="1905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778240" y="155448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EA580C"/>
                </a:solidFill>
                <a:latin typeface="Source Sans Pro"/>
              </a:defRPr>
            </a:pPr>
            <a:r>
              <a:t>07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75120" y="192024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Visual Style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214884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Photography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5120" y="237744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Imagery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1051560"/>
            <a:ext cx="6858000" cy="297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The following brand identity system for Flipkart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is thoughtfully crafted to present our brand in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an international, engaging, consistent, recognizable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and proprietary way. Unique in form, versatile in its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application and unified by a fundamental principle.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4914900.0"/>
            <a:ext cx="8229600" cy="0.0"/>
          </a:xfrm>
          <a:prstGeom prst="line">
            <a:avLst/>
          </a:prstGeom>
          <a:ln w="25400">
            <a:solidFill>
              <a:srgbClr val="EA580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00100" y="5189220"/>
            <a:ext cx="3657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EA580C"/>
                </a:solidFill>
                <a:latin typeface="Inter"/>
              </a:defRPr>
            </a:pPr>
            <a:r>
              <a:t>INTRODUCTION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EA580C"/>
                </a:solidFill>
                <a:latin typeface="Inter"/>
              </a:defRPr>
            </a:pPr>
            <a:r>
              <a:t>Brand Purpose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1943100"/>
            <a:ext cx="5486400" cy="3714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EA580C"/>
                </a:solidFill>
                <a:latin typeface="Source Sans Pro"/>
              </a:defRPr>
            </a:pPr>
            <a:r>
              <a:t>Our Purpose</a:t>
            </a: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  <a:r>
              <a:t>Vision: To be the leading force in technological innovation that empowers businesses and individuals to achieve their full potential.</a:t>
            </a: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  <a:r>
              <a:t>Mission: We create cutting-edge technology solutions that simplify complex challenges and drive meaningful progress for our clients.</a:t>
            </a: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  <a:r>
              <a:t>Core Values:</a:t>
            </a: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  <a:r>
              <a:t>• Customer-Centricity: Driving progress through creative thinking and breakthrough solutions</a:t>
            </a: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  <a:r>
              <a:t>• Innovation: Building trust through transparent and reliable service delivery</a:t>
            </a: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  <a:r>
              <a:t>• Affordability: Putting people at the center of everything we do</a:t>
            </a: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  <a:r>
              <a:t>• Trust: Commitment to excellence in all our endeavors</a:t>
            </a: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  <a:r>
              <a:t>• Reliability: Commitment to excellence in all our endeavors</a:t>
            </a: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  <a:r>
              <a:t>• Convenience: Commitment to excellence in all our endeavors</a:t>
            </a: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  <a:r>
              <a:t>• Inclusivity: Commitment to excellence in all our endeavors</a:t>
            </a: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  <a:r>
              <a:t>• Agility: Commitment to excellence in all our endeavors</a:t>
            </a: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  <a:r>
              <a:t>• Empowerment: Commitment to excellence in all our endeavors</a:t>
            </a: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  <a:r>
              <a:t>• Growth: Commitment to excellence in all our endeavors</a:t>
            </a: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EA580C"/>
                </a:solidFill>
                <a:latin typeface="Inter"/>
              </a:defRPr>
            </a:pPr>
            <a:r>
              <a:t>Brand Story (1/2)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6858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EA580C"/>
                </a:solidFill>
                <a:latin typeface="Source Sans Pro"/>
              </a:defRPr>
            </a:pPr>
            <a:r>
              <a:t>In the bustling streets of India, where tradition meets modernity, there is a beacon of innovation that shines brightly – Flipkart. Born out of a vision to revolutionize the way Price-conscious shoppers, Middle-class families, Young professionals, Students, Digital-savvy consumers, Tier 2 &amp; Tier 3 city customers, Small businesses, and Value-seeking online buyers shop, Flipkart has become synonymous with cutting-edge E-commerce, Retail, Technology, Logistics &amp; Supply Chain solutions. At the heart of Flipkart's success lies a deep-rooted commitment to its core values – Customer-Centricity, Innovation, Affordability, Trust, Reliability, Convenience, Inclusivity, Agility, Empowerment, and Growth. From its humble beginnings, Flipkart has always placed the customer at the center of everything it does.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EA580C"/>
                </a:solidFill>
                <a:latin typeface="Source Sans Pro"/>
              </a:defRPr>
            </a:pPr>
            <a:r>
              <a:t>Flipkart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EA580C"/>
                </a:solidFill>
                <a:latin typeface="Source Sans Pro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EA580C"/>
                </a:solidFill>
                <a:latin typeface="Inter"/>
              </a:defRPr>
            </a:pPr>
            <a:r>
              <a:t>Brand Story (2/2)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6858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EA580C"/>
                </a:solidFill>
                <a:latin typeface="Source Sans Pro"/>
              </a:defRPr>
            </a:pPr>
            <a:r>
              <a:t>Understanding the diverse needs and aspirations of its customers, Flipkart has continuously strived to innovate and create solutions that not only meet but exceed their expectations. Imagine a young professional in a bustling city, juggling work, family, and personal commitments. With just a few clicks on the Flipkart app, they can browse through a wide range of products, from the latest gadgets to trendy fashion, all at affordable prices. For a middle-class family living in a Tier 2 city, Flipkart is their go-to destination for quality products that fit their...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EA580C"/>
                </a:solidFill>
                <a:latin typeface="Source Sans Pro"/>
              </a:defRPr>
            </a:pPr>
            <a:r>
              <a:t>Flipkart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EA580C"/>
                </a:solidFill>
                <a:latin typeface="Source Sans Pro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EA580C"/>
                </a:solidFill>
                <a:latin typeface="Inter"/>
              </a:defRPr>
            </a:pPr>
            <a:r>
              <a:t>Logo Variations (3 designs)</a:t>
            </a:r>
          </a:p>
        </p:txBody>
      </p:sp>
      <p:sp>
        <p:nvSpPr>
          <p:cNvPr id="4" name="Rectangle 3"/>
          <p:cNvSpPr/>
          <p:nvPr/>
        </p:nvSpPr>
        <p:spPr>
          <a:xfrm>
            <a:off x="1051560" y="1851660"/>
            <a:ext cx="1554480" cy="16687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lipkart_logo_1_20250828_181950_a6e442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943100"/>
            <a:ext cx="1371600" cy="14859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3000" y="3429000"/>
            <a:ext cx="13716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EA580C"/>
                </a:solidFill>
                <a:latin typeface="Source Sans Pro"/>
              </a:defRPr>
            </a:pPr>
            <a:r>
              <a:t>Version 1</a:t>
            </a:r>
          </a:p>
        </p:txBody>
      </p:sp>
      <p:sp>
        <p:nvSpPr>
          <p:cNvPr id="7" name="Rectangle 6"/>
          <p:cNvSpPr/>
          <p:nvPr/>
        </p:nvSpPr>
        <p:spPr>
          <a:xfrm>
            <a:off x="3108960" y="1851660"/>
            <a:ext cx="1554480" cy="16687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lipkart_logo_2_20250828_182008_4840f44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0" y="1943100"/>
            <a:ext cx="1371600" cy="14859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0400" y="3429000"/>
            <a:ext cx="13716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EA580C"/>
                </a:solidFill>
                <a:latin typeface="Source Sans Pro"/>
              </a:defRPr>
            </a:pPr>
            <a:r>
              <a:t>Version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66360" y="1851660"/>
            <a:ext cx="1554480" cy="16687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lipkart_logo_3_20250828_182027_c42fdb5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7800" y="1943100"/>
            <a:ext cx="1371600" cy="14859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57800" y="3429000"/>
            <a:ext cx="13716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EA580C"/>
                </a:solidFill>
                <a:latin typeface="Source Sans Pro"/>
              </a:defRPr>
            </a:pPr>
            <a:r>
              <a:t>Version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914900"/>
            <a:ext cx="7543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0">
                <a:solidFill>
                  <a:srgbClr val="EA580C"/>
                </a:solidFill>
                <a:latin typeface="Source Sans Pro"/>
              </a:defRPr>
            </a:pPr>
            <a:r>
              <a:t>Minimum size: 0.5 inches • Clearspace: 0.25 inches on all sides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EA580C"/>
                </a:solidFill>
                <a:latin typeface="Source Sans Pro"/>
              </a:defRPr>
            </a:pPr>
            <a:r>
              <a:t>Flipkart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EA580C"/>
                </a:solidFill>
                <a:latin typeface="Source Sans Pro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EA580C"/>
                </a:solidFill>
                <a:latin typeface="Inter"/>
              </a:defRPr>
            </a:pPr>
            <a:r>
              <a:t>Color Palette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1943100"/>
            <a:ext cx="2057400" cy="1485900"/>
          </a:xfrm>
          <a:prstGeom prst="rect">
            <a:avLst/>
          </a:prstGeom>
          <a:solidFill>
            <a:srgbClr val="EA580C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429000"/>
            <a:ext cx="20574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EA580C"/>
                </a:solidFill>
                <a:latin typeface="Source Sans Pro"/>
              </a:defRPr>
            </a:pPr>
            <a:r>
              <a:t>Primary</a:t>
            </a:r>
          </a:p>
          <a:p>
            <a:pPr>
              <a:defRPr sz="1000" b="0">
                <a:solidFill>
                  <a:srgbClr val="EA580C"/>
                </a:solidFill>
                <a:latin typeface="Source Sans Pro"/>
              </a:defRPr>
            </a:pPr>
            <a:r>
              <a:t>#EA580C</a:t>
            </a:r>
          </a:p>
          <a:p>
            <a:pPr>
              <a:defRPr sz="1000" b="0">
                <a:solidFill>
                  <a:srgbClr val="EA580C"/>
                </a:solidFill>
                <a:latin typeface="Source Sans Pro"/>
              </a:defRPr>
            </a:pPr>
            <a:r>
              <a:t>RGB(234, 88, 12)</a:t>
            </a:r>
          </a:p>
          <a:p>
            <a:pPr>
              <a:defRPr sz="1000" b="0">
                <a:solidFill>
                  <a:srgbClr val="EA580C"/>
                </a:solidFill>
                <a:latin typeface="Source Sans Pro"/>
              </a:defRPr>
            </a:pPr>
            <a:r>
              <a:t>CMYK(0, 62, 94, 8)</a:t>
            </a:r>
          </a:p>
          <a:p>
            <a:pPr>
              <a:defRPr sz="1000" b="0">
                <a:solidFill>
                  <a:srgbClr val="EA580C"/>
                </a:solidFill>
                <a:latin typeface="Source Sans Pro"/>
              </a:defRPr>
            </a:pPr>
            <a:r>
              <a:t>Use Light 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3886200" y="1943100"/>
            <a:ext cx="2057400" cy="1485900"/>
          </a:xfrm>
          <a:prstGeom prst="rect">
            <a:avLst/>
          </a:prstGeom>
          <a:solidFill>
            <a:srgbClr val="F87171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86200" y="3429000"/>
            <a:ext cx="20574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EA580C"/>
                </a:solidFill>
                <a:latin typeface="Source Sans Pro"/>
              </a:defRPr>
            </a:pPr>
            <a:r>
              <a:t>Secondary</a:t>
            </a:r>
          </a:p>
          <a:p>
            <a:pPr>
              <a:defRPr sz="1000" b="0">
                <a:solidFill>
                  <a:srgbClr val="EA580C"/>
                </a:solidFill>
                <a:latin typeface="Source Sans Pro"/>
              </a:defRPr>
            </a:pPr>
            <a:r>
              <a:t>#F87171</a:t>
            </a:r>
          </a:p>
          <a:p>
            <a:pPr>
              <a:defRPr sz="1000" b="0">
                <a:solidFill>
                  <a:srgbClr val="EA580C"/>
                </a:solidFill>
                <a:latin typeface="Source Sans Pro"/>
              </a:defRPr>
            </a:pPr>
            <a:r>
              <a:t>RGB(248, 113, 113)</a:t>
            </a:r>
          </a:p>
          <a:p>
            <a:pPr>
              <a:defRPr sz="1000" b="0">
                <a:solidFill>
                  <a:srgbClr val="EA580C"/>
                </a:solidFill>
                <a:latin typeface="Source Sans Pro"/>
              </a:defRPr>
            </a:pPr>
            <a:r>
              <a:t>CMYK(0, 54, 54, 2)</a:t>
            </a:r>
          </a:p>
          <a:p>
            <a:pPr>
              <a:defRPr sz="1000" b="0">
                <a:solidFill>
                  <a:srgbClr val="EA580C"/>
                </a:solidFill>
                <a:latin typeface="Source Sans Pro"/>
              </a:defRPr>
            </a:pPr>
            <a:r>
              <a:t>Use Dark Text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0" y="1943100"/>
            <a:ext cx="2057400" cy="1485900"/>
          </a:xfrm>
          <a:prstGeom prst="rect">
            <a:avLst/>
          </a:prstGeom>
          <a:solidFill>
            <a:srgbClr val="1F2937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3429000"/>
            <a:ext cx="20574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EA580C"/>
                </a:solidFill>
                <a:latin typeface="Source Sans Pro"/>
              </a:defRPr>
            </a:pPr>
            <a:r>
              <a:t>Accent</a:t>
            </a:r>
          </a:p>
          <a:p>
            <a:pPr>
              <a:defRPr sz="1000" b="0">
                <a:solidFill>
                  <a:srgbClr val="EA580C"/>
                </a:solidFill>
                <a:latin typeface="Source Sans Pro"/>
              </a:defRPr>
            </a:pPr>
            <a:r>
              <a:t>#1F2937</a:t>
            </a:r>
          </a:p>
          <a:p>
            <a:pPr>
              <a:defRPr sz="1000" b="0">
                <a:solidFill>
                  <a:srgbClr val="EA580C"/>
                </a:solidFill>
                <a:latin typeface="Source Sans Pro"/>
              </a:defRPr>
            </a:pPr>
            <a:r>
              <a:t>RGB(31, 41, 55)</a:t>
            </a:r>
          </a:p>
          <a:p>
            <a:pPr>
              <a:defRPr sz="1000" b="0">
                <a:solidFill>
                  <a:srgbClr val="EA580C"/>
                </a:solidFill>
                <a:latin typeface="Source Sans Pro"/>
              </a:defRPr>
            </a:pPr>
            <a:r>
              <a:t>CMYK(43, 25, 0, 78)</a:t>
            </a:r>
          </a:p>
          <a:p>
            <a:pPr>
              <a:defRPr sz="1000" b="0">
                <a:solidFill>
                  <a:srgbClr val="EA580C"/>
                </a:solidFill>
                <a:latin typeface="Source Sans Pro"/>
              </a:defRPr>
            </a:pPr>
            <a:r>
              <a:t>Use Light Text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5657850"/>
            <a:ext cx="2057400" cy="1485900"/>
          </a:xfrm>
          <a:prstGeom prst="rect">
            <a:avLst/>
          </a:prstGeom>
          <a:solidFill>
            <a:srgbClr val="FB923C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7143750"/>
            <a:ext cx="20574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EA580C"/>
                </a:solidFill>
                <a:latin typeface="Source Sans Pro"/>
              </a:defRPr>
            </a:pPr>
            <a:r>
              <a:t>Supporting</a:t>
            </a:r>
          </a:p>
          <a:p>
            <a:pPr>
              <a:defRPr sz="1000" b="0">
                <a:solidFill>
                  <a:srgbClr val="EA580C"/>
                </a:solidFill>
                <a:latin typeface="Source Sans Pro"/>
              </a:defRPr>
            </a:pPr>
            <a:r>
              <a:t>#FB923C</a:t>
            </a:r>
          </a:p>
          <a:p>
            <a:pPr>
              <a:defRPr sz="1000" b="0">
                <a:solidFill>
                  <a:srgbClr val="EA580C"/>
                </a:solidFill>
                <a:latin typeface="Source Sans Pro"/>
              </a:defRPr>
            </a:pPr>
            <a:r>
              <a:t>RGB(251, 146, 60)</a:t>
            </a:r>
          </a:p>
          <a:p>
            <a:pPr>
              <a:defRPr sz="1000" b="0">
                <a:solidFill>
                  <a:srgbClr val="EA580C"/>
                </a:solidFill>
                <a:latin typeface="Source Sans Pro"/>
              </a:defRPr>
            </a:pPr>
            <a:r>
              <a:t>CMYK(0, 41, 76, 1)</a:t>
            </a:r>
          </a:p>
          <a:p>
            <a:pPr>
              <a:defRPr sz="1000" b="0">
                <a:solidFill>
                  <a:srgbClr val="EA580C"/>
                </a:solidFill>
                <a:latin typeface="Source Sans Pro"/>
              </a:defRPr>
            </a:pPr>
            <a:r>
              <a:t>Use Dark Text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886200" y="5657850"/>
            <a:ext cx="2057400" cy="1485900"/>
          </a:xfrm>
          <a:prstGeom prst="rect">
            <a:avLst/>
          </a:prstGeom>
          <a:solidFill>
            <a:srgbClr val="EA580C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86200" y="7143750"/>
            <a:ext cx="20574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EA580C"/>
                </a:solidFill>
                <a:latin typeface="Source Sans Pro"/>
              </a:defRPr>
            </a:pPr>
            <a:r>
              <a:t>Hex_Codes</a:t>
            </a:r>
          </a:p>
          <a:p>
            <a:pPr>
              <a:defRPr sz="1000" b="0">
                <a:solidFill>
                  <a:srgbClr val="EA580C"/>
                </a:solidFill>
                <a:latin typeface="Source Sans Pro"/>
              </a:defRPr>
            </a:pPr>
            <a:r>
              <a:t>#EA580C</a:t>
            </a:r>
          </a:p>
          <a:p>
            <a:pPr>
              <a:defRPr sz="1000" b="0">
                <a:solidFill>
                  <a:srgbClr val="EA580C"/>
                </a:solidFill>
                <a:latin typeface="Source Sans Pro"/>
              </a:defRPr>
            </a:pPr>
            <a:r>
              <a:t>RGB(234, 88, 12)</a:t>
            </a:r>
          </a:p>
          <a:p>
            <a:pPr>
              <a:defRPr sz="1000" b="0">
                <a:solidFill>
                  <a:srgbClr val="EA580C"/>
                </a:solidFill>
                <a:latin typeface="Source Sans Pro"/>
              </a:defRPr>
            </a:pPr>
            <a:r>
              <a:t>CMYK(0, 62, 94, 8)</a:t>
            </a:r>
          </a:p>
          <a:p>
            <a:pPr>
              <a:defRPr sz="1000" b="0">
                <a:solidFill>
                  <a:srgbClr val="EA580C"/>
                </a:solidFill>
                <a:latin typeface="Source Sans Pro"/>
              </a:defRPr>
            </a:pPr>
            <a:r>
              <a:t>Use Light Text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EA580C"/>
                </a:solidFill>
                <a:latin typeface="Source Sans Pro"/>
              </a:defRPr>
            </a:pPr>
            <a:r>
              <a:t>Flipkart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EA580C"/>
                </a:solidFill>
                <a:latin typeface="Source Sans Pro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EA580C"/>
                </a:solidFill>
                <a:latin typeface="Inter"/>
              </a:defRPr>
            </a:pPr>
            <a:r>
              <a:t>Typography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>
                <a:solidFill>
                  <a:srgbClr val="EA580C"/>
                </a:solidFill>
                <a:latin typeface="Source Sans Pro"/>
              </a:defRPr>
            </a:pPr>
            <a:r>
              <a:t>Primary Font: Inter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68605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EA580C"/>
                </a:solidFill>
                <a:latin typeface="Inter"/>
              </a:defRPr>
            </a:pPr>
            <a:r>
              <a:t>H1 Heading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42900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EA580C"/>
                </a:solidFill>
                <a:latin typeface="Inter"/>
              </a:defRPr>
            </a:pPr>
            <a:r>
              <a:t>H2 Heading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17195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>
                <a:solidFill>
                  <a:srgbClr val="EA580C"/>
                </a:solidFill>
                <a:latin typeface="Inter"/>
              </a:defRPr>
            </a:pPr>
            <a:r>
              <a:t>H3 Heading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194310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>
                <a:solidFill>
                  <a:srgbClr val="EA580C"/>
                </a:solidFill>
                <a:latin typeface="Source Sans Pro"/>
              </a:defRPr>
            </a:pPr>
            <a:r>
              <a:t>Secondary Font: Source Sans Pro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57800" y="268605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solidFill>
                  <a:srgbClr val="EA580C"/>
                </a:solidFill>
                <a:latin typeface="Source Sans Pro"/>
              </a:defRPr>
            </a:pPr>
            <a:r>
              <a:t>Body 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0" y="342900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A580C"/>
                </a:solidFill>
                <a:latin typeface="Source Sans Pro"/>
              </a:defRPr>
            </a:pPr>
            <a:r>
              <a:t>Body Bold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0" y="417195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EA580C"/>
                </a:solidFill>
                <a:latin typeface="Source Sans Pro"/>
              </a:defRPr>
            </a:pPr>
            <a:r>
              <a:t>Caption 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EA580C"/>
                </a:solidFill>
                <a:latin typeface="Source Sans Pro"/>
              </a:defRPr>
            </a:pPr>
            <a:r>
              <a:t>Flipkart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EA580C"/>
                </a:solidFill>
                <a:latin typeface="Source Sans Pro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EA580C"/>
                </a:solidFill>
                <a:latin typeface="Inter"/>
              </a:defRPr>
            </a:pPr>
            <a:r>
              <a:t>Visual &amp; Photography Guidelines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3429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EA580C"/>
                </a:solidFill>
                <a:latin typeface="Source Sans Pro"/>
              </a:defRPr>
            </a:pPr>
            <a:r>
              <a:t>Visual Style Guidelines:</a:t>
            </a:r>
          </a:p>
          <a:p>
            <a:pPr>
              <a:defRPr sz="1400" b="0">
                <a:solidFill>
                  <a:srgbClr val="EA580C"/>
                </a:solidFill>
                <a:latin typeface="Source Sans Pro"/>
              </a:defRPr>
            </a:pPr>
            <a:r>
              <a:t>• Visual style for Flipkart in E-commerce</a:t>
            </a:r>
          </a:p>
          <a:p>
            <a:pPr>
              <a:defRPr sz="1400" b="0">
                <a:solidFill>
                  <a:srgbClr val="EA580C"/>
                </a:solidFill>
                <a:latin typeface="Source Sans Pro"/>
              </a:defRPr>
            </a:pPr>
            <a:r>
              <a:t>• Retail</a:t>
            </a:r>
          </a:p>
          <a:p>
            <a:pPr>
              <a:defRPr sz="1400" b="0">
                <a:solidFill>
                  <a:srgbClr val="EA580C"/>
                </a:solidFill>
                <a:latin typeface="Source Sans Pro"/>
              </a:defRPr>
            </a:pPr>
            <a:r>
              <a:t>• Technology</a:t>
            </a:r>
          </a:p>
          <a:p>
            <a:pPr>
              <a:defRPr sz="1400" b="0">
                <a:solidFill>
                  <a:srgbClr val="EA580C"/>
                </a:solidFill>
                <a:latin typeface="Source Sans Pro"/>
              </a:defRPr>
            </a:pPr>
            <a:r>
              <a:t>• Logistics &amp; Supply Chain: Mordern aesthetic</a:t>
            </a:r>
          </a:p>
          <a:p>
            <a:pPr>
              <a:defRPr sz="1400" b="0">
                <a:solidFill>
                  <a:srgbClr val="EA580C"/>
                </a:solidFill>
                <a:latin typeface="Source Sans Pro"/>
              </a:defRPr>
            </a:pPr>
            <a:r>
              <a:t>• values: Customer-Centricity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57800" y="1943100"/>
            <a:ext cx="3429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EA580C"/>
                </a:solidFill>
                <a:latin typeface="Source Sans Pro"/>
              </a:defRPr>
            </a:pPr>
            <a:r>
              <a:t>Photography Guidelines:</a:t>
            </a:r>
          </a:p>
          <a:p>
            <a:pPr>
              <a:defRPr sz="1400" b="0">
                <a:solidFill>
                  <a:srgbClr val="EA580C"/>
                </a:solidFill>
                <a:latin typeface="Source Sans Pro"/>
              </a:defRPr>
            </a:pPr>
            <a:r>
              <a:t>• Photography style for Flipkart: Mordern and E-commerce</a:t>
            </a:r>
          </a:p>
          <a:p>
            <a:pPr>
              <a:defRPr sz="1400" b="0">
                <a:solidFill>
                  <a:srgbClr val="EA580C"/>
                </a:solidFill>
                <a:latin typeface="Source Sans Pro"/>
              </a:defRPr>
            </a:pPr>
            <a:r>
              <a:t>• Retail</a:t>
            </a:r>
          </a:p>
          <a:p>
            <a:pPr>
              <a:defRPr sz="1400" b="0">
                <a:solidFill>
                  <a:srgbClr val="EA580C"/>
                </a:solidFill>
                <a:latin typeface="Source Sans Pro"/>
              </a:defRPr>
            </a:pPr>
            <a:r>
              <a:t>• Technology</a:t>
            </a:r>
          </a:p>
          <a:p>
            <a:pPr>
              <a:defRPr sz="1400" b="0">
                <a:solidFill>
                  <a:srgbClr val="EA580C"/>
                </a:solidFill>
                <a:latin typeface="Source Sans Pro"/>
              </a:defRPr>
            </a:pPr>
            <a:r>
              <a:t>• Logistics &amp; Supply Chain feel. Show diversity</a:t>
            </a:r>
          </a:p>
          <a:p>
            <a:pPr>
              <a:defRPr sz="1400" b="0">
                <a:solidFill>
                  <a:srgbClr val="EA580C"/>
                </a:solidFill>
                <a:latin typeface="Source Sans Pro"/>
              </a:defRPr>
            </a:pPr>
            <a:r>
              <a:t>• authenticity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5257800" y="4914900"/>
            <a:ext cx="685800" cy="742950"/>
          </a:xfrm>
          <a:prstGeom prst="rect">
            <a:avLst/>
          </a:prstGeom>
          <a:solidFill>
            <a:srgbClr val="404040"/>
          </a:solidFill>
          <a:ln w="1270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57800" y="5162550"/>
            <a:ext cx="685800" cy="2476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EA580C"/>
                </a:solidFill>
                <a:latin typeface="Source Sans Pro"/>
              </a:defRPr>
            </a:pPr>
            <a:r>
              <a:t>Example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0" y="4914900"/>
            <a:ext cx="685800" cy="742950"/>
          </a:xfrm>
          <a:prstGeom prst="rect">
            <a:avLst/>
          </a:prstGeom>
          <a:solidFill>
            <a:srgbClr val="404040"/>
          </a:solidFill>
          <a:ln w="1270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5162550"/>
            <a:ext cx="685800" cy="2476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EA580C"/>
                </a:solidFill>
                <a:latin typeface="Source Sans Pro"/>
              </a:defRPr>
            </a:pPr>
            <a:r>
              <a:t>Example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1000" y="4914900"/>
            <a:ext cx="685800" cy="742950"/>
          </a:xfrm>
          <a:prstGeom prst="rect">
            <a:avLst/>
          </a:prstGeom>
          <a:solidFill>
            <a:srgbClr val="404040"/>
          </a:solidFill>
          <a:ln w="1270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1000" y="5162550"/>
            <a:ext cx="685800" cy="2476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EA580C"/>
                </a:solidFill>
                <a:latin typeface="Source Sans Pro"/>
              </a:defRPr>
            </a:pPr>
            <a:r>
              <a:t>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EA580C"/>
                </a:solidFill>
                <a:latin typeface="Source Sans Pro"/>
              </a:defRPr>
            </a:pPr>
            <a:r>
              <a:t>Flipkart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EA580C"/>
                </a:solidFill>
                <a:latin typeface="Source Sans Pro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