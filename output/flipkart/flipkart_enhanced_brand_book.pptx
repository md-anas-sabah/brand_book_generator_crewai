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flipkart_logo_1_20250828_183749_a1922570.png"/>
          <p:cNvPicPr>
            <a:picLocks noChangeAspect="1"/>
          </p:cNvPicPr>
          <p:nvPr/>
        </p:nvPicPr>
        <p:blipFill>
          <a:blip r:embed="rId2"/>
          <a:stretch>
            <a:fillRect/>
          </a:stretch>
        </p:blipFill>
        <p:spPr>
          <a:xfrm>
            <a:off x="1143000" y="1943100"/>
            <a:ext cx="2057400" cy="2228850"/>
          </a:xfrm>
          <a:prstGeom prst="rect">
            <a:avLst/>
          </a:prstGeom>
        </p:spPr>
      </p:pic>
      <p:sp>
        <p:nvSpPr>
          <p:cNvPr id="3" name="TextBox 2"/>
          <p:cNvSpPr txBox="1"/>
          <p:nvPr/>
        </p:nvSpPr>
        <p:spPr>
          <a:xfrm>
            <a:off x="1143000" y="4171950"/>
            <a:ext cx="2743200" cy="742950"/>
          </a:xfrm>
          <a:prstGeom prst="rect">
            <a:avLst/>
          </a:prstGeom>
          <a:noFill/>
        </p:spPr>
        <p:txBody>
          <a:bodyPr wrap="none">
            <a:spAutoFit/>
          </a:bodyPr>
          <a:lstStyle/>
          <a:p>
            <a:pPr algn="ctr">
              <a:defRPr sz="3600" b="1">
                <a:solidFill>
                  <a:srgbClr val="FFFFFF"/>
                </a:solidFill>
                <a:latin typeface="Inter"/>
              </a:defRPr>
            </a:pPr>
            <a:r>
              <a:t>Flipkart</a:t>
            </a:r>
          </a:p>
        </p:txBody>
      </p:sp>
      <p:cxnSp>
        <p:nvCxnSpPr>
          <p:cNvPr id="4" name="Connector 3"/>
          <p:cNvCxnSpPr/>
          <p:nvPr/>
        </p:nvCxnSpPr>
        <p:spPr>
          <a:xfrm>
            <a:off x="6629400.0" y="5657850.0"/>
            <a:ext cx="2057400.0" cy="0.0"/>
          </a:xfrm>
          <a:prstGeom prst="line">
            <a:avLst/>
          </a:prstGeom>
          <a:ln>
            <a:solidFill>
              <a:srgbClr val="1F2937"/>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629400" y="5657850"/>
            <a:ext cx="2057400" cy="1485900"/>
          </a:xfrm>
          <a:prstGeom prst="rect">
            <a:avLst/>
          </a:prstGeom>
          <a:noFill/>
        </p:spPr>
        <p:txBody>
          <a:bodyPr wrap="none" anchor="ctr">
            <a:spAutoFit/>
          </a:bodyPr>
          <a:lstStyle/>
          <a:p>
            <a:pPr algn="ctr">
              <a:defRPr sz="1800" b="0">
                <a:solidFill>
                  <a:srgbClr val="1F2937"/>
                </a:solidFill>
                <a:latin typeface="Source Sans Pro"/>
              </a:defRPr>
            </a:pPr>
            <a:r>
              <a:t>Brand Identity System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457200" y="457200"/>
            <a:ext cx="2743200" cy="731520"/>
          </a:xfrm>
          <a:prstGeom prst="rect">
            <a:avLst/>
          </a:prstGeom>
          <a:noFill/>
        </p:spPr>
        <p:txBody>
          <a:bodyPr wrap="none">
            <a:spAutoFit/>
          </a:bodyPr>
          <a:lstStyle/>
          <a:p>
            <a:pPr>
              <a:defRPr sz="2800" b="1">
                <a:solidFill>
                  <a:srgbClr val="1F2937"/>
                </a:solidFill>
                <a:latin typeface="Inter"/>
              </a:defRPr>
            </a:pPr>
            <a:r>
              <a:t>INDEX</a:t>
            </a:r>
          </a:p>
        </p:txBody>
      </p:sp>
      <p:cxnSp>
        <p:nvCxnSpPr>
          <p:cNvPr id="3" name="Connector 2"/>
          <p:cNvCxnSpPr/>
          <p:nvPr/>
        </p:nvCxnSpPr>
        <p:spPr>
          <a:xfrm>
            <a:off x="457200" y="1097280"/>
            <a:ext cx="8229600" cy="0"/>
          </a:xfrm>
          <a:prstGeom prst="line">
            <a:avLst/>
          </a:prstGeom>
          <a:ln w="25400">
            <a:solidFill>
              <a:srgbClr val="1F2937"/>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554480"/>
            <a:ext cx="1828800" cy="274320"/>
          </a:xfrm>
          <a:prstGeom prst="rect">
            <a:avLst/>
          </a:prstGeom>
          <a:noFill/>
        </p:spPr>
        <p:txBody>
          <a:bodyPr wrap="none" lIns="0" rIns="0" tIns="0" bIns="0">
            <a:spAutoFit/>
          </a:bodyPr>
          <a:lstStyle/>
          <a:p>
            <a:pPr>
              <a:defRPr sz="1200" b="1">
                <a:solidFill>
                  <a:srgbClr val="FFFFFF"/>
                </a:solidFill>
                <a:latin typeface="Source Sans Pro"/>
              </a:defRPr>
            </a:pPr>
            <a:r>
              <a:t>Introduction</a:t>
            </a:r>
          </a:p>
        </p:txBody>
      </p:sp>
      <p:cxnSp>
        <p:nvCxnSpPr>
          <p:cNvPr id="5" name="Connector 4"/>
          <p:cNvCxnSpPr/>
          <p:nvPr/>
        </p:nvCxnSpPr>
        <p:spPr>
          <a:xfrm>
            <a:off x="2331719" y="1664208"/>
            <a:ext cx="365760" cy="0"/>
          </a:xfrm>
          <a:prstGeom prst="line">
            <a:avLst/>
          </a:prstGeom>
          <a:ln w="19050">
            <a:solidFill>
              <a:srgbClr val="1F2937"/>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2743200" y="1554480"/>
            <a:ext cx="274320" cy="274320"/>
          </a:xfrm>
          <a:prstGeom prst="rect">
            <a:avLst/>
          </a:prstGeom>
          <a:noFill/>
        </p:spPr>
        <p:txBody>
          <a:bodyPr wrap="none" lIns="0" tIns="0" bIns="0">
            <a:spAutoFit/>
          </a:bodyPr>
          <a:lstStyle/>
          <a:p>
            <a:pPr>
              <a:defRPr sz="1200" b="1">
                <a:solidFill>
                  <a:srgbClr val="1F2937"/>
                </a:solidFill>
                <a:latin typeface="Source Sans Pro"/>
              </a:defRPr>
            </a:pPr>
            <a:r>
              <a:t>01</a:t>
            </a:r>
          </a:p>
        </p:txBody>
      </p:sp>
      <p:sp>
        <p:nvSpPr>
          <p:cNvPr id="7" name="TextBox 6"/>
          <p:cNvSpPr txBox="1"/>
          <p:nvPr/>
        </p:nvSpPr>
        <p:spPr>
          <a:xfrm>
            <a:off x="457200" y="2057400"/>
            <a:ext cx="1828800" cy="274320"/>
          </a:xfrm>
          <a:prstGeom prst="rect">
            <a:avLst/>
          </a:prstGeom>
          <a:noFill/>
        </p:spPr>
        <p:txBody>
          <a:bodyPr wrap="none" lIns="0" rIns="0" tIns="0" bIns="0">
            <a:spAutoFit/>
          </a:bodyPr>
          <a:lstStyle/>
          <a:p>
            <a:pPr>
              <a:defRPr sz="1200" b="1">
                <a:solidFill>
                  <a:srgbClr val="FFFFFF"/>
                </a:solidFill>
                <a:latin typeface="Source Sans Pro"/>
              </a:defRPr>
            </a:pPr>
            <a:r>
              <a:t>Brand Purpose</a:t>
            </a:r>
          </a:p>
        </p:txBody>
      </p:sp>
      <p:cxnSp>
        <p:nvCxnSpPr>
          <p:cNvPr id="8" name="Connector 7"/>
          <p:cNvCxnSpPr/>
          <p:nvPr/>
        </p:nvCxnSpPr>
        <p:spPr>
          <a:xfrm>
            <a:off x="2331719" y="2167128"/>
            <a:ext cx="365760" cy="0"/>
          </a:xfrm>
          <a:prstGeom prst="line">
            <a:avLst/>
          </a:prstGeom>
          <a:ln w="19050">
            <a:solidFill>
              <a:srgbClr val="1F2937"/>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743200" y="2057400"/>
            <a:ext cx="274320" cy="274320"/>
          </a:xfrm>
          <a:prstGeom prst="rect">
            <a:avLst/>
          </a:prstGeom>
          <a:noFill/>
        </p:spPr>
        <p:txBody>
          <a:bodyPr wrap="none" lIns="0" tIns="0" bIns="0">
            <a:spAutoFit/>
          </a:bodyPr>
          <a:lstStyle/>
          <a:p>
            <a:pPr>
              <a:defRPr sz="1200" b="1">
                <a:solidFill>
                  <a:srgbClr val="1F2937"/>
                </a:solidFill>
                <a:latin typeface="Source Sans Pro"/>
              </a:defRPr>
            </a:pPr>
            <a:r>
              <a:t>02</a:t>
            </a:r>
          </a:p>
        </p:txBody>
      </p:sp>
      <p:sp>
        <p:nvSpPr>
          <p:cNvPr id="10" name="TextBox 9"/>
          <p:cNvSpPr txBox="1"/>
          <p:nvPr/>
        </p:nvSpPr>
        <p:spPr>
          <a:xfrm>
            <a:off x="457200" y="2560320"/>
            <a:ext cx="1828800" cy="274320"/>
          </a:xfrm>
          <a:prstGeom prst="rect">
            <a:avLst/>
          </a:prstGeom>
          <a:noFill/>
        </p:spPr>
        <p:txBody>
          <a:bodyPr wrap="none" lIns="0" rIns="0" tIns="0" bIns="0">
            <a:spAutoFit/>
          </a:bodyPr>
          <a:lstStyle/>
          <a:p>
            <a:pPr>
              <a:defRPr sz="1200" b="1">
                <a:solidFill>
                  <a:srgbClr val="FFFFFF"/>
                </a:solidFill>
                <a:latin typeface="Source Sans Pro"/>
              </a:defRPr>
            </a:pPr>
            <a:r>
              <a:t>Brand Story</a:t>
            </a:r>
          </a:p>
        </p:txBody>
      </p:sp>
      <p:cxnSp>
        <p:nvCxnSpPr>
          <p:cNvPr id="11" name="Connector 10"/>
          <p:cNvCxnSpPr/>
          <p:nvPr/>
        </p:nvCxnSpPr>
        <p:spPr>
          <a:xfrm>
            <a:off x="2331719" y="2670048"/>
            <a:ext cx="365760" cy="0"/>
          </a:xfrm>
          <a:prstGeom prst="line">
            <a:avLst/>
          </a:prstGeom>
          <a:ln w="19050">
            <a:solidFill>
              <a:srgbClr val="1F2937"/>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2743200" y="2560320"/>
            <a:ext cx="274320" cy="274320"/>
          </a:xfrm>
          <a:prstGeom prst="rect">
            <a:avLst/>
          </a:prstGeom>
          <a:noFill/>
        </p:spPr>
        <p:txBody>
          <a:bodyPr wrap="none" lIns="0" tIns="0" bIns="0">
            <a:spAutoFit/>
          </a:bodyPr>
          <a:lstStyle/>
          <a:p>
            <a:pPr>
              <a:defRPr sz="1200" b="1">
                <a:solidFill>
                  <a:srgbClr val="1F2937"/>
                </a:solidFill>
                <a:latin typeface="Source Sans Pro"/>
              </a:defRPr>
            </a:pPr>
            <a:r>
              <a:t>03</a:t>
            </a:r>
          </a:p>
        </p:txBody>
      </p:sp>
      <p:sp>
        <p:nvSpPr>
          <p:cNvPr id="13" name="TextBox 12"/>
          <p:cNvSpPr txBox="1"/>
          <p:nvPr/>
        </p:nvSpPr>
        <p:spPr>
          <a:xfrm>
            <a:off x="3474720" y="1554480"/>
            <a:ext cx="1828800" cy="274320"/>
          </a:xfrm>
          <a:prstGeom prst="rect">
            <a:avLst/>
          </a:prstGeom>
          <a:noFill/>
        </p:spPr>
        <p:txBody>
          <a:bodyPr wrap="none" lIns="0" rIns="0" tIns="0" bIns="0">
            <a:spAutoFit/>
          </a:bodyPr>
          <a:lstStyle/>
          <a:p>
            <a:pPr>
              <a:defRPr sz="1200" b="1">
                <a:solidFill>
                  <a:srgbClr val="FFFFFF"/>
                </a:solidFill>
                <a:latin typeface="Source Sans Pro"/>
              </a:defRPr>
            </a:pPr>
            <a:r>
              <a:t>Logo Variations</a:t>
            </a:r>
          </a:p>
        </p:txBody>
      </p:sp>
      <p:cxnSp>
        <p:nvCxnSpPr>
          <p:cNvPr id="14" name="Connector 13"/>
          <p:cNvCxnSpPr/>
          <p:nvPr/>
        </p:nvCxnSpPr>
        <p:spPr>
          <a:xfrm>
            <a:off x="5349239" y="1664208"/>
            <a:ext cx="365760" cy="0"/>
          </a:xfrm>
          <a:prstGeom prst="line">
            <a:avLst/>
          </a:prstGeom>
          <a:ln w="19050">
            <a:solidFill>
              <a:srgbClr val="1F2937"/>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5760720" y="1554480"/>
            <a:ext cx="274320" cy="274320"/>
          </a:xfrm>
          <a:prstGeom prst="rect">
            <a:avLst/>
          </a:prstGeom>
          <a:noFill/>
        </p:spPr>
        <p:txBody>
          <a:bodyPr wrap="none" lIns="0" tIns="0" bIns="0">
            <a:spAutoFit/>
          </a:bodyPr>
          <a:lstStyle/>
          <a:p>
            <a:pPr>
              <a:defRPr sz="1200" b="1">
                <a:solidFill>
                  <a:srgbClr val="1F2937"/>
                </a:solidFill>
                <a:latin typeface="Source Sans Pro"/>
              </a:defRPr>
            </a:pPr>
            <a:r>
              <a:t>04</a:t>
            </a:r>
          </a:p>
        </p:txBody>
      </p:sp>
      <p:sp>
        <p:nvSpPr>
          <p:cNvPr id="16" name="TextBox 15"/>
          <p:cNvSpPr txBox="1"/>
          <p:nvPr/>
        </p:nvSpPr>
        <p:spPr>
          <a:xfrm>
            <a:off x="3657600" y="1920240"/>
            <a:ext cx="1828800" cy="228600"/>
          </a:xfrm>
          <a:prstGeom prst="rect">
            <a:avLst/>
          </a:prstGeom>
          <a:noFill/>
        </p:spPr>
        <p:txBody>
          <a:bodyPr wrap="none" lIns="0" tIns="0" bIns="0">
            <a:spAutoFit/>
          </a:bodyPr>
          <a:lstStyle/>
          <a:p>
            <a:pPr>
              <a:defRPr sz="900" b="0">
                <a:solidFill>
                  <a:srgbClr val="CCCCCC"/>
                </a:solidFill>
                <a:latin typeface="Source Sans Pro"/>
              </a:defRPr>
            </a:pPr>
            <a:r>
              <a:t>Logo Mark</a:t>
            </a:r>
          </a:p>
        </p:txBody>
      </p:sp>
      <p:sp>
        <p:nvSpPr>
          <p:cNvPr id="17" name="TextBox 16"/>
          <p:cNvSpPr txBox="1"/>
          <p:nvPr/>
        </p:nvSpPr>
        <p:spPr>
          <a:xfrm>
            <a:off x="3657600" y="2148840"/>
            <a:ext cx="1828800" cy="228600"/>
          </a:xfrm>
          <a:prstGeom prst="rect">
            <a:avLst/>
          </a:prstGeom>
          <a:noFill/>
        </p:spPr>
        <p:txBody>
          <a:bodyPr wrap="none" lIns="0" tIns="0" bIns="0">
            <a:spAutoFit/>
          </a:bodyPr>
          <a:lstStyle/>
          <a:p>
            <a:pPr>
              <a:defRPr sz="900" b="0">
                <a:solidFill>
                  <a:srgbClr val="CCCCCC"/>
                </a:solidFill>
                <a:latin typeface="Source Sans Pro"/>
              </a:defRPr>
            </a:pPr>
            <a:r>
              <a:t>Clear Space</a:t>
            </a:r>
          </a:p>
        </p:txBody>
      </p:sp>
      <p:sp>
        <p:nvSpPr>
          <p:cNvPr id="18" name="TextBox 17"/>
          <p:cNvSpPr txBox="1"/>
          <p:nvPr/>
        </p:nvSpPr>
        <p:spPr>
          <a:xfrm>
            <a:off x="3657600" y="2377440"/>
            <a:ext cx="1828800" cy="228600"/>
          </a:xfrm>
          <a:prstGeom prst="rect">
            <a:avLst/>
          </a:prstGeom>
          <a:noFill/>
        </p:spPr>
        <p:txBody>
          <a:bodyPr wrap="none" lIns="0" tIns="0" bIns="0">
            <a:spAutoFit/>
          </a:bodyPr>
          <a:lstStyle/>
          <a:p>
            <a:pPr>
              <a:defRPr sz="900" b="0">
                <a:solidFill>
                  <a:srgbClr val="CCCCCC"/>
                </a:solidFill>
                <a:latin typeface="Source Sans Pro"/>
              </a:defRPr>
            </a:pPr>
            <a:r>
              <a:t>Usage Guidelines</a:t>
            </a:r>
          </a:p>
        </p:txBody>
      </p:sp>
      <p:sp>
        <p:nvSpPr>
          <p:cNvPr id="19" name="TextBox 18"/>
          <p:cNvSpPr txBox="1"/>
          <p:nvPr/>
        </p:nvSpPr>
        <p:spPr>
          <a:xfrm>
            <a:off x="3474720" y="2743200"/>
            <a:ext cx="1828800" cy="274320"/>
          </a:xfrm>
          <a:prstGeom prst="rect">
            <a:avLst/>
          </a:prstGeom>
          <a:noFill/>
        </p:spPr>
        <p:txBody>
          <a:bodyPr wrap="none" lIns="0" rIns="0" tIns="0" bIns="0">
            <a:spAutoFit/>
          </a:bodyPr>
          <a:lstStyle/>
          <a:p>
            <a:pPr>
              <a:defRPr sz="1200" b="1">
                <a:solidFill>
                  <a:srgbClr val="FFFFFF"/>
                </a:solidFill>
                <a:latin typeface="Source Sans Pro"/>
              </a:defRPr>
            </a:pPr>
            <a:r>
              <a:t>Brand Colors</a:t>
            </a:r>
          </a:p>
        </p:txBody>
      </p:sp>
      <p:cxnSp>
        <p:nvCxnSpPr>
          <p:cNvPr id="20" name="Connector 19"/>
          <p:cNvCxnSpPr/>
          <p:nvPr/>
        </p:nvCxnSpPr>
        <p:spPr>
          <a:xfrm>
            <a:off x="5349239" y="2852928"/>
            <a:ext cx="365760" cy="0"/>
          </a:xfrm>
          <a:prstGeom prst="line">
            <a:avLst/>
          </a:prstGeom>
          <a:ln w="19050">
            <a:solidFill>
              <a:srgbClr val="1F2937"/>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760720" y="2743200"/>
            <a:ext cx="274320" cy="274320"/>
          </a:xfrm>
          <a:prstGeom prst="rect">
            <a:avLst/>
          </a:prstGeom>
          <a:noFill/>
        </p:spPr>
        <p:txBody>
          <a:bodyPr wrap="none" lIns="0" tIns="0" bIns="0">
            <a:spAutoFit/>
          </a:bodyPr>
          <a:lstStyle/>
          <a:p>
            <a:pPr>
              <a:defRPr sz="1200" b="1">
                <a:solidFill>
                  <a:srgbClr val="1F2937"/>
                </a:solidFill>
                <a:latin typeface="Source Sans Pro"/>
              </a:defRPr>
            </a:pPr>
            <a:r>
              <a:t>05</a:t>
            </a:r>
          </a:p>
        </p:txBody>
      </p:sp>
      <p:sp>
        <p:nvSpPr>
          <p:cNvPr id="22" name="TextBox 21"/>
          <p:cNvSpPr txBox="1"/>
          <p:nvPr/>
        </p:nvSpPr>
        <p:spPr>
          <a:xfrm>
            <a:off x="3657600" y="3108960"/>
            <a:ext cx="1828800" cy="228600"/>
          </a:xfrm>
          <a:prstGeom prst="rect">
            <a:avLst/>
          </a:prstGeom>
          <a:noFill/>
        </p:spPr>
        <p:txBody>
          <a:bodyPr wrap="none" lIns="0" tIns="0" bIns="0">
            <a:spAutoFit/>
          </a:bodyPr>
          <a:lstStyle/>
          <a:p>
            <a:pPr>
              <a:defRPr sz="900" b="0">
                <a:solidFill>
                  <a:srgbClr val="CCCCCC"/>
                </a:solidFill>
                <a:latin typeface="Source Sans Pro"/>
              </a:defRPr>
            </a:pPr>
            <a:r>
              <a:t>Primary Colors</a:t>
            </a:r>
          </a:p>
        </p:txBody>
      </p:sp>
      <p:sp>
        <p:nvSpPr>
          <p:cNvPr id="23" name="TextBox 22"/>
          <p:cNvSpPr txBox="1"/>
          <p:nvPr/>
        </p:nvSpPr>
        <p:spPr>
          <a:xfrm>
            <a:off x="3657600" y="3337560"/>
            <a:ext cx="1828800" cy="228600"/>
          </a:xfrm>
          <a:prstGeom prst="rect">
            <a:avLst/>
          </a:prstGeom>
          <a:noFill/>
        </p:spPr>
        <p:txBody>
          <a:bodyPr wrap="none" lIns="0" tIns="0" bIns="0">
            <a:spAutoFit/>
          </a:bodyPr>
          <a:lstStyle/>
          <a:p>
            <a:pPr>
              <a:defRPr sz="900" b="0">
                <a:solidFill>
                  <a:srgbClr val="CCCCCC"/>
                </a:solidFill>
                <a:latin typeface="Source Sans Pro"/>
              </a:defRPr>
            </a:pPr>
            <a:r>
              <a:t>Secondary Colors</a:t>
            </a:r>
          </a:p>
        </p:txBody>
      </p:sp>
      <p:sp>
        <p:nvSpPr>
          <p:cNvPr id="24" name="TextBox 23"/>
          <p:cNvSpPr txBox="1"/>
          <p:nvPr/>
        </p:nvSpPr>
        <p:spPr>
          <a:xfrm>
            <a:off x="3657600" y="3566160"/>
            <a:ext cx="1828800" cy="228600"/>
          </a:xfrm>
          <a:prstGeom prst="rect">
            <a:avLst/>
          </a:prstGeom>
          <a:noFill/>
        </p:spPr>
        <p:txBody>
          <a:bodyPr wrap="none" lIns="0" tIns="0" bIns="0">
            <a:spAutoFit/>
          </a:bodyPr>
          <a:lstStyle/>
          <a:p>
            <a:pPr>
              <a:defRPr sz="900" b="0">
                <a:solidFill>
                  <a:srgbClr val="CCCCCC"/>
                </a:solidFill>
                <a:latin typeface="Source Sans Pro"/>
              </a:defRPr>
            </a:pPr>
            <a:r>
              <a:t>Color Usage</a:t>
            </a:r>
          </a:p>
        </p:txBody>
      </p:sp>
      <p:sp>
        <p:nvSpPr>
          <p:cNvPr id="25" name="TextBox 24"/>
          <p:cNvSpPr txBox="1"/>
          <p:nvPr/>
        </p:nvSpPr>
        <p:spPr>
          <a:xfrm>
            <a:off x="3474720" y="3931920"/>
            <a:ext cx="1828800" cy="274320"/>
          </a:xfrm>
          <a:prstGeom prst="rect">
            <a:avLst/>
          </a:prstGeom>
          <a:noFill/>
        </p:spPr>
        <p:txBody>
          <a:bodyPr wrap="none" lIns="0" rIns="0" tIns="0" bIns="0">
            <a:spAutoFit/>
          </a:bodyPr>
          <a:lstStyle/>
          <a:p>
            <a:pPr>
              <a:defRPr sz="1200" b="1">
                <a:solidFill>
                  <a:srgbClr val="FFFFFF"/>
                </a:solidFill>
                <a:latin typeface="Source Sans Pro"/>
              </a:defRPr>
            </a:pPr>
            <a:r>
              <a:t>Typography</a:t>
            </a:r>
          </a:p>
        </p:txBody>
      </p:sp>
      <p:cxnSp>
        <p:nvCxnSpPr>
          <p:cNvPr id="26" name="Connector 25"/>
          <p:cNvCxnSpPr/>
          <p:nvPr/>
        </p:nvCxnSpPr>
        <p:spPr>
          <a:xfrm>
            <a:off x="5349239" y="4041648"/>
            <a:ext cx="365760" cy="0"/>
          </a:xfrm>
          <a:prstGeom prst="line">
            <a:avLst/>
          </a:prstGeom>
          <a:ln w="19050">
            <a:solidFill>
              <a:srgbClr val="1F2937"/>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760720" y="3931920"/>
            <a:ext cx="274320" cy="274320"/>
          </a:xfrm>
          <a:prstGeom prst="rect">
            <a:avLst/>
          </a:prstGeom>
          <a:noFill/>
        </p:spPr>
        <p:txBody>
          <a:bodyPr wrap="none" lIns="0" tIns="0" bIns="0">
            <a:spAutoFit/>
          </a:bodyPr>
          <a:lstStyle/>
          <a:p>
            <a:pPr>
              <a:defRPr sz="1200" b="1">
                <a:solidFill>
                  <a:srgbClr val="1F2937"/>
                </a:solidFill>
                <a:latin typeface="Source Sans Pro"/>
              </a:defRPr>
            </a:pPr>
            <a:r>
              <a:t>06</a:t>
            </a:r>
          </a:p>
        </p:txBody>
      </p:sp>
      <p:sp>
        <p:nvSpPr>
          <p:cNvPr id="28" name="TextBox 27"/>
          <p:cNvSpPr txBox="1"/>
          <p:nvPr/>
        </p:nvSpPr>
        <p:spPr>
          <a:xfrm>
            <a:off x="3657600" y="4297680"/>
            <a:ext cx="1828800" cy="228600"/>
          </a:xfrm>
          <a:prstGeom prst="rect">
            <a:avLst/>
          </a:prstGeom>
          <a:noFill/>
        </p:spPr>
        <p:txBody>
          <a:bodyPr wrap="none" lIns="0" tIns="0" bIns="0">
            <a:spAutoFit/>
          </a:bodyPr>
          <a:lstStyle/>
          <a:p>
            <a:pPr>
              <a:defRPr sz="900" b="0">
                <a:solidFill>
                  <a:srgbClr val="CCCCCC"/>
                </a:solidFill>
                <a:latin typeface="Source Sans Pro"/>
              </a:defRPr>
            </a:pPr>
            <a:r>
              <a:t>Brand Font</a:t>
            </a:r>
          </a:p>
        </p:txBody>
      </p:sp>
      <p:sp>
        <p:nvSpPr>
          <p:cNvPr id="29" name="TextBox 28"/>
          <p:cNvSpPr txBox="1"/>
          <p:nvPr/>
        </p:nvSpPr>
        <p:spPr>
          <a:xfrm>
            <a:off x="3657600" y="4526280"/>
            <a:ext cx="1828800" cy="228600"/>
          </a:xfrm>
          <a:prstGeom prst="rect">
            <a:avLst/>
          </a:prstGeom>
          <a:noFill/>
        </p:spPr>
        <p:txBody>
          <a:bodyPr wrap="none" lIns="0" tIns="0" bIns="0">
            <a:spAutoFit/>
          </a:bodyPr>
          <a:lstStyle/>
          <a:p>
            <a:pPr>
              <a:defRPr sz="900" b="0">
                <a:solidFill>
                  <a:srgbClr val="CCCCCC"/>
                </a:solidFill>
                <a:latin typeface="Source Sans Pro"/>
              </a:defRPr>
            </a:pPr>
            <a:r>
              <a:t>Font Usage</a:t>
            </a:r>
          </a:p>
        </p:txBody>
      </p:sp>
      <p:sp>
        <p:nvSpPr>
          <p:cNvPr id="30" name="TextBox 29"/>
          <p:cNvSpPr txBox="1"/>
          <p:nvPr/>
        </p:nvSpPr>
        <p:spPr>
          <a:xfrm>
            <a:off x="3657600" y="4754880"/>
            <a:ext cx="1828800" cy="228600"/>
          </a:xfrm>
          <a:prstGeom prst="rect">
            <a:avLst/>
          </a:prstGeom>
          <a:noFill/>
        </p:spPr>
        <p:txBody>
          <a:bodyPr wrap="none" lIns="0" tIns="0" bIns="0">
            <a:spAutoFit/>
          </a:bodyPr>
          <a:lstStyle/>
          <a:p>
            <a:pPr>
              <a:defRPr sz="900" b="0">
                <a:solidFill>
                  <a:srgbClr val="CCCCCC"/>
                </a:solidFill>
                <a:latin typeface="Source Sans Pro"/>
              </a:defRPr>
            </a:pPr>
            <a:r>
              <a:t>Text Hierarchy</a:t>
            </a:r>
          </a:p>
        </p:txBody>
      </p:sp>
      <p:sp>
        <p:nvSpPr>
          <p:cNvPr id="31" name="TextBox 30"/>
          <p:cNvSpPr txBox="1"/>
          <p:nvPr/>
        </p:nvSpPr>
        <p:spPr>
          <a:xfrm>
            <a:off x="6492240" y="1554480"/>
            <a:ext cx="1828800" cy="274320"/>
          </a:xfrm>
          <a:prstGeom prst="rect">
            <a:avLst/>
          </a:prstGeom>
          <a:noFill/>
        </p:spPr>
        <p:txBody>
          <a:bodyPr wrap="none" lIns="0" rIns="0" tIns="0" bIns="0">
            <a:spAutoFit/>
          </a:bodyPr>
          <a:lstStyle/>
          <a:p>
            <a:pPr>
              <a:defRPr sz="1200" b="1">
                <a:solidFill>
                  <a:srgbClr val="FFFFFF"/>
                </a:solidFill>
                <a:latin typeface="Source Sans Pro"/>
              </a:defRPr>
            </a:pPr>
            <a:r>
              <a:t>Visual Guidelines</a:t>
            </a:r>
          </a:p>
        </p:txBody>
      </p:sp>
      <p:cxnSp>
        <p:nvCxnSpPr>
          <p:cNvPr id="32" name="Connector 31"/>
          <p:cNvCxnSpPr/>
          <p:nvPr/>
        </p:nvCxnSpPr>
        <p:spPr>
          <a:xfrm>
            <a:off x="8366759" y="1664208"/>
            <a:ext cx="365760" cy="0"/>
          </a:xfrm>
          <a:prstGeom prst="line">
            <a:avLst/>
          </a:prstGeom>
          <a:ln w="19050">
            <a:solidFill>
              <a:srgbClr val="1F2937"/>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8778240" y="1554480"/>
            <a:ext cx="274320" cy="274320"/>
          </a:xfrm>
          <a:prstGeom prst="rect">
            <a:avLst/>
          </a:prstGeom>
          <a:noFill/>
        </p:spPr>
        <p:txBody>
          <a:bodyPr wrap="none" lIns="0" tIns="0" bIns="0">
            <a:spAutoFit/>
          </a:bodyPr>
          <a:lstStyle/>
          <a:p>
            <a:pPr>
              <a:defRPr sz="1200" b="1">
                <a:solidFill>
                  <a:srgbClr val="1F2937"/>
                </a:solidFill>
                <a:latin typeface="Source Sans Pro"/>
              </a:defRPr>
            </a:pPr>
            <a:r>
              <a:t>07</a:t>
            </a:r>
          </a:p>
        </p:txBody>
      </p:sp>
      <p:sp>
        <p:nvSpPr>
          <p:cNvPr id="34" name="TextBox 33"/>
          <p:cNvSpPr txBox="1"/>
          <p:nvPr/>
        </p:nvSpPr>
        <p:spPr>
          <a:xfrm>
            <a:off x="6675120" y="1920240"/>
            <a:ext cx="1828800" cy="228600"/>
          </a:xfrm>
          <a:prstGeom prst="rect">
            <a:avLst/>
          </a:prstGeom>
          <a:noFill/>
        </p:spPr>
        <p:txBody>
          <a:bodyPr wrap="none" lIns="0" tIns="0" bIns="0">
            <a:spAutoFit/>
          </a:bodyPr>
          <a:lstStyle/>
          <a:p>
            <a:pPr>
              <a:defRPr sz="900" b="0">
                <a:solidFill>
                  <a:srgbClr val="CCCCCC"/>
                </a:solidFill>
                <a:latin typeface="Source Sans Pro"/>
              </a:defRPr>
            </a:pPr>
            <a:r>
              <a:t>Visual Style</a:t>
            </a:r>
          </a:p>
        </p:txBody>
      </p:sp>
      <p:sp>
        <p:nvSpPr>
          <p:cNvPr id="35" name="TextBox 34"/>
          <p:cNvSpPr txBox="1"/>
          <p:nvPr/>
        </p:nvSpPr>
        <p:spPr>
          <a:xfrm>
            <a:off x="6675120" y="2148840"/>
            <a:ext cx="1828800" cy="228600"/>
          </a:xfrm>
          <a:prstGeom prst="rect">
            <a:avLst/>
          </a:prstGeom>
          <a:noFill/>
        </p:spPr>
        <p:txBody>
          <a:bodyPr wrap="none" lIns="0" tIns="0" bIns="0">
            <a:spAutoFit/>
          </a:bodyPr>
          <a:lstStyle/>
          <a:p>
            <a:pPr>
              <a:defRPr sz="900" b="0">
                <a:solidFill>
                  <a:srgbClr val="CCCCCC"/>
                </a:solidFill>
                <a:latin typeface="Source Sans Pro"/>
              </a:defRPr>
            </a:pPr>
            <a:r>
              <a:t>Photography</a:t>
            </a:r>
          </a:p>
        </p:txBody>
      </p:sp>
      <p:sp>
        <p:nvSpPr>
          <p:cNvPr id="36" name="TextBox 35"/>
          <p:cNvSpPr txBox="1"/>
          <p:nvPr/>
        </p:nvSpPr>
        <p:spPr>
          <a:xfrm>
            <a:off x="6675120" y="2377440"/>
            <a:ext cx="1828800" cy="228600"/>
          </a:xfrm>
          <a:prstGeom prst="rect">
            <a:avLst/>
          </a:prstGeom>
          <a:noFill/>
        </p:spPr>
        <p:txBody>
          <a:bodyPr wrap="none" lIns="0" tIns="0" bIns="0">
            <a:spAutoFit/>
          </a:bodyPr>
          <a:lstStyle/>
          <a:p>
            <a:pPr>
              <a:defRPr sz="900" b="0">
                <a:solidFill>
                  <a:srgbClr val="CCCCCC"/>
                </a:solidFill>
                <a:latin typeface="Source Sans Pro"/>
              </a:defRPr>
            </a:pPr>
            <a:r>
              <a:t>Imagery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800100" y="1051560"/>
            <a:ext cx="6858000" cy="2971800"/>
          </a:xfrm>
          <a:prstGeom prst="rect">
            <a:avLst/>
          </a:prstGeom>
          <a:noFill/>
        </p:spPr>
        <p:txBody>
          <a:bodyPr wrap="square" lIns="0" rIns="0" tIns="0" bIns="0">
            <a:spAutoFit/>
          </a:bodyPr>
          <a:lstStyle/>
          <a:p>
            <a:pPr algn="l">
              <a:spcAft>
                <a:spcPts val="800"/>
              </a:spcAft>
              <a:defRPr sz="2000" b="0">
                <a:solidFill>
                  <a:srgbClr val="FFFFFF"/>
                </a:solidFill>
                <a:latin typeface="Source Sans Pro"/>
              </a:defRPr>
            </a:pPr>
            <a:r>
              <a:t>The following brand identity system for Flipkart</a:t>
            </a:r>
          </a:p>
          <a:p>
            <a:pPr algn="l">
              <a:spcAft>
                <a:spcPts val="800"/>
              </a:spcAft>
              <a:defRPr sz="2000" b="0">
                <a:solidFill>
                  <a:srgbClr val="FFFFFF"/>
                </a:solidFill>
                <a:latin typeface="Source Sans Pro"/>
              </a:defRPr>
            </a:pPr>
            <a:r>
              <a:t>is thoughtfully crafted to present our brand in</a:t>
            </a:r>
          </a:p>
          <a:p>
            <a:pPr algn="l">
              <a:spcAft>
                <a:spcPts val="800"/>
              </a:spcAft>
              <a:defRPr sz="2000" b="0">
                <a:solidFill>
                  <a:srgbClr val="FFFFFF"/>
                </a:solidFill>
                <a:latin typeface="Source Sans Pro"/>
              </a:defRPr>
            </a:pPr>
            <a:r>
              <a:t>an international, engaging, consistent, recognizable</a:t>
            </a:r>
          </a:p>
          <a:p>
            <a:pPr algn="l">
              <a:spcAft>
                <a:spcPts val="800"/>
              </a:spcAft>
              <a:defRPr sz="2000" b="0">
                <a:solidFill>
                  <a:srgbClr val="FFFFFF"/>
                </a:solidFill>
                <a:latin typeface="Source Sans Pro"/>
              </a:defRPr>
            </a:pPr>
            <a:r>
              <a:t>and proprietary way. Unique in form, versatile in its</a:t>
            </a:r>
          </a:p>
          <a:p>
            <a:pPr algn="l">
              <a:spcAft>
                <a:spcPts val="800"/>
              </a:spcAft>
              <a:defRPr sz="2000" b="0">
                <a:solidFill>
                  <a:srgbClr val="FFFFFF"/>
                </a:solidFill>
                <a:latin typeface="Source Sans Pro"/>
              </a:defRPr>
            </a:pPr>
            <a:r>
              <a:t>application and unified by a fundamental principle.</a:t>
            </a:r>
          </a:p>
        </p:txBody>
      </p:sp>
      <p:cxnSp>
        <p:nvCxnSpPr>
          <p:cNvPr id="3" name="Connector 2"/>
          <p:cNvCxnSpPr/>
          <p:nvPr/>
        </p:nvCxnSpPr>
        <p:spPr>
          <a:xfrm>
            <a:off x="457200" y="4914900.0"/>
            <a:ext cx="8229600" cy="0.0"/>
          </a:xfrm>
          <a:prstGeom prst="line">
            <a:avLst/>
          </a:prstGeom>
          <a:ln w="25400">
            <a:solidFill>
              <a:srgbClr val="1F2937"/>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00100" y="5189220"/>
            <a:ext cx="3657600" cy="731520"/>
          </a:xfrm>
          <a:prstGeom prst="rect">
            <a:avLst/>
          </a:prstGeom>
          <a:noFill/>
        </p:spPr>
        <p:txBody>
          <a:bodyPr wrap="none">
            <a:spAutoFit/>
          </a:bodyPr>
          <a:lstStyle/>
          <a:p>
            <a:pPr algn="l">
              <a:defRPr sz="2800" b="1">
                <a:solidFill>
                  <a:srgbClr val="1F2937"/>
                </a:solidFill>
                <a:latin typeface="Inter"/>
              </a:defRPr>
            </a:pPr>
            <a:r>
              <a:t>INTRODUCTION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800100" y="1051560"/>
            <a:ext cx="6858000" cy="2971800"/>
          </a:xfrm>
          <a:prstGeom prst="rect">
            <a:avLst/>
          </a:prstGeom>
          <a:noFill/>
        </p:spPr>
        <p:txBody>
          <a:bodyPr wrap="square" lIns="0" rIns="0" tIns="0" bIns="0">
            <a:spAutoFit/>
          </a:bodyPr>
          <a:lstStyle/>
          <a:p>
            <a:pPr algn="l">
              <a:spcAft>
                <a:spcPts val="800"/>
              </a:spcAft>
              <a:defRPr sz="2000" b="0">
                <a:solidFill>
                  <a:srgbClr val="FFFFFF"/>
                </a:solidFill>
                <a:latin typeface="Source Sans Pro"/>
              </a:defRPr>
            </a:pPr>
            <a:r>
              <a:t>Vision: To be the leading force in technological innovation that empowers businesses and individuals to achieve their full potential.</a:t>
            </a:r>
          </a:p>
          <a:p>
            <a:pPr algn="l">
              <a:spcAft>
                <a:spcPts val="800"/>
              </a:spcAft>
              <a:defRPr sz="2000" b="0">
                <a:solidFill>
                  <a:srgbClr val="FFFFFF"/>
                </a:solidFill>
                <a:latin typeface="Source Sans Pro"/>
              </a:defRPr>
            </a:pPr>
          </a:p>
          <a:p>
            <a:pPr algn="l">
              <a:spcAft>
                <a:spcPts val="800"/>
              </a:spcAft>
              <a:defRPr sz="2000" b="0">
                <a:solidFill>
                  <a:srgbClr val="FFFFFF"/>
                </a:solidFill>
                <a:latin typeface="Source Sans Pro"/>
              </a:defRPr>
            </a:pPr>
            <a:r>
              <a:t>Mission: We create cutting-edge technology solutions that simplify complex challenges and drive meaningful progress for our clients.</a:t>
            </a:r>
          </a:p>
          <a:p>
            <a:pPr algn="l">
              <a:spcAft>
                <a:spcPts val="800"/>
              </a:spcAft>
              <a:defRPr sz="2000" b="0">
                <a:solidFill>
                  <a:srgbClr val="FFFFFF"/>
                </a:solidFill>
                <a:latin typeface="Source Sans Pro"/>
              </a:defRPr>
            </a:pPr>
          </a:p>
          <a:p>
            <a:pPr algn="l">
              <a:spcAft>
                <a:spcPts val="800"/>
              </a:spcAft>
              <a:defRPr sz="2000" b="0">
                <a:solidFill>
                  <a:srgbClr val="FFFFFF"/>
                </a:solidFill>
                <a:latin typeface="Source Sans Pro"/>
              </a:defRPr>
            </a:pPr>
            <a:r>
              <a:t>Core Values: Our foundation rests on customer-centricity, innovation, affordability, trust, reliability, convenience, inclusivity, agility, empowerment, and growth, which together guide our commitment to excellence and drive our mission to create meaningful impact for our clients.</a:t>
            </a:r>
          </a:p>
        </p:txBody>
      </p:sp>
      <p:cxnSp>
        <p:nvCxnSpPr>
          <p:cNvPr id="3" name="Connector 2"/>
          <p:cNvCxnSpPr/>
          <p:nvPr/>
        </p:nvCxnSpPr>
        <p:spPr>
          <a:xfrm>
            <a:off x="457200" y="4914900.0"/>
            <a:ext cx="8229600" cy="0.0"/>
          </a:xfrm>
          <a:prstGeom prst="line">
            <a:avLst/>
          </a:prstGeom>
          <a:ln w="25400">
            <a:solidFill>
              <a:srgbClr val="1F2937"/>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00100" y="5189220"/>
            <a:ext cx="3657600" cy="731520"/>
          </a:xfrm>
          <a:prstGeom prst="rect">
            <a:avLst/>
          </a:prstGeom>
          <a:noFill/>
        </p:spPr>
        <p:txBody>
          <a:bodyPr wrap="none">
            <a:spAutoFit/>
          </a:bodyPr>
          <a:lstStyle/>
          <a:p>
            <a:pPr algn="l">
              <a:defRPr sz="2800" b="1">
                <a:solidFill>
                  <a:srgbClr val="1F2937"/>
                </a:solidFill>
                <a:latin typeface="Inter"/>
              </a:defRPr>
            </a:pPr>
            <a:r>
              <a:t>BRAND PURPOSE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sp>
        <p:nvSpPr>
          <p:cNvPr id="2" name="Rectangle 1"/>
          <p:cNvSpPr/>
          <p:nvPr/>
        </p:nvSpPr>
        <p:spPr>
          <a:xfrm>
            <a:off x="0" y="0"/>
            <a:ext cx="9144000" cy="68580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Pr/>
      <p:sp>
        <p:nvSpPr>
          <p:cNvPr id="3" name="TextBox 2"/>
          <p:cNvSpPr txBox="1"/>
          <p:nvPr/>
        </p:nvSpPr>
        <p:spPr>
          <a:xfrm>
            <a:off x="1143000" y="457200"/>
            <a:ext cx="6858000" cy="742950"/>
          </a:xfrm>
          <a:prstGeom prst="rect">
            <a:avLst/>
          </a:prstGeom>
          <a:noFill/>
        </p:spPr>
        <p:txBody>
          <a:bodyPr wrap="none">
            <a:spAutoFit/>
          </a:bodyPr>
          <a:lstStyle/>
          <a:p>
            <a:pPr>
              <a:defRPr sz="3200" b="1">
                <a:solidFill>
                  <a:srgbClr val="FFFFFF"/>
                </a:solidFill>
                <a:latin typeface="Inter"/>
              </a:defRPr>
            </a:pPr>
            <a:r>
              <a:t>Brand Story (1/2)</a:t>
            </a:r>
          </a:p>
        </p:txBody>
      </p:sp>
      <p:sp>
        <p:nvSpPr>
          <p:cNvPr id="4" name="TextBox 3"/>
          <p:cNvSpPr txBox="1"/>
          <p:nvPr/>
        </p:nvSpPr>
        <p:spPr>
          <a:xfrm>
            <a:off x="1143000" y="1943100"/>
            <a:ext cx="6858000" cy="2971800"/>
          </a:xfrm>
          <a:prstGeom prst="rect">
            <a:avLst/>
          </a:prstGeom>
          <a:noFill/>
        </p:spPr>
        <p:txBody>
          <a:bodyPr wrap="square">
            <a:spAutoFit/>
          </a:bodyPr>
          <a:lstStyle/>
          <a:p>
            <a:pPr>
              <a:defRPr sz="1600" b="0">
                <a:solidFill>
                  <a:srgbClr val="FFFFFF"/>
                </a:solidFill>
                <a:latin typeface="Source Sans Pro"/>
              </a:defRPr>
            </a:pPr>
            <a:r>
              <a:t>In the bustling streets of India, where the vibrant colors and sounds of daily life intertwine, there is a beacon of innovation and convenience that shines bright - Flipkart. Born from a vision to revolutionize the way people shop, Flipkart has become a household name, a trusted companion in the journey of millions of price-conscious shoppers, middle-class families, young professionals, students, and digital-savvy consumers across the nation. At the heart of Flipkart's success lies a deep commitment to customer-centricity and a relentless drive for innovation. We understand the needs and aspirations of our diverse customer base, from the bustling metropolises to the quaint towns of Tier 2 and Tier 3</a:t>
            </a:r>
          </a:p>
        </p:txBody>
      </p:sp>
      <p:sp>
        <p:nvSpPr>
          <p:cNvPr id="5" name="TextBox 4"/>
          <p:cNvSpPr txBox="1"/>
          <p:nvPr/>
        </p:nvSpPr>
        <p:spPr>
          <a:xfrm>
            <a:off x="457200" y="5657850"/>
            <a:ext cx="4114800" cy="742950"/>
          </a:xfrm>
          <a:prstGeom prst="rect">
            <a:avLst/>
          </a:prstGeom>
          <a:noFill/>
        </p:spPr>
        <p:txBody>
          <a:bodyPr wrap="none">
            <a:spAutoFit/>
          </a:bodyPr>
          <a:lstStyle/>
          <a:p>
            <a:pPr algn="l">
              <a:defRPr sz="1000" b="0">
                <a:solidFill>
                  <a:srgbClr val="FFFFFF"/>
                </a:solidFill>
                <a:latin typeface="Source Sans Pro"/>
              </a:defRPr>
            </a:pPr>
            <a:r>
              <a:t>Flipkart</a:t>
            </a:r>
          </a:p>
        </p:txBody>
      </p:sp>
      <p:sp>
        <p:nvSpPr>
          <p:cNvPr id="6" name="TextBox 5"/>
          <p:cNvSpPr txBox="1"/>
          <p:nvPr/>
        </p:nvSpPr>
        <p:spPr>
          <a:xfrm>
            <a:off x="4572000" y="5657850"/>
            <a:ext cx="4114800" cy="742950"/>
          </a:xfrm>
          <a:prstGeom prst="rect">
            <a:avLst/>
          </a:prstGeom>
          <a:noFill/>
        </p:spPr>
        <p:txBody>
          <a:bodyPr wrap="none">
            <a:spAutoFit/>
          </a:bodyPr>
          <a:lstStyle/>
          <a:p>
            <a:pPr algn="r">
              <a:defRPr sz="1000" b="0">
                <a:solidFill>
                  <a:srgbClr val="FFFFFF"/>
                </a:solidFill>
                <a:latin typeface="Source Sans Pro"/>
              </a:defRPr>
            </a:pPr>
            <a: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sp>
        <p:nvSpPr>
          <p:cNvPr id="2" name="Rectangle 1"/>
          <p:cNvSpPr/>
          <p:nvPr/>
        </p:nvSpPr>
        <p:spPr>
          <a:xfrm>
            <a:off x="0" y="0"/>
            <a:ext cx="9144000" cy="68580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Pr/>
      <p:sp>
        <p:nvSpPr>
          <p:cNvPr id="3" name="TextBox 2"/>
          <p:cNvSpPr txBox="1"/>
          <p:nvPr/>
        </p:nvSpPr>
        <p:spPr>
          <a:xfrm>
            <a:off x="1143000" y="457200"/>
            <a:ext cx="6858000" cy="742950"/>
          </a:xfrm>
          <a:prstGeom prst="rect">
            <a:avLst/>
          </a:prstGeom>
          <a:noFill/>
        </p:spPr>
        <p:txBody>
          <a:bodyPr wrap="none">
            <a:spAutoFit/>
          </a:bodyPr>
          <a:lstStyle/>
          <a:p>
            <a:pPr>
              <a:defRPr sz="3200" b="1">
                <a:solidFill>
                  <a:srgbClr val="FFFFFF"/>
                </a:solidFill>
                <a:latin typeface="Inter"/>
              </a:defRPr>
            </a:pPr>
            <a:r>
              <a:t>Brand Story (2/2)</a:t>
            </a:r>
          </a:p>
        </p:txBody>
      </p:sp>
      <p:sp>
        <p:nvSpPr>
          <p:cNvPr id="4" name="TextBox 3"/>
          <p:cNvSpPr txBox="1"/>
          <p:nvPr/>
        </p:nvSpPr>
        <p:spPr>
          <a:xfrm>
            <a:off x="1143000" y="1943100"/>
            <a:ext cx="6858000" cy="2971800"/>
          </a:xfrm>
          <a:prstGeom prst="rect">
            <a:avLst/>
          </a:prstGeom>
          <a:noFill/>
        </p:spPr>
        <p:txBody>
          <a:bodyPr wrap="square">
            <a:spAutoFit/>
          </a:bodyPr>
          <a:lstStyle/>
          <a:p>
            <a:pPr>
              <a:defRPr sz="1600" b="0">
                <a:solidFill>
                  <a:srgbClr val="FFFFFF"/>
                </a:solidFill>
                <a:latin typeface="Source Sans Pro"/>
              </a:defRPr>
            </a:pPr>
            <a:r>
              <a:t>cities. We strive to empower every individual, every family, and every business, no matter how big or small, with our cutting-edge E-commerce, Retail, Technology, Logistics &amp; Supply Chain solutions. Our story is one of growth and empowerment, of inclusivity and affordability. We believe in the power of technology to bridge gaps and create opportunities for all. From providing a seamless shopping experience to offering a vast array of products at unbeatable prices, Flipkart is more than just a platform - it is a gateway to a world of possibilities. As...</a:t>
            </a:r>
          </a:p>
        </p:txBody>
      </p:sp>
      <p:sp>
        <p:nvSpPr>
          <p:cNvPr id="5" name="TextBox 4"/>
          <p:cNvSpPr txBox="1"/>
          <p:nvPr/>
        </p:nvSpPr>
        <p:spPr>
          <a:xfrm>
            <a:off x="457200" y="5657850"/>
            <a:ext cx="4114800" cy="742950"/>
          </a:xfrm>
          <a:prstGeom prst="rect">
            <a:avLst/>
          </a:prstGeom>
          <a:noFill/>
        </p:spPr>
        <p:txBody>
          <a:bodyPr wrap="none">
            <a:spAutoFit/>
          </a:bodyPr>
          <a:lstStyle/>
          <a:p>
            <a:pPr algn="l">
              <a:defRPr sz="1000" b="0">
                <a:solidFill>
                  <a:srgbClr val="FFFFFF"/>
                </a:solidFill>
                <a:latin typeface="Source Sans Pro"/>
              </a:defRPr>
            </a:pPr>
            <a:r>
              <a:t>Flipkart</a:t>
            </a:r>
          </a:p>
        </p:txBody>
      </p:sp>
      <p:sp>
        <p:nvSpPr>
          <p:cNvPr id="6" name="TextBox 5"/>
          <p:cNvSpPr txBox="1"/>
          <p:nvPr/>
        </p:nvSpPr>
        <p:spPr>
          <a:xfrm>
            <a:off x="4572000" y="5657850"/>
            <a:ext cx="4114800" cy="742950"/>
          </a:xfrm>
          <a:prstGeom prst="rect">
            <a:avLst/>
          </a:prstGeom>
          <a:noFill/>
        </p:spPr>
        <p:txBody>
          <a:bodyPr wrap="none">
            <a:spAutoFit/>
          </a:bodyPr>
          <a:lstStyle/>
          <a:p>
            <a:pPr algn="r">
              <a:defRPr sz="1000" b="0">
                <a:solidFill>
                  <a:srgbClr val="FFFFFF"/>
                </a:solidFill>
                <a:latin typeface="Source Sans Pro"/>
              </a:defRPr>
            </a:pPr>
            <a: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sp>
        <p:nvSpPr>
          <p:cNvPr id="2" name="Rectangle 1"/>
          <p:cNvSpPr/>
          <p:nvPr/>
        </p:nvSpPr>
        <p:spPr>
          <a:xfrm>
            <a:off x="0" y="0"/>
            <a:ext cx="9144000" cy="68580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Pr/>
      <p:sp>
        <p:nvSpPr>
          <p:cNvPr id="3" name="TextBox 2"/>
          <p:cNvSpPr txBox="1"/>
          <p:nvPr/>
        </p:nvSpPr>
        <p:spPr>
          <a:xfrm>
            <a:off x="1143000" y="457200"/>
            <a:ext cx="6858000" cy="742950"/>
          </a:xfrm>
          <a:prstGeom prst="rect">
            <a:avLst/>
          </a:prstGeom>
          <a:noFill/>
        </p:spPr>
        <p:txBody>
          <a:bodyPr wrap="none">
            <a:spAutoFit/>
          </a:bodyPr>
          <a:lstStyle/>
          <a:p>
            <a:pPr>
              <a:defRPr sz="3200" b="1">
                <a:solidFill>
                  <a:srgbClr val="FFFFFF"/>
                </a:solidFill>
                <a:latin typeface="Inter"/>
              </a:defRPr>
            </a:pPr>
            <a:r>
              <a:t>Logo Variations (3 designs)</a:t>
            </a:r>
          </a:p>
        </p:txBody>
      </p:sp>
      <p:sp>
        <p:nvSpPr>
          <p:cNvPr id="4" name="Rectangle 3"/>
          <p:cNvSpPr/>
          <p:nvPr/>
        </p:nvSpPr>
        <p:spPr>
          <a:xfrm>
            <a:off x="1051560" y="1851660"/>
            <a:ext cx="1554480" cy="16687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lipkart_logo_1_20250828_183749_a1922570.png"/>
          <p:cNvPicPr>
            <a:picLocks noChangeAspect="1"/>
          </p:cNvPicPr>
          <p:nvPr/>
        </p:nvPicPr>
        <p:blipFill>
          <a:blip r:embed="rId2"/>
          <a:stretch>
            <a:fillRect/>
          </a:stretch>
        </p:blipFill>
        <p:spPr>
          <a:xfrm>
            <a:off x="1143000" y="1943100"/>
            <a:ext cx="1371600" cy="1485900"/>
          </a:xfrm>
          <a:prstGeom prst="rect">
            <a:avLst/>
          </a:prstGeom>
        </p:spPr>
      </p:pic>
      <p:sp>
        <p:nvSpPr>
          <p:cNvPr id="6" name="TextBox 5"/>
          <p:cNvSpPr txBox="1"/>
          <p:nvPr/>
        </p:nvSpPr>
        <p:spPr>
          <a:xfrm>
            <a:off x="1143000" y="3429000"/>
            <a:ext cx="1371600" cy="742950"/>
          </a:xfrm>
          <a:prstGeom prst="rect">
            <a:avLst/>
          </a:prstGeom>
          <a:noFill/>
        </p:spPr>
        <p:txBody>
          <a:bodyPr wrap="none">
            <a:spAutoFit/>
          </a:bodyPr>
          <a:lstStyle/>
          <a:p>
            <a:pPr algn="ctr">
              <a:defRPr sz="1200" b="0">
                <a:solidFill>
                  <a:srgbClr val="FFFFFF"/>
                </a:solidFill>
                <a:latin typeface="Source Sans Pro"/>
              </a:defRPr>
            </a:pPr>
            <a:r>
              <a:t>Version 1</a:t>
            </a:r>
          </a:p>
        </p:txBody>
      </p:sp>
      <p:sp>
        <p:nvSpPr>
          <p:cNvPr id="7" name="Rectangle 6"/>
          <p:cNvSpPr/>
          <p:nvPr/>
        </p:nvSpPr>
        <p:spPr>
          <a:xfrm>
            <a:off x="3108960" y="1851660"/>
            <a:ext cx="1554480" cy="16687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flipkart_logo_2_20250828_183807_806cca0d.png"/>
          <p:cNvPicPr>
            <a:picLocks noChangeAspect="1"/>
          </p:cNvPicPr>
          <p:nvPr/>
        </p:nvPicPr>
        <p:blipFill>
          <a:blip r:embed="rId3"/>
          <a:stretch>
            <a:fillRect/>
          </a:stretch>
        </p:blipFill>
        <p:spPr>
          <a:xfrm>
            <a:off x="3200400" y="1943100"/>
            <a:ext cx="1371600" cy="1485900"/>
          </a:xfrm>
          <a:prstGeom prst="rect">
            <a:avLst/>
          </a:prstGeom>
        </p:spPr>
      </p:pic>
      <p:sp>
        <p:nvSpPr>
          <p:cNvPr id="9" name="TextBox 8"/>
          <p:cNvSpPr txBox="1"/>
          <p:nvPr/>
        </p:nvSpPr>
        <p:spPr>
          <a:xfrm>
            <a:off x="3200400" y="3429000"/>
            <a:ext cx="1371600" cy="742950"/>
          </a:xfrm>
          <a:prstGeom prst="rect">
            <a:avLst/>
          </a:prstGeom>
          <a:noFill/>
        </p:spPr>
        <p:txBody>
          <a:bodyPr wrap="none">
            <a:spAutoFit/>
          </a:bodyPr>
          <a:lstStyle/>
          <a:p>
            <a:pPr algn="ctr">
              <a:defRPr sz="1200" b="0">
                <a:solidFill>
                  <a:srgbClr val="FFFFFF"/>
                </a:solidFill>
                <a:latin typeface="Source Sans Pro"/>
              </a:defRPr>
            </a:pPr>
            <a:r>
              <a:t>Version 2</a:t>
            </a:r>
          </a:p>
        </p:txBody>
      </p:sp>
      <p:sp>
        <p:nvSpPr>
          <p:cNvPr id="10" name="Rectangle 9"/>
          <p:cNvSpPr/>
          <p:nvPr/>
        </p:nvSpPr>
        <p:spPr>
          <a:xfrm>
            <a:off x="5166360" y="1851660"/>
            <a:ext cx="1554480" cy="16687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flipkart_logo_3_20250828_183827_1b6975ad.png"/>
          <p:cNvPicPr>
            <a:picLocks noChangeAspect="1"/>
          </p:cNvPicPr>
          <p:nvPr/>
        </p:nvPicPr>
        <p:blipFill>
          <a:blip r:embed="rId4"/>
          <a:stretch>
            <a:fillRect/>
          </a:stretch>
        </p:blipFill>
        <p:spPr>
          <a:xfrm>
            <a:off x="5257800" y="1943100"/>
            <a:ext cx="1371600" cy="1485900"/>
          </a:xfrm>
          <a:prstGeom prst="rect">
            <a:avLst/>
          </a:prstGeom>
        </p:spPr>
      </p:pic>
      <p:sp>
        <p:nvSpPr>
          <p:cNvPr id="12" name="TextBox 11"/>
          <p:cNvSpPr txBox="1"/>
          <p:nvPr/>
        </p:nvSpPr>
        <p:spPr>
          <a:xfrm>
            <a:off x="5257800" y="3429000"/>
            <a:ext cx="1371600" cy="742950"/>
          </a:xfrm>
          <a:prstGeom prst="rect">
            <a:avLst/>
          </a:prstGeom>
          <a:noFill/>
        </p:spPr>
        <p:txBody>
          <a:bodyPr wrap="none">
            <a:spAutoFit/>
          </a:bodyPr>
          <a:lstStyle/>
          <a:p>
            <a:pPr algn="ctr">
              <a:defRPr sz="1200" b="0">
                <a:solidFill>
                  <a:srgbClr val="FFFFFF"/>
                </a:solidFill>
                <a:latin typeface="Source Sans Pro"/>
              </a:defRPr>
            </a:pPr>
            <a:r>
              <a:t>Version 3</a:t>
            </a:r>
          </a:p>
        </p:txBody>
      </p:sp>
      <p:sp>
        <p:nvSpPr>
          <p:cNvPr id="13" name="TextBox 12"/>
          <p:cNvSpPr txBox="1"/>
          <p:nvPr/>
        </p:nvSpPr>
        <p:spPr>
          <a:xfrm>
            <a:off x="1143000" y="4914900"/>
            <a:ext cx="7543800" cy="742950"/>
          </a:xfrm>
          <a:prstGeom prst="rect">
            <a:avLst/>
          </a:prstGeom>
          <a:noFill/>
        </p:spPr>
        <p:txBody>
          <a:bodyPr wrap="none">
            <a:spAutoFit/>
          </a:bodyPr>
          <a:lstStyle/>
          <a:p>
            <a:pPr algn="ctr">
              <a:defRPr sz="1200" b="0">
                <a:solidFill>
                  <a:srgbClr val="FFFFFF"/>
                </a:solidFill>
                <a:latin typeface="Source Sans Pro"/>
              </a:defRPr>
            </a:pPr>
            <a:r>
              <a:t>Minimum size: 0.5 inches • Clearspace: 0.25 inches on all sides</a:t>
            </a:r>
          </a:p>
        </p:txBody>
      </p:sp>
      <p:sp>
        <p:nvSpPr>
          <p:cNvPr id="14" name="TextBox 13"/>
          <p:cNvSpPr txBox="1"/>
          <p:nvPr/>
        </p:nvSpPr>
        <p:spPr>
          <a:xfrm>
            <a:off x="457200" y="5657850"/>
            <a:ext cx="4114800" cy="742950"/>
          </a:xfrm>
          <a:prstGeom prst="rect">
            <a:avLst/>
          </a:prstGeom>
          <a:noFill/>
        </p:spPr>
        <p:txBody>
          <a:bodyPr wrap="none">
            <a:spAutoFit/>
          </a:bodyPr>
          <a:lstStyle/>
          <a:p>
            <a:pPr algn="l">
              <a:defRPr sz="1000" b="0">
                <a:solidFill>
                  <a:srgbClr val="FFFFFF"/>
                </a:solidFill>
                <a:latin typeface="Source Sans Pro"/>
              </a:defRPr>
            </a:pPr>
            <a:r>
              <a:t>Flipkart</a:t>
            </a:r>
          </a:p>
        </p:txBody>
      </p:sp>
      <p:sp>
        <p:nvSpPr>
          <p:cNvPr id="15" name="TextBox 14"/>
          <p:cNvSpPr txBox="1"/>
          <p:nvPr/>
        </p:nvSpPr>
        <p:spPr>
          <a:xfrm>
            <a:off x="4572000" y="5657850"/>
            <a:ext cx="4114800" cy="742950"/>
          </a:xfrm>
          <a:prstGeom prst="rect">
            <a:avLst/>
          </a:prstGeom>
          <a:noFill/>
        </p:spPr>
        <p:txBody>
          <a:bodyPr wrap="none">
            <a:spAutoFit/>
          </a:bodyPr>
          <a:lstStyle/>
          <a:p>
            <a:pPr algn="r">
              <a:defRPr sz="1000" b="0">
                <a:solidFill>
                  <a:srgbClr val="FFFFFF"/>
                </a:solidFill>
                <a:latin typeface="Source Sans Pro"/>
              </a:defRPr>
            </a:pPr>
            <a: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sp>
        <p:nvSpPr>
          <p:cNvPr id="2" name="Rectangle 1"/>
          <p:cNvSpPr/>
          <p:nvPr/>
        </p:nvSpPr>
        <p:spPr>
          <a:xfrm>
            <a:off x="0" y="0"/>
            <a:ext cx="9144000" cy="68580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Pr/>
      <p:sp>
        <p:nvSpPr>
          <p:cNvPr id="3" name="TextBox 2"/>
          <p:cNvSpPr txBox="1"/>
          <p:nvPr/>
        </p:nvSpPr>
        <p:spPr>
          <a:xfrm>
            <a:off x="1143000" y="457200"/>
            <a:ext cx="6858000" cy="742950"/>
          </a:xfrm>
          <a:prstGeom prst="rect">
            <a:avLst/>
          </a:prstGeom>
          <a:noFill/>
        </p:spPr>
        <p:txBody>
          <a:bodyPr wrap="none">
            <a:spAutoFit/>
          </a:bodyPr>
          <a:lstStyle/>
          <a:p>
            <a:pPr>
              <a:defRPr sz="3200" b="1">
                <a:solidFill>
                  <a:srgbClr val="FFFFFF"/>
                </a:solidFill>
                <a:latin typeface="Inter"/>
              </a:defRPr>
            </a:pPr>
            <a:r>
              <a:t>Color Palette</a:t>
            </a:r>
          </a:p>
        </p:txBody>
      </p:sp>
      <p:sp>
        <p:nvSpPr>
          <p:cNvPr id="4" name="Rectangle 3"/>
          <p:cNvSpPr/>
          <p:nvPr/>
        </p:nvSpPr>
        <p:spPr>
          <a:xfrm>
            <a:off x="1143000" y="1943100"/>
            <a:ext cx="2057400" cy="1485900"/>
          </a:xfrm>
          <a:prstGeom prst="rect">
            <a:avLst/>
          </a:prstGeom>
          <a:solidFill>
            <a:srgbClr val="1F2937"/>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3429000"/>
            <a:ext cx="2057400" cy="1485900"/>
          </a:xfrm>
          <a:prstGeom prst="rect">
            <a:avLst/>
          </a:prstGeom>
          <a:noFill/>
        </p:spPr>
        <p:txBody>
          <a:bodyPr wrap="square">
            <a:spAutoFit/>
          </a:bodyPr>
          <a:lstStyle/>
          <a:p>
            <a:pPr>
              <a:defRPr sz="1000" b="0">
                <a:solidFill>
                  <a:srgbClr val="FFFFFF"/>
                </a:solidFill>
                <a:latin typeface="Source Sans Pro"/>
              </a:defRPr>
            </a:pPr>
            <a:r>
              <a:t>Primary</a:t>
            </a:r>
          </a:p>
          <a:p>
            <a:pPr>
              <a:defRPr sz="1000" b="0">
                <a:solidFill>
                  <a:srgbClr val="FFFFFF"/>
                </a:solidFill>
                <a:latin typeface="Source Sans Pro"/>
              </a:defRPr>
            </a:pPr>
            <a:r>
              <a:t>#1F2937</a:t>
            </a:r>
          </a:p>
          <a:p>
            <a:pPr>
              <a:defRPr sz="1000" b="0">
                <a:solidFill>
                  <a:srgbClr val="FFFFFF"/>
                </a:solidFill>
                <a:latin typeface="Source Sans Pro"/>
              </a:defRPr>
            </a:pPr>
            <a:r>
              <a:t>RGB(31, 41, 55)</a:t>
            </a:r>
          </a:p>
          <a:p>
            <a:pPr>
              <a:defRPr sz="1000" b="0">
                <a:solidFill>
                  <a:srgbClr val="FFFFFF"/>
                </a:solidFill>
                <a:latin typeface="Source Sans Pro"/>
              </a:defRPr>
            </a:pPr>
            <a:r>
              <a:t>CMYK(43, 25, 0, 78)</a:t>
            </a:r>
          </a:p>
          <a:p>
            <a:pPr>
              <a:defRPr sz="1000" b="0">
                <a:solidFill>
                  <a:srgbClr val="FFFFFF"/>
                </a:solidFill>
                <a:latin typeface="Source Sans Pro"/>
              </a:defRPr>
            </a:pPr>
            <a:r>
              <a:t>Use Light Text</a:t>
            </a:r>
          </a:p>
        </p:txBody>
      </p:sp>
      <p:sp>
        <p:nvSpPr>
          <p:cNvPr id="6" name="Rectangle 5"/>
          <p:cNvSpPr/>
          <p:nvPr/>
        </p:nvSpPr>
        <p:spPr>
          <a:xfrm>
            <a:off x="3886200" y="1943100"/>
            <a:ext cx="2057400" cy="1485900"/>
          </a:xfrm>
          <a:prstGeom prst="rect">
            <a:avLst/>
          </a:prstGeom>
          <a:solidFill>
            <a:srgbClr val="C2410C"/>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886200" y="3429000"/>
            <a:ext cx="2057400" cy="1485900"/>
          </a:xfrm>
          <a:prstGeom prst="rect">
            <a:avLst/>
          </a:prstGeom>
          <a:noFill/>
        </p:spPr>
        <p:txBody>
          <a:bodyPr wrap="square">
            <a:spAutoFit/>
          </a:bodyPr>
          <a:lstStyle/>
          <a:p>
            <a:pPr>
              <a:defRPr sz="1000" b="0">
                <a:solidFill>
                  <a:srgbClr val="FFFFFF"/>
                </a:solidFill>
                <a:latin typeface="Source Sans Pro"/>
              </a:defRPr>
            </a:pPr>
            <a:r>
              <a:t>Secondary</a:t>
            </a:r>
          </a:p>
          <a:p>
            <a:pPr>
              <a:defRPr sz="1000" b="0">
                <a:solidFill>
                  <a:srgbClr val="FFFFFF"/>
                </a:solidFill>
                <a:latin typeface="Source Sans Pro"/>
              </a:defRPr>
            </a:pPr>
            <a:r>
              <a:t>#C2410C</a:t>
            </a:r>
          </a:p>
          <a:p>
            <a:pPr>
              <a:defRPr sz="1000" b="0">
                <a:solidFill>
                  <a:srgbClr val="FFFFFF"/>
                </a:solidFill>
                <a:latin typeface="Source Sans Pro"/>
              </a:defRPr>
            </a:pPr>
            <a:r>
              <a:t>RGB(194, 65, 12)</a:t>
            </a:r>
          </a:p>
          <a:p>
            <a:pPr>
              <a:defRPr sz="1000" b="0">
                <a:solidFill>
                  <a:srgbClr val="FFFFFF"/>
                </a:solidFill>
                <a:latin typeface="Source Sans Pro"/>
              </a:defRPr>
            </a:pPr>
            <a:r>
              <a:t>CMYK(0, 66, 93, 23)</a:t>
            </a:r>
          </a:p>
          <a:p>
            <a:pPr>
              <a:defRPr sz="1000" b="0">
                <a:solidFill>
                  <a:srgbClr val="FFFFFF"/>
                </a:solidFill>
                <a:latin typeface="Source Sans Pro"/>
              </a:defRPr>
            </a:pPr>
            <a:r>
              <a:t>Use Light Text</a:t>
            </a:r>
          </a:p>
        </p:txBody>
      </p:sp>
      <p:sp>
        <p:nvSpPr>
          <p:cNvPr id="8" name="Rectangle 7"/>
          <p:cNvSpPr/>
          <p:nvPr/>
        </p:nvSpPr>
        <p:spPr>
          <a:xfrm>
            <a:off x="6629400" y="1943100"/>
            <a:ext cx="2057400" cy="1485900"/>
          </a:xfrm>
          <a:prstGeom prst="rect">
            <a:avLst/>
          </a:prstGeom>
          <a:solidFill>
            <a:srgbClr val="F87171"/>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29400" y="3429000"/>
            <a:ext cx="2057400" cy="1485900"/>
          </a:xfrm>
          <a:prstGeom prst="rect">
            <a:avLst/>
          </a:prstGeom>
          <a:noFill/>
        </p:spPr>
        <p:txBody>
          <a:bodyPr wrap="square">
            <a:spAutoFit/>
          </a:bodyPr>
          <a:lstStyle/>
          <a:p>
            <a:pPr>
              <a:defRPr sz="1000" b="0">
                <a:solidFill>
                  <a:srgbClr val="FFFFFF"/>
                </a:solidFill>
                <a:latin typeface="Source Sans Pro"/>
              </a:defRPr>
            </a:pPr>
            <a:r>
              <a:t>Accent</a:t>
            </a:r>
          </a:p>
          <a:p>
            <a:pPr>
              <a:defRPr sz="1000" b="0">
                <a:solidFill>
                  <a:srgbClr val="FFFFFF"/>
                </a:solidFill>
                <a:latin typeface="Source Sans Pro"/>
              </a:defRPr>
            </a:pPr>
            <a:r>
              <a:t>#F87171</a:t>
            </a:r>
          </a:p>
          <a:p>
            <a:pPr>
              <a:defRPr sz="1000" b="0">
                <a:solidFill>
                  <a:srgbClr val="FFFFFF"/>
                </a:solidFill>
                <a:latin typeface="Source Sans Pro"/>
              </a:defRPr>
            </a:pPr>
            <a:r>
              <a:t>RGB(248, 113, 113)</a:t>
            </a:r>
          </a:p>
          <a:p>
            <a:pPr>
              <a:defRPr sz="1000" b="0">
                <a:solidFill>
                  <a:srgbClr val="FFFFFF"/>
                </a:solidFill>
                <a:latin typeface="Source Sans Pro"/>
              </a:defRPr>
            </a:pPr>
            <a:r>
              <a:t>CMYK(0, 54, 54, 2)</a:t>
            </a:r>
          </a:p>
          <a:p>
            <a:pPr>
              <a:defRPr sz="1000" b="0">
                <a:solidFill>
                  <a:srgbClr val="FFFFFF"/>
                </a:solidFill>
                <a:latin typeface="Source Sans Pro"/>
              </a:defRPr>
            </a:pPr>
            <a:r>
              <a:t>Use Dark Text</a:t>
            </a:r>
          </a:p>
        </p:txBody>
      </p:sp>
      <p:sp>
        <p:nvSpPr>
          <p:cNvPr id="10" name="Rectangle 9"/>
          <p:cNvSpPr/>
          <p:nvPr/>
        </p:nvSpPr>
        <p:spPr>
          <a:xfrm>
            <a:off x="1143000" y="5657850"/>
            <a:ext cx="2057400" cy="1485900"/>
          </a:xfrm>
          <a:prstGeom prst="rect">
            <a:avLst/>
          </a:prstGeom>
          <a:solidFill>
            <a:srgbClr val="C2410C"/>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7143750"/>
            <a:ext cx="2057400" cy="1485900"/>
          </a:xfrm>
          <a:prstGeom prst="rect">
            <a:avLst/>
          </a:prstGeom>
          <a:noFill/>
        </p:spPr>
        <p:txBody>
          <a:bodyPr wrap="square">
            <a:spAutoFit/>
          </a:bodyPr>
          <a:lstStyle/>
          <a:p>
            <a:pPr>
              <a:defRPr sz="1000" b="0">
                <a:solidFill>
                  <a:srgbClr val="FFFFFF"/>
                </a:solidFill>
                <a:latin typeface="Source Sans Pro"/>
              </a:defRPr>
            </a:pPr>
            <a:r>
              <a:t>Supporting</a:t>
            </a:r>
          </a:p>
          <a:p>
            <a:pPr>
              <a:defRPr sz="1000" b="0">
                <a:solidFill>
                  <a:srgbClr val="FFFFFF"/>
                </a:solidFill>
                <a:latin typeface="Source Sans Pro"/>
              </a:defRPr>
            </a:pPr>
            <a:r>
              <a:t>#C2410C</a:t>
            </a:r>
          </a:p>
          <a:p>
            <a:pPr>
              <a:defRPr sz="1000" b="0">
                <a:solidFill>
                  <a:srgbClr val="FFFFFF"/>
                </a:solidFill>
                <a:latin typeface="Source Sans Pro"/>
              </a:defRPr>
            </a:pPr>
            <a:r>
              <a:t>RGB(194, 65, 12)</a:t>
            </a:r>
          </a:p>
          <a:p>
            <a:pPr>
              <a:defRPr sz="1000" b="0">
                <a:solidFill>
                  <a:srgbClr val="FFFFFF"/>
                </a:solidFill>
                <a:latin typeface="Source Sans Pro"/>
              </a:defRPr>
            </a:pPr>
            <a:r>
              <a:t>CMYK(0, 66, 93, 23)</a:t>
            </a:r>
          </a:p>
          <a:p>
            <a:pPr>
              <a:defRPr sz="1000" b="0">
                <a:solidFill>
                  <a:srgbClr val="FFFFFF"/>
                </a:solidFill>
                <a:latin typeface="Source Sans Pro"/>
              </a:defRPr>
            </a:pPr>
            <a:r>
              <a:t>Use Light Text</a:t>
            </a:r>
          </a:p>
        </p:txBody>
      </p:sp>
      <p:sp>
        <p:nvSpPr>
          <p:cNvPr id="12" name="Rectangle 11"/>
          <p:cNvSpPr/>
          <p:nvPr/>
        </p:nvSpPr>
        <p:spPr>
          <a:xfrm>
            <a:off x="3886200" y="5657850"/>
            <a:ext cx="2057400" cy="1485900"/>
          </a:xfrm>
          <a:prstGeom prst="rect">
            <a:avLst/>
          </a:prstGeom>
          <a:solidFill>
            <a:srgbClr val="1F2937"/>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886200" y="7143750"/>
            <a:ext cx="2057400" cy="1485900"/>
          </a:xfrm>
          <a:prstGeom prst="rect">
            <a:avLst/>
          </a:prstGeom>
          <a:noFill/>
        </p:spPr>
        <p:txBody>
          <a:bodyPr wrap="square">
            <a:spAutoFit/>
          </a:bodyPr>
          <a:lstStyle/>
          <a:p>
            <a:pPr>
              <a:defRPr sz="1000" b="0">
                <a:solidFill>
                  <a:srgbClr val="FFFFFF"/>
                </a:solidFill>
                <a:latin typeface="Source Sans Pro"/>
              </a:defRPr>
            </a:pPr>
            <a:r>
              <a:t>Hex_Codes</a:t>
            </a:r>
          </a:p>
          <a:p>
            <a:pPr>
              <a:defRPr sz="1000" b="0">
                <a:solidFill>
                  <a:srgbClr val="FFFFFF"/>
                </a:solidFill>
                <a:latin typeface="Source Sans Pro"/>
              </a:defRPr>
            </a:pPr>
            <a:r>
              <a:t>#1F2937</a:t>
            </a:r>
          </a:p>
          <a:p>
            <a:pPr>
              <a:defRPr sz="1000" b="0">
                <a:solidFill>
                  <a:srgbClr val="FFFFFF"/>
                </a:solidFill>
                <a:latin typeface="Source Sans Pro"/>
              </a:defRPr>
            </a:pPr>
            <a:r>
              <a:t>RGB(31, 41, 55)</a:t>
            </a:r>
          </a:p>
          <a:p>
            <a:pPr>
              <a:defRPr sz="1000" b="0">
                <a:solidFill>
                  <a:srgbClr val="FFFFFF"/>
                </a:solidFill>
                <a:latin typeface="Source Sans Pro"/>
              </a:defRPr>
            </a:pPr>
            <a:r>
              <a:t>CMYK(43, 25, 0, 78)</a:t>
            </a:r>
          </a:p>
          <a:p>
            <a:pPr>
              <a:defRPr sz="1000" b="0">
                <a:solidFill>
                  <a:srgbClr val="FFFFFF"/>
                </a:solidFill>
                <a:latin typeface="Source Sans Pro"/>
              </a:defRPr>
            </a:pPr>
            <a:r>
              <a:t>Use Light Text</a:t>
            </a:r>
          </a:p>
        </p:txBody>
      </p:sp>
      <p:sp>
        <p:nvSpPr>
          <p:cNvPr id="14" name="TextBox 13"/>
          <p:cNvSpPr txBox="1"/>
          <p:nvPr/>
        </p:nvSpPr>
        <p:spPr>
          <a:xfrm>
            <a:off x="457200" y="5657850"/>
            <a:ext cx="4114800" cy="742950"/>
          </a:xfrm>
          <a:prstGeom prst="rect">
            <a:avLst/>
          </a:prstGeom>
          <a:noFill/>
        </p:spPr>
        <p:txBody>
          <a:bodyPr wrap="none">
            <a:spAutoFit/>
          </a:bodyPr>
          <a:lstStyle/>
          <a:p>
            <a:pPr algn="l">
              <a:defRPr sz="1000" b="0">
                <a:solidFill>
                  <a:srgbClr val="FFFFFF"/>
                </a:solidFill>
                <a:latin typeface="Source Sans Pro"/>
              </a:defRPr>
            </a:pPr>
            <a:r>
              <a:t>Flipkart</a:t>
            </a:r>
          </a:p>
        </p:txBody>
      </p:sp>
      <p:sp>
        <p:nvSpPr>
          <p:cNvPr id="15" name="TextBox 14"/>
          <p:cNvSpPr txBox="1"/>
          <p:nvPr/>
        </p:nvSpPr>
        <p:spPr>
          <a:xfrm>
            <a:off x="4572000" y="5657850"/>
            <a:ext cx="4114800" cy="742950"/>
          </a:xfrm>
          <a:prstGeom prst="rect">
            <a:avLst/>
          </a:prstGeom>
          <a:noFill/>
        </p:spPr>
        <p:txBody>
          <a:bodyPr wrap="none">
            <a:spAutoFit/>
          </a:bodyPr>
          <a:lstStyle/>
          <a:p>
            <a:pPr algn="r">
              <a:defRPr sz="1000" b="0">
                <a:solidFill>
                  <a:srgbClr val="FFFFFF"/>
                </a:solidFill>
                <a:latin typeface="Source Sans Pro"/>
              </a:defRPr>
            </a:pPr>
            <a: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sp>
        <p:nvSpPr>
          <p:cNvPr id="2" name="Rectangle 1"/>
          <p:cNvSpPr/>
          <p:nvPr/>
        </p:nvSpPr>
        <p:spPr>
          <a:xfrm>
            <a:off x="0" y="0"/>
            <a:ext cx="9144000" cy="68580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Pr/>
      <p:sp>
        <p:nvSpPr>
          <p:cNvPr id="3" name="TextBox 2"/>
          <p:cNvSpPr txBox="1"/>
          <p:nvPr/>
        </p:nvSpPr>
        <p:spPr>
          <a:xfrm>
            <a:off x="1143000" y="457200"/>
            <a:ext cx="6858000" cy="742950"/>
          </a:xfrm>
          <a:prstGeom prst="rect">
            <a:avLst/>
          </a:prstGeom>
          <a:noFill/>
        </p:spPr>
        <p:txBody>
          <a:bodyPr wrap="none">
            <a:spAutoFit/>
          </a:bodyPr>
          <a:lstStyle/>
          <a:p>
            <a:pPr>
              <a:defRPr sz="3200" b="1">
                <a:solidFill>
                  <a:srgbClr val="FFFFFF"/>
                </a:solidFill>
                <a:latin typeface="Inter"/>
              </a:defRPr>
            </a:pPr>
            <a:r>
              <a:t>Typography</a:t>
            </a:r>
          </a:p>
        </p:txBody>
      </p:sp>
      <p:sp>
        <p:nvSpPr>
          <p:cNvPr id="4" name="TextBox 3"/>
          <p:cNvSpPr txBox="1"/>
          <p:nvPr/>
        </p:nvSpPr>
        <p:spPr>
          <a:xfrm>
            <a:off x="1143000" y="1943100"/>
            <a:ext cx="3429000" cy="742950"/>
          </a:xfrm>
          <a:prstGeom prst="rect">
            <a:avLst/>
          </a:prstGeom>
          <a:noFill/>
        </p:spPr>
        <p:txBody>
          <a:bodyPr wrap="none">
            <a:spAutoFit/>
          </a:bodyPr>
          <a:lstStyle/>
          <a:p>
            <a:pPr>
              <a:defRPr sz="2000" b="0">
                <a:solidFill>
                  <a:srgbClr val="FFFFFF"/>
                </a:solidFill>
                <a:latin typeface="Source Sans Pro"/>
              </a:defRPr>
            </a:pPr>
            <a:r>
              <a:t>Primary Font: Inter</a:t>
            </a:r>
          </a:p>
        </p:txBody>
      </p:sp>
      <p:sp>
        <p:nvSpPr>
          <p:cNvPr id="5" name="TextBox 4"/>
          <p:cNvSpPr txBox="1"/>
          <p:nvPr/>
        </p:nvSpPr>
        <p:spPr>
          <a:xfrm>
            <a:off x="1143000" y="2686050"/>
            <a:ext cx="3429000" cy="742950"/>
          </a:xfrm>
          <a:prstGeom prst="rect">
            <a:avLst/>
          </a:prstGeom>
          <a:noFill/>
        </p:spPr>
        <p:txBody>
          <a:bodyPr wrap="none">
            <a:spAutoFit/>
          </a:bodyPr>
          <a:lstStyle/>
          <a:p>
            <a:pPr>
              <a:defRPr sz="3200" b="1">
                <a:solidFill>
                  <a:srgbClr val="FFFFFF"/>
                </a:solidFill>
                <a:latin typeface="Inter"/>
              </a:defRPr>
            </a:pPr>
            <a:r>
              <a:t>H1 Heading</a:t>
            </a:r>
          </a:p>
        </p:txBody>
      </p:sp>
      <p:sp>
        <p:nvSpPr>
          <p:cNvPr id="6" name="TextBox 5"/>
          <p:cNvSpPr txBox="1"/>
          <p:nvPr/>
        </p:nvSpPr>
        <p:spPr>
          <a:xfrm>
            <a:off x="1143000" y="3429000"/>
            <a:ext cx="3429000" cy="742950"/>
          </a:xfrm>
          <a:prstGeom prst="rect">
            <a:avLst/>
          </a:prstGeom>
          <a:noFill/>
        </p:spPr>
        <p:txBody>
          <a:bodyPr wrap="none">
            <a:spAutoFit/>
          </a:bodyPr>
          <a:lstStyle/>
          <a:p>
            <a:pPr>
              <a:defRPr sz="2400" b="1">
                <a:solidFill>
                  <a:srgbClr val="FFFFFF"/>
                </a:solidFill>
                <a:latin typeface="Inter"/>
              </a:defRPr>
            </a:pPr>
            <a:r>
              <a:t>H2 Heading</a:t>
            </a:r>
          </a:p>
        </p:txBody>
      </p:sp>
      <p:sp>
        <p:nvSpPr>
          <p:cNvPr id="7" name="TextBox 6"/>
          <p:cNvSpPr txBox="1"/>
          <p:nvPr/>
        </p:nvSpPr>
        <p:spPr>
          <a:xfrm>
            <a:off x="1143000" y="4171950"/>
            <a:ext cx="3429000" cy="742950"/>
          </a:xfrm>
          <a:prstGeom prst="rect">
            <a:avLst/>
          </a:prstGeom>
          <a:noFill/>
        </p:spPr>
        <p:txBody>
          <a:bodyPr wrap="none">
            <a:spAutoFit/>
          </a:bodyPr>
          <a:lstStyle/>
          <a:p>
            <a:pPr>
              <a:defRPr sz="2000" b="0">
                <a:solidFill>
                  <a:srgbClr val="FFFFFF"/>
                </a:solidFill>
                <a:latin typeface="Inter"/>
              </a:defRPr>
            </a:pPr>
            <a:r>
              <a:t>H3 Heading</a:t>
            </a:r>
          </a:p>
        </p:txBody>
      </p:sp>
      <p:sp>
        <p:nvSpPr>
          <p:cNvPr id="8" name="TextBox 7"/>
          <p:cNvSpPr txBox="1"/>
          <p:nvPr/>
        </p:nvSpPr>
        <p:spPr>
          <a:xfrm>
            <a:off x="5257800" y="1943100"/>
            <a:ext cx="3429000" cy="742950"/>
          </a:xfrm>
          <a:prstGeom prst="rect">
            <a:avLst/>
          </a:prstGeom>
          <a:noFill/>
        </p:spPr>
        <p:txBody>
          <a:bodyPr wrap="none">
            <a:spAutoFit/>
          </a:bodyPr>
          <a:lstStyle/>
          <a:p>
            <a:pPr>
              <a:defRPr sz="2000" b="0">
                <a:solidFill>
                  <a:srgbClr val="FFFFFF"/>
                </a:solidFill>
                <a:latin typeface="Source Sans Pro"/>
              </a:defRPr>
            </a:pPr>
            <a:r>
              <a:t>Secondary Font: Source Sans Pro</a:t>
            </a:r>
          </a:p>
        </p:txBody>
      </p:sp>
      <p:sp>
        <p:nvSpPr>
          <p:cNvPr id="9" name="TextBox 8"/>
          <p:cNvSpPr txBox="1"/>
          <p:nvPr/>
        </p:nvSpPr>
        <p:spPr>
          <a:xfrm>
            <a:off x="5257800" y="2686050"/>
            <a:ext cx="3429000" cy="742950"/>
          </a:xfrm>
          <a:prstGeom prst="rect">
            <a:avLst/>
          </a:prstGeom>
          <a:noFill/>
        </p:spPr>
        <p:txBody>
          <a:bodyPr wrap="none">
            <a:spAutoFit/>
          </a:bodyPr>
          <a:lstStyle/>
          <a:p>
            <a:pPr>
              <a:defRPr sz="1600" b="0">
                <a:solidFill>
                  <a:srgbClr val="FFFFFF"/>
                </a:solidFill>
                <a:latin typeface="Source Sans Pro"/>
              </a:defRPr>
            </a:pPr>
            <a:r>
              <a:t>Body Text</a:t>
            </a:r>
          </a:p>
        </p:txBody>
      </p:sp>
      <p:sp>
        <p:nvSpPr>
          <p:cNvPr id="10" name="TextBox 9"/>
          <p:cNvSpPr txBox="1"/>
          <p:nvPr/>
        </p:nvSpPr>
        <p:spPr>
          <a:xfrm>
            <a:off x="5257800" y="3429000"/>
            <a:ext cx="3429000" cy="742950"/>
          </a:xfrm>
          <a:prstGeom prst="rect">
            <a:avLst/>
          </a:prstGeom>
          <a:noFill/>
        </p:spPr>
        <p:txBody>
          <a:bodyPr wrap="none">
            <a:spAutoFit/>
          </a:bodyPr>
          <a:lstStyle/>
          <a:p>
            <a:pPr>
              <a:defRPr sz="1600" b="1">
                <a:solidFill>
                  <a:srgbClr val="FFFFFF"/>
                </a:solidFill>
                <a:latin typeface="Source Sans Pro"/>
              </a:defRPr>
            </a:pPr>
            <a:r>
              <a:t>Body Bold</a:t>
            </a:r>
          </a:p>
        </p:txBody>
      </p:sp>
      <p:sp>
        <p:nvSpPr>
          <p:cNvPr id="11" name="TextBox 10"/>
          <p:cNvSpPr txBox="1"/>
          <p:nvPr/>
        </p:nvSpPr>
        <p:spPr>
          <a:xfrm>
            <a:off x="5257800" y="4171950"/>
            <a:ext cx="3429000" cy="742950"/>
          </a:xfrm>
          <a:prstGeom prst="rect">
            <a:avLst/>
          </a:prstGeom>
          <a:noFill/>
        </p:spPr>
        <p:txBody>
          <a:bodyPr wrap="none">
            <a:spAutoFit/>
          </a:bodyPr>
          <a:lstStyle/>
          <a:p>
            <a:pPr>
              <a:defRPr sz="1200" b="0">
                <a:solidFill>
                  <a:srgbClr val="FFFFFF"/>
                </a:solidFill>
                <a:latin typeface="Source Sans Pro"/>
              </a:defRPr>
            </a:pPr>
            <a:r>
              <a:t>Caption Text</a:t>
            </a:r>
          </a:p>
        </p:txBody>
      </p:sp>
      <p:sp>
        <p:nvSpPr>
          <p:cNvPr id="12" name="TextBox 11"/>
          <p:cNvSpPr txBox="1"/>
          <p:nvPr/>
        </p:nvSpPr>
        <p:spPr>
          <a:xfrm>
            <a:off x="457200" y="5657850"/>
            <a:ext cx="4114800" cy="742950"/>
          </a:xfrm>
          <a:prstGeom prst="rect">
            <a:avLst/>
          </a:prstGeom>
          <a:noFill/>
        </p:spPr>
        <p:txBody>
          <a:bodyPr wrap="none">
            <a:spAutoFit/>
          </a:bodyPr>
          <a:lstStyle/>
          <a:p>
            <a:pPr algn="l">
              <a:defRPr sz="1000" b="0">
                <a:solidFill>
                  <a:srgbClr val="FFFFFF"/>
                </a:solidFill>
                <a:latin typeface="Source Sans Pro"/>
              </a:defRPr>
            </a:pPr>
            <a:r>
              <a:t>Flipkart</a:t>
            </a:r>
          </a:p>
        </p:txBody>
      </p:sp>
      <p:sp>
        <p:nvSpPr>
          <p:cNvPr id="13" name="TextBox 12"/>
          <p:cNvSpPr txBox="1"/>
          <p:nvPr/>
        </p:nvSpPr>
        <p:spPr>
          <a:xfrm>
            <a:off x="4572000" y="5657850"/>
            <a:ext cx="4114800" cy="742950"/>
          </a:xfrm>
          <a:prstGeom prst="rect">
            <a:avLst/>
          </a:prstGeom>
          <a:noFill/>
        </p:spPr>
        <p:txBody>
          <a:bodyPr wrap="none">
            <a:spAutoFit/>
          </a:bodyPr>
          <a:lstStyle/>
          <a:p>
            <a:pPr algn="r">
              <a:defRPr sz="1000" b="0">
                <a:solidFill>
                  <a:srgbClr val="FFFFFF"/>
                </a:solidFill>
                <a:latin typeface="Source Sans Pro"/>
              </a:defRPr>
            </a:pPr>
            <a: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sp>
        <p:nvSpPr>
          <p:cNvPr id="2" name="Rectangle 1"/>
          <p:cNvSpPr/>
          <p:nvPr/>
        </p:nvSpPr>
        <p:spPr>
          <a:xfrm>
            <a:off x="0" y="0"/>
            <a:ext cx="9144000" cy="68580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Pr/>
      <p:sp>
        <p:nvSpPr>
          <p:cNvPr id="3" name="TextBox 2"/>
          <p:cNvSpPr txBox="1"/>
          <p:nvPr/>
        </p:nvSpPr>
        <p:spPr>
          <a:xfrm>
            <a:off x="1143000" y="457200"/>
            <a:ext cx="6858000" cy="742950"/>
          </a:xfrm>
          <a:prstGeom prst="rect">
            <a:avLst/>
          </a:prstGeom>
          <a:noFill/>
        </p:spPr>
        <p:txBody>
          <a:bodyPr wrap="none">
            <a:spAutoFit/>
          </a:bodyPr>
          <a:lstStyle/>
          <a:p>
            <a:pPr>
              <a:defRPr sz="3200" b="1">
                <a:solidFill>
                  <a:srgbClr val="FFFFFF"/>
                </a:solidFill>
                <a:latin typeface="Inter"/>
              </a:defRPr>
            </a:pPr>
            <a:r>
              <a:t>Visual &amp; Photography Guidelines</a:t>
            </a:r>
          </a:p>
        </p:txBody>
      </p:sp>
      <p:sp>
        <p:nvSpPr>
          <p:cNvPr id="4" name="TextBox 3"/>
          <p:cNvSpPr txBox="1"/>
          <p:nvPr/>
        </p:nvSpPr>
        <p:spPr>
          <a:xfrm>
            <a:off x="1143000" y="1943100"/>
            <a:ext cx="3429000" cy="2971800"/>
          </a:xfrm>
          <a:prstGeom prst="rect">
            <a:avLst/>
          </a:prstGeom>
          <a:noFill/>
        </p:spPr>
        <p:txBody>
          <a:bodyPr wrap="square">
            <a:spAutoFit/>
          </a:bodyPr>
          <a:lstStyle/>
          <a:p>
            <a:pPr>
              <a:defRPr sz="1800" b="0">
                <a:solidFill>
                  <a:srgbClr val="FFFFFF"/>
                </a:solidFill>
                <a:latin typeface="Source Sans Pro"/>
              </a:defRPr>
            </a:pPr>
            <a:r>
              <a:t>Visual Style Guidelines:</a:t>
            </a:r>
          </a:p>
          <a:p>
            <a:pPr>
              <a:defRPr sz="1400" b="0">
                <a:solidFill>
                  <a:srgbClr val="FFFFFF"/>
                </a:solidFill>
                <a:latin typeface="Source Sans Pro"/>
              </a:defRPr>
            </a:pPr>
            <a:r>
              <a:t>• Visual style for Flipkart in E-commerce</a:t>
            </a:r>
          </a:p>
          <a:p>
            <a:pPr>
              <a:defRPr sz="1400" b="0">
                <a:solidFill>
                  <a:srgbClr val="FFFFFF"/>
                </a:solidFill>
                <a:latin typeface="Source Sans Pro"/>
              </a:defRPr>
            </a:pPr>
            <a:r>
              <a:t>• Retail</a:t>
            </a:r>
          </a:p>
          <a:p>
            <a:pPr>
              <a:defRPr sz="1400" b="0">
                <a:solidFill>
                  <a:srgbClr val="FFFFFF"/>
                </a:solidFill>
                <a:latin typeface="Source Sans Pro"/>
              </a:defRPr>
            </a:pPr>
            <a:r>
              <a:t>• Technology</a:t>
            </a:r>
          </a:p>
          <a:p>
            <a:pPr>
              <a:defRPr sz="1400" b="0">
                <a:solidFill>
                  <a:srgbClr val="FFFFFF"/>
                </a:solidFill>
                <a:latin typeface="Source Sans Pro"/>
              </a:defRPr>
            </a:pPr>
            <a:r>
              <a:t>• Logistics &amp; Supply Chain: Minimalistic aesthetic</a:t>
            </a:r>
          </a:p>
          <a:p>
            <a:pPr>
              <a:defRPr sz="1400" b="0">
                <a:solidFill>
                  <a:srgbClr val="FFFFFF"/>
                </a:solidFill>
                <a:latin typeface="Source Sans Pro"/>
              </a:defRPr>
            </a:pPr>
            <a:r>
              <a:t>• values: Customer-Centricity</a:t>
            </a:r>
          </a:p>
        </p:txBody>
      </p:sp>
      <p:sp>
        <p:nvSpPr>
          <p:cNvPr id="5" name="TextBox 4"/>
          <p:cNvSpPr txBox="1"/>
          <p:nvPr/>
        </p:nvSpPr>
        <p:spPr>
          <a:xfrm>
            <a:off x="5257800" y="1943100"/>
            <a:ext cx="3429000" cy="2971800"/>
          </a:xfrm>
          <a:prstGeom prst="rect">
            <a:avLst/>
          </a:prstGeom>
          <a:noFill/>
        </p:spPr>
        <p:txBody>
          <a:bodyPr wrap="square">
            <a:spAutoFit/>
          </a:bodyPr>
          <a:lstStyle/>
          <a:p>
            <a:pPr>
              <a:defRPr sz="1800" b="0">
                <a:solidFill>
                  <a:srgbClr val="FFFFFF"/>
                </a:solidFill>
                <a:latin typeface="Source Sans Pro"/>
              </a:defRPr>
            </a:pPr>
            <a:r>
              <a:t>Photography Guidelines:</a:t>
            </a:r>
          </a:p>
          <a:p>
            <a:pPr>
              <a:defRPr sz="1400" b="0">
                <a:solidFill>
                  <a:srgbClr val="FFFFFF"/>
                </a:solidFill>
                <a:latin typeface="Source Sans Pro"/>
              </a:defRPr>
            </a:pPr>
            <a:r>
              <a:t>• Photography style for Flipkart: Minimalistic and E-commerce</a:t>
            </a:r>
          </a:p>
          <a:p>
            <a:pPr>
              <a:defRPr sz="1400" b="0">
                <a:solidFill>
                  <a:srgbClr val="FFFFFF"/>
                </a:solidFill>
                <a:latin typeface="Source Sans Pro"/>
              </a:defRPr>
            </a:pPr>
            <a:r>
              <a:t>• Retail</a:t>
            </a:r>
          </a:p>
          <a:p>
            <a:pPr>
              <a:defRPr sz="1400" b="0">
                <a:solidFill>
                  <a:srgbClr val="FFFFFF"/>
                </a:solidFill>
                <a:latin typeface="Source Sans Pro"/>
              </a:defRPr>
            </a:pPr>
            <a:r>
              <a:t>• Technology</a:t>
            </a:r>
          </a:p>
          <a:p>
            <a:pPr>
              <a:defRPr sz="1400" b="0">
                <a:solidFill>
                  <a:srgbClr val="FFFFFF"/>
                </a:solidFill>
                <a:latin typeface="Source Sans Pro"/>
              </a:defRPr>
            </a:pPr>
            <a:r>
              <a:t>• Logistics &amp; Supply Chain feel. Show diversity</a:t>
            </a:r>
          </a:p>
          <a:p>
            <a:pPr>
              <a:defRPr sz="1400" b="0">
                <a:solidFill>
                  <a:srgbClr val="FFFFFF"/>
                </a:solidFill>
                <a:latin typeface="Source Sans Pro"/>
              </a:defRPr>
            </a:pPr>
            <a:r>
              <a:t>• authenticity</a:t>
            </a:r>
          </a:p>
        </p:txBody>
      </p:sp>
      <p:sp>
        <p:nvSpPr>
          <p:cNvPr id="6" name="Rectangle 5"/>
          <p:cNvSpPr/>
          <p:nvPr/>
        </p:nvSpPr>
        <p:spPr>
          <a:xfrm>
            <a:off x="5257800" y="4914900"/>
            <a:ext cx="685800" cy="742950"/>
          </a:xfrm>
          <a:prstGeom prst="rect">
            <a:avLst/>
          </a:prstGeom>
          <a:solidFill>
            <a:srgbClr val="404040"/>
          </a:solidFill>
          <a:ln w="12700">
            <a:solidFill>
              <a:srgbClr val="8080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257800" y="5162550"/>
            <a:ext cx="685800" cy="247650"/>
          </a:xfrm>
          <a:prstGeom prst="rect">
            <a:avLst/>
          </a:prstGeom>
          <a:noFill/>
        </p:spPr>
        <p:txBody>
          <a:bodyPr wrap="none">
            <a:spAutoFit/>
          </a:bodyPr>
          <a:lstStyle/>
          <a:p>
            <a:pPr algn="ctr">
              <a:defRPr sz="800" b="0">
                <a:solidFill>
                  <a:srgbClr val="FFFFFF"/>
                </a:solidFill>
                <a:latin typeface="Source Sans Pro"/>
              </a:defRPr>
            </a:pPr>
            <a:r>
              <a:t>Example</a:t>
            </a:r>
          </a:p>
        </p:txBody>
      </p:sp>
      <p:sp>
        <p:nvSpPr>
          <p:cNvPr id="8" name="Rectangle 7"/>
          <p:cNvSpPr/>
          <p:nvPr/>
        </p:nvSpPr>
        <p:spPr>
          <a:xfrm>
            <a:off x="6629400" y="4914900"/>
            <a:ext cx="685800" cy="742950"/>
          </a:xfrm>
          <a:prstGeom prst="rect">
            <a:avLst/>
          </a:prstGeom>
          <a:solidFill>
            <a:srgbClr val="404040"/>
          </a:solidFill>
          <a:ln w="12700">
            <a:solidFill>
              <a:srgbClr val="8080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29400" y="5162550"/>
            <a:ext cx="685800" cy="247650"/>
          </a:xfrm>
          <a:prstGeom prst="rect">
            <a:avLst/>
          </a:prstGeom>
          <a:noFill/>
        </p:spPr>
        <p:txBody>
          <a:bodyPr wrap="none">
            <a:spAutoFit/>
          </a:bodyPr>
          <a:lstStyle/>
          <a:p>
            <a:pPr algn="ctr">
              <a:defRPr sz="800" b="0">
                <a:solidFill>
                  <a:srgbClr val="FFFFFF"/>
                </a:solidFill>
                <a:latin typeface="Source Sans Pro"/>
              </a:defRPr>
            </a:pPr>
            <a:r>
              <a:t>Example</a:t>
            </a:r>
          </a:p>
        </p:txBody>
      </p:sp>
      <p:sp>
        <p:nvSpPr>
          <p:cNvPr id="10" name="Rectangle 9"/>
          <p:cNvSpPr/>
          <p:nvPr/>
        </p:nvSpPr>
        <p:spPr>
          <a:xfrm>
            <a:off x="8001000" y="4914900"/>
            <a:ext cx="685800" cy="742950"/>
          </a:xfrm>
          <a:prstGeom prst="rect">
            <a:avLst/>
          </a:prstGeom>
          <a:solidFill>
            <a:srgbClr val="404040"/>
          </a:solidFill>
          <a:ln w="12700">
            <a:solidFill>
              <a:srgbClr val="8080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01000" y="5162550"/>
            <a:ext cx="685800" cy="247650"/>
          </a:xfrm>
          <a:prstGeom prst="rect">
            <a:avLst/>
          </a:prstGeom>
          <a:noFill/>
        </p:spPr>
        <p:txBody>
          <a:bodyPr wrap="none">
            <a:spAutoFit/>
          </a:bodyPr>
          <a:lstStyle/>
          <a:p>
            <a:pPr algn="ctr">
              <a:defRPr sz="800" b="0">
                <a:solidFill>
                  <a:srgbClr val="FFFFFF"/>
                </a:solidFill>
                <a:latin typeface="Source Sans Pro"/>
              </a:defRPr>
            </a:pPr>
            <a:r>
              <a:t>Example</a:t>
            </a:r>
          </a:p>
        </p:txBody>
      </p:sp>
      <p:sp>
        <p:nvSpPr>
          <p:cNvPr id="12" name="TextBox 11"/>
          <p:cNvSpPr txBox="1"/>
          <p:nvPr/>
        </p:nvSpPr>
        <p:spPr>
          <a:xfrm>
            <a:off x="457200" y="5657850"/>
            <a:ext cx="4114800" cy="742950"/>
          </a:xfrm>
          <a:prstGeom prst="rect">
            <a:avLst/>
          </a:prstGeom>
          <a:noFill/>
        </p:spPr>
        <p:txBody>
          <a:bodyPr wrap="none">
            <a:spAutoFit/>
          </a:bodyPr>
          <a:lstStyle/>
          <a:p>
            <a:pPr algn="l">
              <a:defRPr sz="1000" b="0">
                <a:solidFill>
                  <a:srgbClr val="FFFFFF"/>
                </a:solidFill>
                <a:latin typeface="Source Sans Pro"/>
              </a:defRPr>
            </a:pPr>
            <a:r>
              <a:t>Flipkart</a:t>
            </a:r>
          </a:p>
        </p:txBody>
      </p:sp>
      <p:sp>
        <p:nvSpPr>
          <p:cNvPr id="13" name="TextBox 12"/>
          <p:cNvSpPr txBox="1"/>
          <p:nvPr/>
        </p:nvSpPr>
        <p:spPr>
          <a:xfrm>
            <a:off x="4572000" y="5657850"/>
            <a:ext cx="4114800" cy="742950"/>
          </a:xfrm>
          <a:prstGeom prst="rect">
            <a:avLst/>
          </a:prstGeom>
          <a:noFill/>
        </p:spPr>
        <p:txBody>
          <a:bodyPr wrap="none">
            <a:spAutoFit/>
          </a:bodyPr>
          <a:lstStyle/>
          <a:p>
            <a:pPr algn="r">
              <a:defRPr sz="1000" b="0">
                <a:solidFill>
                  <a:srgbClr val="FFFFFF"/>
                </a:solidFill>
                <a:latin typeface="Source Sans Pro"/>
              </a:defRPr>
            </a:pPr>
            <a:r>
              <a:t>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