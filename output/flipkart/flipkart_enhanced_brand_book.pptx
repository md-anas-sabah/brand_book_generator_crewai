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flipkart_logo_1_20250828_172836_18c40558.png"/>
          <p:cNvPicPr>
            <a:picLocks noChangeAspect="1"/>
          </p:cNvPicPr>
          <p:nvPr/>
        </p:nvPicPr>
        <p:blipFill>
          <a:blip r:embed="rId2"/>
          <a:stretch>
            <a:fillRect/>
          </a:stretch>
        </p:blipFill>
        <p:spPr>
          <a:xfrm>
            <a:off x="1143000" y="1943100"/>
            <a:ext cx="2057400" cy="2228850"/>
          </a:xfrm>
          <a:prstGeom prst="rect">
            <a:avLst/>
          </a:prstGeom>
        </p:spPr>
      </p:pic>
      <p:sp>
        <p:nvSpPr>
          <p:cNvPr id="3" name="TextBox 2"/>
          <p:cNvSpPr txBox="1"/>
          <p:nvPr/>
        </p:nvSpPr>
        <p:spPr>
          <a:xfrm>
            <a:off x="1143000" y="4171950"/>
            <a:ext cx="2743200" cy="742950"/>
          </a:xfrm>
          <a:prstGeom prst="rect">
            <a:avLst/>
          </a:prstGeom>
          <a:noFill/>
        </p:spPr>
        <p:txBody>
          <a:bodyPr wrap="none">
            <a:spAutoFit/>
          </a:bodyPr>
          <a:lstStyle/>
          <a:p>
            <a:pPr algn="ctr">
              <a:defRPr sz="3600" b="1">
                <a:solidFill>
                  <a:srgbClr val="2563EB"/>
                </a:solidFill>
                <a:latin typeface="Inter"/>
              </a:defRPr>
            </a:pPr>
            <a:r>
              <a:t>Flipkart</a:t>
            </a:r>
          </a:p>
        </p:txBody>
      </p:sp>
      <p:cxnSp>
        <p:nvCxnSpPr>
          <p:cNvPr id="4" name="Connector 3"/>
          <p:cNvCxnSpPr/>
          <p:nvPr/>
        </p:nvCxnSpPr>
        <p:spPr>
          <a:xfrm>
            <a:off x="6629400.0" y="5657850.0"/>
            <a:ext cx="2057400.0" cy="0.0"/>
          </a:xfrm>
          <a:prstGeom prst="line">
            <a:avLst/>
          </a:prstGeom>
          <a:ln>
            <a:solidFill>
              <a:srgbClr val="2563E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629400" y="5657850"/>
            <a:ext cx="2057400" cy="1485900"/>
          </a:xfrm>
          <a:prstGeom prst="rect">
            <a:avLst/>
          </a:prstGeom>
          <a:noFill/>
        </p:spPr>
        <p:txBody>
          <a:bodyPr wrap="none" anchor="ctr">
            <a:spAutoFit/>
          </a:bodyPr>
          <a:lstStyle/>
          <a:p>
            <a:pPr algn="ctr">
              <a:defRPr sz="1800" b="0">
                <a:solidFill>
                  <a:srgbClr val="2563EB"/>
                </a:solidFill>
                <a:latin typeface="Source Sans Pro"/>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2563EB"/>
                </a:solidFill>
                <a:latin typeface="Inter"/>
              </a:defRPr>
            </a:pPr>
            <a:r>
              <a:t>INDEX</a:t>
            </a:r>
          </a:p>
        </p:txBody>
      </p:sp>
      <p:cxnSp>
        <p:nvCxnSpPr>
          <p:cNvPr id="3" name="Connector 2"/>
          <p:cNvCxnSpPr/>
          <p:nvPr/>
        </p:nvCxnSpPr>
        <p:spPr>
          <a:xfrm>
            <a:off x="457200" y="1097280"/>
            <a:ext cx="82296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2011680" cy="274320"/>
          </a:xfrm>
          <a:prstGeom prst="rect">
            <a:avLst/>
          </a:prstGeom>
          <a:noFill/>
        </p:spPr>
        <p:txBody>
          <a:bodyPr wrap="none" lIns="0" rIns="0" tIns="0" bIns="0">
            <a:spAutoFit/>
          </a:bodyPr>
          <a:lstStyle/>
          <a:p>
            <a:pPr>
              <a:defRPr sz="1200" b="1">
                <a:solidFill>
                  <a:srgbClr val="FFFFFF"/>
                </a:solidFill>
                <a:latin typeface="Source Sans Pro"/>
              </a:defRPr>
            </a:pPr>
            <a:r>
              <a:t>Introduction</a:t>
            </a:r>
          </a:p>
        </p:txBody>
      </p:sp>
      <p:cxnSp>
        <p:nvCxnSpPr>
          <p:cNvPr id="5" name="Connector 4"/>
          <p:cNvCxnSpPr/>
          <p:nvPr/>
        </p:nvCxnSpPr>
        <p:spPr>
          <a:xfrm>
            <a:off x="2560320" y="166420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017520" y="1554480"/>
            <a:ext cx="274320" cy="274320"/>
          </a:xfrm>
          <a:prstGeom prst="rect">
            <a:avLst/>
          </a:prstGeom>
          <a:noFill/>
        </p:spPr>
        <p:txBody>
          <a:bodyPr wrap="none" lIns="0" tIns="0" bIns="0">
            <a:spAutoFit/>
          </a:bodyPr>
          <a:lstStyle/>
          <a:p>
            <a:pPr>
              <a:defRPr sz="1200" b="1">
                <a:solidFill>
                  <a:srgbClr val="2563EB"/>
                </a:solidFill>
                <a:latin typeface="Source Sans Pro"/>
              </a:defRPr>
            </a:pPr>
            <a:r>
              <a:t>01</a:t>
            </a:r>
          </a:p>
        </p:txBody>
      </p:sp>
      <p:sp>
        <p:nvSpPr>
          <p:cNvPr id="7" name="TextBox 6"/>
          <p:cNvSpPr txBox="1"/>
          <p:nvPr/>
        </p:nvSpPr>
        <p:spPr>
          <a:xfrm>
            <a:off x="457200" y="2057400"/>
            <a:ext cx="2011680" cy="274320"/>
          </a:xfrm>
          <a:prstGeom prst="rect">
            <a:avLst/>
          </a:prstGeom>
          <a:noFill/>
        </p:spPr>
        <p:txBody>
          <a:bodyPr wrap="none" lIns="0" rIns="0" tIns="0" bIns="0">
            <a:spAutoFit/>
          </a:bodyPr>
          <a:lstStyle/>
          <a:p>
            <a:pPr>
              <a:defRPr sz="1200" b="1">
                <a:solidFill>
                  <a:srgbClr val="FFFFFF"/>
                </a:solidFill>
                <a:latin typeface="Source Sans Pro"/>
              </a:defRPr>
            </a:pPr>
            <a:r>
              <a:t>Brand Purpose</a:t>
            </a:r>
          </a:p>
        </p:txBody>
      </p:sp>
      <p:cxnSp>
        <p:nvCxnSpPr>
          <p:cNvPr id="8" name="Connector 7"/>
          <p:cNvCxnSpPr/>
          <p:nvPr/>
        </p:nvCxnSpPr>
        <p:spPr>
          <a:xfrm>
            <a:off x="2560320" y="216712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017520" y="2057400"/>
            <a:ext cx="274320" cy="274320"/>
          </a:xfrm>
          <a:prstGeom prst="rect">
            <a:avLst/>
          </a:prstGeom>
          <a:noFill/>
        </p:spPr>
        <p:txBody>
          <a:bodyPr wrap="none" lIns="0" tIns="0" bIns="0">
            <a:spAutoFit/>
          </a:bodyPr>
          <a:lstStyle/>
          <a:p>
            <a:pPr>
              <a:defRPr sz="1200" b="1">
                <a:solidFill>
                  <a:srgbClr val="2563EB"/>
                </a:solidFill>
                <a:latin typeface="Source Sans Pro"/>
              </a:defRPr>
            </a:pPr>
            <a:r>
              <a:t>02</a:t>
            </a:r>
          </a:p>
        </p:txBody>
      </p:sp>
      <p:sp>
        <p:nvSpPr>
          <p:cNvPr id="10" name="TextBox 9"/>
          <p:cNvSpPr txBox="1"/>
          <p:nvPr/>
        </p:nvSpPr>
        <p:spPr>
          <a:xfrm>
            <a:off x="457200" y="2560320"/>
            <a:ext cx="2011680" cy="274320"/>
          </a:xfrm>
          <a:prstGeom prst="rect">
            <a:avLst/>
          </a:prstGeom>
          <a:noFill/>
        </p:spPr>
        <p:txBody>
          <a:bodyPr wrap="none" lIns="0" rIns="0" tIns="0" bIns="0">
            <a:spAutoFit/>
          </a:bodyPr>
          <a:lstStyle/>
          <a:p>
            <a:pPr>
              <a:defRPr sz="1200" b="1">
                <a:solidFill>
                  <a:srgbClr val="FFFFFF"/>
                </a:solidFill>
                <a:latin typeface="Source Sans Pro"/>
              </a:defRPr>
            </a:pPr>
            <a:r>
              <a:t>Logo Variations</a:t>
            </a:r>
          </a:p>
        </p:txBody>
      </p:sp>
      <p:cxnSp>
        <p:nvCxnSpPr>
          <p:cNvPr id="11" name="Connector 10"/>
          <p:cNvCxnSpPr/>
          <p:nvPr/>
        </p:nvCxnSpPr>
        <p:spPr>
          <a:xfrm>
            <a:off x="2560320" y="267004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017520" y="2560320"/>
            <a:ext cx="274320" cy="274320"/>
          </a:xfrm>
          <a:prstGeom prst="rect">
            <a:avLst/>
          </a:prstGeom>
          <a:noFill/>
        </p:spPr>
        <p:txBody>
          <a:bodyPr wrap="none" lIns="0" tIns="0" bIns="0">
            <a:spAutoFit/>
          </a:bodyPr>
          <a:lstStyle/>
          <a:p>
            <a:pPr>
              <a:defRPr sz="1200" b="1">
                <a:solidFill>
                  <a:srgbClr val="2563EB"/>
                </a:solidFill>
                <a:latin typeface="Source Sans Pro"/>
              </a:defRPr>
            </a:pPr>
            <a:r>
              <a:t>03</a:t>
            </a:r>
          </a:p>
        </p:txBody>
      </p:sp>
      <p:sp>
        <p:nvSpPr>
          <p:cNvPr id="13" name="TextBox 12"/>
          <p:cNvSpPr txBox="1"/>
          <p:nvPr/>
        </p:nvSpPr>
        <p:spPr>
          <a:xfrm>
            <a:off x="640080" y="2926079"/>
            <a:ext cx="1828800" cy="228600"/>
          </a:xfrm>
          <a:prstGeom prst="rect">
            <a:avLst/>
          </a:prstGeom>
          <a:noFill/>
        </p:spPr>
        <p:txBody>
          <a:bodyPr wrap="none" lIns="0" tIns="0" bIns="0">
            <a:spAutoFit/>
          </a:bodyPr>
          <a:lstStyle/>
          <a:p>
            <a:pPr>
              <a:defRPr sz="900" b="0">
                <a:solidFill>
                  <a:srgbClr val="CCCCCC"/>
                </a:solidFill>
                <a:latin typeface="Source Sans Pro"/>
              </a:defRPr>
            </a:pPr>
            <a:r>
              <a:t>Logo Mark</a:t>
            </a:r>
          </a:p>
        </p:txBody>
      </p:sp>
      <p:sp>
        <p:nvSpPr>
          <p:cNvPr id="14" name="TextBox 13"/>
          <p:cNvSpPr txBox="1"/>
          <p:nvPr/>
        </p:nvSpPr>
        <p:spPr>
          <a:xfrm>
            <a:off x="640080" y="3154679"/>
            <a:ext cx="1828800" cy="228600"/>
          </a:xfrm>
          <a:prstGeom prst="rect">
            <a:avLst/>
          </a:prstGeom>
          <a:noFill/>
        </p:spPr>
        <p:txBody>
          <a:bodyPr wrap="none" lIns="0" tIns="0" bIns="0">
            <a:spAutoFit/>
          </a:bodyPr>
          <a:lstStyle/>
          <a:p>
            <a:pPr>
              <a:defRPr sz="900" b="0">
                <a:solidFill>
                  <a:srgbClr val="CCCCCC"/>
                </a:solidFill>
                <a:latin typeface="Source Sans Pro"/>
              </a:defRPr>
            </a:pPr>
            <a:r>
              <a:t>Clear Space</a:t>
            </a:r>
          </a:p>
        </p:txBody>
      </p:sp>
      <p:sp>
        <p:nvSpPr>
          <p:cNvPr id="15" name="TextBox 14"/>
          <p:cNvSpPr txBox="1"/>
          <p:nvPr/>
        </p:nvSpPr>
        <p:spPr>
          <a:xfrm>
            <a:off x="640080" y="3383279"/>
            <a:ext cx="1828800" cy="228600"/>
          </a:xfrm>
          <a:prstGeom prst="rect">
            <a:avLst/>
          </a:prstGeom>
          <a:noFill/>
        </p:spPr>
        <p:txBody>
          <a:bodyPr wrap="none" lIns="0" tIns="0" bIns="0">
            <a:spAutoFit/>
          </a:bodyPr>
          <a:lstStyle/>
          <a:p>
            <a:pPr>
              <a:defRPr sz="900" b="0">
                <a:solidFill>
                  <a:srgbClr val="CCCCCC"/>
                </a:solidFill>
                <a:latin typeface="Source Sans Pro"/>
              </a:defRPr>
            </a:pPr>
            <a:r>
              <a:t>Usage Guidelines</a:t>
            </a:r>
          </a:p>
        </p:txBody>
      </p:sp>
      <p:sp>
        <p:nvSpPr>
          <p:cNvPr id="16" name="TextBox 15"/>
          <p:cNvSpPr txBox="1"/>
          <p:nvPr/>
        </p:nvSpPr>
        <p:spPr>
          <a:xfrm>
            <a:off x="457200" y="3749039"/>
            <a:ext cx="2011680" cy="274320"/>
          </a:xfrm>
          <a:prstGeom prst="rect">
            <a:avLst/>
          </a:prstGeom>
          <a:noFill/>
        </p:spPr>
        <p:txBody>
          <a:bodyPr wrap="none" lIns="0" rIns="0" tIns="0" bIns="0">
            <a:spAutoFit/>
          </a:bodyPr>
          <a:lstStyle/>
          <a:p>
            <a:pPr>
              <a:defRPr sz="1200" b="1">
                <a:solidFill>
                  <a:srgbClr val="FFFFFF"/>
                </a:solidFill>
                <a:latin typeface="Source Sans Pro"/>
              </a:defRPr>
            </a:pPr>
            <a:r>
              <a:t>Brand Colors</a:t>
            </a:r>
          </a:p>
        </p:txBody>
      </p:sp>
      <p:cxnSp>
        <p:nvCxnSpPr>
          <p:cNvPr id="17" name="Connector 16"/>
          <p:cNvCxnSpPr/>
          <p:nvPr/>
        </p:nvCxnSpPr>
        <p:spPr>
          <a:xfrm>
            <a:off x="2560320" y="3858767"/>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017520" y="3749039"/>
            <a:ext cx="274320" cy="274320"/>
          </a:xfrm>
          <a:prstGeom prst="rect">
            <a:avLst/>
          </a:prstGeom>
          <a:noFill/>
        </p:spPr>
        <p:txBody>
          <a:bodyPr wrap="none" lIns="0" tIns="0" bIns="0">
            <a:spAutoFit/>
          </a:bodyPr>
          <a:lstStyle/>
          <a:p>
            <a:pPr>
              <a:defRPr sz="1200" b="1">
                <a:solidFill>
                  <a:srgbClr val="2563EB"/>
                </a:solidFill>
                <a:latin typeface="Source Sans Pro"/>
              </a:defRPr>
            </a:pPr>
            <a:r>
              <a:t>04</a:t>
            </a:r>
          </a:p>
        </p:txBody>
      </p:sp>
      <p:sp>
        <p:nvSpPr>
          <p:cNvPr id="19" name="TextBox 18"/>
          <p:cNvSpPr txBox="1"/>
          <p:nvPr/>
        </p:nvSpPr>
        <p:spPr>
          <a:xfrm>
            <a:off x="640080" y="4114800"/>
            <a:ext cx="1828800" cy="228600"/>
          </a:xfrm>
          <a:prstGeom prst="rect">
            <a:avLst/>
          </a:prstGeom>
          <a:noFill/>
        </p:spPr>
        <p:txBody>
          <a:bodyPr wrap="none" lIns="0" tIns="0" bIns="0">
            <a:spAutoFit/>
          </a:bodyPr>
          <a:lstStyle/>
          <a:p>
            <a:pPr>
              <a:defRPr sz="900" b="0">
                <a:solidFill>
                  <a:srgbClr val="CCCCCC"/>
                </a:solidFill>
                <a:latin typeface="Source Sans Pro"/>
              </a:defRPr>
            </a:pPr>
            <a:r>
              <a:t>Primary Colors</a:t>
            </a:r>
          </a:p>
        </p:txBody>
      </p:sp>
      <p:sp>
        <p:nvSpPr>
          <p:cNvPr id="20" name="TextBox 19"/>
          <p:cNvSpPr txBox="1"/>
          <p:nvPr/>
        </p:nvSpPr>
        <p:spPr>
          <a:xfrm>
            <a:off x="640080" y="4343400"/>
            <a:ext cx="1828800" cy="228600"/>
          </a:xfrm>
          <a:prstGeom prst="rect">
            <a:avLst/>
          </a:prstGeom>
          <a:noFill/>
        </p:spPr>
        <p:txBody>
          <a:bodyPr wrap="none" lIns="0" tIns="0" bIns="0">
            <a:spAutoFit/>
          </a:bodyPr>
          <a:lstStyle/>
          <a:p>
            <a:pPr>
              <a:defRPr sz="900" b="0">
                <a:solidFill>
                  <a:srgbClr val="CCCCCC"/>
                </a:solidFill>
                <a:latin typeface="Source Sans Pro"/>
              </a:defRPr>
            </a:pPr>
            <a:r>
              <a:t>Secondary Colors</a:t>
            </a:r>
          </a:p>
        </p:txBody>
      </p:sp>
      <p:sp>
        <p:nvSpPr>
          <p:cNvPr id="21" name="TextBox 20"/>
          <p:cNvSpPr txBox="1"/>
          <p:nvPr/>
        </p:nvSpPr>
        <p:spPr>
          <a:xfrm>
            <a:off x="640080" y="4572000"/>
            <a:ext cx="1828800" cy="228600"/>
          </a:xfrm>
          <a:prstGeom prst="rect">
            <a:avLst/>
          </a:prstGeom>
          <a:noFill/>
        </p:spPr>
        <p:txBody>
          <a:bodyPr wrap="none" lIns="0" tIns="0" bIns="0">
            <a:spAutoFit/>
          </a:bodyPr>
          <a:lstStyle/>
          <a:p>
            <a:pPr>
              <a:defRPr sz="900" b="0">
                <a:solidFill>
                  <a:srgbClr val="CCCCCC"/>
                </a:solidFill>
                <a:latin typeface="Source Sans Pro"/>
              </a:defRPr>
            </a:pPr>
            <a:r>
              <a:t>Color Usage</a:t>
            </a:r>
          </a:p>
        </p:txBody>
      </p:sp>
      <p:sp>
        <p:nvSpPr>
          <p:cNvPr id="22" name="TextBox 21"/>
          <p:cNvSpPr txBox="1"/>
          <p:nvPr/>
        </p:nvSpPr>
        <p:spPr>
          <a:xfrm>
            <a:off x="3474720" y="1554480"/>
            <a:ext cx="2011680" cy="274320"/>
          </a:xfrm>
          <a:prstGeom prst="rect">
            <a:avLst/>
          </a:prstGeom>
          <a:noFill/>
        </p:spPr>
        <p:txBody>
          <a:bodyPr wrap="none" lIns="0" rIns="0" tIns="0" bIns="0">
            <a:spAutoFit/>
          </a:bodyPr>
          <a:lstStyle/>
          <a:p>
            <a:pPr>
              <a:defRPr sz="1200" b="1">
                <a:solidFill>
                  <a:srgbClr val="FFFFFF"/>
                </a:solidFill>
                <a:latin typeface="Source Sans Pro"/>
              </a:defRPr>
            </a:pPr>
            <a:r>
              <a:t>Typography</a:t>
            </a:r>
          </a:p>
        </p:txBody>
      </p:sp>
      <p:cxnSp>
        <p:nvCxnSpPr>
          <p:cNvPr id="23" name="Connector 22"/>
          <p:cNvCxnSpPr/>
          <p:nvPr/>
        </p:nvCxnSpPr>
        <p:spPr>
          <a:xfrm>
            <a:off x="5577840" y="166420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35040" y="1554480"/>
            <a:ext cx="274320" cy="274320"/>
          </a:xfrm>
          <a:prstGeom prst="rect">
            <a:avLst/>
          </a:prstGeom>
          <a:noFill/>
        </p:spPr>
        <p:txBody>
          <a:bodyPr wrap="none" lIns="0" tIns="0" bIns="0">
            <a:spAutoFit/>
          </a:bodyPr>
          <a:lstStyle/>
          <a:p>
            <a:pPr>
              <a:defRPr sz="1200" b="1">
                <a:solidFill>
                  <a:srgbClr val="2563EB"/>
                </a:solidFill>
                <a:latin typeface="Source Sans Pro"/>
              </a:defRPr>
            </a:pPr>
            <a:r>
              <a:t>05</a:t>
            </a:r>
          </a:p>
        </p:txBody>
      </p:sp>
      <p:sp>
        <p:nvSpPr>
          <p:cNvPr id="25" name="TextBox 24"/>
          <p:cNvSpPr txBox="1"/>
          <p:nvPr/>
        </p:nvSpPr>
        <p:spPr>
          <a:xfrm>
            <a:off x="3657600" y="1920240"/>
            <a:ext cx="1828800" cy="228600"/>
          </a:xfrm>
          <a:prstGeom prst="rect">
            <a:avLst/>
          </a:prstGeom>
          <a:noFill/>
        </p:spPr>
        <p:txBody>
          <a:bodyPr wrap="none" lIns="0" tIns="0" bIns="0">
            <a:spAutoFit/>
          </a:bodyPr>
          <a:lstStyle/>
          <a:p>
            <a:pPr>
              <a:defRPr sz="900" b="0">
                <a:solidFill>
                  <a:srgbClr val="CCCCCC"/>
                </a:solidFill>
                <a:latin typeface="Source Sans Pro"/>
              </a:defRPr>
            </a:pPr>
            <a:r>
              <a:t>Brand Font</a:t>
            </a:r>
          </a:p>
        </p:txBody>
      </p:sp>
      <p:sp>
        <p:nvSpPr>
          <p:cNvPr id="26" name="TextBox 25"/>
          <p:cNvSpPr txBox="1"/>
          <p:nvPr/>
        </p:nvSpPr>
        <p:spPr>
          <a:xfrm>
            <a:off x="3657600" y="2148840"/>
            <a:ext cx="1828800" cy="228600"/>
          </a:xfrm>
          <a:prstGeom prst="rect">
            <a:avLst/>
          </a:prstGeom>
          <a:noFill/>
        </p:spPr>
        <p:txBody>
          <a:bodyPr wrap="none" lIns="0" tIns="0" bIns="0">
            <a:spAutoFit/>
          </a:bodyPr>
          <a:lstStyle/>
          <a:p>
            <a:pPr>
              <a:defRPr sz="900" b="0">
                <a:solidFill>
                  <a:srgbClr val="CCCCCC"/>
                </a:solidFill>
                <a:latin typeface="Source Sans Pro"/>
              </a:defRPr>
            </a:pPr>
            <a:r>
              <a:t>Font Usage</a:t>
            </a:r>
          </a:p>
        </p:txBody>
      </p:sp>
      <p:sp>
        <p:nvSpPr>
          <p:cNvPr id="27" name="TextBox 26"/>
          <p:cNvSpPr txBox="1"/>
          <p:nvPr/>
        </p:nvSpPr>
        <p:spPr>
          <a:xfrm>
            <a:off x="3657600" y="2377440"/>
            <a:ext cx="1828800" cy="228600"/>
          </a:xfrm>
          <a:prstGeom prst="rect">
            <a:avLst/>
          </a:prstGeom>
          <a:noFill/>
        </p:spPr>
        <p:txBody>
          <a:bodyPr wrap="none" lIns="0" tIns="0" bIns="0">
            <a:spAutoFit/>
          </a:bodyPr>
          <a:lstStyle/>
          <a:p>
            <a:pPr>
              <a:defRPr sz="900" b="0">
                <a:solidFill>
                  <a:srgbClr val="CCCCCC"/>
                </a:solidFill>
                <a:latin typeface="Source Sans Pro"/>
              </a:defRPr>
            </a:pPr>
            <a:r>
              <a:t>Text Hierarchy</a:t>
            </a:r>
          </a:p>
        </p:txBody>
      </p:sp>
      <p:sp>
        <p:nvSpPr>
          <p:cNvPr id="28" name="TextBox 27"/>
          <p:cNvSpPr txBox="1"/>
          <p:nvPr/>
        </p:nvSpPr>
        <p:spPr>
          <a:xfrm>
            <a:off x="3474720" y="2743200"/>
            <a:ext cx="2011680" cy="274320"/>
          </a:xfrm>
          <a:prstGeom prst="rect">
            <a:avLst/>
          </a:prstGeom>
          <a:noFill/>
        </p:spPr>
        <p:txBody>
          <a:bodyPr wrap="none" lIns="0" rIns="0" tIns="0" bIns="0">
            <a:spAutoFit/>
          </a:bodyPr>
          <a:lstStyle/>
          <a:p>
            <a:pPr>
              <a:defRPr sz="1200" b="1">
                <a:solidFill>
                  <a:srgbClr val="FFFFFF"/>
                </a:solidFill>
                <a:latin typeface="Source Sans Pro"/>
              </a:defRPr>
            </a:pPr>
            <a:r>
              <a:t>Visual Guidelines</a:t>
            </a:r>
          </a:p>
        </p:txBody>
      </p:sp>
      <p:cxnSp>
        <p:nvCxnSpPr>
          <p:cNvPr id="29" name="Connector 28"/>
          <p:cNvCxnSpPr/>
          <p:nvPr/>
        </p:nvCxnSpPr>
        <p:spPr>
          <a:xfrm>
            <a:off x="5577840" y="285292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035040" y="2743200"/>
            <a:ext cx="274320" cy="274320"/>
          </a:xfrm>
          <a:prstGeom prst="rect">
            <a:avLst/>
          </a:prstGeom>
          <a:noFill/>
        </p:spPr>
        <p:txBody>
          <a:bodyPr wrap="none" lIns="0" tIns="0" bIns="0">
            <a:spAutoFit/>
          </a:bodyPr>
          <a:lstStyle/>
          <a:p>
            <a:pPr>
              <a:defRPr sz="1200" b="1">
                <a:solidFill>
                  <a:srgbClr val="2563EB"/>
                </a:solidFill>
                <a:latin typeface="Source Sans Pro"/>
              </a:defRPr>
            </a:pPr>
            <a:r>
              <a:t>06</a:t>
            </a:r>
          </a:p>
        </p:txBody>
      </p:sp>
      <p:sp>
        <p:nvSpPr>
          <p:cNvPr id="31" name="TextBox 30"/>
          <p:cNvSpPr txBox="1"/>
          <p:nvPr/>
        </p:nvSpPr>
        <p:spPr>
          <a:xfrm>
            <a:off x="3657600" y="3108960"/>
            <a:ext cx="1828800" cy="228600"/>
          </a:xfrm>
          <a:prstGeom prst="rect">
            <a:avLst/>
          </a:prstGeom>
          <a:noFill/>
        </p:spPr>
        <p:txBody>
          <a:bodyPr wrap="none" lIns="0" tIns="0" bIns="0">
            <a:spAutoFit/>
          </a:bodyPr>
          <a:lstStyle/>
          <a:p>
            <a:pPr>
              <a:defRPr sz="900" b="0">
                <a:solidFill>
                  <a:srgbClr val="CCCCCC"/>
                </a:solidFill>
                <a:latin typeface="Source Sans Pro"/>
              </a:defRPr>
            </a:pPr>
            <a:r>
              <a:t>Visual Style</a:t>
            </a:r>
          </a:p>
        </p:txBody>
      </p:sp>
      <p:sp>
        <p:nvSpPr>
          <p:cNvPr id="32" name="TextBox 31"/>
          <p:cNvSpPr txBox="1"/>
          <p:nvPr/>
        </p:nvSpPr>
        <p:spPr>
          <a:xfrm>
            <a:off x="3657600" y="3337560"/>
            <a:ext cx="1828800" cy="228600"/>
          </a:xfrm>
          <a:prstGeom prst="rect">
            <a:avLst/>
          </a:prstGeom>
          <a:noFill/>
        </p:spPr>
        <p:txBody>
          <a:bodyPr wrap="none" lIns="0" tIns="0" bIns="0">
            <a:spAutoFit/>
          </a:bodyPr>
          <a:lstStyle/>
          <a:p>
            <a:pPr>
              <a:defRPr sz="900" b="0">
                <a:solidFill>
                  <a:srgbClr val="CCCCCC"/>
                </a:solidFill>
                <a:latin typeface="Source Sans Pro"/>
              </a:defRPr>
            </a:pPr>
            <a:r>
              <a:t>Photography</a:t>
            </a:r>
          </a:p>
        </p:txBody>
      </p:sp>
      <p:sp>
        <p:nvSpPr>
          <p:cNvPr id="33" name="TextBox 32"/>
          <p:cNvSpPr txBox="1"/>
          <p:nvPr/>
        </p:nvSpPr>
        <p:spPr>
          <a:xfrm>
            <a:off x="3657600" y="3566160"/>
            <a:ext cx="1828800" cy="228600"/>
          </a:xfrm>
          <a:prstGeom prst="rect">
            <a:avLst/>
          </a:prstGeom>
          <a:noFill/>
        </p:spPr>
        <p:txBody>
          <a:bodyPr wrap="none" lIns="0" tIns="0" bIns="0">
            <a:spAutoFit/>
          </a:bodyPr>
          <a:lstStyle/>
          <a:p>
            <a:pPr>
              <a:defRPr sz="900" b="0">
                <a:solidFill>
                  <a:srgbClr val="CCCCCC"/>
                </a:solidFill>
                <a:latin typeface="Source Sans Pro"/>
              </a:defRPr>
            </a:pPr>
            <a:r>
              <a:t>Imagery</a:t>
            </a:r>
          </a:p>
        </p:txBody>
      </p:sp>
      <p:sp>
        <p:nvSpPr>
          <p:cNvPr id="34" name="TextBox 33"/>
          <p:cNvSpPr txBox="1"/>
          <p:nvPr/>
        </p:nvSpPr>
        <p:spPr>
          <a:xfrm>
            <a:off x="3474720" y="3931920"/>
            <a:ext cx="2011680" cy="274320"/>
          </a:xfrm>
          <a:prstGeom prst="rect">
            <a:avLst/>
          </a:prstGeom>
          <a:noFill/>
        </p:spPr>
        <p:txBody>
          <a:bodyPr wrap="none" lIns="0" rIns="0" tIns="0" bIns="0">
            <a:spAutoFit/>
          </a:bodyPr>
          <a:lstStyle/>
          <a:p>
            <a:pPr>
              <a:defRPr sz="1200" b="1">
                <a:solidFill>
                  <a:srgbClr val="FFFFFF"/>
                </a:solidFill>
                <a:latin typeface="Source Sans Pro"/>
              </a:defRPr>
            </a:pPr>
            <a:r>
              <a:t>Brand Story &amp; Mission</a:t>
            </a:r>
          </a:p>
        </p:txBody>
      </p:sp>
      <p:cxnSp>
        <p:nvCxnSpPr>
          <p:cNvPr id="35" name="Connector 34"/>
          <p:cNvCxnSpPr/>
          <p:nvPr/>
        </p:nvCxnSpPr>
        <p:spPr>
          <a:xfrm>
            <a:off x="5577840" y="404164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035040" y="3931920"/>
            <a:ext cx="274320" cy="274320"/>
          </a:xfrm>
          <a:prstGeom prst="rect">
            <a:avLst/>
          </a:prstGeom>
          <a:noFill/>
        </p:spPr>
        <p:txBody>
          <a:bodyPr wrap="none" lIns="0" tIns="0" bIns="0">
            <a:spAutoFit/>
          </a:bodyPr>
          <a:lstStyle/>
          <a:p>
            <a:pPr>
              <a:defRPr sz="1200" b="1">
                <a:solidFill>
                  <a:srgbClr val="2563EB"/>
                </a:solidFill>
                <a:latin typeface="Source Sans Pro"/>
              </a:defRPr>
            </a:pPr>
            <a:r>
              <a:t>07</a:t>
            </a:r>
          </a:p>
        </p:txBody>
      </p:sp>
      <p:sp>
        <p:nvSpPr>
          <p:cNvPr id="37" name="TextBox 36"/>
          <p:cNvSpPr txBox="1"/>
          <p:nvPr/>
        </p:nvSpPr>
        <p:spPr>
          <a:xfrm>
            <a:off x="3474720" y="4434840"/>
            <a:ext cx="2011680" cy="274320"/>
          </a:xfrm>
          <a:prstGeom prst="rect">
            <a:avLst/>
          </a:prstGeom>
          <a:noFill/>
        </p:spPr>
        <p:txBody>
          <a:bodyPr wrap="none" lIns="0" rIns="0" tIns="0" bIns="0">
            <a:spAutoFit/>
          </a:bodyPr>
          <a:lstStyle/>
          <a:p>
            <a:pPr>
              <a:defRPr sz="1200" b="1">
                <a:solidFill>
                  <a:srgbClr val="FFFFFF"/>
                </a:solidFill>
                <a:latin typeface="Source Sans Pro"/>
              </a:defRPr>
            </a:pPr>
            <a:r>
              <a:t>Brand Voice &amp; Tone</a:t>
            </a:r>
          </a:p>
        </p:txBody>
      </p:sp>
      <p:cxnSp>
        <p:nvCxnSpPr>
          <p:cNvPr id="38" name="Connector 37"/>
          <p:cNvCxnSpPr/>
          <p:nvPr/>
        </p:nvCxnSpPr>
        <p:spPr>
          <a:xfrm>
            <a:off x="5577840" y="454456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035040" y="4434840"/>
            <a:ext cx="274320" cy="274320"/>
          </a:xfrm>
          <a:prstGeom prst="rect">
            <a:avLst/>
          </a:prstGeom>
          <a:noFill/>
        </p:spPr>
        <p:txBody>
          <a:bodyPr wrap="none" lIns="0" tIns="0" bIns="0">
            <a:spAutoFit/>
          </a:bodyPr>
          <a:lstStyle/>
          <a:p>
            <a:pPr>
              <a:defRPr sz="1200" b="1">
                <a:solidFill>
                  <a:srgbClr val="2563EB"/>
                </a:solidFill>
                <a:latin typeface="Source Sans Pro"/>
              </a:defRPr>
            </a:pPr>
            <a:r>
              <a:t>08</a:t>
            </a:r>
          </a:p>
        </p:txBody>
      </p:sp>
      <p:sp>
        <p:nvSpPr>
          <p:cNvPr id="40" name="TextBox 39"/>
          <p:cNvSpPr txBox="1"/>
          <p:nvPr/>
        </p:nvSpPr>
        <p:spPr>
          <a:xfrm>
            <a:off x="6492240" y="1554480"/>
            <a:ext cx="2011680" cy="274320"/>
          </a:xfrm>
          <a:prstGeom prst="rect">
            <a:avLst/>
          </a:prstGeom>
          <a:noFill/>
        </p:spPr>
        <p:txBody>
          <a:bodyPr wrap="none" lIns="0" rIns="0" tIns="0" bIns="0">
            <a:spAutoFit/>
          </a:bodyPr>
          <a:lstStyle/>
          <a:p>
            <a:pPr>
              <a:defRPr sz="1200" b="1">
                <a:solidFill>
                  <a:srgbClr val="FFFFFF"/>
                </a:solidFill>
                <a:latin typeface="Source Sans Pro"/>
              </a:defRPr>
            </a:pPr>
            <a:r>
              <a:t>Messaging &amp; Value Propositions</a:t>
            </a:r>
          </a:p>
        </p:txBody>
      </p:sp>
      <p:cxnSp>
        <p:nvCxnSpPr>
          <p:cNvPr id="41" name="Connector 40"/>
          <p:cNvCxnSpPr/>
          <p:nvPr/>
        </p:nvCxnSpPr>
        <p:spPr>
          <a:xfrm>
            <a:off x="8595360" y="166420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052560" y="1554480"/>
            <a:ext cx="274320" cy="274320"/>
          </a:xfrm>
          <a:prstGeom prst="rect">
            <a:avLst/>
          </a:prstGeom>
          <a:noFill/>
        </p:spPr>
        <p:txBody>
          <a:bodyPr wrap="none" lIns="0" tIns="0" bIns="0">
            <a:spAutoFit/>
          </a:bodyPr>
          <a:lstStyle/>
          <a:p>
            <a:pPr>
              <a:defRPr sz="1200" b="1">
                <a:solidFill>
                  <a:srgbClr val="2563EB"/>
                </a:solidFill>
                <a:latin typeface="Source Sans Pro"/>
              </a:defRPr>
            </a:pPr>
            <a:r>
              <a:t>09</a:t>
            </a:r>
          </a:p>
        </p:txBody>
      </p:sp>
      <p:sp>
        <p:nvSpPr>
          <p:cNvPr id="43" name="TextBox 42"/>
          <p:cNvSpPr txBox="1"/>
          <p:nvPr/>
        </p:nvSpPr>
        <p:spPr>
          <a:xfrm>
            <a:off x="6492240" y="2057400"/>
            <a:ext cx="2011680" cy="274320"/>
          </a:xfrm>
          <a:prstGeom prst="rect">
            <a:avLst/>
          </a:prstGeom>
          <a:noFill/>
        </p:spPr>
        <p:txBody>
          <a:bodyPr wrap="none" lIns="0" rIns="0" tIns="0" bIns="0">
            <a:spAutoFit/>
          </a:bodyPr>
          <a:lstStyle/>
          <a:p>
            <a:pPr>
              <a:defRPr sz="1200" b="1">
                <a:solidFill>
                  <a:srgbClr val="FFFFFF"/>
                </a:solidFill>
                <a:latin typeface="Source Sans Pro"/>
              </a:defRPr>
            </a:pPr>
            <a:r>
              <a:t>Marketing Copy</a:t>
            </a:r>
          </a:p>
        </p:txBody>
      </p:sp>
      <p:cxnSp>
        <p:nvCxnSpPr>
          <p:cNvPr id="44" name="Connector 43"/>
          <p:cNvCxnSpPr/>
          <p:nvPr/>
        </p:nvCxnSpPr>
        <p:spPr>
          <a:xfrm>
            <a:off x="8595360" y="216712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052560" y="2057400"/>
            <a:ext cx="274320" cy="274320"/>
          </a:xfrm>
          <a:prstGeom prst="rect">
            <a:avLst/>
          </a:prstGeom>
          <a:noFill/>
        </p:spPr>
        <p:txBody>
          <a:bodyPr wrap="none" lIns="0" tIns="0" bIns="0">
            <a:spAutoFit/>
          </a:bodyPr>
          <a:lstStyle/>
          <a:p>
            <a:pPr>
              <a:defRPr sz="1200" b="1">
                <a:solidFill>
                  <a:srgbClr val="2563EB"/>
                </a:solidFill>
                <a:latin typeface="Source Sans Pro"/>
              </a:defRPr>
            </a:pPr>
            <a:r>
              <a:t>10</a:t>
            </a:r>
          </a:p>
        </p:txBody>
      </p:sp>
      <p:sp>
        <p:nvSpPr>
          <p:cNvPr id="46" name="TextBox 45"/>
          <p:cNvSpPr txBox="1"/>
          <p:nvPr/>
        </p:nvSpPr>
        <p:spPr>
          <a:xfrm>
            <a:off x="6492240" y="2560320"/>
            <a:ext cx="2011680" cy="274320"/>
          </a:xfrm>
          <a:prstGeom prst="rect">
            <a:avLst/>
          </a:prstGeom>
          <a:noFill/>
        </p:spPr>
        <p:txBody>
          <a:bodyPr wrap="none" lIns="0" rIns="0" tIns="0" bIns="0">
            <a:spAutoFit/>
          </a:bodyPr>
          <a:lstStyle/>
          <a:p>
            <a:pPr>
              <a:defRPr sz="1200" b="1">
                <a:solidFill>
                  <a:srgbClr val="FFFFFF"/>
                </a:solidFill>
                <a:latin typeface="Source Sans Pro"/>
              </a:defRPr>
            </a:pPr>
            <a:r>
              <a:t>1Brand Collateral Templates</a:t>
            </a:r>
          </a:p>
        </p:txBody>
      </p:sp>
      <p:cxnSp>
        <p:nvCxnSpPr>
          <p:cNvPr id="47" name="Connector 46"/>
          <p:cNvCxnSpPr/>
          <p:nvPr/>
        </p:nvCxnSpPr>
        <p:spPr>
          <a:xfrm>
            <a:off x="8595360" y="2670048"/>
            <a:ext cx="3657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052560" y="2560320"/>
            <a:ext cx="274320" cy="274320"/>
          </a:xfrm>
          <a:prstGeom prst="rect">
            <a:avLst/>
          </a:prstGeom>
          <a:noFill/>
        </p:spPr>
        <p:txBody>
          <a:bodyPr wrap="none" lIns="0" tIns="0" bIns="0">
            <a:spAutoFit/>
          </a:bodyPr>
          <a:lstStyle/>
          <a:p>
            <a:pPr>
              <a:defRPr sz="1200" b="1">
                <a:solidFill>
                  <a:srgbClr val="2563EB"/>
                </a:solidFill>
                <a:latin typeface="Source Sans Pro"/>
              </a:defRPr>
            </a:pPr>
            <a:r>
              <a:t>11</a:t>
            </a:r>
          </a:p>
        </p:txBody>
      </p:sp>
      <p:sp>
        <p:nvSpPr>
          <p:cNvPr id="49" name="TextBox 48"/>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50" name="TextBox 49"/>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1143000" y="457200"/>
            <a:ext cx="6858000" cy="742950"/>
          </a:xfrm>
          <a:prstGeom prst="rect">
            <a:avLst/>
          </a:prstGeom>
          <a:noFill/>
        </p:spPr>
        <p:txBody>
          <a:bodyPr wrap="none">
            <a:spAutoFit/>
          </a:bodyPr>
          <a:lstStyle/>
          <a:p>
            <a:pPr algn="ctr">
              <a:defRPr sz="3200" b="1">
                <a:solidFill>
                  <a:srgbClr val="2563EB"/>
                </a:solidFill>
                <a:latin typeface="Inter"/>
              </a:defRPr>
            </a:pPr>
            <a:r>
              <a:t>Introduction</a:t>
            </a:r>
          </a:p>
        </p:txBody>
      </p:sp>
      <p:sp>
        <p:nvSpPr>
          <p:cNvPr id="3" name="TextBox 2"/>
          <p:cNvSpPr txBox="1"/>
          <p:nvPr/>
        </p:nvSpPr>
        <p:spPr>
          <a:xfrm>
            <a:off x="1828800" y="1943100"/>
            <a:ext cx="5486400" cy="2971800"/>
          </a:xfrm>
          <a:prstGeom prst="rect">
            <a:avLst/>
          </a:prstGeom>
          <a:noFill/>
        </p:spPr>
        <p:txBody>
          <a:bodyPr wrap="square">
            <a:spAutoFit/>
          </a:bodyPr>
          <a:lstStyle/>
          <a:p>
            <a:pPr algn="ctr">
              <a:defRPr sz="1800" b="0">
                <a:solidFill>
                  <a:srgbClr val="FFFFFF"/>
                </a:solidFill>
                <a:latin typeface="Source Sans Pro"/>
              </a:defRPr>
            </a:pPr>
            <a:r>
              <a:t>Welcome to the Flipkart Brand Book.</a:t>
            </a:r>
          </a:p>
          <a:p>
            <a:pPr algn="ctr">
              <a:defRPr sz="1800" b="0">
                <a:solidFill>
                  <a:srgbClr val="FFFFFF"/>
                </a:solidFill>
                <a:latin typeface="Source Sans Pro"/>
              </a:defRPr>
            </a:pPr>
          </a:p>
          <a:p>
            <a:pPr algn="ctr">
              <a:defRPr sz="1800" b="0">
                <a:solidFill>
                  <a:srgbClr val="FFFFFF"/>
                </a:solidFill>
                <a:latin typeface="Source Sans Pro"/>
              </a:defRPr>
            </a:pPr>
            <a:r>
              <a:t>This comprehensive guide outlines our brand identity, values, and visual standards to ensure consistent brand representation across all touchpoints.</a:t>
            </a:r>
          </a:p>
          <a:p>
            <a:pPr algn="ctr">
              <a:defRPr sz="1800" b="0">
                <a:solidFill>
                  <a:srgbClr val="FFFFFF"/>
                </a:solidFill>
                <a:latin typeface="Source Sans Pro"/>
              </a:defRPr>
            </a:pPr>
          </a:p>
          <a:p>
            <a:pPr algn="ctr">
              <a:defRPr sz="1800" b="0">
                <a:solidFill>
                  <a:srgbClr val="FFFFFF"/>
                </a:solidFill>
                <a:latin typeface="Source Sans Pro"/>
              </a:defRPr>
            </a:pPr>
            <a:r>
              <a:t>Our mission is to serve Price-conscious shoppers, Middle-class families, Young professionals, Students, Digital-savvy consumers, Tier 2 &amp; Tier 3 city customers, Small businesses, Value-seeking online buyers. with excellence and innovation.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1143000" y="457200"/>
            <a:ext cx="6858000" cy="742950"/>
          </a:xfrm>
          <a:prstGeom prst="rect">
            <a:avLst/>
          </a:prstGeom>
          <a:noFill/>
        </p:spPr>
        <p:txBody>
          <a:bodyPr wrap="none">
            <a:spAutoFit/>
          </a:bodyPr>
          <a:lstStyle/>
          <a:p>
            <a:pPr algn="ctr">
              <a:defRPr sz="3200" b="1">
                <a:solidFill>
                  <a:srgbClr val="2563EB"/>
                </a:solidFill>
                <a:latin typeface="Inter"/>
              </a:defRPr>
            </a:pPr>
            <a:r>
              <a:t>Brand Purpose</a:t>
            </a:r>
          </a:p>
        </p:txBody>
      </p:sp>
      <p:sp>
        <p:nvSpPr>
          <p:cNvPr id="3" name="TextBox 2"/>
          <p:cNvSpPr txBox="1"/>
          <p:nvPr/>
        </p:nvSpPr>
        <p:spPr>
          <a:xfrm>
            <a:off x="1828800" y="1943100"/>
            <a:ext cx="5486400" cy="3714750"/>
          </a:xfrm>
          <a:prstGeom prst="rect">
            <a:avLst/>
          </a:prstGeom>
          <a:noFill/>
        </p:spPr>
        <p:txBody>
          <a:bodyPr wrap="square">
            <a:spAutoFit/>
          </a:bodyPr>
          <a:lstStyle/>
          <a:p>
            <a:pPr algn="ctr">
              <a:defRPr sz="2400" b="0">
                <a:solidFill>
                  <a:srgbClr val="2563EB"/>
                </a:solidFill>
                <a:latin typeface="Source Sans Pro"/>
              </a:defRPr>
            </a:pPr>
            <a:r>
              <a:t>Our Purpose</a:t>
            </a:r>
          </a:p>
          <a:p>
            <a:pPr>
              <a:defRPr sz="1600" b="0">
                <a:solidFill>
                  <a:srgbClr val="FFFFFF"/>
                </a:solidFill>
                <a:latin typeface="Source Sans Pro"/>
              </a:defRPr>
            </a:pPr>
          </a:p>
          <a:p>
            <a:pPr>
              <a:defRPr sz="1600" b="0">
                <a:solidFill>
                  <a:srgbClr val="FFFFFF"/>
                </a:solidFill>
                <a:latin typeface="Source Sans Pro"/>
              </a:defRPr>
            </a:pPr>
            <a:r>
              <a:t>Vision: Distinctive E-commerce, Retail, Technology, Logistics &amp; Supply Chain solution focused on Price-conscious shoppers, Middle-class families, Young professionals, Students, Digital-savvy consumers, Tier 2 &amp; Tier 3 city customers, Small businesses, Value-seeking online buyers.</a:t>
            </a:r>
          </a:p>
          <a:p>
            <a:pPr>
              <a:defRPr sz="1600" b="0">
                <a:solidFill>
                  <a:srgbClr val="FFFFFF"/>
                </a:solidFill>
                <a:latin typeface="Source Sans Pro"/>
              </a:defRPr>
            </a:pPr>
          </a:p>
          <a:p>
            <a:pPr>
              <a:defRPr sz="1600" b="0">
                <a:solidFill>
                  <a:srgbClr val="FFFFFF"/>
                </a:solidFill>
                <a:latin typeface="Source Sans Pro"/>
              </a:defRPr>
            </a:pPr>
            <a:r>
              <a:t>Mission: Empowering Price-conscious shoppers, Middle-class families, Young professionals, Students, Digital-savvy consumers, Tier 2 &amp; Tier 3 city customers, Small businesses, Value-seeking online buyers. through innovative E-commerce, Retail, Technology, Logistics &amp; Supply Chain solutions</a:t>
            </a:r>
          </a:p>
          <a:p>
            <a:pPr>
              <a:defRPr sz="1600" b="0">
                <a:solidFill>
                  <a:srgbClr val="FFFFFF"/>
                </a:solidFill>
                <a:latin typeface="Source Sans Pro"/>
              </a:defRPr>
            </a:pPr>
          </a:p>
          <a:p>
            <a:pPr>
              <a:defRPr sz="1600" b="0">
                <a:solidFill>
                  <a:srgbClr val="FFFFFF"/>
                </a:solidFill>
                <a:latin typeface="Source Sans Pro"/>
              </a:defRPr>
            </a:pPr>
            <a:r>
              <a:t>Core Values:</a:t>
            </a:r>
          </a:p>
          <a:p>
            <a:pPr>
              <a:defRPr sz="1600" b="0">
                <a:solidFill>
                  <a:srgbClr val="FFFFFF"/>
                </a:solidFill>
                <a:latin typeface="Source Sans Pro"/>
              </a:defRPr>
            </a:pPr>
            <a:r>
              <a:t>• Customer-Centricity</a:t>
            </a:r>
          </a:p>
          <a:p>
            <a:pPr>
              <a:defRPr sz="1600" b="0">
                <a:solidFill>
                  <a:srgbClr val="FFFFFF"/>
                </a:solidFill>
                <a:latin typeface="Source Sans Pro"/>
              </a:defRPr>
            </a:pPr>
            <a:r>
              <a:t>• Innovation</a:t>
            </a:r>
          </a:p>
          <a:p>
            <a:pPr>
              <a:defRPr sz="1600" b="0">
                <a:solidFill>
                  <a:srgbClr val="FFFFFF"/>
                </a:solidFill>
                <a:latin typeface="Source Sans Pro"/>
              </a:defRPr>
            </a:pPr>
            <a:r>
              <a:t>• Affordability</a:t>
            </a:r>
          </a:p>
          <a:p>
            <a:pPr>
              <a:defRPr sz="1600" b="0">
                <a:solidFill>
                  <a:srgbClr val="FFFFFF"/>
                </a:solidFill>
                <a:latin typeface="Source Sans Pro"/>
              </a:defRPr>
            </a:pPr>
            <a:r>
              <a:t>• Trust</a:t>
            </a:r>
          </a:p>
          <a:p>
            <a:pPr>
              <a:defRPr sz="1600" b="0">
                <a:solidFill>
                  <a:srgbClr val="FFFFFF"/>
                </a:solidFill>
                <a:latin typeface="Source Sans Pro"/>
              </a:defRPr>
            </a:pPr>
            <a:r>
              <a:t>• Reliability</a:t>
            </a:r>
          </a:p>
          <a:p>
            <a:pPr>
              <a:defRPr sz="1600" b="0">
                <a:solidFill>
                  <a:srgbClr val="FFFFFF"/>
                </a:solidFill>
                <a:latin typeface="Source Sans Pro"/>
              </a:defRPr>
            </a:pPr>
            <a:r>
              <a:t>• Convenience</a:t>
            </a:r>
          </a:p>
          <a:p>
            <a:pPr>
              <a:defRPr sz="1600" b="0">
                <a:solidFill>
                  <a:srgbClr val="FFFFFF"/>
                </a:solidFill>
                <a:latin typeface="Source Sans Pro"/>
              </a:defRPr>
            </a:pPr>
            <a:r>
              <a:t>• Inclusivity</a:t>
            </a:r>
          </a:p>
          <a:p>
            <a:pPr>
              <a:defRPr sz="1600" b="0">
                <a:solidFill>
                  <a:srgbClr val="FFFFFF"/>
                </a:solidFill>
                <a:latin typeface="Source Sans Pro"/>
              </a:defRPr>
            </a:pPr>
            <a:r>
              <a:t>• Agility</a:t>
            </a:r>
          </a:p>
          <a:p>
            <a:pPr>
              <a:defRPr sz="1600" b="0">
                <a:solidFill>
                  <a:srgbClr val="FFFFFF"/>
                </a:solidFill>
                <a:latin typeface="Source Sans Pro"/>
              </a:defRPr>
            </a:pPr>
            <a:r>
              <a:t>• Empowerment</a:t>
            </a:r>
          </a:p>
          <a:p>
            <a:pPr>
              <a:defRPr sz="1600" b="0">
                <a:solidFill>
                  <a:srgbClr val="FFFFFF"/>
                </a:solidFill>
                <a:latin typeface="Source Sans Pro"/>
              </a:defRPr>
            </a:pPr>
            <a:r>
              <a:t>• Growth</a:t>
            </a:r>
          </a:p>
          <a:p>
            <a:pPr>
              <a:defRPr sz="1600" b="0">
                <a:solidFill>
                  <a:srgbClr val="FFFFFF"/>
                </a:solidFill>
                <a:latin typeface="Source Sans Pro"/>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Logo Variations (3 designs)</a:t>
            </a:r>
          </a:p>
        </p:txBody>
      </p:sp>
      <p:sp>
        <p:nvSpPr>
          <p:cNvPr id="4" name="Rectangle 3"/>
          <p:cNvSpPr/>
          <p:nvPr/>
        </p:nvSpPr>
        <p:spPr>
          <a:xfrm>
            <a:off x="10515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lipkart_logo_1_20250828_172836_18c40558.png"/>
          <p:cNvPicPr>
            <a:picLocks noChangeAspect="1"/>
          </p:cNvPicPr>
          <p:nvPr/>
        </p:nvPicPr>
        <p:blipFill>
          <a:blip r:embed="rId2"/>
          <a:stretch>
            <a:fillRect/>
          </a:stretch>
        </p:blipFill>
        <p:spPr>
          <a:xfrm>
            <a:off x="1143000" y="1943100"/>
            <a:ext cx="1371600" cy="1485900"/>
          </a:xfrm>
          <a:prstGeom prst="rect">
            <a:avLst/>
          </a:prstGeom>
        </p:spPr>
      </p:pic>
      <p:sp>
        <p:nvSpPr>
          <p:cNvPr id="6" name="TextBox 5"/>
          <p:cNvSpPr txBox="1"/>
          <p:nvPr/>
        </p:nvSpPr>
        <p:spPr>
          <a:xfrm>
            <a:off x="1143000" y="3429000"/>
            <a:ext cx="1371600" cy="742950"/>
          </a:xfrm>
          <a:prstGeom prst="rect">
            <a:avLst/>
          </a:prstGeom>
          <a:noFill/>
        </p:spPr>
        <p:txBody>
          <a:bodyPr wrap="none">
            <a:spAutoFit/>
          </a:bodyPr>
          <a:lstStyle/>
          <a:p>
            <a:pPr algn="ctr">
              <a:defRPr sz="1200" b="0">
                <a:solidFill>
                  <a:srgbClr val="FFFFFF"/>
                </a:solidFill>
                <a:latin typeface="Source Sans Pro"/>
              </a:defRPr>
            </a:pPr>
            <a:r>
              <a:t>Version 1</a:t>
            </a:r>
          </a:p>
        </p:txBody>
      </p:sp>
      <p:sp>
        <p:nvSpPr>
          <p:cNvPr id="7" name="Rectangle 6"/>
          <p:cNvSpPr/>
          <p:nvPr/>
        </p:nvSpPr>
        <p:spPr>
          <a:xfrm>
            <a:off x="31089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lipkart_logo_2_20250828_172855_a83833dd.png"/>
          <p:cNvPicPr>
            <a:picLocks noChangeAspect="1"/>
          </p:cNvPicPr>
          <p:nvPr/>
        </p:nvPicPr>
        <p:blipFill>
          <a:blip r:embed="rId3"/>
          <a:stretch>
            <a:fillRect/>
          </a:stretch>
        </p:blipFill>
        <p:spPr>
          <a:xfrm>
            <a:off x="3200400" y="1943100"/>
            <a:ext cx="1371600" cy="1485900"/>
          </a:xfrm>
          <a:prstGeom prst="rect">
            <a:avLst/>
          </a:prstGeom>
        </p:spPr>
      </p:pic>
      <p:sp>
        <p:nvSpPr>
          <p:cNvPr id="9" name="TextBox 8"/>
          <p:cNvSpPr txBox="1"/>
          <p:nvPr/>
        </p:nvSpPr>
        <p:spPr>
          <a:xfrm>
            <a:off x="3200400" y="3429000"/>
            <a:ext cx="1371600" cy="742950"/>
          </a:xfrm>
          <a:prstGeom prst="rect">
            <a:avLst/>
          </a:prstGeom>
          <a:noFill/>
        </p:spPr>
        <p:txBody>
          <a:bodyPr wrap="none">
            <a:spAutoFit/>
          </a:bodyPr>
          <a:lstStyle/>
          <a:p>
            <a:pPr algn="ctr">
              <a:defRPr sz="1200" b="0">
                <a:solidFill>
                  <a:srgbClr val="FFFFFF"/>
                </a:solidFill>
                <a:latin typeface="Source Sans Pro"/>
              </a:defRPr>
            </a:pPr>
            <a:r>
              <a:t>Version 2</a:t>
            </a:r>
          </a:p>
        </p:txBody>
      </p:sp>
      <p:sp>
        <p:nvSpPr>
          <p:cNvPr id="10" name="Rectangle 9"/>
          <p:cNvSpPr/>
          <p:nvPr/>
        </p:nvSpPr>
        <p:spPr>
          <a:xfrm>
            <a:off x="51663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lipkart_logo_3_20250828_172914_22af2aa2.png"/>
          <p:cNvPicPr>
            <a:picLocks noChangeAspect="1"/>
          </p:cNvPicPr>
          <p:nvPr/>
        </p:nvPicPr>
        <p:blipFill>
          <a:blip r:embed="rId4"/>
          <a:stretch>
            <a:fillRect/>
          </a:stretch>
        </p:blipFill>
        <p:spPr>
          <a:xfrm>
            <a:off x="5257800" y="1943100"/>
            <a:ext cx="1371600" cy="1485900"/>
          </a:xfrm>
          <a:prstGeom prst="rect">
            <a:avLst/>
          </a:prstGeom>
        </p:spPr>
      </p:pic>
      <p:sp>
        <p:nvSpPr>
          <p:cNvPr id="12" name="TextBox 11"/>
          <p:cNvSpPr txBox="1"/>
          <p:nvPr/>
        </p:nvSpPr>
        <p:spPr>
          <a:xfrm>
            <a:off x="5257800" y="3429000"/>
            <a:ext cx="1371600" cy="742950"/>
          </a:xfrm>
          <a:prstGeom prst="rect">
            <a:avLst/>
          </a:prstGeom>
          <a:noFill/>
        </p:spPr>
        <p:txBody>
          <a:bodyPr wrap="none">
            <a:spAutoFit/>
          </a:bodyPr>
          <a:lstStyle/>
          <a:p>
            <a:pPr algn="ctr">
              <a:defRPr sz="1200" b="0">
                <a:solidFill>
                  <a:srgbClr val="FFFFFF"/>
                </a:solidFill>
                <a:latin typeface="Source Sans Pro"/>
              </a:defRPr>
            </a:pPr>
            <a:r>
              <a:t>Version 3</a:t>
            </a:r>
          </a:p>
        </p:txBody>
      </p:sp>
      <p:sp>
        <p:nvSpPr>
          <p:cNvPr id="13" name="TextBox 12"/>
          <p:cNvSpPr txBox="1"/>
          <p:nvPr/>
        </p:nvSpPr>
        <p:spPr>
          <a:xfrm>
            <a:off x="1143000" y="4914900"/>
            <a:ext cx="7543800" cy="742950"/>
          </a:xfrm>
          <a:prstGeom prst="rect">
            <a:avLst/>
          </a:prstGeom>
          <a:noFill/>
        </p:spPr>
        <p:txBody>
          <a:bodyPr wrap="none">
            <a:spAutoFit/>
          </a:bodyPr>
          <a:lstStyle/>
          <a:p>
            <a:pPr algn="ctr">
              <a:defRPr sz="1200" b="0">
                <a:solidFill>
                  <a:srgbClr val="FFFFFF"/>
                </a:solidFill>
                <a:latin typeface="Source Sans Pro"/>
              </a:defRPr>
            </a:pPr>
            <a:r>
              <a:t>Minimum size: 0.5 inches • Clearspace: 0.25 inches on all sides</a:t>
            </a:r>
          </a:p>
        </p:txBody>
      </p:sp>
      <p:sp>
        <p:nvSpPr>
          <p:cNvPr id="14" name="TextBox 13"/>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15" name="TextBox 14"/>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Color Palette</a:t>
            </a:r>
          </a:p>
        </p:txBody>
      </p:sp>
      <p:sp>
        <p:nvSpPr>
          <p:cNvPr id="4" name="Rectangle 3"/>
          <p:cNvSpPr/>
          <p:nvPr/>
        </p:nvSpPr>
        <p:spPr>
          <a:xfrm>
            <a:off x="1143000" y="1943100"/>
            <a:ext cx="2057400" cy="1485900"/>
          </a:xfrm>
          <a:prstGeom prst="rect">
            <a:avLst/>
          </a:prstGeom>
          <a:solidFill>
            <a:srgbClr val="2563E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3429000"/>
            <a:ext cx="2057400" cy="1485900"/>
          </a:xfrm>
          <a:prstGeom prst="rect">
            <a:avLst/>
          </a:prstGeom>
          <a:noFill/>
        </p:spPr>
        <p:txBody>
          <a:bodyPr wrap="square">
            <a:spAutoFit/>
          </a:bodyPr>
          <a:lstStyle/>
          <a:p>
            <a:pPr>
              <a:defRPr sz="1000" b="0">
                <a:solidFill>
                  <a:srgbClr val="FFFFFF"/>
                </a:solidFill>
                <a:latin typeface="Source Sans Pro"/>
              </a:defRPr>
            </a:pPr>
            <a:r>
              <a:t>Primary</a:t>
            </a:r>
          </a:p>
          <a:p>
            <a:pPr>
              <a:defRPr sz="1000" b="0">
                <a:solidFill>
                  <a:srgbClr val="FFFFFF"/>
                </a:solidFill>
                <a:latin typeface="Source Sans Pro"/>
              </a:defRPr>
            </a:pPr>
            <a:r>
              <a:t>#2563EB</a:t>
            </a:r>
          </a:p>
          <a:p>
            <a:pPr>
              <a:defRPr sz="1000" b="0">
                <a:solidFill>
                  <a:srgbClr val="FFFFFF"/>
                </a:solidFill>
                <a:latin typeface="Source Sans Pro"/>
              </a:defRPr>
            </a:pPr>
            <a:r>
              <a:t>RGB(37, 99, 235)</a:t>
            </a:r>
          </a:p>
          <a:p>
            <a:pPr>
              <a:defRPr sz="1000" b="0">
                <a:solidFill>
                  <a:srgbClr val="FFFFFF"/>
                </a:solidFill>
                <a:latin typeface="Source Sans Pro"/>
              </a:defRPr>
            </a:pPr>
            <a:r>
              <a:t>CMYK(84, 57, 0, 7)</a:t>
            </a:r>
          </a:p>
          <a:p>
            <a:pPr>
              <a:defRPr sz="1000" b="0">
                <a:solidFill>
                  <a:srgbClr val="FFFFFF"/>
                </a:solidFill>
                <a:latin typeface="Source Sans Pro"/>
              </a:defRPr>
            </a:pPr>
            <a:r>
              <a:t>Use Light Text</a:t>
            </a:r>
          </a:p>
        </p:txBody>
      </p:sp>
      <p:sp>
        <p:nvSpPr>
          <p:cNvPr id="6" name="Rectangle 5"/>
          <p:cNvSpPr/>
          <p:nvPr/>
        </p:nvSpPr>
        <p:spPr>
          <a:xfrm>
            <a:off x="3886200" y="1943100"/>
            <a:ext cx="2057400" cy="1485900"/>
          </a:xfrm>
          <a:prstGeom prst="rect">
            <a:avLst/>
          </a:prstGeom>
          <a:solidFill>
            <a:srgbClr val="EF444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3429000"/>
            <a:ext cx="2057400" cy="1485900"/>
          </a:xfrm>
          <a:prstGeom prst="rect">
            <a:avLst/>
          </a:prstGeom>
          <a:noFill/>
        </p:spPr>
        <p:txBody>
          <a:bodyPr wrap="square">
            <a:spAutoFit/>
          </a:bodyPr>
          <a:lstStyle/>
          <a:p>
            <a:pPr>
              <a:defRPr sz="1000" b="0">
                <a:solidFill>
                  <a:srgbClr val="FFFFFF"/>
                </a:solidFill>
                <a:latin typeface="Source Sans Pro"/>
              </a:defRPr>
            </a:pPr>
            <a:r>
              <a:t>Secondary</a:t>
            </a:r>
          </a:p>
          <a:p>
            <a:pPr>
              <a:defRPr sz="1000" b="0">
                <a:solidFill>
                  <a:srgbClr val="FFFFFF"/>
                </a:solidFill>
                <a:latin typeface="Source Sans Pro"/>
              </a:defRPr>
            </a:pPr>
            <a:r>
              <a:t>#EF4444</a:t>
            </a:r>
          </a:p>
          <a:p>
            <a:pPr>
              <a:defRPr sz="1000" b="0">
                <a:solidFill>
                  <a:srgbClr val="FFFFFF"/>
                </a:solidFill>
                <a:latin typeface="Source Sans Pro"/>
              </a:defRPr>
            </a:pPr>
            <a:r>
              <a:t>RGB(239, 68, 68)</a:t>
            </a:r>
          </a:p>
          <a:p>
            <a:pPr>
              <a:defRPr sz="1000" b="0">
                <a:solidFill>
                  <a:srgbClr val="FFFFFF"/>
                </a:solidFill>
                <a:latin typeface="Source Sans Pro"/>
              </a:defRPr>
            </a:pPr>
            <a:r>
              <a:t>CMYK(0, 71, 71, 6)</a:t>
            </a:r>
          </a:p>
          <a:p>
            <a:pPr>
              <a:defRPr sz="1000" b="0">
                <a:solidFill>
                  <a:srgbClr val="FFFFFF"/>
                </a:solidFill>
                <a:latin typeface="Source Sans Pro"/>
              </a:defRPr>
            </a:pPr>
            <a:r>
              <a:t>Use Light Text</a:t>
            </a:r>
          </a:p>
        </p:txBody>
      </p:sp>
      <p:sp>
        <p:nvSpPr>
          <p:cNvPr id="8" name="Rectangle 7"/>
          <p:cNvSpPr/>
          <p:nvPr/>
        </p:nvSpPr>
        <p:spPr>
          <a:xfrm>
            <a:off x="6629400" y="1943100"/>
            <a:ext cx="2057400" cy="1485900"/>
          </a:xfrm>
          <a:prstGeom prst="rect">
            <a:avLst/>
          </a:prstGeom>
          <a:solidFill>
            <a:srgbClr val="FB923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3429000"/>
            <a:ext cx="2057400" cy="1485900"/>
          </a:xfrm>
          <a:prstGeom prst="rect">
            <a:avLst/>
          </a:prstGeom>
          <a:noFill/>
        </p:spPr>
        <p:txBody>
          <a:bodyPr wrap="square">
            <a:spAutoFit/>
          </a:bodyPr>
          <a:lstStyle/>
          <a:p>
            <a:pPr>
              <a:defRPr sz="1000" b="0">
                <a:solidFill>
                  <a:srgbClr val="FFFFFF"/>
                </a:solidFill>
                <a:latin typeface="Source Sans Pro"/>
              </a:defRPr>
            </a:pPr>
            <a:r>
              <a:t>Accent</a:t>
            </a:r>
          </a:p>
          <a:p>
            <a:pPr>
              <a:defRPr sz="1000" b="0">
                <a:solidFill>
                  <a:srgbClr val="FFFFFF"/>
                </a:solidFill>
                <a:latin typeface="Source Sans Pro"/>
              </a:defRPr>
            </a:pPr>
            <a:r>
              <a:t>#FB923C</a:t>
            </a:r>
          </a:p>
          <a:p>
            <a:pPr>
              <a:defRPr sz="1000" b="0">
                <a:solidFill>
                  <a:srgbClr val="FFFFFF"/>
                </a:solidFill>
                <a:latin typeface="Source Sans Pro"/>
              </a:defRPr>
            </a:pPr>
            <a:r>
              <a:t>RGB(251, 146, 60)</a:t>
            </a:r>
          </a:p>
          <a:p>
            <a:pPr>
              <a:defRPr sz="1000" b="0">
                <a:solidFill>
                  <a:srgbClr val="FFFFFF"/>
                </a:solidFill>
                <a:latin typeface="Source Sans Pro"/>
              </a:defRPr>
            </a:pPr>
            <a:r>
              <a:t>CMYK(0, 41, 76, 1)</a:t>
            </a:r>
          </a:p>
          <a:p>
            <a:pPr>
              <a:defRPr sz="1000" b="0">
                <a:solidFill>
                  <a:srgbClr val="FFFFFF"/>
                </a:solidFill>
                <a:latin typeface="Source Sans Pro"/>
              </a:defRPr>
            </a:pPr>
            <a:r>
              <a:t>Use Dark Text</a:t>
            </a:r>
          </a:p>
        </p:txBody>
      </p:sp>
      <p:sp>
        <p:nvSpPr>
          <p:cNvPr id="10" name="Rectangle 9"/>
          <p:cNvSpPr/>
          <p:nvPr/>
        </p:nvSpPr>
        <p:spPr>
          <a:xfrm>
            <a:off x="1143000" y="5657850"/>
            <a:ext cx="2057400" cy="1485900"/>
          </a:xfrm>
          <a:prstGeom prst="rect">
            <a:avLst/>
          </a:prstGeom>
          <a:solidFill>
            <a:srgbClr val="FB923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7143750"/>
            <a:ext cx="2057400" cy="1485900"/>
          </a:xfrm>
          <a:prstGeom prst="rect">
            <a:avLst/>
          </a:prstGeom>
          <a:noFill/>
        </p:spPr>
        <p:txBody>
          <a:bodyPr wrap="square">
            <a:spAutoFit/>
          </a:bodyPr>
          <a:lstStyle/>
          <a:p>
            <a:pPr>
              <a:defRPr sz="1000" b="0">
                <a:solidFill>
                  <a:srgbClr val="FFFFFF"/>
                </a:solidFill>
                <a:latin typeface="Source Sans Pro"/>
              </a:defRPr>
            </a:pPr>
            <a:r>
              <a:t>Supporting</a:t>
            </a:r>
          </a:p>
          <a:p>
            <a:pPr>
              <a:defRPr sz="1000" b="0">
                <a:solidFill>
                  <a:srgbClr val="FFFFFF"/>
                </a:solidFill>
                <a:latin typeface="Source Sans Pro"/>
              </a:defRPr>
            </a:pPr>
            <a:r>
              <a:t>#FB923C</a:t>
            </a:r>
          </a:p>
          <a:p>
            <a:pPr>
              <a:defRPr sz="1000" b="0">
                <a:solidFill>
                  <a:srgbClr val="FFFFFF"/>
                </a:solidFill>
                <a:latin typeface="Source Sans Pro"/>
              </a:defRPr>
            </a:pPr>
            <a:r>
              <a:t>RGB(251, 146, 60)</a:t>
            </a:r>
          </a:p>
          <a:p>
            <a:pPr>
              <a:defRPr sz="1000" b="0">
                <a:solidFill>
                  <a:srgbClr val="FFFFFF"/>
                </a:solidFill>
                <a:latin typeface="Source Sans Pro"/>
              </a:defRPr>
            </a:pPr>
            <a:r>
              <a:t>CMYK(0, 41, 76, 1)</a:t>
            </a:r>
          </a:p>
          <a:p>
            <a:pPr>
              <a:defRPr sz="1000" b="0">
                <a:solidFill>
                  <a:srgbClr val="FFFFFF"/>
                </a:solidFill>
                <a:latin typeface="Source Sans Pro"/>
              </a:defRPr>
            </a:pPr>
            <a:r>
              <a:t>Use Dark Text</a:t>
            </a:r>
          </a:p>
        </p:txBody>
      </p:sp>
      <p:sp>
        <p:nvSpPr>
          <p:cNvPr id="12" name="Rectangle 11"/>
          <p:cNvSpPr/>
          <p:nvPr/>
        </p:nvSpPr>
        <p:spPr>
          <a:xfrm>
            <a:off x="3886200" y="5657850"/>
            <a:ext cx="2057400" cy="1485900"/>
          </a:xfrm>
          <a:prstGeom prst="rect">
            <a:avLst/>
          </a:prstGeom>
          <a:solidFill>
            <a:srgbClr val="2563E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7143750"/>
            <a:ext cx="2057400" cy="1485900"/>
          </a:xfrm>
          <a:prstGeom prst="rect">
            <a:avLst/>
          </a:prstGeom>
          <a:noFill/>
        </p:spPr>
        <p:txBody>
          <a:bodyPr wrap="square">
            <a:spAutoFit/>
          </a:bodyPr>
          <a:lstStyle/>
          <a:p>
            <a:pPr>
              <a:defRPr sz="1000" b="0">
                <a:solidFill>
                  <a:srgbClr val="FFFFFF"/>
                </a:solidFill>
                <a:latin typeface="Source Sans Pro"/>
              </a:defRPr>
            </a:pPr>
            <a:r>
              <a:t>Hex_Codes</a:t>
            </a:r>
          </a:p>
          <a:p>
            <a:pPr>
              <a:defRPr sz="1000" b="0">
                <a:solidFill>
                  <a:srgbClr val="FFFFFF"/>
                </a:solidFill>
                <a:latin typeface="Source Sans Pro"/>
              </a:defRPr>
            </a:pPr>
            <a:r>
              <a:t>#2563EB</a:t>
            </a:r>
          </a:p>
          <a:p>
            <a:pPr>
              <a:defRPr sz="1000" b="0">
                <a:solidFill>
                  <a:srgbClr val="FFFFFF"/>
                </a:solidFill>
                <a:latin typeface="Source Sans Pro"/>
              </a:defRPr>
            </a:pPr>
            <a:r>
              <a:t>RGB(37, 99, 235)</a:t>
            </a:r>
          </a:p>
          <a:p>
            <a:pPr>
              <a:defRPr sz="1000" b="0">
                <a:solidFill>
                  <a:srgbClr val="FFFFFF"/>
                </a:solidFill>
                <a:latin typeface="Source Sans Pro"/>
              </a:defRPr>
            </a:pPr>
            <a:r>
              <a:t>CMYK(84, 57, 0, 7)</a:t>
            </a:r>
          </a:p>
          <a:p>
            <a:pPr>
              <a:defRPr sz="1000" b="0">
                <a:solidFill>
                  <a:srgbClr val="FFFFFF"/>
                </a:solidFill>
                <a:latin typeface="Source Sans Pro"/>
              </a:defRPr>
            </a:pPr>
            <a:r>
              <a:t>Use Light Text</a:t>
            </a:r>
          </a:p>
        </p:txBody>
      </p:sp>
      <p:sp>
        <p:nvSpPr>
          <p:cNvPr id="14" name="TextBox 13"/>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15" name="TextBox 14"/>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Typography</a:t>
            </a:r>
          </a:p>
        </p:txBody>
      </p:sp>
      <p:sp>
        <p:nvSpPr>
          <p:cNvPr id="4" name="TextBox 3"/>
          <p:cNvSpPr txBox="1"/>
          <p:nvPr/>
        </p:nvSpPr>
        <p:spPr>
          <a:xfrm>
            <a:off x="1143000" y="1943100"/>
            <a:ext cx="3429000" cy="742950"/>
          </a:xfrm>
          <a:prstGeom prst="rect">
            <a:avLst/>
          </a:prstGeom>
          <a:noFill/>
        </p:spPr>
        <p:txBody>
          <a:bodyPr wrap="none">
            <a:spAutoFit/>
          </a:bodyPr>
          <a:lstStyle/>
          <a:p>
            <a:pPr>
              <a:defRPr sz="2000" b="0">
                <a:solidFill>
                  <a:srgbClr val="FFFFFF"/>
                </a:solidFill>
                <a:latin typeface="Source Sans Pro"/>
              </a:defRPr>
            </a:pPr>
            <a:r>
              <a:t>Primary Font: Inter</a:t>
            </a:r>
          </a:p>
        </p:txBody>
      </p:sp>
      <p:sp>
        <p:nvSpPr>
          <p:cNvPr id="5" name="TextBox 4"/>
          <p:cNvSpPr txBox="1"/>
          <p:nvPr/>
        </p:nvSpPr>
        <p:spPr>
          <a:xfrm>
            <a:off x="1143000" y="2686050"/>
            <a:ext cx="3429000" cy="742950"/>
          </a:xfrm>
          <a:prstGeom prst="rect">
            <a:avLst/>
          </a:prstGeom>
          <a:noFill/>
        </p:spPr>
        <p:txBody>
          <a:bodyPr wrap="none">
            <a:spAutoFit/>
          </a:bodyPr>
          <a:lstStyle/>
          <a:p>
            <a:pPr>
              <a:defRPr sz="3200" b="1">
                <a:solidFill>
                  <a:srgbClr val="FFFFFF"/>
                </a:solidFill>
                <a:latin typeface="Inter"/>
              </a:defRPr>
            </a:pPr>
            <a:r>
              <a:t>H1 Heading</a:t>
            </a:r>
          </a:p>
        </p:txBody>
      </p:sp>
      <p:sp>
        <p:nvSpPr>
          <p:cNvPr id="6" name="TextBox 5"/>
          <p:cNvSpPr txBox="1"/>
          <p:nvPr/>
        </p:nvSpPr>
        <p:spPr>
          <a:xfrm>
            <a:off x="1143000" y="3429000"/>
            <a:ext cx="3429000" cy="742950"/>
          </a:xfrm>
          <a:prstGeom prst="rect">
            <a:avLst/>
          </a:prstGeom>
          <a:noFill/>
        </p:spPr>
        <p:txBody>
          <a:bodyPr wrap="none">
            <a:spAutoFit/>
          </a:bodyPr>
          <a:lstStyle/>
          <a:p>
            <a:pPr>
              <a:defRPr sz="2400" b="1">
                <a:solidFill>
                  <a:srgbClr val="FFFFFF"/>
                </a:solidFill>
                <a:latin typeface="Inter"/>
              </a:defRPr>
            </a:pPr>
            <a:r>
              <a:t>H2 Heading</a:t>
            </a:r>
          </a:p>
        </p:txBody>
      </p:sp>
      <p:sp>
        <p:nvSpPr>
          <p:cNvPr id="7" name="TextBox 6"/>
          <p:cNvSpPr txBox="1"/>
          <p:nvPr/>
        </p:nvSpPr>
        <p:spPr>
          <a:xfrm>
            <a:off x="1143000" y="4171950"/>
            <a:ext cx="3429000" cy="742950"/>
          </a:xfrm>
          <a:prstGeom prst="rect">
            <a:avLst/>
          </a:prstGeom>
          <a:noFill/>
        </p:spPr>
        <p:txBody>
          <a:bodyPr wrap="none">
            <a:spAutoFit/>
          </a:bodyPr>
          <a:lstStyle/>
          <a:p>
            <a:pPr>
              <a:defRPr sz="2000" b="0">
                <a:solidFill>
                  <a:srgbClr val="FFFFFF"/>
                </a:solidFill>
                <a:latin typeface="Inter"/>
              </a:defRPr>
            </a:pPr>
            <a:r>
              <a:t>H3 Heading</a:t>
            </a:r>
          </a:p>
        </p:txBody>
      </p:sp>
      <p:sp>
        <p:nvSpPr>
          <p:cNvPr id="8" name="TextBox 7"/>
          <p:cNvSpPr txBox="1"/>
          <p:nvPr/>
        </p:nvSpPr>
        <p:spPr>
          <a:xfrm>
            <a:off x="5257800" y="1943100"/>
            <a:ext cx="3429000" cy="742950"/>
          </a:xfrm>
          <a:prstGeom prst="rect">
            <a:avLst/>
          </a:prstGeom>
          <a:noFill/>
        </p:spPr>
        <p:txBody>
          <a:bodyPr wrap="none">
            <a:spAutoFit/>
          </a:bodyPr>
          <a:lstStyle/>
          <a:p>
            <a:pPr>
              <a:defRPr sz="2000" b="0">
                <a:solidFill>
                  <a:srgbClr val="FFFFFF"/>
                </a:solidFill>
                <a:latin typeface="Source Sans Pro"/>
              </a:defRPr>
            </a:pPr>
            <a:r>
              <a:t>Secondary Font: Source Sans Pro</a:t>
            </a:r>
          </a:p>
        </p:txBody>
      </p:sp>
      <p:sp>
        <p:nvSpPr>
          <p:cNvPr id="9" name="TextBox 8"/>
          <p:cNvSpPr txBox="1"/>
          <p:nvPr/>
        </p:nvSpPr>
        <p:spPr>
          <a:xfrm>
            <a:off x="5257800" y="2686050"/>
            <a:ext cx="3429000" cy="742950"/>
          </a:xfrm>
          <a:prstGeom prst="rect">
            <a:avLst/>
          </a:prstGeom>
          <a:noFill/>
        </p:spPr>
        <p:txBody>
          <a:bodyPr wrap="none">
            <a:spAutoFit/>
          </a:bodyPr>
          <a:lstStyle/>
          <a:p>
            <a:pPr>
              <a:defRPr sz="1600" b="0">
                <a:solidFill>
                  <a:srgbClr val="FFFFFF"/>
                </a:solidFill>
                <a:latin typeface="Source Sans Pro"/>
              </a:defRPr>
            </a:pPr>
            <a:r>
              <a:t>Body Text</a:t>
            </a:r>
          </a:p>
        </p:txBody>
      </p:sp>
      <p:sp>
        <p:nvSpPr>
          <p:cNvPr id="10" name="TextBox 9"/>
          <p:cNvSpPr txBox="1"/>
          <p:nvPr/>
        </p:nvSpPr>
        <p:spPr>
          <a:xfrm>
            <a:off x="5257800" y="3429000"/>
            <a:ext cx="3429000" cy="742950"/>
          </a:xfrm>
          <a:prstGeom prst="rect">
            <a:avLst/>
          </a:prstGeom>
          <a:noFill/>
        </p:spPr>
        <p:txBody>
          <a:bodyPr wrap="none">
            <a:spAutoFit/>
          </a:bodyPr>
          <a:lstStyle/>
          <a:p>
            <a:pPr>
              <a:defRPr sz="1600" b="1">
                <a:solidFill>
                  <a:srgbClr val="FFFFFF"/>
                </a:solidFill>
                <a:latin typeface="Source Sans Pro"/>
              </a:defRPr>
            </a:pPr>
            <a:r>
              <a:t>Body Bold</a:t>
            </a:r>
          </a:p>
        </p:txBody>
      </p:sp>
      <p:sp>
        <p:nvSpPr>
          <p:cNvPr id="11" name="TextBox 10"/>
          <p:cNvSpPr txBox="1"/>
          <p:nvPr/>
        </p:nvSpPr>
        <p:spPr>
          <a:xfrm>
            <a:off x="5257800" y="4171950"/>
            <a:ext cx="3429000" cy="742950"/>
          </a:xfrm>
          <a:prstGeom prst="rect">
            <a:avLst/>
          </a:prstGeom>
          <a:noFill/>
        </p:spPr>
        <p:txBody>
          <a:bodyPr wrap="none">
            <a:spAutoFit/>
          </a:bodyPr>
          <a:lstStyle/>
          <a:p>
            <a:pPr>
              <a:defRPr sz="1200" b="0">
                <a:solidFill>
                  <a:srgbClr val="FFFFFF"/>
                </a:solidFill>
                <a:latin typeface="Source Sans Pro"/>
              </a:defRPr>
            </a:pPr>
            <a:r>
              <a:t>Caption Text</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Visual &amp; Photography Guidelines</a:t>
            </a:r>
          </a:p>
        </p:txBody>
      </p:sp>
      <p:sp>
        <p:nvSpPr>
          <p:cNvPr id="4" name="TextBox 3"/>
          <p:cNvSpPr txBox="1"/>
          <p:nvPr/>
        </p:nvSpPr>
        <p:spPr>
          <a:xfrm>
            <a:off x="1143000" y="1943100"/>
            <a:ext cx="3429000" cy="2971800"/>
          </a:xfrm>
          <a:prstGeom prst="rect">
            <a:avLst/>
          </a:prstGeom>
          <a:noFill/>
        </p:spPr>
        <p:txBody>
          <a:bodyPr wrap="square">
            <a:spAutoFit/>
          </a:bodyPr>
          <a:lstStyle/>
          <a:p>
            <a:pPr>
              <a:defRPr sz="1800" b="0">
                <a:solidFill>
                  <a:srgbClr val="FFFFFF"/>
                </a:solidFill>
                <a:latin typeface="Source Sans Pro"/>
              </a:defRPr>
            </a:pPr>
            <a:r>
              <a:t>Visual Style Guidelines:</a:t>
            </a:r>
          </a:p>
          <a:p>
            <a:pPr>
              <a:defRPr sz="1400" b="0">
                <a:solidFill>
                  <a:srgbClr val="FFFFFF"/>
                </a:solidFill>
                <a:latin typeface="Source Sans Pro"/>
              </a:defRPr>
            </a:pPr>
            <a:r>
              <a:t>• Visual style for Flipkart in E-commerce</a:t>
            </a:r>
          </a:p>
          <a:p>
            <a:pPr>
              <a:defRPr sz="1400" b="0">
                <a:solidFill>
                  <a:srgbClr val="FFFFFF"/>
                </a:solidFill>
                <a:latin typeface="Source Sans Pro"/>
              </a:defRPr>
            </a:pPr>
            <a:r>
              <a:t>• Retail</a:t>
            </a:r>
          </a:p>
          <a:p>
            <a:pPr>
              <a:defRPr sz="1400" b="0">
                <a:solidFill>
                  <a:srgbClr val="FFFFFF"/>
                </a:solidFill>
                <a:latin typeface="Source Sans Pro"/>
              </a:defRPr>
            </a:pPr>
            <a:r>
              <a:t>• Technology</a:t>
            </a:r>
          </a:p>
          <a:p>
            <a:pPr>
              <a:defRPr sz="1400" b="0">
                <a:solidFill>
                  <a:srgbClr val="FFFFFF"/>
                </a:solidFill>
                <a:latin typeface="Source Sans Pro"/>
              </a:defRPr>
            </a:pPr>
            <a:r>
              <a:t>• Logistics &amp; Supply Chain: Cartoon aesthetic</a:t>
            </a:r>
          </a:p>
          <a:p>
            <a:pPr>
              <a:defRPr sz="1400" b="0">
                <a:solidFill>
                  <a:srgbClr val="FFFFFF"/>
                </a:solidFill>
                <a:latin typeface="Source Sans Pro"/>
              </a:defRPr>
            </a:pPr>
            <a:r>
              <a:t>• values: Customer-Centricity</a:t>
            </a:r>
          </a:p>
        </p:txBody>
      </p:sp>
      <p:sp>
        <p:nvSpPr>
          <p:cNvPr id="5" name="TextBox 4"/>
          <p:cNvSpPr txBox="1"/>
          <p:nvPr/>
        </p:nvSpPr>
        <p:spPr>
          <a:xfrm>
            <a:off x="5257800" y="1943100"/>
            <a:ext cx="3429000" cy="2971800"/>
          </a:xfrm>
          <a:prstGeom prst="rect">
            <a:avLst/>
          </a:prstGeom>
          <a:noFill/>
        </p:spPr>
        <p:txBody>
          <a:bodyPr wrap="square">
            <a:spAutoFit/>
          </a:bodyPr>
          <a:lstStyle/>
          <a:p>
            <a:pPr>
              <a:defRPr sz="1800" b="0">
                <a:solidFill>
                  <a:srgbClr val="FFFFFF"/>
                </a:solidFill>
                <a:latin typeface="Source Sans Pro"/>
              </a:defRPr>
            </a:pPr>
            <a:r>
              <a:t>Photography Guidelines:</a:t>
            </a:r>
          </a:p>
          <a:p>
            <a:pPr>
              <a:defRPr sz="1400" b="0">
                <a:solidFill>
                  <a:srgbClr val="FFFFFF"/>
                </a:solidFill>
                <a:latin typeface="Source Sans Pro"/>
              </a:defRPr>
            </a:pPr>
            <a:r>
              <a:t>• Photography style for Flipkart: Cartoon and E-commerce</a:t>
            </a:r>
          </a:p>
          <a:p>
            <a:pPr>
              <a:defRPr sz="1400" b="0">
                <a:solidFill>
                  <a:srgbClr val="FFFFFF"/>
                </a:solidFill>
                <a:latin typeface="Source Sans Pro"/>
              </a:defRPr>
            </a:pPr>
            <a:r>
              <a:t>• Retail</a:t>
            </a:r>
          </a:p>
          <a:p>
            <a:pPr>
              <a:defRPr sz="1400" b="0">
                <a:solidFill>
                  <a:srgbClr val="FFFFFF"/>
                </a:solidFill>
                <a:latin typeface="Source Sans Pro"/>
              </a:defRPr>
            </a:pPr>
            <a:r>
              <a:t>• Technology</a:t>
            </a:r>
          </a:p>
          <a:p>
            <a:pPr>
              <a:defRPr sz="1400" b="0">
                <a:solidFill>
                  <a:srgbClr val="FFFFFF"/>
                </a:solidFill>
                <a:latin typeface="Source Sans Pro"/>
              </a:defRPr>
            </a:pPr>
            <a:r>
              <a:t>• Logistics &amp; Supply Chain feel. Show diversity</a:t>
            </a:r>
          </a:p>
          <a:p>
            <a:pPr>
              <a:defRPr sz="1400" b="0">
                <a:solidFill>
                  <a:srgbClr val="FFFFFF"/>
                </a:solidFill>
                <a:latin typeface="Source Sans Pro"/>
              </a:defRPr>
            </a:pPr>
            <a:r>
              <a:t>• authenticity</a:t>
            </a:r>
          </a:p>
        </p:txBody>
      </p:sp>
      <p:sp>
        <p:nvSpPr>
          <p:cNvPr id="6" name="Rectangle 5"/>
          <p:cNvSpPr/>
          <p:nvPr/>
        </p:nvSpPr>
        <p:spPr>
          <a:xfrm>
            <a:off x="52578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8" name="Rectangle 7"/>
          <p:cNvSpPr/>
          <p:nvPr/>
        </p:nvSpPr>
        <p:spPr>
          <a:xfrm>
            <a:off x="66294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10" name="Rectangle 9"/>
          <p:cNvSpPr/>
          <p:nvPr/>
        </p:nvSpPr>
        <p:spPr>
          <a:xfrm>
            <a:off x="80010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Brand Story &amp; Mission (1/4)</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In the bustling streets of India, where the vibrant colors and sounds of daily life intertwine, there is a beacon of innovation and convenience that shines brighter than the rest - Flipkart. At Flipkart, we believe in the power of empowerment through technology. Our journey began with a simple idea - to revolutionize the way people shop, especially those who value affordability and convenience above all else. We saw an opportunity to cater to the needs of price-conscious shoppers, middle-class families, young professionals, students, and digital-savvy consumers who were looking for a reliable and trustworthy online shopping experience. Driven by our core values of customer-centricity, innovation, and inclusivity, we embarked</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Brand Story &amp; Mission (2/4)</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on a mission to redefine the E-commerce landscape. We wanted to make shopping accessible to everyone, regardless of their location or background. That's why we focused on reaching out to tier 2 &amp; tier 3 city customers and small businesses, providing them with a platform where they could access a wide range of products at competitive prices. Our brand promise is simple yet powerful - to empower individuals and businesses through our distinctive E-commerce, Retail, Technology, Logistics &amp; Supply Chain solutions. We understand the importance of affordability and trust in today's fast-paced world, which is why we have built a reputation for delivering high-quality products at affordable prices, backed by</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Brand Story &amp; Mission (3/4)</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excellent customer service and reliable delivery. What sets us apart is our commitment to growth and agility. We are constantly pushing the boundaries of innovation, exploring new ways to enhance the shopping experience for our customers. Whether it's through our cutting-edge technology solutions or our seamless logistics and supply chain network, we are always striving to stay ahead of the curve and meet the evolving needs of our diverse customer base. So, if you are a price-conscious shopper looking for the best deals, a middle-class family trying to make ends meet, a young professional juggling work and personal life, a student on a tight budget, or a small business looking</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Brand Story &amp; Mission (4/4)</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to expand your reach - Flipkart is</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Brand Voice &amp; Tone</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Flipkart's brand voice is friendly, approachable, and inclusive, catering to a diverse audience of price-conscious shoppers, middle-class families, young professionals, students, digital-savvy consumers, Tier 2 &amp; Tier 3 city customers, small businesses, and value-seeking online buyers. The tone is customer-centric, focusing on innovation, affordability, trust, reliability, convenience, inclusivity, agility, empowerment, and growth. The brand voice is characterized by a balance of empathy and expertise, reflecting Flipkart's commitment to understanding and meeting the needs of its customers. It is authoritative in its knowledge</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Messaging &amp; Value Propositions (1/2)</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**Messaging Architecture for Flipkart:** **1. Price-conscious shoppers:** - Offering unbeatable deals and discounts on a wide range of products to help you save more while shopping. **2. Middle-class families:** - Providing quality products at affordable prices, making it easier for you to fulfill your family's needs without breaking the bank. **3. Young professionals:** - Curated selection of trendy and stylish products that fit your busy lifestyle, with fast delivery options to keep up with your on-the-go schedule. **4. Students:** - Exclusive student discounts and budget-friendly options on essentials like books,</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Messaging &amp; Value Propositions (2/2)</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electronics, and stationery, helping you stay within your budget while studying. **5. Digital-savvy consumers:** - Seamless online shopping experience with user-friendly interface, personalized recommendations, and secure payment options for a hassle-free shopping journey. **6. Tier 2 &amp;</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Marketing Copy: Website</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"Empowering Every Shopper: Flipkart's Innovative, Affordable, and Customer-Centric E-commerce Platform"</a:t>
            </a:r>
          </a:p>
          <a:p>
            <a:pPr>
              <a:defRPr sz="1600" b="0">
                <a:solidFill>
                  <a:srgbClr val="FFFFFF"/>
                </a:solidFill>
                <a:latin typeface="Source Sans Pro"/>
              </a:defRPr>
            </a:pPr>
            <a:r>
              <a:t>"Experience Trust, Reliability, and Convenience with Flipkart - Your One-Stop Shop for Inclusive Growth and Agility"</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Marketing Copy: Email</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Subject: Discover the Flipkart Difference: Customer-Centricity, Innovation, and Affordability!</a:t>
            </a:r>
          </a:p>
          <a:p>
            <a:pPr>
              <a:defRPr sz="1600" b="0">
                <a:solidFill>
                  <a:srgbClr val="FFFFFF"/>
                </a:solidFill>
                <a:latin typeface="Source Sans Pro"/>
              </a:defRPr>
            </a:pPr>
          </a:p>
          <a:p>
            <a:pPr>
              <a:defRPr sz="1600" b="0">
                <a:solidFill>
                  <a:srgbClr val="FFFFFF"/>
                </a:solidFill>
                <a:latin typeface="Source Sans Pro"/>
              </a:defRPr>
            </a:pPr>
            <a:r>
              <a:t>Preview text: Experience trust, reliability, and convenience while enjoying inclusivity, agility, and empowerment. Grow with us as we cater to price-conscious shoppers, families, professionals, students, and more in Tier 2 &amp; 3 cities!</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Marketing Copy: Social Media</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 Get more bang for your buck with Flipkart! 🛍️ From price-conscious shoppers to young professionals and small businesses, we've got something for everyone. 💸 Shop with confidence knowing you're getting the best deal without compromising on quality. 💪 Embrace innovation, affordability, and convenience all in one place. Let's empower your shopping experience together! 🌈 #Flipkart #AffordableShopping #Innovation #Empowerment</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Marketing Copy: Ad Copy</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 Get more bang for your buck with Flipkart! Shop top brands at unbeatable prices for all your needs. From tech gadgets to fashion essentials, we've got it all. Don't miss out - shop now and save big! 💸 #Flipkart #ShopSmart"</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Collateral: Business Card</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Simple, clean business card layout for Flipkart in E-commerce, Retail, Technology, Logistics &amp; Supply Chain. Emphasize clarity, logo, and minimal info.</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Collateral: Letterhead</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Letterhead with Flipkart branding, address, and subtle color accent from brand palette.</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Collateral: Email Signature</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Professional email signature for Flipkart with logo, name, title, and key contact details.</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Collateral: Presentation Template</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PPT cover slide and content slide layouts using Flipkart palette and fonts.</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Collateral: Social Templates</a:t>
            </a:r>
          </a:p>
        </p:txBody>
      </p:sp>
      <p:sp>
        <p:nvSpPr>
          <p:cNvPr id="4" name="TextBox 3"/>
          <p:cNvSpPr txBox="1"/>
          <p:nvPr/>
        </p:nvSpPr>
        <p:spPr>
          <a:xfrm>
            <a:off x="1143000" y="1943100"/>
            <a:ext cx="6858000" cy="2971800"/>
          </a:xfrm>
          <a:prstGeom prst="rect">
            <a:avLst/>
          </a:prstGeom>
          <a:noFill/>
        </p:spPr>
        <p:txBody>
          <a:bodyPr wrap="square">
            <a:spAutoFit/>
          </a:bodyPr>
          <a:lstStyle/>
          <a:p>
            <a:pPr>
              <a:defRPr sz="1600" b="0">
                <a:solidFill>
                  <a:srgbClr val="FFFFFF"/>
                </a:solidFill>
                <a:latin typeface="Source Sans Pro"/>
              </a:defRPr>
            </a:pPr>
            <a:r>
              <a:t>Instagram/Facebook post and story templates reflecting Flipkart's style and values.</a:t>
            </a:r>
          </a:p>
        </p:txBody>
      </p:sp>
      <p:sp>
        <p:nvSpPr>
          <p:cNvPr id="5" name="TextBox 4"/>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Flipkart</a:t>
            </a:r>
          </a:p>
        </p:txBody>
      </p:sp>
      <p:sp>
        <p:nvSpPr>
          <p:cNvPr id="6" name="TextBox 5"/>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