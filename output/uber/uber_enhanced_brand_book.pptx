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png"/><Relationship Id="rId12" Type="http://schemas.openxmlformats.org/officeDocument/2006/relationships/image" Target="../media/image14.png"/><Relationship Id="rId13" Type="http://schemas.openxmlformats.org/officeDocument/2006/relationships/image" Target="../media/image15.png"/><Relationship Id="rId14" Type="http://schemas.openxmlformats.org/officeDocument/2006/relationships/image" Target="../media/image16.png"/><Relationship Id="rId15" Type="http://schemas.openxmlformats.org/officeDocument/2006/relationships/image" Target="../media/image17.png"/><Relationship Id="rId16"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png"/><Relationship Id="rId12" Type="http://schemas.openxmlformats.org/officeDocument/2006/relationships/image" Target="../media/image14.png"/><Relationship Id="rId13" Type="http://schemas.openxmlformats.org/officeDocument/2006/relationships/image" Target="../media/image15.png"/><Relationship Id="rId14" Type="http://schemas.openxmlformats.org/officeDocument/2006/relationships/image" Target="../media/image16.png"/><Relationship Id="rId15" Type="http://schemas.openxmlformats.org/officeDocument/2006/relationships/image" Target="../media/image17.png"/><Relationship Id="rId16"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ber_logo_1_20250903_230234_6a7827f1.png"/>
          <p:cNvPicPr>
            <a:picLocks noChangeAspect="1"/>
          </p:cNvPicPr>
          <p:nvPr/>
        </p:nvPicPr>
        <p:blipFill>
          <a:blip r:embed="rId2"/>
          <a:stretch>
            <a:fillRect/>
          </a:stretch>
        </p:blipFill>
        <p:spPr>
          <a:xfrm>
            <a:off x="0" y="0"/>
            <a:ext cx="9144000" cy="6858000"/>
          </a:xfrm>
          <a:prstGeom prst="rect">
            <a:avLst/>
          </a:prstGeom>
        </p:spPr>
      </p:pic>
      <p:cxnSp>
        <p:nvCxnSpPr>
          <p:cNvPr id="3" name="Connector 2"/>
          <p:cNvCxnSpPr/>
          <p:nvPr/>
        </p:nvCxnSpPr>
        <p:spPr>
          <a:xfrm>
            <a:off x="6629400.0" y="5657850.0"/>
            <a:ext cx="2057400.0" cy="0.0"/>
          </a:xfrm>
          <a:prstGeom prst="line">
            <a:avLst/>
          </a:prstGeom>
          <a:ln>
            <a:solidFill>
              <a:srgbClr val="1F293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629400" y="5657850"/>
            <a:ext cx="2057400" cy="1485900"/>
          </a:xfrm>
          <a:prstGeom prst="rect">
            <a:avLst/>
          </a:prstGeom>
          <a:noFill/>
        </p:spPr>
        <p:txBody>
          <a:bodyPr wrap="none" anchor="ctr">
            <a:spAutoFit/>
          </a:bodyPr>
          <a:lstStyle/>
          <a:p>
            <a:pPr algn="ctr">
              <a:defRPr sz="1800" b="0">
                <a:solidFill>
                  <a:srgbClr val="1F2937"/>
                </a:solidFill>
                <a:latin typeface="Source Sans Pro"/>
              </a:defRPr>
            </a:pPr>
            <a:r>
              <a:t>Brand Identity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2743200" cy="731520"/>
          </a:xfrm>
          <a:prstGeom prst="rect">
            <a:avLst/>
          </a:prstGeom>
          <a:noFill/>
        </p:spPr>
        <p:txBody>
          <a:bodyPr wrap="none">
            <a:spAutoFit/>
          </a:bodyPr>
          <a:lstStyle/>
          <a:p>
            <a:pPr>
              <a:defRPr sz="2800" b="1">
                <a:solidFill>
                  <a:srgbClr val="1F2937"/>
                </a:solidFill>
                <a:latin typeface="Inter"/>
              </a:defRPr>
            </a:pPr>
            <a:r>
              <a:t>INDEX</a:t>
            </a:r>
          </a:p>
        </p:txBody>
      </p:sp>
      <p:cxnSp>
        <p:nvCxnSpPr>
          <p:cNvPr id="3" name="Connector 2"/>
          <p:cNvCxnSpPr/>
          <p:nvPr/>
        </p:nvCxnSpPr>
        <p:spPr>
          <a:xfrm>
            <a:off x="457200" y="1097280"/>
            <a:ext cx="8229600" cy="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554480"/>
            <a:ext cx="1828800" cy="274320"/>
          </a:xfrm>
          <a:prstGeom prst="rect">
            <a:avLst/>
          </a:prstGeom>
          <a:noFill/>
        </p:spPr>
        <p:txBody>
          <a:bodyPr wrap="none" lIns="0" rIns="0" tIns="0" bIns="0">
            <a:spAutoFit/>
          </a:bodyPr>
          <a:lstStyle/>
          <a:p>
            <a:pPr>
              <a:defRPr sz="1200" b="1">
                <a:solidFill>
                  <a:srgbClr val="000000"/>
                </a:solidFill>
                <a:latin typeface="Source Sans Pro"/>
              </a:defRPr>
            </a:pPr>
            <a:r>
              <a:t>Introduction</a:t>
            </a:r>
          </a:p>
        </p:txBody>
      </p:sp>
      <p:cxnSp>
        <p:nvCxnSpPr>
          <p:cNvPr id="5" name="Connector 4"/>
          <p:cNvCxnSpPr/>
          <p:nvPr/>
        </p:nvCxnSpPr>
        <p:spPr>
          <a:xfrm>
            <a:off x="2331719" y="1664208"/>
            <a:ext cx="365760" cy="0"/>
          </a:xfrm>
          <a:prstGeom prst="line">
            <a:avLst/>
          </a:prstGeom>
          <a:ln w="19050">
            <a:solidFill>
              <a:srgbClr val="1F293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0" y="1554480"/>
            <a:ext cx="274320" cy="274320"/>
          </a:xfrm>
          <a:prstGeom prst="rect">
            <a:avLst/>
          </a:prstGeom>
          <a:noFill/>
        </p:spPr>
        <p:txBody>
          <a:bodyPr wrap="none" lIns="0" tIns="0" bIns="0">
            <a:spAutoFit/>
          </a:bodyPr>
          <a:lstStyle/>
          <a:p>
            <a:pPr>
              <a:defRPr sz="1200" b="1">
                <a:solidFill>
                  <a:srgbClr val="1F2937"/>
                </a:solidFill>
                <a:latin typeface="Source Sans Pro"/>
              </a:defRPr>
            </a:pPr>
            <a:r>
              <a:t>01</a:t>
            </a:r>
          </a:p>
        </p:txBody>
      </p:sp>
      <p:sp>
        <p:nvSpPr>
          <p:cNvPr id="7" name="TextBox 6"/>
          <p:cNvSpPr txBox="1"/>
          <p:nvPr/>
        </p:nvSpPr>
        <p:spPr>
          <a:xfrm>
            <a:off x="457200" y="2057400"/>
            <a:ext cx="1828800" cy="274320"/>
          </a:xfrm>
          <a:prstGeom prst="rect">
            <a:avLst/>
          </a:prstGeom>
          <a:noFill/>
        </p:spPr>
        <p:txBody>
          <a:bodyPr wrap="none" lIns="0" rIns="0" tIns="0" bIns="0">
            <a:spAutoFit/>
          </a:bodyPr>
          <a:lstStyle/>
          <a:p>
            <a:pPr>
              <a:defRPr sz="1200" b="1">
                <a:solidFill>
                  <a:srgbClr val="000000"/>
                </a:solidFill>
                <a:latin typeface="Source Sans Pro"/>
              </a:defRPr>
            </a:pPr>
            <a:r>
              <a:t>Brand Purpose (Vision)</a:t>
            </a:r>
          </a:p>
        </p:txBody>
      </p:sp>
      <p:cxnSp>
        <p:nvCxnSpPr>
          <p:cNvPr id="8" name="Connector 7"/>
          <p:cNvCxnSpPr/>
          <p:nvPr/>
        </p:nvCxnSpPr>
        <p:spPr>
          <a:xfrm>
            <a:off x="2331719" y="2167128"/>
            <a:ext cx="365760" cy="0"/>
          </a:xfrm>
          <a:prstGeom prst="line">
            <a:avLst/>
          </a:prstGeom>
          <a:ln w="19050">
            <a:solidFill>
              <a:srgbClr val="1F2937"/>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0" y="2057400"/>
            <a:ext cx="274320" cy="274320"/>
          </a:xfrm>
          <a:prstGeom prst="rect">
            <a:avLst/>
          </a:prstGeom>
          <a:noFill/>
        </p:spPr>
        <p:txBody>
          <a:bodyPr wrap="none" lIns="0" tIns="0" bIns="0">
            <a:spAutoFit/>
          </a:bodyPr>
          <a:lstStyle/>
          <a:p>
            <a:pPr>
              <a:defRPr sz="1200" b="1">
                <a:solidFill>
                  <a:srgbClr val="1F2937"/>
                </a:solidFill>
                <a:latin typeface="Source Sans Pro"/>
              </a:defRPr>
            </a:pPr>
            <a:r>
              <a:t>02</a:t>
            </a:r>
          </a:p>
        </p:txBody>
      </p:sp>
      <p:sp>
        <p:nvSpPr>
          <p:cNvPr id="10" name="TextBox 9"/>
          <p:cNvSpPr txBox="1"/>
          <p:nvPr/>
        </p:nvSpPr>
        <p:spPr>
          <a:xfrm>
            <a:off x="457200" y="2560320"/>
            <a:ext cx="1828800" cy="274320"/>
          </a:xfrm>
          <a:prstGeom prst="rect">
            <a:avLst/>
          </a:prstGeom>
          <a:noFill/>
        </p:spPr>
        <p:txBody>
          <a:bodyPr wrap="none" lIns="0" rIns="0" tIns="0" bIns="0">
            <a:spAutoFit/>
          </a:bodyPr>
          <a:lstStyle/>
          <a:p>
            <a:pPr>
              <a:defRPr sz="1200" b="1">
                <a:solidFill>
                  <a:srgbClr val="000000"/>
                </a:solidFill>
                <a:latin typeface="Source Sans Pro"/>
              </a:defRPr>
            </a:pPr>
            <a:r>
              <a:t>Brand Purpose (Mission)</a:t>
            </a:r>
          </a:p>
        </p:txBody>
      </p:sp>
      <p:cxnSp>
        <p:nvCxnSpPr>
          <p:cNvPr id="11" name="Connector 10"/>
          <p:cNvCxnSpPr/>
          <p:nvPr/>
        </p:nvCxnSpPr>
        <p:spPr>
          <a:xfrm>
            <a:off x="2331719" y="2670048"/>
            <a:ext cx="365760" cy="0"/>
          </a:xfrm>
          <a:prstGeom prst="line">
            <a:avLst/>
          </a:prstGeom>
          <a:ln w="19050">
            <a:solidFill>
              <a:srgbClr val="1F293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3200" y="2560320"/>
            <a:ext cx="274320" cy="274320"/>
          </a:xfrm>
          <a:prstGeom prst="rect">
            <a:avLst/>
          </a:prstGeom>
          <a:noFill/>
        </p:spPr>
        <p:txBody>
          <a:bodyPr wrap="none" lIns="0" tIns="0" bIns="0">
            <a:spAutoFit/>
          </a:bodyPr>
          <a:lstStyle/>
          <a:p>
            <a:pPr>
              <a:defRPr sz="1200" b="1">
                <a:solidFill>
                  <a:srgbClr val="1F2937"/>
                </a:solidFill>
                <a:latin typeface="Source Sans Pro"/>
              </a:defRPr>
            </a:pPr>
            <a:r>
              <a:t>03</a:t>
            </a:r>
          </a:p>
        </p:txBody>
      </p:sp>
      <p:sp>
        <p:nvSpPr>
          <p:cNvPr id="13" name="TextBox 12"/>
          <p:cNvSpPr txBox="1"/>
          <p:nvPr/>
        </p:nvSpPr>
        <p:spPr>
          <a:xfrm>
            <a:off x="3474720" y="1554480"/>
            <a:ext cx="1828800" cy="274320"/>
          </a:xfrm>
          <a:prstGeom prst="rect">
            <a:avLst/>
          </a:prstGeom>
          <a:noFill/>
        </p:spPr>
        <p:txBody>
          <a:bodyPr wrap="none" lIns="0" rIns="0" tIns="0" bIns="0">
            <a:spAutoFit/>
          </a:bodyPr>
          <a:lstStyle/>
          <a:p>
            <a:pPr>
              <a:defRPr sz="1200" b="1">
                <a:solidFill>
                  <a:srgbClr val="000000"/>
                </a:solidFill>
                <a:latin typeface="Source Sans Pro"/>
              </a:defRPr>
            </a:pPr>
            <a:r>
              <a:t>Brand Purpose (Values)</a:t>
            </a:r>
          </a:p>
        </p:txBody>
      </p:sp>
      <p:cxnSp>
        <p:nvCxnSpPr>
          <p:cNvPr id="14" name="Connector 13"/>
          <p:cNvCxnSpPr/>
          <p:nvPr/>
        </p:nvCxnSpPr>
        <p:spPr>
          <a:xfrm>
            <a:off x="5349239" y="1664208"/>
            <a:ext cx="365760" cy="0"/>
          </a:xfrm>
          <a:prstGeom prst="line">
            <a:avLst/>
          </a:prstGeom>
          <a:ln w="19050">
            <a:solidFill>
              <a:srgbClr val="1F2937"/>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760720" y="1554480"/>
            <a:ext cx="274320" cy="274320"/>
          </a:xfrm>
          <a:prstGeom prst="rect">
            <a:avLst/>
          </a:prstGeom>
          <a:noFill/>
        </p:spPr>
        <p:txBody>
          <a:bodyPr wrap="none" lIns="0" tIns="0" bIns="0">
            <a:spAutoFit/>
          </a:bodyPr>
          <a:lstStyle/>
          <a:p>
            <a:pPr>
              <a:defRPr sz="1200" b="1">
                <a:solidFill>
                  <a:srgbClr val="1F2937"/>
                </a:solidFill>
                <a:latin typeface="Source Sans Pro"/>
              </a:defRPr>
            </a:pPr>
            <a:r>
              <a:t>04</a:t>
            </a:r>
          </a:p>
        </p:txBody>
      </p:sp>
      <p:sp>
        <p:nvSpPr>
          <p:cNvPr id="16" name="TextBox 15"/>
          <p:cNvSpPr txBox="1"/>
          <p:nvPr/>
        </p:nvSpPr>
        <p:spPr>
          <a:xfrm>
            <a:off x="3474720" y="2057400"/>
            <a:ext cx="1828800" cy="274320"/>
          </a:xfrm>
          <a:prstGeom prst="rect">
            <a:avLst/>
          </a:prstGeom>
          <a:noFill/>
        </p:spPr>
        <p:txBody>
          <a:bodyPr wrap="none" lIns="0" rIns="0" tIns="0" bIns="0">
            <a:spAutoFit/>
          </a:bodyPr>
          <a:lstStyle/>
          <a:p>
            <a:pPr>
              <a:defRPr sz="1200" b="1">
                <a:solidFill>
                  <a:srgbClr val="000000"/>
                </a:solidFill>
                <a:latin typeface="Source Sans Pro"/>
              </a:defRPr>
            </a:pPr>
            <a:r>
              <a:t>Brand Story</a:t>
            </a:r>
          </a:p>
        </p:txBody>
      </p:sp>
      <p:cxnSp>
        <p:nvCxnSpPr>
          <p:cNvPr id="17" name="Connector 16"/>
          <p:cNvCxnSpPr/>
          <p:nvPr/>
        </p:nvCxnSpPr>
        <p:spPr>
          <a:xfrm>
            <a:off x="5349239" y="2167128"/>
            <a:ext cx="365760" cy="0"/>
          </a:xfrm>
          <a:prstGeom prst="line">
            <a:avLst/>
          </a:prstGeom>
          <a:ln w="19050">
            <a:solidFill>
              <a:srgbClr val="1F293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60720" y="2057400"/>
            <a:ext cx="274320" cy="274320"/>
          </a:xfrm>
          <a:prstGeom prst="rect">
            <a:avLst/>
          </a:prstGeom>
          <a:noFill/>
        </p:spPr>
        <p:txBody>
          <a:bodyPr wrap="none" lIns="0" tIns="0" bIns="0">
            <a:spAutoFit/>
          </a:bodyPr>
          <a:lstStyle/>
          <a:p>
            <a:pPr>
              <a:defRPr sz="1200" b="1">
                <a:solidFill>
                  <a:srgbClr val="1F2937"/>
                </a:solidFill>
                <a:latin typeface="Source Sans Pro"/>
              </a:defRPr>
            </a:pPr>
            <a:r>
              <a:t>05</a:t>
            </a:r>
          </a:p>
        </p:txBody>
      </p:sp>
      <p:sp>
        <p:nvSpPr>
          <p:cNvPr id="19" name="TextBox 18"/>
          <p:cNvSpPr txBox="1"/>
          <p:nvPr/>
        </p:nvSpPr>
        <p:spPr>
          <a:xfrm>
            <a:off x="3474720" y="2560320"/>
            <a:ext cx="1828800" cy="274320"/>
          </a:xfrm>
          <a:prstGeom prst="rect">
            <a:avLst/>
          </a:prstGeom>
          <a:noFill/>
        </p:spPr>
        <p:txBody>
          <a:bodyPr wrap="none" lIns="0" rIns="0" tIns="0" bIns="0">
            <a:spAutoFit/>
          </a:bodyPr>
          <a:lstStyle/>
          <a:p>
            <a:pPr>
              <a:defRPr sz="1200" b="1">
                <a:solidFill>
                  <a:srgbClr val="000000"/>
                </a:solidFill>
                <a:latin typeface="Source Sans Pro"/>
              </a:defRPr>
            </a:pPr>
            <a:r>
              <a:t>Logo Variations</a:t>
            </a:r>
          </a:p>
        </p:txBody>
      </p:sp>
      <p:cxnSp>
        <p:nvCxnSpPr>
          <p:cNvPr id="20" name="Connector 19"/>
          <p:cNvCxnSpPr/>
          <p:nvPr/>
        </p:nvCxnSpPr>
        <p:spPr>
          <a:xfrm>
            <a:off x="5349239" y="2670048"/>
            <a:ext cx="365760" cy="0"/>
          </a:xfrm>
          <a:prstGeom prst="line">
            <a:avLst/>
          </a:prstGeom>
          <a:ln w="19050">
            <a:solidFill>
              <a:srgbClr val="1F293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760720" y="2560320"/>
            <a:ext cx="274320" cy="274320"/>
          </a:xfrm>
          <a:prstGeom prst="rect">
            <a:avLst/>
          </a:prstGeom>
          <a:noFill/>
        </p:spPr>
        <p:txBody>
          <a:bodyPr wrap="none" lIns="0" tIns="0" bIns="0">
            <a:spAutoFit/>
          </a:bodyPr>
          <a:lstStyle/>
          <a:p>
            <a:pPr>
              <a:defRPr sz="1200" b="1">
                <a:solidFill>
                  <a:srgbClr val="1F2937"/>
                </a:solidFill>
                <a:latin typeface="Source Sans Pro"/>
              </a:defRPr>
            </a:pPr>
            <a:r>
              <a:t>06</a:t>
            </a:r>
          </a:p>
        </p:txBody>
      </p:sp>
      <p:sp>
        <p:nvSpPr>
          <p:cNvPr id="22" name="TextBox 21"/>
          <p:cNvSpPr txBox="1"/>
          <p:nvPr/>
        </p:nvSpPr>
        <p:spPr>
          <a:xfrm>
            <a:off x="3657600" y="2926079"/>
            <a:ext cx="1828800" cy="228600"/>
          </a:xfrm>
          <a:prstGeom prst="rect">
            <a:avLst/>
          </a:prstGeom>
          <a:noFill/>
        </p:spPr>
        <p:txBody>
          <a:bodyPr wrap="none" lIns="0" tIns="0" bIns="0">
            <a:spAutoFit/>
          </a:bodyPr>
          <a:lstStyle/>
          <a:p>
            <a:pPr>
              <a:defRPr sz="900" b="0">
                <a:solidFill>
                  <a:srgbClr val="666666"/>
                </a:solidFill>
                <a:latin typeface="Source Sans Pro"/>
              </a:defRPr>
            </a:pPr>
            <a:r>
              <a:t>Variation 1</a:t>
            </a:r>
          </a:p>
        </p:txBody>
      </p:sp>
      <p:sp>
        <p:nvSpPr>
          <p:cNvPr id="23" name="TextBox 22"/>
          <p:cNvSpPr txBox="1"/>
          <p:nvPr/>
        </p:nvSpPr>
        <p:spPr>
          <a:xfrm>
            <a:off x="3657600" y="3154679"/>
            <a:ext cx="1828800" cy="228600"/>
          </a:xfrm>
          <a:prstGeom prst="rect">
            <a:avLst/>
          </a:prstGeom>
          <a:noFill/>
        </p:spPr>
        <p:txBody>
          <a:bodyPr wrap="none" lIns="0" tIns="0" bIns="0">
            <a:spAutoFit/>
          </a:bodyPr>
          <a:lstStyle/>
          <a:p>
            <a:pPr>
              <a:defRPr sz="900" b="0">
                <a:solidFill>
                  <a:srgbClr val="666666"/>
                </a:solidFill>
                <a:latin typeface="Source Sans Pro"/>
              </a:defRPr>
            </a:pPr>
            <a:r>
              <a:t>Variation 2</a:t>
            </a:r>
          </a:p>
        </p:txBody>
      </p:sp>
      <p:sp>
        <p:nvSpPr>
          <p:cNvPr id="24" name="TextBox 23"/>
          <p:cNvSpPr txBox="1"/>
          <p:nvPr/>
        </p:nvSpPr>
        <p:spPr>
          <a:xfrm>
            <a:off x="3657600" y="3383279"/>
            <a:ext cx="1828800" cy="228600"/>
          </a:xfrm>
          <a:prstGeom prst="rect">
            <a:avLst/>
          </a:prstGeom>
          <a:noFill/>
        </p:spPr>
        <p:txBody>
          <a:bodyPr wrap="none" lIns="0" tIns="0" bIns="0">
            <a:spAutoFit/>
          </a:bodyPr>
          <a:lstStyle/>
          <a:p>
            <a:pPr>
              <a:defRPr sz="900" b="0">
                <a:solidFill>
                  <a:srgbClr val="666666"/>
                </a:solidFill>
                <a:latin typeface="Source Sans Pro"/>
              </a:defRPr>
            </a:pPr>
            <a:r>
              <a:t>Variation 3</a:t>
            </a:r>
          </a:p>
        </p:txBody>
      </p:sp>
      <p:sp>
        <p:nvSpPr>
          <p:cNvPr id="25" name="TextBox 24"/>
          <p:cNvSpPr txBox="1"/>
          <p:nvPr/>
        </p:nvSpPr>
        <p:spPr>
          <a:xfrm>
            <a:off x="6492240" y="1554480"/>
            <a:ext cx="1828800" cy="274320"/>
          </a:xfrm>
          <a:prstGeom prst="rect">
            <a:avLst/>
          </a:prstGeom>
          <a:noFill/>
        </p:spPr>
        <p:txBody>
          <a:bodyPr wrap="none" lIns="0" rIns="0" tIns="0" bIns="0">
            <a:spAutoFit/>
          </a:bodyPr>
          <a:lstStyle/>
          <a:p>
            <a:pPr>
              <a:defRPr sz="1200" b="1">
                <a:solidFill>
                  <a:srgbClr val="000000"/>
                </a:solidFill>
                <a:latin typeface="Source Sans Pro"/>
              </a:defRPr>
            </a:pPr>
            <a:r>
              <a:t>Brand Colors</a:t>
            </a:r>
          </a:p>
        </p:txBody>
      </p:sp>
      <p:cxnSp>
        <p:nvCxnSpPr>
          <p:cNvPr id="26" name="Connector 25"/>
          <p:cNvCxnSpPr/>
          <p:nvPr/>
        </p:nvCxnSpPr>
        <p:spPr>
          <a:xfrm>
            <a:off x="8366759" y="1664208"/>
            <a:ext cx="365760" cy="0"/>
          </a:xfrm>
          <a:prstGeom prst="line">
            <a:avLst/>
          </a:prstGeom>
          <a:ln w="19050">
            <a:solidFill>
              <a:srgbClr val="1F2937"/>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778240" y="1554480"/>
            <a:ext cx="274320" cy="274320"/>
          </a:xfrm>
          <a:prstGeom prst="rect">
            <a:avLst/>
          </a:prstGeom>
          <a:noFill/>
        </p:spPr>
        <p:txBody>
          <a:bodyPr wrap="none" lIns="0" tIns="0" bIns="0">
            <a:spAutoFit/>
          </a:bodyPr>
          <a:lstStyle/>
          <a:p>
            <a:pPr>
              <a:defRPr sz="1200" b="1">
                <a:solidFill>
                  <a:srgbClr val="1F2937"/>
                </a:solidFill>
                <a:latin typeface="Source Sans Pro"/>
              </a:defRPr>
            </a:pPr>
            <a:r>
              <a:t>07</a:t>
            </a:r>
          </a:p>
        </p:txBody>
      </p:sp>
      <p:sp>
        <p:nvSpPr>
          <p:cNvPr id="28" name="TextBox 27"/>
          <p:cNvSpPr txBox="1"/>
          <p:nvPr/>
        </p:nvSpPr>
        <p:spPr>
          <a:xfrm>
            <a:off x="6675120" y="1920240"/>
            <a:ext cx="1828800" cy="228600"/>
          </a:xfrm>
          <a:prstGeom prst="rect">
            <a:avLst/>
          </a:prstGeom>
          <a:noFill/>
        </p:spPr>
        <p:txBody>
          <a:bodyPr wrap="none" lIns="0" tIns="0" bIns="0">
            <a:spAutoFit/>
          </a:bodyPr>
          <a:lstStyle/>
          <a:p>
            <a:pPr>
              <a:defRPr sz="900" b="0">
                <a:solidFill>
                  <a:srgbClr val="666666"/>
                </a:solidFill>
                <a:latin typeface="Source Sans Pro"/>
              </a:defRPr>
            </a:pPr>
            <a:r>
              <a:t>Primary Colors</a:t>
            </a:r>
          </a:p>
        </p:txBody>
      </p:sp>
      <p:sp>
        <p:nvSpPr>
          <p:cNvPr id="29" name="TextBox 28"/>
          <p:cNvSpPr txBox="1"/>
          <p:nvPr/>
        </p:nvSpPr>
        <p:spPr>
          <a:xfrm>
            <a:off x="6675120" y="2148840"/>
            <a:ext cx="1828800" cy="228600"/>
          </a:xfrm>
          <a:prstGeom prst="rect">
            <a:avLst/>
          </a:prstGeom>
          <a:noFill/>
        </p:spPr>
        <p:txBody>
          <a:bodyPr wrap="none" lIns="0" tIns="0" bIns="0">
            <a:spAutoFit/>
          </a:bodyPr>
          <a:lstStyle/>
          <a:p>
            <a:pPr>
              <a:defRPr sz="900" b="0">
                <a:solidFill>
                  <a:srgbClr val="666666"/>
                </a:solidFill>
                <a:latin typeface="Source Sans Pro"/>
              </a:defRPr>
            </a:pPr>
            <a:r>
              <a:t>Secondary Colors</a:t>
            </a:r>
          </a:p>
        </p:txBody>
      </p:sp>
      <p:sp>
        <p:nvSpPr>
          <p:cNvPr id="30" name="TextBox 29"/>
          <p:cNvSpPr txBox="1"/>
          <p:nvPr/>
        </p:nvSpPr>
        <p:spPr>
          <a:xfrm>
            <a:off x="6675120" y="2377440"/>
            <a:ext cx="1828800" cy="228600"/>
          </a:xfrm>
          <a:prstGeom prst="rect">
            <a:avLst/>
          </a:prstGeom>
          <a:noFill/>
        </p:spPr>
        <p:txBody>
          <a:bodyPr wrap="none" lIns="0" tIns="0" bIns="0">
            <a:spAutoFit/>
          </a:bodyPr>
          <a:lstStyle/>
          <a:p>
            <a:pPr>
              <a:defRPr sz="900" b="0">
                <a:solidFill>
                  <a:srgbClr val="666666"/>
                </a:solidFill>
                <a:latin typeface="Source Sans Pro"/>
              </a:defRPr>
            </a:pPr>
            <a:r>
              <a:t>Color Usage 1/2</a:t>
            </a:r>
          </a:p>
        </p:txBody>
      </p:sp>
      <p:sp>
        <p:nvSpPr>
          <p:cNvPr id="31" name="TextBox 30"/>
          <p:cNvSpPr txBox="1"/>
          <p:nvPr/>
        </p:nvSpPr>
        <p:spPr>
          <a:xfrm>
            <a:off x="6675120" y="2606040"/>
            <a:ext cx="1828800" cy="228600"/>
          </a:xfrm>
          <a:prstGeom prst="rect">
            <a:avLst/>
          </a:prstGeom>
          <a:noFill/>
        </p:spPr>
        <p:txBody>
          <a:bodyPr wrap="none" lIns="0" tIns="0" bIns="0">
            <a:spAutoFit/>
          </a:bodyPr>
          <a:lstStyle/>
          <a:p>
            <a:pPr>
              <a:defRPr sz="900" b="0">
                <a:solidFill>
                  <a:srgbClr val="666666"/>
                </a:solidFill>
                <a:latin typeface="Source Sans Pro"/>
              </a:defRPr>
            </a:pPr>
            <a:r>
              <a:t>Color Usage 2/2</a:t>
            </a:r>
          </a:p>
        </p:txBody>
      </p:sp>
      <p:sp>
        <p:nvSpPr>
          <p:cNvPr id="32" name="TextBox 31"/>
          <p:cNvSpPr txBox="1"/>
          <p:nvPr/>
        </p:nvSpPr>
        <p:spPr>
          <a:xfrm>
            <a:off x="6492240" y="2971800"/>
            <a:ext cx="1828800" cy="274320"/>
          </a:xfrm>
          <a:prstGeom prst="rect">
            <a:avLst/>
          </a:prstGeom>
          <a:noFill/>
        </p:spPr>
        <p:txBody>
          <a:bodyPr wrap="none" lIns="0" rIns="0" tIns="0" bIns="0">
            <a:spAutoFit/>
          </a:bodyPr>
          <a:lstStyle/>
          <a:p>
            <a:pPr>
              <a:defRPr sz="1200" b="1">
                <a:solidFill>
                  <a:srgbClr val="000000"/>
                </a:solidFill>
                <a:latin typeface="Source Sans Pro"/>
              </a:defRPr>
            </a:pPr>
            <a:r>
              <a:t>Typography</a:t>
            </a:r>
          </a:p>
        </p:txBody>
      </p:sp>
      <p:cxnSp>
        <p:nvCxnSpPr>
          <p:cNvPr id="33" name="Connector 32"/>
          <p:cNvCxnSpPr/>
          <p:nvPr/>
        </p:nvCxnSpPr>
        <p:spPr>
          <a:xfrm>
            <a:off x="8366759" y="3081528"/>
            <a:ext cx="365760" cy="0"/>
          </a:xfrm>
          <a:prstGeom prst="line">
            <a:avLst/>
          </a:prstGeom>
          <a:ln w="19050">
            <a:solidFill>
              <a:srgbClr val="1F2937"/>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778240" y="2971800"/>
            <a:ext cx="274320" cy="274320"/>
          </a:xfrm>
          <a:prstGeom prst="rect">
            <a:avLst/>
          </a:prstGeom>
          <a:noFill/>
        </p:spPr>
        <p:txBody>
          <a:bodyPr wrap="none" lIns="0" tIns="0" bIns="0">
            <a:spAutoFit/>
          </a:bodyPr>
          <a:lstStyle/>
          <a:p>
            <a:pPr>
              <a:defRPr sz="1200" b="1">
                <a:solidFill>
                  <a:srgbClr val="1F2937"/>
                </a:solidFill>
                <a:latin typeface="Source Sans Pro"/>
              </a:defRPr>
            </a:pPr>
            <a:r>
              <a:t>08</a:t>
            </a:r>
          </a:p>
        </p:txBody>
      </p:sp>
      <p:sp>
        <p:nvSpPr>
          <p:cNvPr id="35" name="TextBox 34"/>
          <p:cNvSpPr txBox="1"/>
          <p:nvPr/>
        </p:nvSpPr>
        <p:spPr>
          <a:xfrm>
            <a:off x="6675120" y="3337560"/>
            <a:ext cx="1828800" cy="228600"/>
          </a:xfrm>
          <a:prstGeom prst="rect">
            <a:avLst/>
          </a:prstGeom>
          <a:noFill/>
        </p:spPr>
        <p:txBody>
          <a:bodyPr wrap="none" lIns="0" tIns="0" bIns="0">
            <a:spAutoFit/>
          </a:bodyPr>
          <a:lstStyle/>
          <a:p>
            <a:pPr>
              <a:defRPr sz="900" b="0">
                <a:solidFill>
                  <a:srgbClr val="666666"/>
                </a:solidFill>
                <a:latin typeface="Source Sans Pro"/>
              </a:defRPr>
            </a:pPr>
            <a:r>
              <a:t>Brand Font</a:t>
            </a:r>
          </a:p>
        </p:txBody>
      </p:sp>
      <p:sp>
        <p:nvSpPr>
          <p:cNvPr id="36" name="TextBox 35"/>
          <p:cNvSpPr txBox="1"/>
          <p:nvPr/>
        </p:nvSpPr>
        <p:spPr>
          <a:xfrm>
            <a:off x="6675120" y="3566160"/>
            <a:ext cx="1828800" cy="228600"/>
          </a:xfrm>
          <a:prstGeom prst="rect">
            <a:avLst/>
          </a:prstGeom>
          <a:noFill/>
        </p:spPr>
        <p:txBody>
          <a:bodyPr wrap="none" lIns="0" tIns="0" bIns="0">
            <a:spAutoFit/>
          </a:bodyPr>
          <a:lstStyle/>
          <a:p>
            <a:pPr>
              <a:defRPr sz="900" b="0">
                <a:solidFill>
                  <a:srgbClr val="666666"/>
                </a:solidFill>
                <a:latin typeface="Source Sans Pro"/>
              </a:defRPr>
            </a:pPr>
            <a:r>
              <a:t>Font Usage</a:t>
            </a:r>
          </a:p>
        </p:txBody>
      </p:sp>
      <p:sp>
        <p:nvSpPr>
          <p:cNvPr id="37" name="TextBox 36"/>
          <p:cNvSpPr txBox="1"/>
          <p:nvPr/>
        </p:nvSpPr>
        <p:spPr>
          <a:xfrm>
            <a:off x="6675120" y="3794760"/>
            <a:ext cx="1828800" cy="228600"/>
          </a:xfrm>
          <a:prstGeom prst="rect">
            <a:avLst/>
          </a:prstGeom>
          <a:noFill/>
        </p:spPr>
        <p:txBody>
          <a:bodyPr wrap="none" lIns="0" tIns="0" bIns="0">
            <a:spAutoFit/>
          </a:bodyPr>
          <a:lstStyle/>
          <a:p>
            <a:pPr>
              <a:defRPr sz="900" b="0">
                <a:solidFill>
                  <a:srgbClr val="666666"/>
                </a:solidFill>
                <a:latin typeface="Source Sans Pro"/>
              </a:defRPr>
            </a:pPr>
            <a:r>
              <a:t>Text Hierarchy</a:t>
            </a:r>
          </a:p>
        </p:txBody>
      </p:sp>
      <p:sp>
        <p:nvSpPr>
          <p:cNvPr id="38" name="TextBox 37"/>
          <p:cNvSpPr txBox="1"/>
          <p:nvPr/>
        </p:nvSpPr>
        <p:spPr>
          <a:xfrm>
            <a:off x="6492240" y="4160520"/>
            <a:ext cx="1828800" cy="274320"/>
          </a:xfrm>
          <a:prstGeom prst="rect">
            <a:avLst/>
          </a:prstGeom>
          <a:noFill/>
        </p:spPr>
        <p:txBody>
          <a:bodyPr wrap="none" lIns="0" rIns="0" tIns="0" bIns="0">
            <a:spAutoFit/>
          </a:bodyPr>
          <a:lstStyle/>
          <a:p>
            <a:pPr>
              <a:defRPr sz="1200" b="1">
                <a:solidFill>
                  <a:srgbClr val="000000"/>
                </a:solidFill>
                <a:latin typeface="Source Sans Pro"/>
              </a:defRPr>
            </a:pPr>
            <a:r>
              <a:t>Imagery &amp; Visuals</a:t>
            </a:r>
          </a:p>
        </p:txBody>
      </p:sp>
      <p:cxnSp>
        <p:nvCxnSpPr>
          <p:cNvPr id="39" name="Connector 38"/>
          <p:cNvCxnSpPr/>
          <p:nvPr/>
        </p:nvCxnSpPr>
        <p:spPr>
          <a:xfrm>
            <a:off x="8366759" y="4270248"/>
            <a:ext cx="365760" cy="0"/>
          </a:xfrm>
          <a:prstGeom prst="line">
            <a:avLst/>
          </a:prstGeom>
          <a:ln w="19050">
            <a:solidFill>
              <a:srgbClr val="1F2937"/>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778240" y="4160520"/>
            <a:ext cx="274320" cy="274320"/>
          </a:xfrm>
          <a:prstGeom prst="rect">
            <a:avLst/>
          </a:prstGeom>
          <a:noFill/>
        </p:spPr>
        <p:txBody>
          <a:bodyPr wrap="none" lIns="0" tIns="0" bIns="0">
            <a:spAutoFit/>
          </a:bodyPr>
          <a:lstStyle/>
          <a:p>
            <a:pPr>
              <a:defRPr sz="1200" b="1">
                <a:solidFill>
                  <a:srgbClr val="1F2937"/>
                </a:solidFill>
                <a:latin typeface="Source Sans Pro"/>
              </a:defRPr>
            </a:pPr>
            <a:r>
              <a:t>09</a:t>
            </a:r>
          </a:p>
        </p:txBody>
      </p:sp>
      <p:sp>
        <p:nvSpPr>
          <p:cNvPr id="41" name="TextBox 40"/>
          <p:cNvSpPr txBox="1"/>
          <p:nvPr/>
        </p:nvSpPr>
        <p:spPr>
          <a:xfrm>
            <a:off x="6675120" y="4526280"/>
            <a:ext cx="1828800" cy="228600"/>
          </a:xfrm>
          <a:prstGeom prst="rect">
            <a:avLst/>
          </a:prstGeom>
          <a:noFill/>
        </p:spPr>
        <p:txBody>
          <a:bodyPr wrap="none" lIns="0" tIns="0" bIns="0">
            <a:spAutoFit/>
          </a:bodyPr>
          <a:lstStyle/>
          <a:p>
            <a:pPr>
              <a:defRPr sz="900" b="0">
                <a:solidFill>
                  <a:srgbClr val="666666"/>
                </a:solidFill>
                <a:latin typeface="Source Sans Pro"/>
              </a:defRPr>
            </a:pPr>
            <a:r>
              <a:t>Iconography</a:t>
            </a:r>
          </a:p>
        </p:txBody>
      </p:sp>
      <p:sp>
        <p:nvSpPr>
          <p:cNvPr id="42" name="TextBox 41"/>
          <p:cNvSpPr txBox="1"/>
          <p:nvPr/>
        </p:nvSpPr>
        <p:spPr>
          <a:xfrm>
            <a:off x="6675120" y="4754880"/>
            <a:ext cx="1828800" cy="228600"/>
          </a:xfrm>
          <a:prstGeom prst="rect">
            <a:avLst/>
          </a:prstGeom>
          <a:noFill/>
        </p:spPr>
        <p:txBody>
          <a:bodyPr wrap="none" lIns="0" tIns="0" bIns="0">
            <a:spAutoFit/>
          </a:bodyPr>
          <a:lstStyle/>
          <a:p>
            <a:pPr>
              <a:defRPr sz="900" b="0">
                <a:solidFill>
                  <a:srgbClr val="666666"/>
                </a:solidFill>
                <a:latin typeface="Source Sans Pro"/>
              </a:defRPr>
            </a:pPr>
            <a:r>
              <a:t>Illustrations</a:t>
            </a:r>
          </a:p>
        </p:txBody>
      </p:sp>
      <p:sp>
        <p:nvSpPr>
          <p:cNvPr id="43" name="TextBox 42"/>
          <p:cNvSpPr txBox="1"/>
          <p:nvPr/>
        </p:nvSpPr>
        <p:spPr>
          <a:xfrm>
            <a:off x="6675120" y="4983480"/>
            <a:ext cx="1828800" cy="228600"/>
          </a:xfrm>
          <a:prstGeom prst="rect">
            <a:avLst/>
          </a:prstGeom>
          <a:noFill/>
        </p:spPr>
        <p:txBody>
          <a:bodyPr wrap="none" lIns="0" tIns="0" bIns="0">
            <a:spAutoFit/>
          </a:bodyPr>
          <a:lstStyle/>
          <a:p>
            <a:pPr>
              <a:defRPr sz="900" b="0">
                <a:solidFill>
                  <a:srgbClr val="666666"/>
                </a:solidFill>
                <a:latin typeface="Source Sans Pro"/>
              </a:defRPr>
            </a:pPr>
            <a:r>
              <a:t>Merchandise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Source Sans Pro"/>
              </a:defRPr>
            </a:pPr>
            <a:r>
              <a:t>Welcome to Uber's global brand identity system. Built on the pillars of innovation, safety, and reliability, this comprehensive framework delivers a consistent and instantly recognizable brand experience across our mobility and delivery ecosystem. Our system reflects Uber's pioneering spirit in transforming transportation while ensuring a cohesive presentation that resonates with riders, drivers, merchants, and delivery partners worldwide. Through thoughtful design and strategic implementation, we've created a proprietary language that embodies our commitment to moving the world forward, connecting communities, and empowering economic opportunities across cities and cultures.</a:t>
            </a:r>
          </a:p>
        </p:txBody>
      </p:sp>
      <p:cxnSp>
        <p:nvCxnSpPr>
          <p:cNvPr id="3" name="Connector 2"/>
          <p:cNvCxnSpPr/>
          <p:nvPr/>
        </p:nvCxnSpPr>
        <p:spPr>
          <a:xfrm>
            <a:off x="457200" y="4914900.0"/>
            <a:ext cx="8229600" cy="0.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3657600" cy="731520"/>
          </a:xfrm>
          <a:prstGeom prst="rect">
            <a:avLst/>
          </a:prstGeom>
          <a:noFill/>
        </p:spPr>
        <p:txBody>
          <a:bodyPr wrap="none">
            <a:spAutoFit/>
          </a:bodyPr>
          <a:lstStyle/>
          <a:p>
            <a:pPr algn="l">
              <a:defRPr sz="2800" b="1">
                <a:solidFill>
                  <a:srgbClr val="1F2937"/>
                </a:solidFill>
                <a:latin typeface="Inter"/>
              </a:defRPr>
            </a:pPr>
            <a:r>
              <a:t>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Source Sans Pro"/>
              </a:defRPr>
            </a:pPr>
            <a:r>
              <a:t>At Uber, our vision is to revolutionize urban mobility and transform the way people and goods move in cities worldwide. We aspire to create a future where transportation is not only efficient and accessible but also sustainable, safe, and innovative. Our ultimate goal is to empower urban commuters, travelers, professionals, students, businesses, and delivery consumers with seamless and cutting-edge technology solutions that enhance their daily lives.</a:t>
            </a:r>
          </a:p>
        </p:txBody>
      </p:sp>
      <p:cxnSp>
        <p:nvCxnSpPr>
          <p:cNvPr id="3" name="Connector 2"/>
          <p:cNvCxnSpPr/>
          <p:nvPr/>
        </p:nvCxnSpPr>
        <p:spPr>
          <a:xfrm>
            <a:off x="457200" y="4914900.0"/>
            <a:ext cx="8229600" cy="0.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1F2937"/>
                </a:solidFill>
                <a:latin typeface="Inter"/>
              </a:defRPr>
            </a:pPr>
            <a:r>
              <a:t>BRAND PURPOSE (VISION)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Source Sans Pro"/>
              </a:defRPr>
            </a:pPr>
            <a:r>
              <a:t>Uber is dedicated to providing technology-driven mobility solutions tailored to the diverse needs of urban communities. By leveraging our innovative ride-hailing, delivery, and transportation services, we aim to simplify and elevate the way people and goods travel within cities. Our mission is to connect urban commuters, travelers, professionals, students, businesses, and delivery consumers with safe, reliable, and efficient transportation options that enhance their overall mobility experience.</a:t>
            </a:r>
          </a:p>
        </p:txBody>
      </p:sp>
      <p:cxnSp>
        <p:nvCxnSpPr>
          <p:cNvPr id="3" name="Connector 2"/>
          <p:cNvCxnSpPr/>
          <p:nvPr/>
        </p:nvCxnSpPr>
        <p:spPr>
          <a:xfrm>
            <a:off x="457200" y="4914900.0"/>
            <a:ext cx="8229600" cy="0.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1F2937"/>
                </a:solidFill>
                <a:latin typeface="Inter"/>
              </a:defRPr>
            </a:pPr>
            <a:r>
              <a:t>BRAND PURPOSE (MISSION)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Source Sans Pro"/>
              </a:defRPr>
            </a:pPr>
            <a:r>
              <a:t>At Uber, we uphold a set of core values that guide our every decision and action. Safety is our top priority, ensuring the well-being of both passengers and drivers. We prioritize reliability, delivering consistent and dependable services to our users. Innovation drives us forward, constantly pushing boundaries to enhance the urban mobility landscape. Accessibility is key, making our services available to all individuals regardless of their background or location. We operate with efficiency, optimizing resources to provide seamless and timely transportation solutions. Sustainability is at the heart of our operations, committed to reducing our environmental impact. Above all, we are customer-centric, always putting the needs and experiences of urban commuters, travelers, professionals, students, businesses, and delivery consumers at the forefront of everything we do.</a:t>
            </a:r>
          </a:p>
        </p:txBody>
      </p:sp>
      <p:cxnSp>
        <p:nvCxnSpPr>
          <p:cNvPr id="3" name="Connector 2"/>
          <p:cNvCxnSpPr/>
          <p:nvPr/>
        </p:nvCxnSpPr>
        <p:spPr>
          <a:xfrm>
            <a:off x="457200" y="4914900.0"/>
            <a:ext cx="8229600" cy="0.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1F2937"/>
                </a:solidFill>
                <a:latin typeface="Inter"/>
              </a:defRPr>
            </a:pPr>
            <a:r>
              <a:t>BRAND PURPOSE (VALUES)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Source Sans Pro"/>
              </a:defRPr>
            </a:pPr>
            <a:r>
              <a:t>In the bustling heart of the city, where the rhythm of life beats fast and the streets are alive with energy, there is a brand that stands out among the crowd. Uber, a beacon of innovation and efficiency in the world of Technology &amp; Mobility, is not just a ride-hailing or delivery service – it is a game-changer for urban commuters, travelers, professionals, students, businesses, and delivery consumers alike. At Uber, safety is non-negotiable, reliability is a given, and accessibility is key. We understand the needs of our diverse clientele and have built our brand around serving them with the utmost care and attention to detail.</a:t>
            </a:r>
          </a:p>
        </p:txBody>
      </p:sp>
      <p:cxnSp>
        <p:nvCxnSpPr>
          <p:cNvPr id="3" name="Connector 2"/>
          <p:cNvCxnSpPr/>
          <p:nvPr/>
        </p:nvCxnSpPr>
        <p:spPr>
          <a:xfrm>
            <a:off x="457200" y="4914900.0"/>
            <a:ext cx="8229600" cy="0.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1F2937"/>
                </a:solidFill>
                <a:latin typeface="Inter"/>
              </a:defRPr>
            </a:pPr>
            <a:r>
              <a:t>BRAND STORY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Source Sans Pro"/>
              </a:defRPr>
            </a:pPr>
            <a:r>
              <a:t>Our commitment to sustainability echoes our core values, as we strive to reduce emissions and promote eco-friendly transportation options. Step into an Uber and you step into a world of possibilities. Our cutting-edge technology is at the forefront of the industry, constantly evolving to meet the ever-changing demands of our customers. From the seamless app interface to the GPS tracking system, every aspect of your Uber experience is designed with your convenience in mind. Whether you're a student rushing to class, a professional heading to a meeting, or a traveler exploring a new city,...</a:t>
            </a:r>
          </a:p>
        </p:txBody>
      </p:sp>
      <p:cxnSp>
        <p:nvCxnSpPr>
          <p:cNvPr id="3" name="Connector 2"/>
          <p:cNvCxnSpPr/>
          <p:nvPr/>
        </p:nvCxnSpPr>
        <p:spPr>
          <a:xfrm>
            <a:off x="457200" y="4914900.0"/>
            <a:ext cx="8229600" cy="0.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1F2937"/>
                </a:solidFill>
                <a:latin typeface="Inter"/>
              </a:defRPr>
            </a:pPr>
            <a:r>
              <a:t>BRAND STORY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ber_logo_1_20250903_230234_6a7827f1.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000000"/>
                </a:solidFill>
                <a:latin typeface="Source Sans Pro"/>
              </a:defRPr>
            </a:pPr>
            <a:r>
              <a:t>Choose for maximum impact and brand recognition in primary applications.</a:t>
            </a:r>
          </a:p>
        </p:txBody>
      </p:sp>
      <p:cxnSp>
        <p:nvCxnSpPr>
          <p:cNvPr id="4" name="Connector 3"/>
          <p:cNvCxnSpPr/>
          <p:nvPr/>
        </p:nvCxnSpPr>
        <p:spPr>
          <a:xfrm>
            <a:off x="457200" y="5286375.0"/>
            <a:ext cx="8229600" cy="0.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5560695"/>
            <a:ext cx="5486400" cy="731520"/>
          </a:xfrm>
          <a:prstGeom prst="rect">
            <a:avLst/>
          </a:prstGeom>
          <a:noFill/>
        </p:spPr>
        <p:txBody>
          <a:bodyPr wrap="none">
            <a:spAutoFit/>
          </a:bodyPr>
          <a:lstStyle/>
          <a:p>
            <a:pPr algn="l">
              <a:defRPr sz="2800" b="1">
                <a:solidFill>
                  <a:srgbClr val="1F2937"/>
                </a:solidFill>
                <a:latin typeface="Inter"/>
              </a:defRPr>
            </a:pPr>
            <a:r>
              <a:t>Logo Variation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ber_logo_2_20250903_230252_20cb3f2a.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000000"/>
                </a:solidFill>
                <a:latin typeface="Source Sans Pro"/>
              </a:defRPr>
            </a:pPr>
            <a:r>
              <a:t>Perfect for constrained spaces while maintaining professional brand presence and clarity.</a:t>
            </a:r>
          </a:p>
        </p:txBody>
      </p:sp>
      <p:cxnSp>
        <p:nvCxnSpPr>
          <p:cNvPr id="4" name="Connector 3"/>
          <p:cNvCxnSpPr/>
          <p:nvPr/>
        </p:nvCxnSpPr>
        <p:spPr>
          <a:xfrm>
            <a:off x="457200" y="5286375.0"/>
            <a:ext cx="8229600" cy="0.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5560695"/>
            <a:ext cx="5486400" cy="731520"/>
          </a:xfrm>
          <a:prstGeom prst="rect">
            <a:avLst/>
          </a:prstGeom>
          <a:noFill/>
        </p:spPr>
        <p:txBody>
          <a:bodyPr wrap="none">
            <a:spAutoFit/>
          </a:bodyPr>
          <a:lstStyle/>
          <a:p>
            <a:pPr algn="l">
              <a:defRPr sz="2800" b="1">
                <a:solidFill>
                  <a:srgbClr val="1F2937"/>
                </a:solidFill>
                <a:latin typeface="Inter"/>
              </a:defRPr>
            </a:pPr>
            <a:r>
              <a:t>Logo Variation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ber_logo_3_20250903_230345_78d60c6a.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000000"/>
                </a:solidFill>
                <a:latin typeface="Source Sans Pro"/>
              </a:defRPr>
            </a:pPr>
            <a:r>
              <a:t>Ideal for small sizes, watermarks, and applications requiring simplified brand representation.</a:t>
            </a:r>
          </a:p>
        </p:txBody>
      </p:sp>
      <p:cxnSp>
        <p:nvCxnSpPr>
          <p:cNvPr id="4" name="Connector 3"/>
          <p:cNvCxnSpPr/>
          <p:nvPr/>
        </p:nvCxnSpPr>
        <p:spPr>
          <a:xfrm>
            <a:off x="457200" y="5286375.0"/>
            <a:ext cx="8229600" cy="0.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5560695"/>
            <a:ext cx="5486400" cy="731520"/>
          </a:xfrm>
          <a:prstGeom prst="rect">
            <a:avLst/>
          </a:prstGeom>
          <a:noFill/>
        </p:spPr>
        <p:txBody>
          <a:bodyPr wrap="none">
            <a:spAutoFit/>
          </a:bodyPr>
          <a:lstStyle/>
          <a:p>
            <a:pPr algn="l">
              <a:defRPr sz="2800" b="1">
                <a:solidFill>
                  <a:srgbClr val="1F2937"/>
                </a:solidFill>
                <a:latin typeface="Inter"/>
              </a:defRPr>
            </a:pPr>
            <a:r>
              <a:t>Logo Variation 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43000" y="1645920"/>
            <a:ext cx="1828800" cy="1371600"/>
          </a:xfrm>
          <a:prstGeom prst="rect">
            <a:avLst/>
          </a:prstGeom>
          <a:solidFill>
            <a:srgbClr val="1F2937"/>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54680" y="1645920"/>
            <a:ext cx="3017520" cy="1371600"/>
          </a:xfrm>
          <a:prstGeom prst="rect">
            <a:avLst/>
          </a:prstGeom>
          <a:noFill/>
        </p:spPr>
        <p:txBody>
          <a:bodyPr wrap="square" lIns="0" rIns="0" tIns="0" bIns="0">
            <a:spAutoFit/>
          </a:bodyPr>
          <a:lstStyle/>
          <a:p>
            <a:pPr algn="l">
              <a:spcAft>
                <a:spcPts val="300"/>
              </a:spcAft>
              <a:defRPr sz="1000" b="0">
                <a:solidFill>
                  <a:srgbClr val="000000"/>
                </a:solidFill>
                <a:latin typeface="Source Sans Pro"/>
              </a:defRPr>
            </a:pPr>
            <a:r>
              <a:t>Deep Ocean Blue</a:t>
            </a:r>
          </a:p>
          <a:p>
            <a:pPr algn="l">
              <a:spcAft>
                <a:spcPts val="300"/>
              </a:spcAft>
              <a:defRPr sz="1000" b="0">
                <a:solidFill>
                  <a:srgbClr val="000000"/>
                </a:solidFill>
                <a:latin typeface="Source Sans Pro"/>
              </a:defRPr>
            </a:pPr>
            <a:r>
              <a:t>#1F2937</a:t>
            </a:r>
          </a:p>
          <a:p>
            <a:pPr algn="l">
              <a:spcAft>
                <a:spcPts val="300"/>
              </a:spcAft>
              <a:defRPr sz="1000" b="0">
                <a:solidFill>
                  <a:srgbClr val="000000"/>
                </a:solidFill>
                <a:latin typeface="Source Sans Pro"/>
              </a:defRPr>
            </a:pPr>
            <a:r>
              <a:t>RGB(31, 41, 55)</a:t>
            </a:r>
          </a:p>
          <a:p>
            <a:pPr algn="l">
              <a:spcAft>
                <a:spcPts val="300"/>
              </a:spcAft>
              <a:defRPr sz="1000" b="0">
                <a:solidFill>
                  <a:srgbClr val="000000"/>
                </a:solidFill>
                <a:latin typeface="Source Sans Pro"/>
              </a:defRPr>
            </a:pPr>
            <a:r>
              <a:t>CMYK(43, 25, 0, 78)</a:t>
            </a:r>
          </a:p>
          <a:p>
            <a:pPr algn="l">
              <a:spcAft>
                <a:spcPts val="300"/>
              </a:spcAft>
              <a:defRPr sz="1000" b="0">
                <a:solidFill>
                  <a:srgbClr val="000000"/>
                </a:solidFill>
                <a:latin typeface="Source Sans Pro"/>
              </a:defRPr>
            </a:pPr>
            <a:r>
              <a:t>Use Light Text</a:t>
            </a:r>
          </a:p>
        </p:txBody>
      </p:sp>
      <p:sp>
        <p:nvSpPr>
          <p:cNvPr id="4" name="Rectangle 3"/>
          <p:cNvSpPr/>
          <p:nvPr/>
        </p:nvSpPr>
        <p:spPr>
          <a:xfrm>
            <a:off x="4572000" y="1645920"/>
            <a:ext cx="1828800" cy="1371600"/>
          </a:xfrm>
          <a:prstGeom prst="rect">
            <a:avLst/>
          </a:prstGeom>
          <a:solidFill>
            <a:srgbClr val="E74C3C"/>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0" y="1645920"/>
            <a:ext cx="3017520" cy="1371600"/>
          </a:xfrm>
          <a:prstGeom prst="rect">
            <a:avLst/>
          </a:prstGeom>
          <a:noFill/>
        </p:spPr>
        <p:txBody>
          <a:bodyPr wrap="square" lIns="0" rIns="0" tIns="0" bIns="0">
            <a:spAutoFit/>
          </a:bodyPr>
          <a:lstStyle/>
          <a:p>
            <a:pPr algn="l">
              <a:spcAft>
                <a:spcPts val="300"/>
              </a:spcAft>
              <a:defRPr sz="1000" b="0">
                <a:solidFill>
                  <a:srgbClr val="000000"/>
                </a:solidFill>
                <a:latin typeface="Source Sans Pro"/>
              </a:defRPr>
            </a:pPr>
            <a:r>
              <a:t>Innovation Red</a:t>
            </a:r>
          </a:p>
          <a:p>
            <a:pPr algn="l">
              <a:spcAft>
                <a:spcPts val="300"/>
              </a:spcAft>
              <a:defRPr sz="1000" b="0">
                <a:solidFill>
                  <a:srgbClr val="000000"/>
                </a:solidFill>
                <a:latin typeface="Source Sans Pro"/>
              </a:defRPr>
            </a:pPr>
            <a:r>
              <a:t>#E74C3C</a:t>
            </a:r>
          </a:p>
          <a:p>
            <a:pPr algn="l">
              <a:spcAft>
                <a:spcPts val="300"/>
              </a:spcAft>
              <a:defRPr sz="1000" b="0">
                <a:solidFill>
                  <a:srgbClr val="000000"/>
                </a:solidFill>
                <a:latin typeface="Source Sans Pro"/>
              </a:defRPr>
            </a:pPr>
            <a:r>
              <a:t>RGB(231, 76, 60)</a:t>
            </a:r>
          </a:p>
          <a:p>
            <a:pPr algn="l">
              <a:spcAft>
                <a:spcPts val="300"/>
              </a:spcAft>
              <a:defRPr sz="1000" b="0">
                <a:solidFill>
                  <a:srgbClr val="000000"/>
                </a:solidFill>
                <a:latin typeface="Source Sans Pro"/>
              </a:defRPr>
            </a:pPr>
            <a:r>
              <a:t>CMYK(0, 67, 74, 9)</a:t>
            </a:r>
          </a:p>
          <a:p>
            <a:pPr algn="l">
              <a:spcAft>
                <a:spcPts val="300"/>
              </a:spcAft>
              <a:defRPr sz="1000" b="0">
                <a:solidFill>
                  <a:srgbClr val="000000"/>
                </a:solidFill>
                <a:latin typeface="Source Sans Pro"/>
              </a:defRPr>
            </a:pPr>
            <a:r>
              <a:t>Use Dark Text</a:t>
            </a:r>
          </a:p>
        </p:txBody>
      </p:sp>
      <p:sp>
        <p:nvSpPr>
          <p:cNvPr id="6" name="Rectangle 5"/>
          <p:cNvSpPr/>
          <p:nvPr/>
        </p:nvSpPr>
        <p:spPr>
          <a:xfrm>
            <a:off x="1143000" y="3726180"/>
            <a:ext cx="1828800" cy="1371600"/>
          </a:xfrm>
          <a:prstGeom prst="rect">
            <a:avLst/>
          </a:prstGeom>
          <a:solidFill>
            <a:srgbClr val="27AE6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54680" y="3726180"/>
            <a:ext cx="3017520" cy="1371600"/>
          </a:xfrm>
          <a:prstGeom prst="rect">
            <a:avLst/>
          </a:prstGeom>
          <a:noFill/>
        </p:spPr>
        <p:txBody>
          <a:bodyPr wrap="square" lIns="0" rIns="0" tIns="0" bIns="0">
            <a:spAutoFit/>
          </a:bodyPr>
          <a:lstStyle/>
          <a:p>
            <a:pPr algn="l">
              <a:spcAft>
                <a:spcPts val="300"/>
              </a:spcAft>
              <a:defRPr sz="1000" b="0">
                <a:solidFill>
                  <a:srgbClr val="000000"/>
                </a:solidFill>
                <a:latin typeface="Source Sans Pro"/>
              </a:defRPr>
            </a:pPr>
            <a:r>
              <a:t>Efficiency Green</a:t>
            </a:r>
          </a:p>
          <a:p>
            <a:pPr algn="l">
              <a:spcAft>
                <a:spcPts val="300"/>
              </a:spcAft>
              <a:defRPr sz="1000" b="0">
                <a:solidFill>
                  <a:srgbClr val="000000"/>
                </a:solidFill>
                <a:latin typeface="Source Sans Pro"/>
              </a:defRPr>
            </a:pPr>
            <a:r>
              <a:t>#27AE60</a:t>
            </a:r>
          </a:p>
          <a:p>
            <a:pPr algn="l">
              <a:spcAft>
                <a:spcPts val="300"/>
              </a:spcAft>
              <a:defRPr sz="1000" b="0">
                <a:solidFill>
                  <a:srgbClr val="000000"/>
                </a:solidFill>
                <a:latin typeface="Source Sans Pro"/>
              </a:defRPr>
            </a:pPr>
            <a:r>
              <a:t>RGB(39, 174, 96)</a:t>
            </a:r>
          </a:p>
          <a:p>
            <a:pPr algn="l">
              <a:spcAft>
                <a:spcPts val="300"/>
              </a:spcAft>
              <a:defRPr sz="1000" b="0">
                <a:solidFill>
                  <a:srgbClr val="000000"/>
                </a:solidFill>
                <a:latin typeface="Source Sans Pro"/>
              </a:defRPr>
            </a:pPr>
            <a:r>
              <a:t>CMYK(77, 0, 44, 31)</a:t>
            </a:r>
          </a:p>
          <a:p>
            <a:pPr algn="l">
              <a:spcAft>
                <a:spcPts val="300"/>
              </a:spcAft>
              <a:defRPr sz="1000" b="0">
                <a:solidFill>
                  <a:srgbClr val="000000"/>
                </a:solidFill>
                <a:latin typeface="Source Sans Pro"/>
              </a:defRPr>
            </a:pPr>
            <a:r>
              <a:t>Use Dark Text</a:t>
            </a:r>
          </a:p>
        </p:txBody>
      </p:sp>
      <p:sp>
        <p:nvSpPr>
          <p:cNvPr id="8" name="Rectangle 7"/>
          <p:cNvSpPr/>
          <p:nvPr/>
        </p:nvSpPr>
        <p:spPr>
          <a:xfrm>
            <a:off x="4572000" y="3726180"/>
            <a:ext cx="1828800" cy="1371600"/>
          </a:xfrm>
          <a:prstGeom prst="rect">
            <a:avLst/>
          </a:prstGeom>
          <a:solidFill>
            <a:srgbClr val="7F8FA4"/>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3726180"/>
            <a:ext cx="3017520" cy="1371600"/>
          </a:xfrm>
          <a:prstGeom prst="rect">
            <a:avLst/>
          </a:prstGeom>
          <a:noFill/>
        </p:spPr>
        <p:txBody>
          <a:bodyPr wrap="square" lIns="0" rIns="0" tIns="0" bIns="0">
            <a:spAutoFit/>
          </a:bodyPr>
          <a:lstStyle/>
          <a:p>
            <a:pPr algn="l">
              <a:spcAft>
                <a:spcPts val="300"/>
              </a:spcAft>
              <a:defRPr sz="1000" b="0">
                <a:solidFill>
                  <a:srgbClr val="000000"/>
                </a:solidFill>
                <a:latin typeface="Source Sans Pro"/>
              </a:defRPr>
            </a:pPr>
            <a:r>
              <a:t>Urban Silver</a:t>
            </a:r>
          </a:p>
          <a:p>
            <a:pPr algn="l">
              <a:spcAft>
                <a:spcPts val="300"/>
              </a:spcAft>
              <a:defRPr sz="1000" b="0">
                <a:solidFill>
                  <a:srgbClr val="000000"/>
                </a:solidFill>
                <a:latin typeface="Source Sans Pro"/>
              </a:defRPr>
            </a:pPr>
            <a:r>
              <a:t>#7F8FA4</a:t>
            </a:r>
          </a:p>
          <a:p>
            <a:pPr algn="l">
              <a:spcAft>
                <a:spcPts val="300"/>
              </a:spcAft>
              <a:defRPr sz="1000" b="0">
                <a:solidFill>
                  <a:srgbClr val="000000"/>
                </a:solidFill>
                <a:latin typeface="Source Sans Pro"/>
              </a:defRPr>
            </a:pPr>
            <a:r>
              <a:t>RGB(127, 143, 164)</a:t>
            </a:r>
          </a:p>
          <a:p>
            <a:pPr algn="l">
              <a:spcAft>
                <a:spcPts val="300"/>
              </a:spcAft>
              <a:defRPr sz="1000" b="0">
                <a:solidFill>
                  <a:srgbClr val="000000"/>
                </a:solidFill>
                <a:latin typeface="Source Sans Pro"/>
              </a:defRPr>
            </a:pPr>
            <a:r>
              <a:t>CMYK(22, 12, 0, 35)</a:t>
            </a:r>
          </a:p>
          <a:p>
            <a:pPr algn="l">
              <a:spcAft>
                <a:spcPts val="300"/>
              </a:spcAft>
              <a:defRPr sz="1000" b="0">
                <a:solidFill>
                  <a:srgbClr val="000000"/>
                </a:solidFill>
                <a:latin typeface="Source Sans Pro"/>
              </a:defRPr>
            </a:pPr>
            <a:r>
              <a:t>Use Dark Text</a:t>
            </a:r>
          </a:p>
        </p:txBody>
      </p:sp>
      <p:cxnSp>
        <p:nvCxnSpPr>
          <p:cNvPr id="10" name="Connector 9"/>
          <p:cNvCxnSpPr/>
          <p:nvPr/>
        </p:nvCxnSpPr>
        <p:spPr>
          <a:xfrm>
            <a:off x="457200" y="5286375.0"/>
            <a:ext cx="8229600" cy="0.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5560695"/>
            <a:ext cx="5486400" cy="731520"/>
          </a:xfrm>
          <a:prstGeom prst="rect">
            <a:avLst/>
          </a:prstGeom>
          <a:noFill/>
        </p:spPr>
        <p:txBody>
          <a:bodyPr wrap="none">
            <a:spAutoFit/>
          </a:bodyPr>
          <a:lstStyle/>
          <a:p>
            <a:pPr algn="l">
              <a:defRPr sz="2800" b="1">
                <a:solidFill>
                  <a:srgbClr val="1F2937"/>
                </a:solidFill>
                <a:latin typeface="Inter"/>
              </a:defRPr>
            </a:pPr>
            <a:r>
              <a:t>Primary Colors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43000" y="1571625"/>
            <a:ext cx="1828800" cy="914400"/>
          </a:xfrm>
          <a:prstGeom prst="rect">
            <a:avLst/>
          </a:prstGeom>
          <a:solidFill>
            <a:srgbClr val="F8F9FA"/>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2668905"/>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Source Sans Pro"/>
              </a:defRPr>
            </a:pPr>
            <a:r>
              <a:t>Light Gray</a:t>
            </a:r>
          </a:p>
          <a:p>
            <a:pPr algn="ctr">
              <a:spcAft>
                <a:spcPts val="300"/>
              </a:spcAft>
              <a:defRPr sz="1000" b="0">
                <a:solidFill>
                  <a:srgbClr val="000000"/>
                </a:solidFill>
                <a:latin typeface="Source Sans Pro"/>
              </a:defRPr>
            </a:pPr>
            <a:r>
              <a:t>#F8F9FA</a:t>
            </a:r>
          </a:p>
          <a:p>
            <a:pPr algn="ctr">
              <a:spcAft>
                <a:spcPts val="300"/>
              </a:spcAft>
              <a:defRPr sz="1000" b="0">
                <a:solidFill>
                  <a:srgbClr val="000000"/>
                </a:solidFill>
                <a:latin typeface="Source Sans Pro"/>
              </a:defRPr>
            </a:pPr>
            <a:r>
              <a:t>Use Dark Text</a:t>
            </a:r>
          </a:p>
        </p:txBody>
      </p:sp>
      <p:sp>
        <p:nvSpPr>
          <p:cNvPr id="4" name="Rectangle 3"/>
          <p:cNvSpPr/>
          <p:nvPr/>
        </p:nvSpPr>
        <p:spPr>
          <a:xfrm>
            <a:off x="3200400" y="1571625"/>
            <a:ext cx="1828800" cy="914400"/>
          </a:xfrm>
          <a:prstGeom prst="rect">
            <a:avLst/>
          </a:prstGeom>
          <a:solidFill>
            <a:srgbClr val="55D8A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0" y="2668905"/>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Source Sans Pro"/>
              </a:defRPr>
            </a:pPr>
            <a:r>
              <a:t>Mint Green</a:t>
            </a:r>
          </a:p>
          <a:p>
            <a:pPr algn="ctr">
              <a:spcAft>
                <a:spcPts val="300"/>
              </a:spcAft>
              <a:defRPr sz="1000" b="0">
                <a:solidFill>
                  <a:srgbClr val="000000"/>
                </a:solidFill>
                <a:latin typeface="Source Sans Pro"/>
              </a:defRPr>
            </a:pPr>
            <a:r>
              <a:t>#55D8A6</a:t>
            </a:r>
          </a:p>
          <a:p>
            <a:pPr algn="ctr">
              <a:spcAft>
                <a:spcPts val="300"/>
              </a:spcAft>
              <a:defRPr sz="1000" b="0">
                <a:solidFill>
                  <a:srgbClr val="000000"/>
                </a:solidFill>
                <a:latin typeface="Source Sans Pro"/>
              </a:defRPr>
            </a:pPr>
            <a:r>
              <a:t>Use Dark Text</a:t>
            </a:r>
          </a:p>
        </p:txBody>
      </p:sp>
      <p:sp>
        <p:nvSpPr>
          <p:cNvPr id="6" name="Rectangle 5"/>
          <p:cNvSpPr/>
          <p:nvPr/>
        </p:nvSpPr>
        <p:spPr>
          <a:xfrm>
            <a:off x="5257800" y="1571625"/>
            <a:ext cx="1828800" cy="914400"/>
          </a:xfrm>
          <a:prstGeom prst="rect">
            <a:avLst/>
          </a:prstGeom>
          <a:solidFill>
            <a:srgbClr val="D68AA7"/>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57800" y="2668905"/>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Source Sans Pro"/>
              </a:defRPr>
            </a:pPr>
            <a:r>
              <a:t>Dusty Pink</a:t>
            </a:r>
          </a:p>
          <a:p>
            <a:pPr algn="ctr">
              <a:spcAft>
                <a:spcPts val="300"/>
              </a:spcAft>
              <a:defRPr sz="1000" b="0">
                <a:solidFill>
                  <a:srgbClr val="000000"/>
                </a:solidFill>
                <a:latin typeface="Source Sans Pro"/>
              </a:defRPr>
            </a:pPr>
            <a:r>
              <a:t>#D68AA7</a:t>
            </a:r>
          </a:p>
          <a:p>
            <a:pPr algn="ctr">
              <a:spcAft>
                <a:spcPts val="300"/>
              </a:spcAft>
              <a:defRPr sz="1000" b="0">
                <a:solidFill>
                  <a:srgbClr val="000000"/>
                </a:solidFill>
                <a:latin typeface="Source Sans Pro"/>
              </a:defRPr>
            </a:pPr>
            <a:r>
              <a:t>Use Dark Text</a:t>
            </a:r>
          </a:p>
        </p:txBody>
      </p:sp>
      <p:sp>
        <p:nvSpPr>
          <p:cNvPr id="8" name="Rectangle 7"/>
          <p:cNvSpPr/>
          <p:nvPr/>
        </p:nvSpPr>
        <p:spPr>
          <a:xfrm>
            <a:off x="2171700" y="3429000"/>
            <a:ext cx="1828800" cy="914400"/>
          </a:xfrm>
          <a:prstGeom prst="rect">
            <a:avLst/>
          </a:prstGeom>
          <a:solidFill>
            <a:srgbClr val="5D6D7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71700" y="4526280"/>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Source Sans Pro"/>
              </a:defRPr>
            </a:pPr>
            <a:r>
              <a:t>Slate Blue</a:t>
            </a:r>
          </a:p>
          <a:p>
            <a:pPr algn="ctr">
              <a:spcAft>
                <a:spcPts val="300"/>
              </a:spcAft>
              <a:defRPr sz="1000" b="0">
                <a:solidFill>
                  <a:srgbClr val="000000"/>
                </a:solidFill>
                <a:latin typeface="Source Sans Pro"/>
              </a:defRPr>
            </a:pPr>
            <a:r>
              <a:t>#5D6D7E</a:t>
            </a:r>
          </a:p>
          <a:p>
            <a:pPr algn="ctr">
              <a:spcAft>
                <a:spcPts val="300"/>
              </a:spcAft>
              <a:defRPr sz="1000" b="0">
                <a:solidFill>
                  <a:srgbClr val="000000"/>
                </a:solidFill>
                <a:latin typeface="Source Sans Pro"/>
              </a:defRPr>
            </a:pPr>
            <a:r>
              <a:t>Use Light Text</a:t>
            </a:r>
          </a:p>
        </p:txBody>
      </p:sp>
      <p:sp>
        <p:nvSpPr>
          <p:cNvPr id="10" name="Rectangle 9"/>
          <p:cNvSpPr/>
          <p:nvPr/>
        </p:nvSpPr>
        <p:spPr>
          <a:xfrm>
            <a:off x="4229100" y="3429000"/>
            <a:ext cx="1828800" cy="914400"/>
          </a:xfrm>
          <a:prstGeom prst="rect">
            <a:avLst/>
          </a:prstGeom>
          <a:solidFill>
            <a:srgbClr val="E6AF2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29100" y="4526280"/>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Source Sans Pro"/>
              </a:defRPr>
            </a:pPr>
            <a:r>
              <a:t>Mustard Yellow</a:t>
            </a:r>
          </a:p>
          <a:p>
            <a:pPr algn="ctr">
              <a:spcAft>
                <a:spcPts val="300"/>
              </a:spcAft>
              <a:defRPr sz="1000" b="0">
                <a:solidFill>
                  <a:srgbClr val="000000"/>
                </a:solidFill>
                <a:latin typeface="Source Sans Pro"/>
              </a:defRPr>
            </a:pPr>
            <a:r>
              <a:t>#E6AF2E</a:t>
            </a:r>
          </a:p>
          <a:p>
            <a:pPr algn="ctr">
              <a:spcAft>
                <a:spcPts val="300"/>
              </a:spcAft>
              <a:defRPr sz="1000" b="0">
                <a:solidFill>
                  <a:srgbClr val="000000"/>
                </a:solidFill>
                <a:latin typeface="Source Sans Pro"/>
              </a:defRPr>
            </a:pPr>
            <a:r>
              <a:t>Use Dark Text</a:t>
            </a:r>
          </a:p>
        </p:txBody>
      </p:sp>
      <p:cxnSp>
        <p:nvCxnSpPr>
          <p:cNvPr id="12" name="Connector 11"/>
          <p:cNvCxnSpPr/>
          <p:nvPr/>
        </p:nvCxnSpPr>
        <p:spPr>
          <a:xfrm>
            <a:off x="457200" y="5286375.0"/>
            <a:ext cx="8229600" cy="0.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5560695"/>
            <a:ext cx="5486400" cy="731520"/>
          </a:xfrm>
          <a:prstGeom prst="rect">
            <a:avLst/>
          </a:prstGeom>
          <a:noFill/>
        </p:spPr>
        <p:txBody>
          <a:bodyPr wrap="none">
            <a:spAutoFit/>
          </a:bodyPr>
          <a:lstStyle/>
          <a:p>
            <a:pPr algn="l">
              <a:defRPr sz="2800" b="1">
                <a:solidFill>
                  <a:srgbClr val="1F2937"/>
                </a:solidFill>
                <a:latin typeface="Inter"/>
              </a:defRPr>
            </a:pPr>
            <a:r>
              <a:t>Secondary Colors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3714750"/>
          </a:xfrm>
          <a:prstGeom prst="rect">
            <a:avLst/>
          </a:prstGeom>
          <a:noFill/>
        </p:spPr>
        <p:txBody>
          <a:bodyPr wrap="square" lIns="0" rIns="0" tIns="0" bIns="0">
            <a:spAutoFit/>
          </a:bodyPr>
          <a:lstStyle/>
          <a:p>
            <a:pPr algn="l">
              <a:spcAft>
                <a:spcPts val="600"/>
              </a:spcAft>
              <a:defRPr sz="1400" b="0">
                <a:solidFill>
                  <a:srgbClr val="000000"/>
                </a:solidFill>
                <a:latin typeface="Source Sans Pro"/>
              </a:defRPr>
            </a:pPr>
            <a:r>
              <a:t>Primary Color Usage</a:t>
            </a:r>
          </a:p>
          <a:p>
            <a:pPr algn="l">
              <a:spcAft>
                <a:spcPts val="600"/>
              </a:spcAft>
              <a:defRPr sz="1400" b="0">
                <a:solidFill>
                  <a:srgbClr val="000000"/>
                </a:solidFill>
                <a:latin typeface="Source Sans Pro"/>
              </a:defRPr>
            </a:pPr>
          </a:p>
          <a:p>
            <a:pPr algn="l">
              <a:spcAft>
                <a:spcPts val="600"/>
              </a:spcAft>
              <a:defRPr sz="1400" b="0">
                <a:solidFill>
                  <a:srgbClr val="000000"/>
                </a:solidFill>
                <a:latin typeface="Source Sans Pro"/>
              </a:defRPr>
            </a:pPr>
            <a:r>
              <a:t>Use for brand-critical elements:</a:t>
            </a:r>
          </a:p>
          <a:p>
            <a:pPr algn="l">
              <a:spcAft>
                <a:spcPts val="600"/>
              </a:spcAft>
              <a:defRPr sz="1400" b="0">
                <a:solidFill>
                  <a:srgbClr val="000000"/>
                </a:solidFill>
                <a:latin typeface="Source Sans Pro"/>
              </a:defRPr>
            </a:pPr>
            <a:r>
              <a:t>• Logos and main brand marks</a:t>
            </a:r>
          </a:p>
          <a:p>
            <a:pPr algn="l">
              <a:spcAft>
                <a:spcPts val="600"/>
              </a:spcAft>
              <a:defRPr sz="1400" b="0">
                <a:solidFill>
                  <a:srgbClr val="000000"/>
                </a:solidFill>
                <a:latin typeface="Source Sans Pro"/>
              </a:defRPr>
            </a:pPr>
            <a:r>
              <a:t>• Headlines and key text</a:t>
            </a:r>
          </a:p>
          <a:p>
            <a:pPr algn="l">
              <a:spcAft>
                <a:spcPts val="600"/>
              </a:spcAft>
              <a:defRPr sz="1400" b="0">
                <a:solidFill>
                  <a:srgbClr val="000000"/>
                </a:solidFill>
                <a:latin typeface="Source Sans Pro"/>
              </a:defRPr>
            </a:pPr>
            <a:r>
              <a:t>• CTA buttons and navigation</a:t>
            </a:r>
          </a:p>
          <a:p>
            <a:pPr algn="l">
              <a:spcAft>
                <a:spcPts val="600"/>
              </a:spcAft>
              <a:defRPr sz="1400" b="0">
                <a:solidFill>
                  <a:srgbClr val="000000"/>
                </a:solidFill>
                <a:latin typeface="Source Sans Pro"/>
              </a:defRPr>
            </a:pPr>
            <a:r>
              <a:t>• Hero sections</a:t>
            </a:r>
          </a:p>
          <a:p>
            <a:pPr algn="l">
              <a:spcAft>
                <a:spcPts val="600"/>
              </a:spcAft>
              <a:defRPr sz="1400" b="0">
                <a:solidFill>
                  <a:srgbClr val="000000"/>
                </a:solidFill>
                <a:latin typeface="Source Sans Pro"/>
              </a:defRPr>
            </a:pPr>
          </a:p>
          <a:p>
            <a:pPr algn="l">
              <a:spcAft>
                <a:spcPts val="600"/>
              </a:spcAft>
              <a:defRPr sz="1400" b="0">
                <a:solidFill>
                  <a:srgbClr val="000000"/>
                </a:solidFill>
                <a:latin typeface="Source Sans Pro"/>
              </a:defRPr>
            </a:pPr>
            <a:r>
              <a:t>Colors: Deep Ocean Blue, Innovation Red, Efficiency Green, Urban Silver</a:t>
            </a:r>
          </a:p>
          <a:p>
            <a:pPr algn="l">
              <a:spcAft>
                <a:spcPts val="600"/>
              </a:spcAft>
              <a:defRPr sz="1400" b="0">
                <a:solidFill>
                  <a:srgbClr val="000000"/>
                </a:solidFill>
                <a:latin typeface="Source Sans Pro"/>
              </a:defRPr>
            </a:pPr>
          </a:p>
          <a:p>
            <a:pPr algn="l">
              <a:spcAft>
                <a:spcPts val="600"/>
              </a:spcAft>
              <a:defRPr sz="1400" b="0">
                <a:solidFill>
                  <a:srgbClr val="000000"/>
                </a:solidFill>
                <a:latin typeface="Source Sans Pro"/>
              </a:defRPr>
            </a:pPr>
            <a:r>
              <a:t>Best Practices:</a:t>
            </a:r>
          </a:p>
          <a:p>
            <a:pPr algn="l">
              <a:spcAft>
                <a:spcPts val="600"/>
              </a:spcAft>
              <a:defRPr sz="1400" b="0">
                <a:solidFill>
                  <a:srgbClr val="000000"/>
                </a:solidFill>
                <a:latin typeface="Source Sans Pro"/>
              </a:defRPr>
            </a:pPr>
            <a:r>
              <a:t>- Maximum brand recognition</a:t>
            </a:r>
          </a:p>
          <a:p>
            <a:pPr algn="l">
              <a:spcAft>
                <a:spcPts val="600"/>
              </a:spcAft>
              <a:defRPr sz="1400" b="0">
                <a:solidFill>
                  <a:srgbClr val="000000"/>
                </a:solidFill>
                <a:latin typeface="Source Sans Pro"/>
              </a:defRPr>
            </a:pPr>
            <a:r>
              <a:t>- Consistent application</a:t>
            </a:r>
          </a:p>
          <a:p>
            <a:pPr algn="l">
              <a:spcAft>
                <a:spcPts val="600"/>
              </a:spcAft>
              <a:defRPr sz="1400" b="0">
                <a:solidFill>
                  <a:srgbClr val="000000"/>
                </a:solidFill>
                <a:latin typeface="Source Sans Pro"/>
              </a:defRPr>
            </a:pPr>
            <a:r>
              <a:t>- Sufficient contrast</a:t>
            </a:r>
          </a:p>
          <a:p>
            <a:pPr algn="l">
              <a:spcAft>
                <a:spcPts val="600"/>
              </a:spcAft>
              <a:defRPr sz="1400" b="0">
                <a:solidFill>
                  <a:srgbClr val="000000"/>
                </a:solidFill>
                <a:latin typeface="Source Sans Pro"/>
              </a:defRPr>
            </a:pPr>
            <a:r>
              <a:t>- Accessibility compliance</a:t>
            </a:r>
          </a:p>
        </p:txBody>
      </p:sp>
      <p:cxnSp>
        <p:nvCxnSpPr>
          <p:cNvPr id="3" name="Connector 2"/>
          <p:cNvCxnSpPr/>
          <p:nvPr/>
        </p:nvCxnSpPr>
        <p:spPr>
          <a:xfrm>
            <a:off x="457200" y="5286375.0"/>
            <a:ext cx="8229600" cy="0.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5560695"/>
            <a:ext cx="5486400" cy="731520"/>
          </a:xfrm>
          <a:prstGeom prst="rect">
            <a:avLst/>
          </a:prstGeom>
          <a:noFill/>
        </p:spPr>
        <p:txBody>
          <a:bodyPr wrap="none">
            <a:spAutoFit/>
          </a:bodyPr>
          <a:lstStyle/>
          <a:p>
            <a:pPr algn="l">
              <a:defRPr sz="2800" b="1">
                <a:solidFill>
                  <a:srgbClr val="1F2937"/>
                </a:solidFill>
                <a:latin typeface="Inter"/>
              </a:defRPr>
            </a:pPr>
            <a:r>
              <a:t>Color Usage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3714750"/>
          </a:xfrm>
          <a:prstGeom prst="rect">
            <a:avLst/>
          </a:prstGeom>
          <a:noFill/>
        </p:spPr>
        <p:txBody>
          <a:bodyPr wrap="square" lIns="0" rIns="0" tIns="0" bIns="0">
            <a:spAutoFit/>
          </a:bodyPr>
          <a:lstStyle/>
          <a:p>
            <a:pPr algn="l">
              <a:spcAft>
                <a:spcPts val="600"/>
              </a:spcAft>
              <a:defRPr sz="1400" b="0">
                <a:solidFill>
                  <a:srgbClr val="000000"/>
                </a:solidFill>
                <a:latin typeface="Source Sans Pro"/>
              </a:defRPr>
            </a:pPr>
            <a:r>
              <a:t>Secondary Color Usage</a:t>
            </a:r>
          </a:p>
          <a:p>
            <a:pPr algn="l">
              <a:spcAft>
                <a:spcPts val="600"/>
              </a:spcAft>
              <a:defRPr sz="1400" b="0">
                <a:solidFill>
                  <a:srgbClr val="000000"/>
                </a:solidFill>
                <a:latin typeface="Source Sans Pro"/>
              </a:defRPr>
            </a:pPr>
          </a:p>
          <a:p>
            <a:pPr algn="l">
              <a:spcAft>
                <a:spcPts val="600"/>
              </a:spcAft>
              <a:defRPr sz="1400" b="0">
                <a:solidFill>
                  <a:srgbClr val="000000"/>
                </a:solidFill>
                <a:latin typeface="Source Sans Pro"/>
              </a:defRPr>
            </a:pPr>
            <a:r>
              <a:t>Use for supporting elements:</a:t>
            </a:r>
          </a:p>
          <a:p>
            <a:pPr algn="l">
              <a:spcAft>
                <a:spcPts val="600"/>
              </a:spcAft>
              <a:defRPr sz="1400" b="0">
                <a:solidFill>
                  <a:srgbClr val="000000"/>
                </a:solidFill>
                <a:latin typeface="Source Sans Pro"/>
              </a:defRPr>
            </a:pPr>
            <a:r>
              <a:t>• Backgrounds and subtle accents</a:t>
            </a:r>
          </a:p>
          <a:p>
            <a:pPr algn="l">
              <a:spcAft>
                <a:spcPts val="600"/>
              </a:spcAft>
              <a:defRPr sz="1400" b="0">
                <a:solidFill>
                  <a:srgbClr val="000000"/>
                </a:solidFill>
                <a:latin typeface="Source Sans Pro"/>
              </a:defRPr>
            </a:pPr>
            <a:r>
              <a:t>• Secondary text</a:t>
            </a:r>
          </a:p>
          <a:p>
            <a:pPr algn="l">
              <a:spcAft>
                <a:spcPts val="600"/>
              </a:spcAft>
              <a:defRPr sz="1400" b="0">
                <a:solidFill>
                  <a:srgbClr val="000000"/>
                </a:solidFill>
                <a:latin typeface="Source Sans Pro"/>
              </a:defRPr>
            </a:pPr>
            <a:r>
              <a:t>• Borders and dividers</a:t>
            </a:r>
          </a:p>
          <a:p>
            <a:pPr algn="l">
              <a:spcAft>
                <a:spcPts val="600"/>
              </a:spcAft>
              <a:defRPr sz="1400" b="0">
                <a:solidFill>
                  <a:srgbClr val="000000"/>
                </a:solidFill>
                <a:latin typeface="Source Sans Pro"/>
              </a:defRPr>
            </a:pPr>
            <a:r>
              <a:t>• Hover states and icons</a:t>
            </a:r>
          </a:p>
          <a:p>
            <a:pPr algn="l">
              <a:spcAft>
                <a:spcPts val="600"/>
              </a:spcAft>
              <a:defRPr sz="1400" b="0">
                <a:solidFill>
                  <a:srgbClr val="000000"/>
                </a:solidFill>
                <a:latin typeface="Source Sans Pro"/>
              </a:defRPr>
            </a:pPr>
          </a:p>
          <a:p>
            <a:pPr algn="l">
              <a:spcAft>
                <a:spcPts val="600"/>
              </a:spcAft>
              <a:defRPr sz="1400" b="0">
                <a:solidFill>
                  <a:srgbClr val="000000"/>
                </a:solidFill>
                <a:latin typeface="Source Sans Pro"/>
              </a:defRPr>
            </a:pPr>
            <a:r>
              <a:t>Colors: Light Gray, Mint Green, Dusty Pink, Slate Blue, Mustard Yellow</a:t>
            </a:r>
          </a:p>
          <a:p>
            <a:pPr algn="l">
              <a:spcAft>
                <a:spcPts val="600"/>
              </a:spcAft>
              <a:defRPr sz="1400" b="0">
                <a:solidFill>
                  <a:srgbClr val="000000"/>
                </a:solidFill>
                <a:latin typeface="Source Sans Pro"/>
              </a:defRPr>
            </a:pPr>
          </a:p>
          <a:p>
            <a:pPr algn="l">
              <a:spcAft>
                <a:spcPts val="600"/>
              </a:spcAft>
              <a:defRPr sz="1400" b="0">
                <a:solidFill>
                  <a:srgbClr val="000000"/>
                </a:solidFill>
                <a:latin typeface="Source Sans Pro"/>
              </a:defRPr>
            </a:pPr>
            <a:r>
              <a:t>Best Practices:</a:t>
            </a:r>
          </a:p>
          <a:p>
            <a:pPr algn="l">
              <a:spcAft>
                <a:spcPts val="600"/>
              </a:spcAft>
              <a:defRPr sz="1400" b="0">
                <a:solidFill>
                  <a:srgbClr val="000000"/>
                </a:solidFill>
                <a:latin typeface="Source Sans Pro"/>
              </a:defRPr>
            </a:pPr>
            <a:r>
              <a:t>- Create visual hierarchy</a:t>
            </a:r>
          </a:p>
          <a:p>
            <a:pPr algn="l">
              <a:spcAft>
                <a:spcPts val="600"/>
              </a:spcAft>
              <a:defRPr sz="1400" b="0">
                <a:solidFill>
                  <a:srgbClr val="000000"/>
                </a:solidFill>
                <a:latin typeface="Source Sans Pro"/>
              </a:defRPr>
            </a:pPr>
            <a:r>
              <a:t>- Support, don't compete</a:t>
            </a:r>
          </a:p>
          <a:p>
            <a:pPr algn="l">
              <a:spcAft>
                <a:spcPts val="600"/>
              </a:spcAft>
              <a:defRPr sz="1400" b="0">
                <a:solidFill>
                  <a:srgbClr val="000000"/>
                </a:solidFill>
                <a:latin typeface="Source Sans Pro"/>
              </a:defRPr>
            </a:pPr>
            <a:r>
              <a:t>- Maintain readability</a:t>
            </a:r>
          </a:p>
          <a:p>
            <a:pPr algn="l">
              <a:spcAft>
                <a:spcPts val="600"/>
              </a:spcAft>
              <a:defRPr sz="1400" b="0">
                <a:solidFill>
                  <a:srgbClr val="000000"/>
                </a:solidFill>
                <a:latin typeface="Source Sans Pro"/>
              </a:defRPr>
            </a:pPr>
            <a:r>
              <a:t>- Use sparingly</a:t>
            </a:r>
          </a:p>
        </p:txBody>
      </p:sp>
      <p:cxnSp>
        <p:nvCxnSpPr>
          <p:cNvPr id="3" name="Connector 2"/>
          <p:cNvCxnSpPr/>
          <p:nvPr/>
        </p:nvCxnSpPr>
        <p:spPr>
          <a:xfrm>
            <a:off x="457200" y="5286375.0"/>
            <a:ext cx="8229600" cy="0.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5560695"/>
            <a:ext cx="5486400" cy="731520"/>
          </a:xfrm>
          <a:prstGeom prst="rect">
            <a:avLst/>
          </a:prstGeom>
          <a:noFill/>
        </p:spPr>
        <p:txBody>
          <a:bodyPr wrap="none">
            <a:spAutoFit/>
          </a:bodyPr>
          <a:lstStyle/>
          <a:p>
            <a:pPr algn="l">
              <a:defRPr sz="2800" b="1">
                <a:solidFill>
                  <a:srgbClr val="1F2937"/>
                </a:solidFill>
                <a:latin typeface="Inter"/>
              </a:defRPr>
            </a:pPr>
            <a:r>
              <a:t>Color Usage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Source Sans Pro"/>
              </a:defRPr>
            </a:pPr>
            <a:r>
              <a:t>Primary Font: Inter</a:t>
            </a:r>
          </a:p>
          <a:p>
            <a:pPr algn="l">
              <a:spcAft>
                <a:spcPts val="800"/>
              </a:spcAft>
              <a:defRPr sz="2000" b="0">
                <a:solidFill>
                  <a:srgbClr val="000000"/>
                </a:solidFill>
                <a:latin typeface="Source Sans Pro"/>
              </a:defRPr>
            </a:pPr>
          </a:p>
          <a:p>
            <a:pPr algn="l">
              <a:spcAft>
                <a:spcPts val="800"/>
              </a:spcAft>
              <a:defRPr sz="2000" b="0">
                <a:solidFill>
                  <a:srgbClr val="000000"/>
                </a:solidFill>
                <a:latin typeface="Source Sans Pro"/>
              </a:defRPr>
            </a:pPr>
            <a:r>
              <a:t>Secondary Font: Source Sans Pro</a:t>
            </a:r>
          </a:p>
          <a:p>
            <a:pPr algn="l">
              <a:spcAft>
                <a:spcPts val="800"/>
              </a:spcAft>
              <a:defRPr sz="2000" b="0">
                <a:solidFill>
                  <a:srgbClr val="000000"/>
                </a:solidFill>
                <a:latin typeface="Source Sans Pro"/>
              </a:defRPr>
            </a:pPr>
          </a:p>
          <a:p>
            <a:pPr algn="l">
              <a:spcAft>
                <a:spcPts val="800"/>
              </a:spcAft>
              <a:defRPr sz="2000" b="0">
                <a:solidFill>
                  <a:srgbClr val="000000"/>
                </a:solidFill>
                <a:latin typeface="Source Sans Pro"/>
              </a:defRPr>
            </a:pPr>
            <a:r>
              <a:t>Font Hierarchy:</a:t>
            </a:r>
          </a:p>
          <a:p>
            <a:pPr algn="l">
              <a:spcAft>
                <a:spcPts val="800"/>
              </a:spcAft>
              <a:defRPr sz="2000" b="0">
                <a:solidFill>
                  <a:srgbClr val="000000"/>
                </a:solidFill>
                <a:latin typeface="Source Sans Pro"/>
              </a:defRPr>
            </a:pPr>
            <a:r>
              <a:t>• Headlines: Inter - Bold, 28-32pt</a:t>
            </a:r>
          </a:p>
          <a:p>
            <a:pPr algn="l">
              <a:spcAft>
                <a:spcPts val="800"/>
              </a:spcAft>
              <a:defRPr sz="2000" b="0">
                <a:solidFill>
                  <a:srgbClr val="000000"/>
                </a:solidFill>
                <a:latin typeface="Source Sans Pro"/>
              </a:defRPr>
            </a:pPr>
            <a:r>
              <a:t>• Subheadlines: Inter - Bold, 20-24pt</a:t>
            </a:r>
          </a:p>
          <a:p>
            <a:pPr algn="l">
              <a:spcAft>
                <a:spcPts val="800"/>
              </a:spcAft>
              <a:defRPr sz="2000" b="0">
                <a:solidFill>
                  <a:srgbClr val="000000"/>
                </a:solidFill>
                <a:latin typeface="Source Sans Pro"/>
              </a:defRPr>
            </a:pPr>
            <a:r>
              <a:t>• Body Text: Source Sans Pro - Regular, 16-18pt</a:t>
            </a:r>
          </a:p>
          <a:p>
            <a:pPr algn="l">
              <a:spcAft>
                <a:spcPts val="800"/>
              </a:spcAft>
              <a:defRPr sz="2000" b="0">
                <a:solidFill>
                  <a:srgbClr val="000000"/>
                </a:solidFill>
                <a:latin typeface="Source Sans Pro"/>
              </a:defRPr>
            </a:pPr>
            <a:r>
              <a:t>• Caption Text: Source Sans Pro - Regular, 12-14pt</a:t>
            </a:r>
          </a:p>
        </p:txBody>
      </p:sp>
      <p:cxnSp>
        <p:nvCxnSpPr>
          <p:cNvPr id="3" name="Connector 2"/>
          <p:cNvCxnSpPr/>
          <p:nvPr/>
        </p:nvCxnSpPr>
        <p:spPr>
          <a:xfrm>
            <a:off x="457200" y="4914900.0"/>
            <a:ext cx="8229600" cy="0.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3657600" cy="731520"/>
          </a:xfrm>
          <a:prstGeom prst="rect">
            <a:avLst/>
          </a:prstGeom>
          <a:noFill/>
        </p:spPr>
        <p:txBody>
          <a:bodyPr wrap="none">
            <a:spAutoFit/>
          </a:bodyPr>
          <a:lstStyle/>
          <a:p>
            <a:pPr algn="l">
              <a:defRPr sz="2800" b="1">
                <a:solidFill>
                  <a:srgbClr val="1F2937"/>
                </a:solidFill>
                <a:latin typeface="Inter"/>
              </a:defRPr>
            </a:pPr>
            <a:r>
              <a:t>TYPOGRAPHY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742950"/>
          </a:xfrm>
          <a:prstGeom prst="rect">
            <a:avLst/>
          </a:prstGeom>
          <a:noFill/>
        </p:spPr>
        <p:txBody>
          <a:bodyPr wrap="square" lIns="0" rIns="0" tIns="0" bIns="0">
            <a:spAutoFit/>
          </a:bodyPr>
          <a:lstStyle/>
          <a:p>
            <a:pPr algn="l">
              <a:spcAft>
                <a:spcPts val="800"/>
              </a:spcAft>
              <a:defRPr sz="2000" b="0">
                <a:solidFill>
                  <a:srgbClr val="000000"/>
                </a:solidFill>
                <a:latin typeface="Source Sans Pro"/>
              </a:defRPr>
            </a:pPr>
            <a:r>
              <a:t>Uber - Core Functional Icons</a:t>
            </a:r>
          </a:p>
        </p:txBody>
      </p:sp>
      <p:pic>
        <p:nvPicPr>
          <p:cNvPr id="3" name="Picture 2" descr="mdi_home_1F2937.png"/>
          <p:cNvPicPr>
            <a:picLocks noChangeAspect="1"/>
          </p:cNvPicPr>
          <p:nvPr/>
        </p:nvPicPr>
        <p:blipFill>
          <a:blip r:embed="rId2"/>
          <a:stretch>
            <a:fillRect/>
          </a:stretch>
        </p:blipFill>
        <p:spPr>
          <a:xfrm>
            <a:off x="722376" y="1645920"/>
            <a:ext cx="822960" cy="822960"/>
          </a:xfrm>
          <a:prstGeom prst="rect">
            <a:avLst/>
          </a:prstGeom>
        </p:spPr>
      </p:pic>
      <p:pic>
        <p:nvPicPr>
          <p:cNvPr id="4" name="Picture 3" descr="mdi_cog_1F2937.png"/>
          <p:cNvPicPr>
            <a:picLocks noChangeAspect="1"/>
          </p:cNvPicPr>
          <p:nvPr/>
        </p:nvPicPr>
        <p:blipFill>
          <a:blip r:embed="rId3"/>
          <a:stretch>
            <a:fillRect/>
          </a:stretch>
        </p:blipFill>
        <p:spPr>
          <a:xfrm>
            <a:off x="2441448" y="1645920"/>
            <a:ext cx="822960" cy="822960"/>
          </a:xfrm>
          <a:prstGeom prst="rect">
            <a:avLst/>
          </a:prstGeom>
        </p:spPr>
      </p:pic>
      <p:pic>
        <p:nvPicPr>
          <p:cNvPr id="5" name="Picture 4" descr="mdi_account_1F2937.png"/>
          <p:cNvPicPr>
            <a:picLocks noChangeAspect="1"/>
          </p:cNvPicPr>
          <p:nvPr/>
        </p:nvPicPr>
        <p:blipFill>
          <a:blip r:embed="rId4"/>
          <a:stretch>
            <a:fillRect/>
          </a:stretch>
        </p:blipFill>
        <p:spPr>
          <a:xfrm>
            <a:off x="4160520" y="1645920"/>
            <a:ext cx="822960" cy="822960"/>
          </a:xfrm>
          <a:prstGeom prst="rect">
            <a:avLst/>
          </a:prstGeom>
        </p:spPr>
      </p:pic>
      <p:pic>
        <p:nvPicPr>
          <p:cNvPr id="6" name="Picture 5" descr="mdi_code-tags_1F2937.png"/>
          <p:cNvPicPr>
            <a:picLocks noChangeAspect="1"/>
          </p:cNvPicPr>
          <p:nvPr/>
        </p:nvPicPr>
        <p:blipFill>
          <a:blip r:embed="rId5"/>
          <a:stretch>
            <a:fillRect/>
          </a:stretch>
        </p:blipFill>
        <p:spPr>
          <a:xfrm>
            <a:off x="5879592" y="1645920"/>
            <a:ext cx="822960" cy="822960"/>
          </a:xfrm>
          <a:prstGeom prst="rect">
            <a:avLst/>
          </a:prstGeom>
        </p:spPr>
      </p:pic>
      <p:pic>
        <p:nvPicPr>
          <p:cNvPr id="7" name="Picture 6" descr="mdi_database_1F2937.png"/>
          <p:cNvPicPr>
            <a:picLocks noChangeAspect="1"/>
          </p:cNvPicPr>
          <p:nvPr/>
        </p:nvPicPr>
        <p:blipFill>
          <a:blip r:embed="rId6"/>
          <a:stretch>
            <a:fillRect/>
          </a:stretch>
        </p:blipFill>
        <p:spPr>
          <a:xfrm>
            <a:off x="7598664" y="1645920"/>
            <a:ext cx="822960" cy="822960"/>
          </a:xfrm>
          <a:prstGeom prst="rect">
            <a:avLst/>
          </a:prstGeom>
        </p:spPr>
      </p:pic>
      <p:pic>
        <p:nvPicPr>
          <p:cNvPr id="8" name="Picture 7" descr="mdi_server_1F2937.png"/>
          <p:cNvPicPr>
            <a:picLocks noChangeAspect="1"/>
          </p:cNvPicPr>
          <p:nvPr/>
        </p:nvPicPr>
        <p:blipFill>
          <a:blip r:embed="rId7"/>
          <a:stretch>
            <a:fillRect/>
          </a:stretch>
        </p:blipFill>
        <p:spPr>
          <a:xfrm>
            <a:off x="722376" y="2743200"/>
            <a:ext cx="822960" cy="822960"/>
          </a:xfrm>
          <a:prstGeom prst="rect">
            <a:avLst/>
          </a:prstGeom>
        </p:spPr>
      </p:pic>
      <p:pic>
        <p:nvPicPr>
          <p:cNvPr id="9" name="Picture 8" descr="mdi_cloud_1F2937.png"/>
          <p:cNvPicPr>
            <a:picLocks noChangeAspect="1"/>
          </p:cNvPicPr>
          <p:nvPr/>
        </p:nvPicPr>
        <p:blipFill>
          <a:blip r:embed="rId8"/>
          <a:stretch>
            <a:fillRect/>
          </a:stretch>
        </p:blipFill>
        <p:spPr>
          <a:xfrm>
            <a:off x="2441448" y="2743200"/>
            <a:ext cx="822960" cy="822960"/>
          </a:xfrm>
          <a:prstGeom prst="rect">
            <a:avLst/>
          </a:prstGeom>
        </p:spPr>
      </p:pic>
      <p:pic>
        <p:nvPicPr>
          <p:cNvPr id="10" name="Picture 9" descr="mdi_security_1F2937.png"/>
          <p:cNvPicPr>
            <a:picLocks noChangeAspect="1"/>
          </p:cNvPicPr>
          <p:nvPr/>
        </p:nvPicPr>
        <p:blipFill>
          <a:blip r:embed="rId9"/>
          <a:stretch>
            <a:fillRect/>
          </a:stretch>
        </p:blipFill>
        <p:spPr>
          <a:xfrm>
            <a:off x="4160520" y="2743200"/>
            <a:ext cx="822960" cy="822960"/>
          </a:xfrm>
          <a:prstGeom prst="rect">
            <a:avLst/>
          </a:prstGeom>
        </p:spPr>
      </p:pic>
      <p:pic>
        <p:nvPicPr>
          <p:cNvPr id="11" name="Picture 10" descr="mdi_api_1F2937.png"/>
          <p:cNvPicPr>
            <a:picLocks noChangeAspect="1"/>
          </p:cNvPicPr>
          <p:nvPr/>
        </p:nvPicPr>
        <p:blipFill>
          <a:blip r:embed="rId10"/>
          <a:stretch>
            <a:fillRect/>
          </a:stretch>
        </p:blipFill>
        <p:spPr>
          <a:xfrm>
            <a:off x="5879592" y="2743200"/>
            <a:ext cx="822960" cy="822960"/>
          </a:xfrm>
          <a:prstGeom prst="rect">
            <a:avLst/>
          </a:prstGeom>
        </p:spPr>
      </p:pic>
      <p:pic>
        <p:nvPicPr>
          <p:cNvPr id="12" name="Picture 11" descr="mdi_bug_1F2937.png"/>
          <p:cNvPicPr>
            <a:picLocks noChangeAspect="1"/>
          </p:cNvPicPr>
          <p:nvPr/>
        </p:nvPicPr>
        <p:blipFill>
          <a:blip r:embed="rId11"/>
          <a:stretch>
            <a:fillRect/>
          </a:stretch>
        </p:blipFill>
        <p:spPr>
          <a:xfrm>
            <a:off x="7598664" y="2743200"/>
            <a:ext cx="822960" cy="822960"/>
          </a:xfrm>
          <a:prstGeom prst="rect">
            <a:avLst/>
          </a:prstGeom>
        </p:spPr>
      </p:pic>
      <p:pic>
        <p:nvPicPr>
          <p:cNvPr id="13" name="Picture 12" descr="mdi_lightbulb_1F2937.png"/>
          <p:cNvPicPr>
            <a:picLocks noChangeAspect="1"/>
          </p:cNvPicPr>
          <p:nvPr/>
        </p:nvPicPr>
        <p:blipFill>
          <a:blip r:embed="rId12"/>
          <a:stretch>
            <a:fillRect/>
          </a:stretch>
        </p:blipFill>
        <p:spPr>
          <a:xfrm>
            <a:off x="722376" y="3840480"/>
            <a:ext cx="822960" cy="822960"/>
          </a:xfrm>
          <a:prstGeom prst="rect">
            <a:avLst/>
          </a:prstGeom>
        </p:spPr>
      </p:pic>
      <p:pic>
        <p:nvPicPr>
          <p:cNvPr id="14" name="Picture 13" descr="mdi_rocket_1F2937.png"/>
          <p:cNvPicPr>
            <a:picLocks noChangeAspect="1"/>
          </p:cNvPicPr>
          <p:nvPr/>
        </p:nvPicPr>
        <p:blipFill>
          <a:blip r:embed="rId13"/>
          <a:stretch>
            <a:fillRect/>
          </a:stretch>
        </p:blipFill>
        <p:spPr>
          <a:xfrm>
            <a:off x="2441448" y="3840480"/>
            <a:ext cx="822960" cy="822960"/>
          </a:xfrm>
          <a:prstGeom prst="rect">
            <a:avLst/>
          </a:prstGeom>
        </p:spPr>
      </p:pic>
      <p:pic>
        <p:nvPicPr>
          <p:cNvPr id="15" name="Picture 14" descr="mdi_leaf_1F2937.png"/>
          <p:cNvPicPr>
            <a:picLocks noChangeAspect="1"/>
          </p:cNvPicPr>
          <p:nvPr/>
        </p:nvPicPr>
        <p:blipFill>
          <a:blip r:embed="rId14"/>
          <a:stretch>
            <a:fillRect/>
          </a:stretch>
        </p:blipFill>
        <p:spPr>
          <a:xfrm>
            <a:off x="4160520" y="3840480"/>
            <a:ext cx="822960" cy="822960"/>
          </a:xfrm>
          <a:prstGeom prst="rect">
            <a:avLst/>
          </a:prstGeom>
        </p:spPr>
      </p:pic>
      <p:pic>
        <p:nvPicPr>
          <p:cNvPr id="16" name="Picture 15" descr="mdi_recycle_1F2937.png"/>
          <p:cNvPicPr>
            <a:picLocks noChangeAspect="1"/>
          </p:cNvPicPr>
          <p:nvPr/>
        </p:nvPicPr>
        <p:blipFill>
          <a:blip r:embed="rId15"/>
          <a:stretch>
            <a:fillRect/>
          </a:stretch>
        </p:blipFill>
        <p:spPr>
          <a:xfrm>
            <a:off x="5879592" y="3840480"/>
            <a:ext cx="822960" cy="822960"/>
          </a:xfrm>
          <a:prstGeom prst="rect">
            <a:avLst/>
          </a:prstGeom>
        </p:spPr>
      </p:pic>
      <p:pic>
        <p:nvPicPr>
          <p:cNvPr id="17" name="Picture 16" descr="mdi_briefcase_1F2937.png"/>
          <p:cNvPicPr>
            <a:picLocks noChangeAspect="1"/>
          </p:cNvPicPr>
          <p:nvPr/>
        </p:nvPicPr>
        <p:blipFill>
          <a:blip r:embed="rId16"/>
          <a:stretch>
            <a:fillRect/>
          </a:stretch>
        </p:blipFill>
        <p:spPr>
          <a:xfrm>
            <a:off x="7598664" y="3840480"/>
            <a:ext cx="822960" cy="822960"/>
          </a:xfrm>
          <a:prstGeom prst="rect">
            <a:avLst/>
          </a:prstGeom>
        </p:spPr>
      </p:pic>
      <p:cxnSp>
        <p:nvCxnSpPr>
          <p:cNvPr id="18" name="Connector 17"/>
          <p:cNvCxnSpPr/>
          <p:nvPr/>
        </p:nvCxnSpPr>
        <p:spPr>
          <a:xfrm>
            <a:off x="457200" y="5286375.0"/>
            <a:ext cx="8229600" cy="0.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00100" y="5560695"/>
            <a:ext cx="3657600" cy="731520"/>
          </a:xfrm>
          <a:prstGeom prst="rect">
            <a:avLst/>
          </a:prstGeom>
          <a:noFill/>
        </p:spPr>
        <p:txBody>
          <a:bodyPr wrap="none">
            <a:spAutoFit/>
          </a:bodyPr>
          <a:lstStyle/>
          <a:p>
            <a:pPr algn="l">
              <a:defRPr sz="2800" b="1">
                <a:solidFill>
                  <a:srgbClr val="1F2937"/>
                </a:solidFill>
                <a:latin typeface="Inter"/>
              </a:defRPr>
            </a:pPr>
            <a:r>
              <a:t>ICONOGRAPHY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742950"/>
          </a:xfrm>
          <a:prstGeom prst="rect">
            <a:avLst/>
          </a:prstGeom>
          <a:noFill/>
        </p:spPr>
        <p:txBody>
          <a:bodyPr wrap="square" lIns="0" rIns="0" tIns="0" bIns="0">
            <a:spAutoFit/>
          </a:bodyPr>
          <a:lstStyle/>
          <a:p>
            <a:pPr algn="l">
              <a:spcAft>
                <a:spcPts val="800"/>
              </a:spcAft>
              <a:defRPr sz="2000" b="0">
                <a:solidFill>
                  <a:srgbClr val="000000"/>
                </a:solidFill>
                <a:latin typeface="Source Sans Pro"/>
              </a:defRPr>
            </a:pPr>
            <a:r>
              <a:t>Uber - Technology &amp; Mobility (Ride-Hailing, Delivery, Transportation) Industry Icons</a:t>
            </a:r>
          </a:p>
        </p:txBody>
      </p:sp>
      <p:pic>
        <p:nvPicPr>
          <p:cNvPr id="3" name="Picture 2" descr="mdi_home_1F2937.png"/>
          <p:cNvPicPr>
            <a:picLocks noChangeAspect="1"/>
          </p:cNvPicPr>
          <p:nvPr/>
        </p:nvPicPr>
        <p:blipFill>
          <a:blip r:embed="rId2"/>
          <a:stretch>
            <a:fillRect/>
          </a:stretch>
        </p:blipFill>
        <p:spPr>
          <a:xfrm>
            <a:off x="722376" y="1645920"/>
            <a:ext cx="822960" cy="822960"/>
          </a:xfrm>
          <a:prstGeom prst="rect">
            <a:avLst/>
          </a:prstGeom>
        </p:spPr>
      </p:pic>
      <p:pic>
        <p:nvPicPr>
          <p:cNvPr id="4" name="Picture 3" descr="mdi_cog_1F2937.png"/>
          <p:cNvPicPr>
            <a:picLocks noChangeAspect="1"/>
          </p:cNvPicPr>
          <p:nvPr/>
        </p:nvPicPr>
        <p:blipFill>
          <a:blip r:embed="rId3"/>
          <a:stretch>
            <a:fillRect/>
          </a:stretch>
        </p:blipFill>
        <p:spPr>
          <a:xfrm>
            <a:off x="2441448" y="1645920"/>
            <a:ext cx="822960" cy="822960"/>
          </a:xfrm>
          <a:prstGeom prst="rect">
            <a:avLst/>
          </a:prstGeom>
        </p:spPr>
      </p:pic>
      <p:pic>
        <p:nvPicPr>
          <p:cNvPr id="5" name="Picture 4" descr="mdi_account_1F2937.png"/>
          <p:cNvPicPr>
            <a:picLocks noChangeAspect="1"/>
          </p:cNvPicPr>
          <p:nvPr/>
        </p:nvPicPr>
        <p:blipFill>
          <a:blip r:embed="rId4"/>
          <a:stretch>
            <a:fillRect/>
          </a:stretch>
        </p:blipFill>
        <p:spPr>
          <a:xfrm>
            <a:off x="4160520" y="1645920"/>
            <a:ext cx="822960" cy="822960"/>
          </a:xfrm>
          <a:prstGeom prst="rect">
            <a:avLst/>
          </a:prstGeom>
        </p:spPr>
      </p:pic>
      <p:pic>
        <p:nvPicPr>
          <p:cNvPr id="6" name="Picture 5" descr="mdi_code-tags_1F2937.png"/>
          <p:cNvPicPr>
            <a:picLocks noChangeAspect="1"/>
          </p:cNvPicPr>
          <p:nvPr/>
        </p:nvPicPr>
        <p:blipFill>
          <a:blip r:embed="rId5"/>
          <a:stretch>
            <a:fillRect/>
          </a:stretch>
        </p:blipFill>
        <p:spPr>
          <a:xfrm>
            <a:off x="5879592" y="1645920"/>
            <a:ext cx="822960" cy="822960"/>
          </a:xfrm>
          <a:prstGeom prst="rect">
            <a:avLst/>
          </a:prstGeom>
        </p:spPr>
      </p:pic>
      <p:pic>
        <p:nvPicPr>
          <p:cNvPr id="7" name="Picture 6" descr="mdi_database_1F2937.png"/>
          <p:cNvPicPr>
            <a:picLocks noChangeAspect="1"/>
          </p:cNvPicPr>
          <p:nvPr/>
        </p:nvPicPr>
        <p:blipFill>
          <a:blip r:embed="rId6"/>
          <a:stretch>
            <a:fillRect/>
          </a:stretch>
        </p:blipFill>
        <p:spPr>
          <a:xfrm>
            <a:off x="7598664" y="1645920"/>
            <a:ext cx="822960" cy="822960"/>
          </a:xfrm>
          <a:prstGeom prst="rect">
            <a:avLst/>
          </a:prstGeom>
        </p:spPr>
      </p:pic>
      <p:pic>
        <p:nvPicPr>
          <p:cNvPr id="8" name="Picture 7" descr="mdi_server_1F2937.png"/>
          <p:cNvPicPr>
            <a:picLocks noChangeAspect="1"/>
          </p:cNvPicPr>
          <p:nvPr/>
        </p:nvPicPr>
        <p:blipFill>
          <a:blip r:embed="rId7"/>
          <a:stretch>
            <a:fillRect/>
          </a:stretch>
        </p:blipFill>
        <p:spPr>
          <a:xfrm>
            <a:off x="722376" y="2743200"/>
            <a:ext cx="822960" cy="822960"/>
          </a:xfrm>
          <a:prstGeom prst="rect">
            <a:avLst/>
          </a:prstGeom>
        </p:spPr>
      </p:pic>
      <p:pic>
        <p:nvPicPr>
          <p:cNvPr id="9" name="Picture 8" descr="mdi_cloud_1F2937.png"/>
          <p:cNvPicPr>
            <a:picLocks noChangeAspect="1"/>
          </p:cNvPicPr>
          <p:nvPr/>
        </p:nvPicPr>
        <p:blipFill>
          <a:blip r:embed="rId8"/>
          <a:stretch>
            <a:fillRect/>
          </a:stretch>
        </p:blipFill>
        <p:spPr>
          <a:xfrm>
            <a:off x="2441448" y="2743200"/>
            <a:ext cx="822960" cy="822960"/>
          </a:xfrm>
          <a:prstGeom prst="rect">
            <a:avLst/>
          </a:prstGeom>
        </p:spPr>
      </p:pic>
      <p:pic>
        <p:nvPicPr>
          <p:cNvPr id="10" name="Picture 9" descr="mdi_security_1F2937.png"/>
          <p:cNvPicPr>
            <a:picLocks noChangeAspect="1"/>
          </p:cNvPicPr>
          <p:nvPr/>
        </p:nvPicPr>
        <p:blipFill>
          <a:blip r:embed="rId9"/>
          <a:stretch>
            <a:fillRect/>
          </a:stretch>
        </p:blipFill>
        <p:spPr>
          <a:xfrm>
            <a:off x="4160520" y="2743200"/>
            <a:ext cx="822960" cy="822960"/>
          </a:xfrm>
          <a:prstGeom prst="rect">
            <a:avLst/>
          </a:prstGeom>
        </p:spPr>
      </p:pic>
      <p:pic>
        <p:nvPicPr>
          <p:cNvPr id="11" name="Picture 10" descr="mdi_api_1F2937.png"/>
          <p:cNvPicPr>
            <a:picLocks noChangeAspect="1"/>
          </p:cNvPicPr>
          <p:nvPr/>
        </p:nvPicPr>
        <p:blipFill>
          <a:blip r:embed="rId10"/>
          <a:stretch>
            <a:fillRect/>
          </a:stretch>
        </p:blipFill>
        <p:spPr>
          <a:xfrm>
            <a:off x="5879592" y="2743200"/>
            <a:ext cx="822960" cy="822960"/>
          </a:xfrm>
          <a:prstGeom prst="rect">
            <a:avLst/>
          </a:prstGeom>
        </p:spPr>
      </p:pic>
      <p:pic>
        <p:nvPicPr>
          <p:cNvPr id="12" name="Picture 11" descr="mdi_bug_1F2937.png"/>
          <p:cNvPicPr>
            <a:picLocks noChangeAspect="1"/>
          </p:cNvPicPr>
          <p:nvPr/>
        </p:nvPicPr>
        <p:blipFill>
          <a:blip r:embed="rId11"/>
          <a:stretch>
            <a:fillRect/>
          </a:stretch>
        </p:blipFill>
        <p:spPr>
          <a:xfrm>
            <a:off x="7598664" y="2743200"/>
            <a:ext cx="822960" cy="822960"/>
          </a:xfrm>
          <a:prstGeom prst="rect">
            <a:avLst/>
          </a:prstGeom>
        </p:spPr>
      </p:pic>
      <p:pic>
        <p:nvPicPr>
          <p:cNvPr id="13" name="Picture 12" descr="mdi_lightbulb_1F2937.png"/>
          <p:cNvPicPr>
            <a:picLocks noChangeAspect="1"/>
          </p:cNvPicPr>
          <p:nvPr/>
        </p:nvPicPr>
        <p:blipFill>
          <a:blip r:embed="rId12"/>
          <a:stretch>
            <a:fillRect/>
          </a:stretch>
        </p:blipFill>
        <p:spPr>
          <a:xfrm>
            <a:off x="722376" y="3840480"/>
            <a:ext cx="822960" cy="822960"/>
          </a:xfrm>
          <a:prstGeom prst="rect">
            <a:avLst/>
          </a:prstGeom>
        </p:spPr>
      </p:pic>
      <p:pic>
        <p:nvPicPr>
          <p:cNvPr id="14" name="Picture 13" descr="mdi_rocket_1F2937.png"/>
          <p:cNvPicPr>
            <a:picLocks noChangeAspect="1"/>
          </p:cNvPicPr>
          <p:nvPr/>
        </p:nvPicPr>
        <p:blipFill>
          <a:blip r:embed="rId13"/>
          <a:stretch>
            <a:fillRect/>
          </a:stretch>
        </p:blipFill>
        <p:spPr>
          <a:xfrm>
            <a:off x="2441448" y="3840480"/>
            <a:ext cx="822960" cy="822960"/>
          </a:xfrm>
          <a:prstGeom prst="rect">
            <a:avLst/>
          </a:prstGeom>
        </p:spPr>
      </p:pic>
      <p:pic>
        <p:nvPicPr>
          <p:cNvPr id="15" name="Picture 14" descr="mdi_leaf_1F2937.png"/>
          <p:cNvPicPr>
            <a:picLocks noChangeAspect="1"/>
          </p:cNvPicPr>
          <p:nvPr/>
        </p:nvPicPr>
        <p:blipFill>
          <a:blip r:embed="rId14"/>
          <a:stretch>
            <a:fillRect/>
          </a:stretch>
        </p:blipFill>
        <p:spPr>
          <a:xfrm>
            <a:off x="4160520" y="3840480"/>
            <a:ext cx="822960" cy="822960"/>
          </a:xfrm>
          <a:prstGeom prst="rect">
            <a:avLst/>
          </a:prstGeom>
        </p:spPr>
      </p:pic>
      <p:pic>
        <p:nvPicPr>
          <p:cNvPr id="16" name="Picture 15" descr="mdi_recycle_1F2937.png"/>
          <p:cNvPicPr>
            <a:picLocks noChangeAspect="1"/>
          </p:cNvPicPr>
          <p:nvPr/>
        </p:nvPicPr>
        <p:blipFill>
          <a:blip r:embed="rId15"/>
          <a:stretch>
            <a:fillRect/>
          </a:stretch>
        </p:blipFill>
        <p:spPr>
          <a:xfrm>
            <a:off x="5879592" y="3840480"/>
            <a:ext cx="822960" cy="822960"/>
          </a:xfrm>
          <a:prstGeom prst="rect">
            <a:avLst/>
          </a:prstGeom>
        </p:spPr>
      </p:pic>
      <p:pic>
        <p:nvPicPr>
          <p:cNvPr id="17" name="Picture 16" descr="mdi_briefcase_1F2937.png"/>
          <p:cNvPicPr>
            <a:picLocks noChangeAspect="1"/>
          </p:cNvPicPr>
          <p:nvPr/>
        </p:nvPicPr>
        <p:blipFill>
          <a:blip r:embed="rId16"/>
          <a:stretch>
            <a:fillRect/>
          </a:stretch>
        </p:blipFill>
        <p:spPr>
          <a:xfrm>
            <a:off x="7598664" y="3840480"/>
            <a:ext cx="822960" cy="822960"/>
          </a:xfrm>
          <a:prstGeom prst="rect">
            <a:avLst/>
          </a:prstGeom>
        </p:spPr>
      </p:pic>
      <p:cxnSp>
        <p:nvCxnSpPr>
          <p:cNvPr id="18" name="Connector 17"/>
          <p:cNvCxnSpPr/>
          <p:nvPr/>
        </p:nvCxnSpPr>
        <p:spPr>
          <a:xfrm>
            <a:off x="457200" y="5286375.0"/>
            <a:ext cx="8229600" cy="0.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00100" y="5560695"/>
            <a:ext cx="3657600" cy="731520"/>
          </a:xfrm>
          <a:prstGeom prst="rect">
            <a:avLst/>
          </a:prstGeom>
          <a:noFill/>
        </p:spPr>
        <p:txBody>
          <a:bodyPr wrap="none">
            <a:spAutoFit/>
          </a:bodyPr>
          <a:lstStyle/>
          <a:p>
            <a:pPr algn="l">
              <a:defRPr sz="2800" b="1">
                <a:solidFill>
                  <a:srgbClr val="1F2937"/>
                </a:solidFill>
                <a:latin typeface="Inter"/>
              </a:defRPr>
            </a:pPr>
            <a:r>
              <a:t>ICONOGRAPHY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228850"/>
          </a:xfrm>
          <a:prstGeom prst="rect">
            <a:avLst/>
          </a:prstGeom>
          <a:noFill/>
        </p:spPr>
        <p:txBody>
          <a:bodyPr wrap="square" lIns="0" rIns="0" tIns="0" bIns="0">
            <a:spAutoFit/>
          </a:bodyPr>
          <a:lstStyle/>
          <a:p>
            <a:pPr algn="l">
              <a:spcAft>
                <a:spcPts val="600"/>
              </a:spcAft>
              <a:defRPr sz="1800" b="0">
                <a:solidFill>
                  <a:srgbClr val="000000"/>
                </a:solidFill>
                <a:latin typeface="Source Sans Pro"/>
              </a:defRPr>
            </a:pPr>
            <a:r>
              <a:t>Style: Minimalist design</a:t>
            </a:r>
          </a:p>
          <a:p>
            <a:pPr algn="l">
              <a:spcAft>
                <a:spcPts val="600"/>
              </a:spcAft>
              <a:defRPr sz="1800" b="0">
                <a:solidFill>
                  <a:srgbClr val="000000"/>
                </a:solidFill>
                <a:latin typeface="Source Sans Pro"/>
              </a:defRPr>
            </a:pPr>
            <a:r>
              <a:t>Color: #1F2937 on black background</a:t>
            </a:r>
          </a:p>
          <a:p>
            <a:pPr algn="l">
              <a:spcAft>
                <a:spcPts val="600"/>
              </a:spcAft>
              <a:defRPr sz="1800" b="0">
                <a:solidFill>
                  <a:srgbClr val="000000"/>
                </a:solidFill>
                <a:latin typeface="Source Sans Pro"/>
              </a:defRPr>
            </a:pPr>
          </a:p>
          <a:p>
            <a:pPr algn="l">
              <a:spcAft>
                <a:spcPts val="600"/>
              </a:spcAft>
              <a:defRPr sz="1800" b="0">
                <a:solidFill>
                  <a:srgbClr val="000000"/>
                </a:solidFill>
                <a:latin typeface="Source Sans Pro"/>
              </a:defRPr>
            </a:pPr>
            <a:r>
              <a:t>Size Requirements:</a:t>
            </a:r>
          </a:p>
          <a:p>
            <a:pPr algn="l">
              <a:spcAft>
                <a:spcPts val="600"/>
              </a:spcAft>
              <a:defRPr sz="1800" b="0">
                <a:solidFill>
                  <a:srgbClr val="000000"/>
                </a:solidFill>
                <a:latin typeface="Source Sans Pro"/>
              </a:defRPr>
            </a:pPr>
            <a:r>
              <a:t>• Minimum: 16px web, 0.5" print</a:t>
            </a:r>
          </a:p>
          <a:p>
            <a:pPr algn="l">
              <a:spcAft>
                <a:spcPts val="600"/>
              </a:spcAft>
              <a:defRPr sz="1800" b="0">
                <a:solidFill>
                  <a:srgbClr val="000000"/>
                </a:solidFill>
                <a:latin typeface="Source Sans Pro"/>
              </a:defRPr>
            </a:pPr>
            <a:r>
              <a:t>• Recommended: 24px+ web, 0.75"+ print</a:t>
            </a:r>
          </a:p>
          <a:p>
            <a:pPr algn="l">
              <a:spcAft>
                <a:spcPts val="600"/>
              </a:spcAft>
              <a:defRPr sz="1800" b="0">
                <a:solidFill>
                  <a:srgbClr val="000000"/>
                </a:solidFill>
                <a:latin typeface="Source Sans Pro"/>
              </a:defRPr>
            </a:pPr>
          </a:p>
          <a:p>
            <a:pPr algn="l">
              <a:spcAft>
                <a:spcPts val="600"/>
              </a:spcAft>
              <a:defRPr sz="1800" b="0">
                <a:solidFill>
                  <a:srgbClr val="000000"/>
                </a:solidFill>
                <a:latin typeface="Source Sans Pro"/>
              </a:defRPr>
            </a:pPr>
            <a:r>
              <a:t>Spacing:</a:t>
            </a:r>
          </a:p>
          <a:p>
            <a:pPr algn="l">
              <a:spcAft>
                <a:spcPts val="600"/>
              </a:spcAft>
              <a:defRPr sz="1800" b="0">
                <a:solidFill>
                  <a:srgbClr val="000000"/>
                </a:solidFill>
                <a:latin typeface="Source Sans Pro"/>
              </a:defRPr>
            </a:pPr>
            <a:r>
              <a:t>• Clear space: 50% of icon width</a:t>
            </a:r>
          </a:p>
          <a:p>
            <a:pPr algn="l">
              <a:spcAft>
                <a:spcPts val="600"/>
              </a:spcAft>
              <a:defRPr sz="1800" b="0">
                <a:solidFill>
                  <a:srgbClr val="000000"/>
                </a:solidFill>
                <a:latin typeface="Source Sans Pro"/>
              </a:defRPr>
            </a:pPr>
            <a:r>
              <a:t>• Consistent grid alignment</a:t>
            </a:r>
          </a:p>
        </p:txBody>
      </p:sp>
      <p:cxnSp>
        <p:nvCxnSpPr>
          <p:cNvPr id="3" name="Connector 2"/>
          <p:cNvCxnSpPr/>
          <p:nvPr/>
        </p:nvCxnSpPr>
        <p:spPr>
          <a:xfrm>
            <a:off x="457200" y="5286375.0"/>
            <a:ext cx="8229600" cy="0.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560695"/>
            <a:ext cx="5486400" cy="731520"/>
          </a:xfrm>
          <a:prstGeom prst="rect">
            <a:avLst/>
          </a:prstGeom>
          <a:noFill/>
        </p:spPr>
        <p:txBody>
          <a:bodyPr wrap="none">
            <a:spAutoFit/>
          </a:bodyPr>
          <a:lstStyle/>
          <a:p>
            <a:pPr algn="l">
              <a:defRPr sz="2800" b="1">
                <a:solidFill>
                  <a:srgbClr val="1F2937"/>
                </a:solidFill>
                <a:latin typeface="Inter"/>
              </a:defRPr>
            </a:pPr>
            <a:r>
              <a:t>USAGE GUIDELINES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868680" y="320040"/>
            <a:ext cx="2468880" cy="1463040"/>
          </a:xfrm>
          <a:prstGeom prst="rect">
            <a:avLst/>
          </a:prstGeom>
          <a:solidFill>
            <a:srgbClr val="F8F8F8"/>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ber_illustration_1_20250903_230538_e8bdaf11.png"/>
          <p:cNvPicPr>
            <a:picLocks noChangeAspect="1"/>
          </p:cNvPicPr>
          <p:nvPr/>
        </p:nvPicPr>
        <p:blipFill>
          <a:blip r:embed="rId2"/>
          <a:stretch>
            <a:fillRect/>
          </a:stretch>
        </p:blipFill>
        <p:spPr>
          <a:xfrm>
            <a:off x="914400" y="365760"/>
            <a:ext cx="2377440" cy="1371600"/>
          </a:xfrm>
          <a:prstGeom prst="rect">
            <a:avLst/>
          </a:prstGeom>
        </p:spPr>
      </p:pic>
      <p:sp>
        <p:nvSpPr>
          <p:cNvPr id="4" name="TextBox 3"/>
          <p:cNvSpPr txBox="1"/>
          <p:nvPr/>
        </p:nvSpPr>
        <p:spPr>
          <a:xfrm>
            <a:off x="914400" y="137160"/>
            <a:ext cx="2377440" cy="182880"/>
          </a:xfrm>
          <a:prstGeom prst="rect">
            <a:avLst/>
          </a:prstGeom>
          <a:noFill/>
        </p:spPr>
        <p:txBody>
          <a:bodyPr wrap="none" lIns="0" rIns="0" tIns="0" bIns="0">
            <a:spAutoFit/>
          </a:bodyPr>
          <a:lstStyle/>
          <a:p>
            <a:pPr algn="ctr">
              <a:defRPr sz="800" b="1">
                <a:solidFill>
                  <a:srgbClr val="1F2937"/>
                </a:solidFill>
                <a:latin typeface="Source Sans Pro"/>
              </a:defRPr>
            </a:pPr>
            <a:r>
              <a:t>External Focus</a:t>
            </a:r>
          </a:p>
        </p:txBody>
      </p:sp>
      <p:sp>
        <p:nvSpPr>
          <p:cNvPr id="5" name="TextBox 4"/>
          <p:cNvSpPr txBox="1"/>
          <p:nvPr/>
        </p:nvSpPr>
        <p:spPr>
          <a:xfrm>
            <a:off x="914400" y="1810512"/>
            <a:ext cx="2377440" cy="228600"/>
          </a:xfrm>
          <a:prstGeom prst="rect">
            <a:avLst/>
          </a:prstGeom>
          <a:noFill/>
        </p:spPr>
        <p:txBody>
          <a:bodyPr wrap="none" lIns="0" rIns="0" tIns="0" bIns="0">
            <a:spAutoFit/>
          </a:bodyPr>
          <a:lstStyle/>
          <a:p>
            <a:pPr algn="ctr">
              <a:defRPr sz="900" b="0">
                <a:solidFill>
                  <a:srgbClr val="666666"/>
                </a:solidFill>
                <a:latin typeface="Source Sans Pro"/>
              </a:defRPr>
            </a:pPr>
            <a:r>
              <a:t>Professional excellence in Technolo...</a:t>
            </a:r>
          </a:p>
        </p:txBody>
      </p:sp>
      <p:sp>
        <p:nvSpPr>
          <p:cNvPr id="6" name="Rectangle 5"/>
          <p:cNvSpPr/>
          <p:nvPr/>
        </p:nvSpPr>
        <p:spPr>
          <a:xfrm>
            <a:off x="3703320" y="320040"/>
            <a:ext cx="2468880" cy="1463040"/>
          </a:xfrm>
          <a:prstGeom prst="rect">
            <a:avLst/>
          </a:prstGeom>
          <a:solidFill>
            <a:srgbClr val="F8F8F8"/>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ber_illustration_2_20250903_230617_164c06ab.png"/>
          <p:cNvPicPr>
            <a:picLocks noChangeAspect="1"/>
          </p:cNvPicPr>
          <p:nvPr/>
        </p:nvPicPr>
        <p:blipFill>
          <a:blip r:embed="rId3"/>
          <a:stretch>
            <a:fillRect/>
          </a:stretch>
        </p:blipFill>
        <p:spPr>
          <a:xfrm>
            <a:off x="3749040" y="365760"/>
            <a:ext cx="2377440" cy="1371600"/>
          </a:xfrm>
          <a:prstGeom prst="rect">
            <a:avLst/>
          </a:prstGeom>
        </p:spPr>
      </p:pic>
      <p:sp>
        <p:nvSpPr>
          <p:cNvPr id="8" name="TextBox 7"/>
          <p:cNvSpPr txBox="1"/>
          <p:nvPr/>
        </p:nvSpPr>
        <p:spPr>
          <a:xfrm>
            <a:off x="3749040" y="137160"/>
            <a:ext cx="2377440" cy="182880"/>
          </a:xfrm>
          <a:prstGeom prst="rect">
            <a:avLst/>
          </a:prstGeom>
          <a:noFill/>
        </p:spPr>
        <p:txBody>
          <a:bodyPr wrap="none" lIns="0" rIns="0" tIns="0" bIns="0">
            <a:spAutoFit/>
          </a:bodyPr>
          <a:lstStyle/>
          <a:p>
            <a:pPr algn="ctr">
              <a:defRPr sz="800" b="1">
                <a:solidFill>
                  <a:srgbClr val="1F2937"/>
                </a:solidFill>
                <a:latin typeface="Source Sans Pro"/>
              </a:defRPr>
            </a:pPr>
            <a:r>
              <a:t>External Focus</a:t>
            </a:r>
          </a:p>
        </p:txBody>
      </p:sp>
      <p:sp>
        <p:nvSpPr>
          <p:cNvPr id="9" name="TextBox 8"/>
          <p:cNvSpPr txBox="1"/>
          <p:nvPr/>
        </p:nvSpPr>
        <p:spPr>
          <a:xfrm>
            <a:off x="3749040" y="1810512"/>
            <a:ext cx="2377440" cy="228600"/>
          </a:xfrm>
          <a:prstGeom prst="rect">
            <a:avLst/>
          </a:prstGeom>
          <a:noFill/>
        </p:spPr>
        <p:txBody>
          <a:bodyPr wrap="none" lIns="0" rIns="0" tIns="0" bIns="0">
            <a:spAutoFit/>
          </a:bodyPr>
          <a:lstStyle/>
          <a:p>
            <a:pPr algn="ctr">
              <a:defRPr sz="900" b="0">
                <a:solidFill>
                  <a:srgbClr val="666666"/>
                </a:solidFill>
                <a:latin typeface="Source Sans Pro"/>
              </a:defRPr>
            </a:pPr>
            <a:r>
              <a:t>Innovative solutions for Technology...</a:t>
            </a:r>
          </a:p>
        </p:txBody>
      </p:sp>
      <p:sp>
        <p:nvSpPr>
          <p:cNvPr id="10" name="Rectangle 9"/>
          <p:cNvSpPr/>
          <p:nvPr/>
        </p:nvSpPr>
        <p:spPr>
          <a:xfrm>
            <a:off x="6537960" y="320040"/>
            <a:ext cx="2468880" cy="1463040"/>
          </a:xfrm>
          <a:prstGeom prst="rect">
            <a:avLst/>
          </a:prstGeom>
          <a:solidFill>
            <a:srgbClr val="F8F8F8"/>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uber_illustration_3_20250903_230720_77402aac.png"/>
          <p:cNvPicPr>
            <a:picLocks noChangeAspect="1"/>
          </p:cNvPicPr>
          <p:nvPr/>
        </p:nvPicPr>
        <p:blipFill>
          <a:blip r:embed="rId4"/>
          <a:stretch>
            <a:fillRect/>
          </a:stretch>
        </p:blipFill>
        <p:spPr>
          <a:xfrm>
            <a:off x="6583680" y="365760"/>
            <a:ext cx="2377440" cy="1371600"/>
          </a:xfrm>
          <a:prstGeom prst="rect">
            <a:avLst/>
          </a:prstGeom>
        </p:spPr>
      </p:pic>
      <p:sp>
        <p:nvSpPr>
          <p:cNvPr id="12" name="TextBox 11"/>
          <p:cNvSpPr txBox="1"/>
          <p:nvPr/>
        </p:nvSpPr>
        <p:spPr>
          <a:xfrm>
            <a:off x="6583680" y="137160"/>
            <a:ext cx="2377440" cy="182880"/>
          </a:xfrm>
          <a:prstGeom prst="rect">
            <a:avLst/>
          </a:prstGeom>
          <a:noFill/>
        </p:spPr>
        <p:txBody>
          <a:bodyPr wrap="none" lIns="0" rIns="0" tIns="0" bIns="0">
            <a:spAutoFit/>
          </a:bodyPr>
          <a:lstStyle/>
          <a:p>
            <a:pPr algn="ctr">
              <a:defRPr sz="800" b="1">
                <a:solidFill>
                  <a:srgbClr val="1F2937"/>
                </a:solidFill>
                <a:latin typeface="Source Sans Pro"/>
              </a:defRPr>
            </a:pPr>
            <a:r>
              <a:t>External Focus</a:t>
            </a:r>
          </a:p>
        </p:txBody>
      </p:sp>
      <p:sp>
        <p:nvSpPr>
          <p:cNvPr id="13" name="TextBox 12"/>
          <p:cNvSpPr txBox="1"/>
          <p:nvPr/>
        </p:nvSpPr>
        <p:spPr>
          <a:xfrm>
            <a:off x="6583680" y="1810512"/>
            <a:ext cx="2377440" cy="228600"/>
          </a:xfrm>
          <a:prstGeom prst="rect">
            <a:avLst/>
          </a:prstGeom>
          <a:noFill/>
        </p:spPr>
        <p:txBody>
          <a:bodyPr wrap="none" lIns="0" rIns="0" tIns="0" bIns="0">
            <a:spAutoFit/>
          </a:bodyPr>
          <a:lstStyle/>
          <a:p>
            <a:pPr algn="ctr">
              <a:defRPr sz="900" b="0">
                <a:solidFill>
                  <a:srgbClr val="666666"/>
                </a:solidFill>
                <a:latin typeface="Source Sans Pro"/>
              </a:defRPr>
            </a:pPr>
            <a:r>
              <a:t>Strategic growth and development in...</a:t>
            </a:r>
          </a:p>
        </p:txBody>
      </p:sp>
      <p:sp>
        <p:nvSpPr>
          <p:cNvPr id="14" name="Rectangle 13"/>
          <p:cNvSpPr/>
          <p:nvPr/>
        </p:nvSpPr>
        <p:spPr>
          <a:xfrm>
            <a:off x="868680" y="2331720"/>
            <a:ext cx="2468880" cy="1463040"/>
          </a:xfrm>
          <a:prstGeom prst="rect">
            <a:avLst/>
          </a:prstGeom>
          <a:solidFill>
            <a:srgbClr val="F8F8F8"/>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uber_illustration_4_20250903_230753_76930378.png"/>
          <p:cNvPicPr>
            <a:picLocks noChangeAspect="1"/>
          </p:cNvPicPr>
          <p:nvPr/>
        </p:nvPicPr>
        <p:blipFill>
          <a:blip r:embed="rId5"/>
          <a:stretch>
            <a:fillRect/>
          </a:stretch>
        </p:blipFill>
        <p:spPr>
          <a:xfrm>
            <a:off x="914400" y="2377440"/>
            <a:ext cx="2377440" cy="1371600"/>
          </a:xfrm>
          <a:prstGeom prst="rect">
            <a:avLst/>
          </a:prstGeom>
        </p:spPr>
      </p:pic>
      <p:sp>
        <p:nvSpPr>
          <p:cNvPr id="16" name="TextBox 15"/>
          <p:cNvSpPr txBox="1"/>
          <p:nvPr/>
        </p:nvSpPr>
        <p:spPr>
          <a:xfrm>
            <a:off x="914400" y="2148840"/>
            <a:ext cx="2377440" cy="182880"/>
          </a:xfrm>
          <a:prstGeom prst="rect">
            <a:avLst/>
          </a:prstGeom>
          <a:noFill/>
        </p:spPr>
        <p:txBody>
          <a:bodyPr wrap="none" lIns="0" rIns="0" tIns="0" bIns="0">
            <a:spAutoFit/>
          </a:bodyPr>
          <a:lstStyle/>
          <a:p>
            <a:pPr algn="ctr">
              <a:defRPr sz="800" b="1">
                <a:solidFill>
                  <a:srgbClr val="1F2937"/>
                </a:solidFill>
                <a:latin typeface="Source Sans Pro"/>
              </a:defRPr>
            </a:pPr>
            <a:r>
              <a:t>Internal Focus</a:t>
            </a:r>
          </a:p>
        </p:txBody>
      </p:sp>
      <p:sp>
        <p:nvSpPr>
          <p:cNvPr id="17" name="TextBox 16"/>
          <p:cNvSpPr txBox="1"/>
          <p:nvPr/>
        </p:nvSpPr>
        <p:spPr>
          <a:xfrm>
            <a:off x="914400" y="3822192"/>
            <a:ext cx="2377440" cy="228600"/>
          </a:xfrm>
          <a:prstGeom prst="rect">
            <a:avLst/>
          </a:prstGeom>
          <a:noFill/>
        </p:spPr>
        <p:txBody>
          <a:bodyPr wrap="none" lIns="0" rIns="0" tIns="0" bIns="0">
            <a:spAutoFit/>
          </a:bodyPr>
          <a:lstStyle/>
          <a:p>
            <a:pPr algn="ctr">
              <a:defRPr sz="900" b="0">
                <a:solidFill>
                  <a:srgbClr val="666666"/>
                </a:solidFill>
                <a:latin typeface="Source Sans Pro"/>
              </a:defRPr>
            </a:pPr>
            <a:r>
              <a:t>Collaborative teamwork and company ...</a:t>
            </a:r>
          </a:p>
        </p:txBody>
      </p:sp>
      <p:sp>
        <p:nvSpPr>
          <p:cNvPr id="18" name="Rectangle 17"/>
          <p:cNvSpPr/>
          <p:nvPr/>
        </p:nvSpPr>
        <p:spPr>
          <a:xfrm>
            <a:off x="3703320" y="2331720"/>
            <a:ext cx="2468880" cy="1463040"/>
          </a:xfrm>
          <a:prstGeom prst="rect">
            <a:avLst/>
          </a:prstGeom>
          <a:solidFill>
            <a:srgbClr val="F8F8F8"/>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uber_illustration_5_20250903_230820_45c138c2.png"/>
          <p:cNvPicPr>
            <a:picLocks noChangeAspect="1"/>
          </p:cNvPicPr>
          <p:nvPr/>
        </p:nvPicPr>
        <p:blipFill>
          <a:blip r:embed="rId6"/>
          <a:stretch>
            <a:fillRect/>
          </a:stretch>
        </p:blipFill>
        <p:spPr>
          <a:xfrm>
            <a:off x="3749040" y="2377440"/>
            <a:ext cx="2377440" cy="1371600"/>
          </a:xfrm>
          <a:prstGeom prst="rect">
            <a:avLst/>
          </a:prstGeom>
        </p:spPr>
      </p:pic>
      <p:sp>
        <p:nvSpPr>
          <p:cNvPr id="20" name="TextBox 19"/>
          <p:cNvSpPr txBox="1"/>
          <p:nvPr/>
        </p:nvSpPr>
        <p:spPr>
          <a:xfrm>
            <a:off x="3749040" y="2148840"/>
            <a:ext cx="2377440" cy="182880"/>
          </a:xfrm>
          <a:prstGeom prst="rect">
            <a:avLst/>
          </a:prstGeom>
          <a:noFill/>
        </p:spPr>
        <p:txBody>
          <a:bodyPr wrap="none" lIns="0" rIns="0" tIns="0" bIns="0">
            <a:spAutoFit/>
          </a:bodyPr>
          <a:lstStyle/>
          <a:p>
            <a:pPr algn="ctr">
              <a:defRPr sz="800" b="1">
                <a:solidFill>
                  <a:srgbClr val="1F2937"/>
                </a:solidFill>
                <a:latin typeface="Source Sans Pro"/>
              </a:defRPr>
            </a:pPr>
            <a:r>
              <a:t>Internal Focus</a:t>
            </a:r>
          </a:p>
        </p:txBody>
      </p:sp>
      <p:sp>
        <p:nvSpPr>
          <p:cNvPr id="21" name="TextBox 20"/>
          <p:cNvSpPr txBox="1"/>
          <p:nvPr/>
        </p:nvSpPr>
        <p:spPr>
          <a:xfrm>
            <a:off x="3749040" y="3822192"/>
            <a:ext cx="2377440" cy="228600"/>
          </a:xfrm>
          <a:prstGeom prst="rect">
            <a:avLst/>
          </a:prstGeom>
          <a:noFill/>
        </p:spPr>
        <p:txBody>
          <a:bodyPr wrap="none" lIns="0" rIns="0" tIns="0" bIns="0">
            <a:spAutoFit/>
          </a:bodyPr>
          <a:lstStyle/>
          <a:p>
            <a:pPr algn="ctr">
              <a:defRPr sz="900" b="0">
                <a:solidFill>
                  <a:srgbClr val="666666"/>
                </a:solidFill>
                <a:latin typeface="Source Sans Pro"/>
              </a:defRPr>
            </a:pPr>
            <a:r>
              <a:t>Technology integration and digital ...</a:t>
            </a:r>
          </a:p>
        </p:txBody>
      </p:sp>
      <p:sp>
        <p:nvSpPr>
          <p:cNvPr id="22" name="Rectangle 21"/>
          <p:cNvSpPr/>
          <p:nvPr/>
        </p:nvSpPr>
        <p:spPr>
          <a:xfrm>
            <a:off x="6537960" y="2331720"/>
            <a:ext cx="2468880" cy="1463040"/>
          </a:xfrm>
          <a:prstGeom prst="rect">
            <a:avLst/>
          </a:prstGeom>
          <a:solidFill>
            <a:srgbClr val="F8F8F8"/>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uber_illustration_6_20250903_230839_a7a7bc16.png"/>
          <p:cNvPicPr>
            <a:picLocks noChangeAspect="1"/>
          </p:cNvPicPr>
          <p:nvPr/>
        </p:nvPicPr>
        <p:blipFill>
          <a:blip r:embed="rId7"/>
          <a:stretch>
            <a:fillRect/>
          </a:stretch>
        </p:blipFill>
        <p:spPr>
          <a:xfrm>
            <a:off x="6583680" y="2377440"/>
            <a:ext cx="2377440" cy="1371600"/>
          </a:xfrm>
          <a:prstGeom prst="rect">
            <a:avLst/>
          </a:prstGeom>
        </p:spPr>
      </p:pic>
      <p:sp>
        <p:nvSpPr>
          <p:cNvPr id="24" name="TextBox 23"/>
          <p:cNvSpPr txBox="1"/>
          <p:nvPr/>
        </p:nvSpPr>
        <p:spPr>
          <a:xfrm>
            <a:off x="6583680" y="2148840"/>
            <a:ext cx="2377440" cy="182880"/>
          </a:xfrm>
          <a:prstGeom prst="rect">
            <a:avLst/>
          </a:prstGeom>
          <a:noFill/>
        </p:spPr>
        <p:txBody>
          <a:bodyPr wrap="none" lIns="0" rIns="0" tIns="0" bIns="0">
            <a:spAutoFit/>
          </a:bodyPr>
          <a:lstStyle/>
          <a:p>
            <a:pPr algn="ctr">
              <a:defRPr sz="800" b="1">
                <a:solidFill>
                  <a:srgbClr val="1F2937"/>
                </a:solidFill>
                <a:latin typeface="Source Sans Pro"/>
              </a:defRPr>
            </a:pPr>
            <a:r>
              <a:t>Internal Focus</a:t>
            </a:r>
          </a:p>
        </p:txBody>
      </p:sp>
      <p:sp>
        <p:nvSpPr>
          <p:cNvPr id="25" name="TextBox 24"/>
          <p:cNvSpPr txBox="1"/>
          <p:nvPr/>
        </p:nvSpPr>
        <p:spPr>
          <a:xfrm>
            <a:off x="6583680" y="3822192"/>
            <a:ext cx="2377440" cy="228600"/>
          </a:xfrm>
          <a:prstGeom prst="rect">
            <a:avLst/>
          </a:prstGeom>
          <a:noFill/>
        </p:spPr>
        <p:txBody>
          <a:bodyPr wrap="none" lIns="0" rIns="0" tIns="0" bIns="0">
            <a:spAutoFit/>
          </a:bodyPr>
          <a:lstStyle/>
          <a:p>
            <a:pPr algn="ctr">
              <a:defRPr sz="900" b="0">
                <a:solidFill>
                  <a:srgbClr val="666666"/>
                </a:solidFill>
                <a:latin typeface="Source Sans Pro"/>
              </a:defRPr>
            </a:pPr>
            <a:r>
              <a:t>Customer success and satisfaction f...</a:t>
            </a:r>
          </a:p>
        </p:txBody>
      </p:sp>
      <p:sp>
        <p:nvSpPr>
          <p:cNvPr id="26" name="TextBox 25"/>
          <p:cNvSpPr txBox="1"/>
          <p:nvPr/>
        </p:nvSpPr>
        <p:spPr>
          <a:xfrm>
            <a:off x="914400" y="4663440"/>
            <a:ext cx="7315200" cy="731520"/>
          </a:xfrm>
          <a:prstGeom prst="rect">
            <a:avLst/>
          </a:prstGeom>
          <a:noFill/>
        </p:spPr>
        <p:txBody>
          <a:bodyPr wrap="square" lIns="0" rIns="0" tIns="0" bIns="0">
            <a:spAutoFit/>
          </a:bodyPr>
          <a:lstStyle/>
          <a:p>
            <a:pPr algn="ctr">
              <a:defRPr sz="1000" b="0">
                <a:solidFill>
                  <a:srgbClr val="000000"/>
                </a:solidFill>
                <a:latin typeface="Source Sans Pro"/>
              </a:defRPr>
            </a:pPr>
            <a:r>
              <a:t>USAGE NOTES: These illustrations define the visual storytelling style of the brand. Use them consistently across presentations, reports, and marketing materials to maintain brand coherence.</a:t>
            </a:r>
          </a:p>
        </p:txBody>
      </p:sp>
      <p:cxnSp>
        <p:nvCxnSpPr>
          <p:cNvPr id="27" name="Connector 26"/>
          <p:cNvCxnSpPr/>
          <p:nvPr/>
        </p:nvCxnSpPr>
        <p:spPr>
          <a:xfrm>
            <a:off x="457200" y="4914900.0"/>
            <a:ext cx="8229600" cy="0.0"/>
          </a:xfrm>
          <a:prstGeom prst="line">
            <a:avLst/>
          </a:prstGeom>
          <a:ln w="25400">
            <a:solidFill>
              <a:srgbClr val="1F2937"/>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00100" y="5189220"/>
            <a:ext cx="5486400" cy="731520"/>
          </a:xfrm>
          <a:prstGeom prst="rect">
            <a:avLst/>
          </a:prstGeom>
          <a:noFill/>
        </p:spPr>
        <p:txBody>
          <a:bodyPr wrap="none" lIns="0" rIns="0" tIns="0" bIns="0">
            <a:spAutoFit/>
          </a:bodyPr>
          <a:lstStyle/>
          <a:p>
            <a:pPr algn="l">
              <a:defRPr sz="2800" b="1">
                <a:solidFill>
                  <a:srgbClr val="1F2937"/>
                </a:solidFill>
                <a:latin typeface="Inter"/>
              </a:defRPr>
            </a:pPr>
            <a:r>
              <a:t>BRAND ILLUSTRATIONS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