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InnovateTech Solutions Brand Book</a:t>
            </a:r>
          </a:p>
        </p:txBody>
      </p:sp>
      <p:sp>
        <p:nvSpPr>
          <p:cNvPr id="3" name="Subtitle 2"/>
          <p:cNvSpPr>
            <a:spLocks noGrp="1"/>
          </p:cNvSpPr>
          <p:nvPr>
            <p:ph type="subTitle" idx="1"/>
          </p:nvPr>
        </p:nvSpPr>
        <p:spPr/>
        <p:txBody>
          <a:bodyPr/>
          <a:lstStyle/>
          <a:p>
            <a:r>
              <a:t>Brand Story:</a:t>
            </a:r>
          </a:p>
          <a:p>
            <a:r>
              <a:t>At InnovateTech Solutions, we believe that the power of innovation can transform businesses and drive them towards success. We are a team of passionate software developers who are dedicated to creating cutting-edge solutions that help small to medium businesses thrive in the digital age. Our journey began with a vision to revolutionize the software development sector and make a lasting impact on the world through our innovative approach.</a:t>
            </a:r>
          </a:p>
          <a:p/>
          <a:p>
            <a:r>
              <a:t>Mission Statement:</a:t>
            </a:r>
          </a:p>
          <a:p>
            <a:r>
              <a:t>Our mission at InnovateTech Solutions is to empower small to medium businesses with scalable software solutions that drive growth and enhance efficiency. We are committed to fostering a culture of collaboration, where our team works closely with our clients to understand their unique needs and deliver customized solutions that exceed their expectations. Our relentless focus on customer satisfaction drives us to continuously innovate, striving for excellence in everything we do.</a:t>
            </a:r>
          </a:p>
          <a:p/>
          <a:p>
            <a:r>
              <a:t>Our Values:</a:t>
            </a:r>
          </a:p>
          <a:p>
            <a:r>
              <a:t>Innovation: We are at the forefront of technology, constantly pushing boundaries and exploring new ideas to create solutions that drive success for our clients.</a:t>
            </a:r>
          </a:p>
          <a:p>
            <a:r>
              <a:t>Collaboration: We believe in the power of teamwork and collaboration, working closely with our clients to co-create solutions that meet their specific needs.</a:t>
            </a:r>
          </a:p>
          <a:p>
            <a:r>
              <a:t>Customer Focus: Our clients are at the heart of everything we do. We listen, understand, and prioritize their needs to deliver exceptional results that exceed expectations.</a:t>
            </a:r>
          </a:p>
          <a:p>
            <a:r>
              <a:t>Excellence: We are dedicated to delivering excellence in all aspects of our work, from the quality of our code to the level of service we provide. Our commitment to excellence sets us apart and drives us to continuously improve and innovate.</a:t>
            </a:r>
          </a:p>
          <a:p/>
          <a:p>
            <a:r>
              <a:t>By choosing Innov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Logo Variations</a:t>
            </a:r>
          </a:p>
        </p:txBody>
      </p:sp>
      <p:pic>
        <p:nvPicPr>
          <p:cNvPr id="3" name="Picture 2" descr="innovatetech_solutions_logo_1_20250619_124139_52646651.png"/>
          <p:cNvPicPr>
            <a:picLocks noChangeAspect="1"/>
          </p:cNvPicPr>
          <p:nvPr/>
        </p:nvPicPr>
        <p:blipFill>
          <a:blip r:embed="rId2"/>
          <a:stretch>
            <a:fillRect/>
          </a:stretch>
        </p:blipFill>
        <p:spPr>
          <a:xfrm>
            <a:off x="914400" y="1371600"/>
            <a:ext cx="1828800" cy="1828800"/>
          </a:xfrm>
          <a:prstGeom prst="rect">
            <a:avLst/>
          </a:prstGeom>
        </p:spPr>
      </p:pic>
      <p:pic>
        <p:nvPicPr>
          <p:cNvPr id="4" name="Picture 3" descr="innovatetech_solutions_logo_2_20250619_124156_d09898ad.png"/>
          <p:cNvPicPr>
            <a:picLocks noChangeAspect="1"/>
          </p:cNvPicPr>
          <p:nvPr/>
        </p:nvPicPr>
        <p:blipFill>
          <a:blip r:embed="rId3"/>
          <a:stretch>
            <a:fillRect/>
          </a:stretch>
        </p:blipFill>
        <p:spPr>
          <a:xfrm>
            <a:off x="3017520" y="1371600"/>
            <a:ext cx="1828800" cy="1828800"/>
          </a:xfrm>
          <a:prstGeom prst="rect">
            <a:avLst/>
          </a:prstGeom>
        </p:spPr>
      </p:pic>
      <p:pic>
        <p:nvPicPr>
          <p:cNvPr id="5" name="Picture 4" descr="innovatetech_solutions_logo_3_20250619_124213_d4b03ba9.png"/>
          <p:cNvPicPr>
            <a:picLocks noChangeAspect="1"/>
          </p:cNvPicPr>
          <p:nvPr/>
        </p:nvPicPr>
        <p:blipFill>
          <a:blip r:embed="rId4"/>
          <a:stretch>
            <a:fillRect/>
          </a:stretch>
        </p:blipFill>
        <p:spPr>
          <a:xfrm>
            <a:off x="5120640" y="1371600"/>
            <a:ext cx="182880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Color Palette</a:t>
            </a:r>
          </a:p>
        </p:txBody>
      </p:sp>
      <p:sp>
        <p:nvSpPr>
          <p:cNvPr id="3" name="Rectangle 2"/>
          <p:cNvSpPr/>
          <p:nvPr/>
        </p:nvSpPr>
        <p:spPr>
          <a:xfrm>
            <a:off x="914400" y="1371600"/>
            <a:ext cx="13716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560320" y="1371600"/>
            <a:ext cx="13716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06240" y="1371600"/>
            <a:ext cx="1371600" cy="914400"/>
          </a:xfrm>
          <a:prstGeom prst="rect">
            <a:avLst/>
          </a:prstGeom>
          <a:solidFill>
            <a:srgbClr val="00B894"/>
          </a:solidFill>
        </p:spPr>
        <p:style>
          <a:lnRef idx="1">
            <a:schemeClr val="accent1"/>
          </a:lnRef>
          <a:fillRef idx="3">
            <a:schemeClr val="accent1"/>
          </a:fillRef>
          <a:effectRef idx="2">
            <a:schemeClr val="accent1"/>
          </a:effectRef>
          <a:fontRef idx="minor">
            <a:schemeClr val="lt1"/>
          </a:fontRef>
        </p:style>
        <p:txBody>
          <a:bodyPr rtlCol="0" anchor="ctr"/>
          <a:lstStyle/>
          <a:p>
            <a:pPr>
              <a:defRPr sz="1200" b="1"/>
            </a:pPr>
            <a:r>
              <a:t>Accent</a:t>
            </a:r>
          </a:p>
          <a:p>
            <a:pPr>
              <a:defRPr sz="1200" b="1"/>
            </a:pPr>
            <a:r>
              <a:t>#00B894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Typography</a:t>
            </a:r>
          </a:p>
        </p:txBody>
      </p:sp>
      <p:sp>
        <p:nvSpPr>
          <p:cNvPr id="3" name="TextBox 2"/>
          <p:cNvSpPr txBox="1"/>
          <p:nvPr/>
        </p:nvSpPr>
        <p:spPr>
          <a:xfrm>
            <a:off x="914400" y="1371600"/>
            <a:ext cx="5486400" cy="1828800"/>
          </a:xfrm>
          <a:prstGeom prst="rect">
            <a:avLst/>
          </a:prstGeom>
          <a:noFill/>
        </p:spPr>
        <p:txBody>
          <a:bodyPr wrap="none">
            <a:spAutoFit/>
          </a:bodyPr>
          <a:lstStyle/>
          <a:p>
            <a:r>
              <a:t>Primary Font: Roboto</a:t>
            </a:r>
          </a:p>
          <a:p>
            <a:r>
              <a:t>Secondary Font: Open Sans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Visual &amp; Photography Guidelines</a:t>
            </a:r>
          </a:p>
        </p:txBody>
      </p:sp>
      <p:sp>
        <p:nvSpPr>
          <p:cNvPr id="3" name="TextBox 2"/>
          <p:cNvSpPr txBox="1"/>
          <p:nvPr/>
        </p:nvSpPr>
        <p:spPr>
          <a:xfrm>
            <a:off x="914400" y="1371600"/>
            <a:ext cx="6400800" cy="2286000"/>
          </a:xfrm>
          <a:prstGeom prst="rect">
            <a:avLst/>
          </a:prstGeom>
          <a:noFill/>
        </p:spPr>
        <p:txBody>
          <a:bodyPr wrap="none">
            <a:spAutoFit/>
          </a:bodyPr>
          <a:lstStyle/>
          <a:p>
            <a:r>
              <a:t>Visual Style:</a:t>
            </a:r>
          </a:p>
          <a:p>
            <a:r>
              <a:t>Visual style for InnovateTech Solutions in Software Development: Modern, clean, tech-inspired, with a focus on simplicity aesthetic, values: Innovation, Collaboration, Customer Focus, Excellence, audience: Small to Medium Businesses (SMBs) seeking scalable software solutions. Use whitespace, on-brand accent color, modern design cues.</a:t>
            </a:r>
          </a:p>
          <a:p/>
          <a:p>
            <a:r>
              <a:t>Photography Style:</a:t>
            </a:r>
          </a:p>
          <a:p>
            <a:r>
              <a:t>Photography style for InnovateTech Solutions: Modern, clean, tech-inspired, with a focus on simplicity and Software Development feel. Show diversity, authenticity, and lighting that supports brand values: Innovation, Collaboration, Customer Focus, Excellence. Images should resonate with Small to Medium Businesses (SMBs) seeking scalable software solutions.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Story &amp; Mission</a:t>
            </a:r>
          </a:p>
        </p:txBody>
      </p:sp>
      <p:sp>
        <p:nvSpPr>
          <p:cNvPr id="3" name="Content Placeholder 2"/>
          <p:cNvSpPr>
            <a:spLocks noGrp="1"/>
          </p:cNvSpPr>
          <p:nvPr>
            <p:ph idx="1"/>
          </p:nvPr>
        </p:nvSpPr>
        <p:spPr/>
        <p:txBody>
          <a:bodyPr/>
          <a:lstStyle/>
          <a:p>
            <a:r>
              <a:t>Brand Story:</a:t>
            </a:r>
          </a:p>
          <a:p>
            <a:r>
              <a:t>At InnovateTech Solutions, we believe that the power of innovation can transform businesses and drive them towards success. We are a team of passionate software developers who are dedicated to creating cutting-edge solutions that help small to medium businesses thrive in the digital age. Our journey began with a vision to revolutionize the software development sector and make a lasting impact on the world through our innovative approach.</a:t>
            </a:r>
          </a:p>
          <a:p/>
          <a:p>
            <a:r>
              <a:t>Mission Statement:</a:t>
            </a:r>
          </a:p>
          <a:p>
            <a:r>
              <a:t>Our mission at InnovateTech Solutions is to empower small to medium businesses with scalable software solutions that drive growth and enhance efficiency. We are committed to fostering a culture of collaboration, where our team works closely with our clients to understand their unique needs and deliver customized solutions that exceed their expectations. Our relentless focus on customer satisfaction drives us to continuously innovate, striving for excellence in everything we do.</a:t>
            </a:r>
          </a:p>
          <a:p/>
          <a:p>
            <a:r>
              <a:t>Our Values:</a:t>
            </a:r>
          </a:p>
          <a:p>
            <a:r>
              <a:t>Innovation: We are at the forefront of technology, constantly pushing boundaries and exploring new ideas to create solutions that drive success for our clients.</a:t>
            </a:r>
          </a:p>
          <a:p>
            <a:r>
              <a:t>Collaboration: We believe in the power of teamwork and collaboration, working closely with our clients to co-create solutions that meet their specific needs.</a:t>
            </a:r>
          </a:p>
          <a:p>
            <a:r>
              <a:t>Customer Focus: Our clients are at the heart of everything we do. We listen, understand, and prioritize their needs to deliver exceptional results that exceed expectations.</a:t>
            </a:r>
          </a:p>
          <a:p>
            <a:r>
              <a:t>Excellence: We are dedicated to delivering excellence in all aspects of our work, from the quality of our code to the level of service we provide. Our commitment to excellence sets us apart and drives us to continuously improve and innovate.</a:t>
            </a:r>
          </a:p>
          <a:p/>
          <a:p>
            <a:r>
              <a:t>By choosing Innov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Voice &amp; Tone</a:t>
            </a:r>
          </a:p>
        </p:txBody>
      </p:sp>
      <p:sp>
        <p:nvSpPr>
          <p:cNvPr id="3" name="TextBox 2"/>
          <p:cNvSpPr txBox="1"/>
          <p:nvPr/>
        </p:nvSpPr>
        <p:spPr>
          <a:xfrm>
            <a:off x="914400" y="1371600"/>
            <a:ext cx="6400800" cy="1371600"/>
          </a:xfrm>
          <a:prstGeom prst="rect">
            <a:avLst/>
          </a:prstGeom>
          <a:noFill/>
        </p:spPr>
        <p:txBody>
          <a:bodyPr wrap="none">
            <a:spAutoFit/>
          </a:bodyPr>
          <a:lstStyle/>
          <a:p>
            <a:r>
              <a:t>The brand voice and tone for InnovateTech Solutions should be a combination of authoritative and friendly. It should convey expertise and professionalism while also being approachable and engaging to the audience of Small to Medium Businesses (SMBs) seeking scalable software solutions.</a:t>
            </a:r>
          </a:p>
          <a:p/>
          <a:p>
            <a:r>
              <a:t>The tone should be innovative, reflecting the company's commitment to cutting-edge technology and creative solutions. It should also emphasize collaboration, highlighting the importance of working closely with clients to understand their needs and deliver tailored solutions.</a:t>
            </a:r>
          </a:p>
          <a:p/>
          <a:p>
            <a:r>
              <a:t>Customer focus should be another key aspect of the brand voice, showcasing a dedication to providing exceptional service and support throughout the development process and beyond.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Messaging &amp; Value Propositions</a:t>
            </a:r>
          </a:p>
        </p:txBody>
      </p:sp>
      <p:sp>
        <p:nvSpPr>
          <p:cNvPr id="3" name="TextBox 2"/>
          <p:cNvSpPr txBox="1"/>
          <p:nvPr/>
        </p:nvSpPr>
        <p:spPr>
          <a:xfrm>
            <a:off x="914400" y="1371600"/>
            <a:ext cx="6400800" cy="1828800"/>
          </a:xfrm>
          <a:prstGeom prst="rect">
            <a:avLst/>
          </a:prstGeom>
          <a:noFill/>
        </p:spPr>
        <p:txBody>
          <a:bodyPr wrap="none">
            <a:spAutoFit/>
          </a:bodyPr>
          <a:lstStyle/>
          <a:p>
            <a:r>
              <a:t>Messaging Architecture for InnovateTech Solutions in Software Development:</a:t>
            </a:r>
          </a:p>
          <a:p/>
          <a:p>
            <a:r>
              <a:t>1. Key Value Proposition #1: Scalable Solutions for Growth - We provide customized software solutions that can grow with your business, ensuring scalability and adaptability as your needs change.</a:t>
            </a:r>
          </a:p>
          <a:p>
            <a:r>
              <a:t>   </a:t>
            </a:r>
          </a:p>
          <a:p>
            <a:r>
              <a:t>2. Key Value Proposition #2: Streamlined Processes for Efficiency - Our software development services streamline your business processes, increasing efficiency and productivity to help you achieve your goals faster.</a:t>
            </a:r>
          </a:p>
          <a:p>
            <a:r>
              <a:t>   </a:t>
            </a:r>
          </a:p>
          <a:p>
            <a:r>
              <a:t>3. Key Value Proposition #3: Tailored Solutions for Unique Needs - We understand that every SMB is different, which is why we offer personalized software solutions that cater specifically to your unique requirements and challenges.</a:t>
            </a:r>
          </a:p>
          <a:p>
            <a:r>
              <a:t>   </a:t>
            </a:r>
          </a:p>
          <a:p>
            <a:r>
              <a:t>4. Key Value Proposition #4: Expert Guidance and Support - Our team of experienced developers and support staff are dedicated to providing top-notch guidance and assistance throughout the software development process, ensuring a smooth and successful implementation.</a:t>
            </a:r>
          </a:p>
          <a:p>
            <a:r>
              <a:t>   </a:t>
            </a:r>
          </a:p>
          <a:p>
            <a:r>
              <a:t>5. Key Value Proposition #5: Cost-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Copy: Website</a:t>
            </a:r>
          </a:p>
        </p:txBody>
      </p:sp>
      <p:sp>
        <p:nvSpPr>
          <p:cNvPr id="3" name="TextBox 2"/>
          <p:cNvSpPr txBox="1"/>
          <p:nvPr/>
        </p:nvSpPr>
        <p:spPr>
          <a:xfrm>
            <a:off x="914400" y="1371600"/>
            <a:ext cx="6400800" cy="1828800"/>
          </a:xfrm>
          <a:prstGeom prst="rect">
            <a:avLst/>
          </a:prstGeom>
          <a:noFill/>
        </p:spPr>
        <p:txBody>
          <a:bodyPr wrap="none">
            <a:spAutoFit/>
          </a:bodyPr>
          <a:lstStyle/>
          <a:p>
            <a:r>
              <a:t>Headline: Empowering SMBs with Innovative Software Solutions</a:t>
            </a:r>
          </a:p>
          <a:p>
            <a:r>
              <a:t>Subheadline: Collaborative, Customer-Focused Excellence for Scalable Growth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Copy: Email</a:t>
            </a:r>
          </a:p>
        </p:txBody>
      </p:sp>
      <p:sp>
        <p:nvSpPr>
          <p:cNvPr id="3" name="TextBox 2"/>
          <p:cNvSpPr txBox="1"/>
          <p:nvPr/>
        </p:nvSpPr>
        <p:spPr>
          <a:xfrm>
            <a:off x="914400" y="1371600"/>
            <a:ext cx="6400800" cy="1828800"/>
          </a:xfrm>
          <a:prstGeom prst="rect">
            <a:avLst/>
          </a:prstGeom>
          <a:noFill/>
        </p:spPr>
        <p:txBody>
          <a:bodyPr wrap="none">
            <a:spAutoFit/>
          </a:bodyPr>
          <a:lstStyle/>
          <a:p>
            <a:r>
              <a:t>Subject: Elevate Your SMB with InnovateTech Solutions' Cutting-Edge Software Innovations!</a:t>
            </a:r>
          </a:p>
          <a:p/>
          <a:p>
            <a:r>
              <a:t>Preview: Drive growth and efficiency with our collaborative, customer-focused approach to delivering excellence in scalable software solutions for small to medium businesses.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Copy: Social_media</a:t>
            </a:r>
          </a:p>
        </p:txBody>
      </p:sp>
      <p:sp>
        <p:nvSpPr>
          <p:cNvPr id="3" name="TextBox 2"/>
          <p:cNvSpPr txBox="1"/>
          <p:nvPr/>
        </p:nvSpPr>
        <p:spPr>
          <a:xfrm>
            <a:off x="914400" y="1371600"/>
            <a:ext cx="6400800" cy="1828800"/>
          </a:xfrm>
          <a:prstGeom prst="rect">
            <a:avLst/>
          </a:prstGeom>
          <a:noFill/>
        </p:spPr>
        <p:txBody>
          <a:bodyPr wrap="none">
            <a:spAutoFit/>
          </a:bodyPr>
          <a:lstStyle/>
          <a:p>
            <a:r>
              <a:t>"Ready to take your SMB to the next level? 🚀 Let InnovateTech Solutions be your partner in innovation! Our team thrives on collaboration, customer focus, and excellence to deliver scalable software solutions tailored just for you. Let's revolutionize your business together! #InnovateTech #SMBs #SoftwareSolutions"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Marketing Copy: Ad_copy</a:t>
            </a:r>
          </a:p>
        </p:txBody>
      </p:sp>
      <p:sp>
        <p:nvSpPr>
          <p:cNvPr id="3" name="TextBox 2"/>
          <p:cNvSpPr txBox="1"/>
          <p:nvPr/>
        </p:nvSpPr>
        <p:spPr>
          <a:xfrm>
            <a:off x="914400" y="1371600"/>
            <a:ext cx="6400800" cy="1828800"/>
          </a:xfrm>
          <a:prstGeom prst="rect">
            <a:avLst/>
          </a:prstGeom>
          <a:noFill/>
        </p:spPr>
        <p:txBody>
          <a:bodyPr wrap="none">
            <a:spAutoFit/>
          </a:bodyPr>
          <a:lstStyle/>
          <a:p>
            <a:r>
              <a:t>"Revolutionize your business with InnovateTech Solutions! 🚀 Our expert team crafts cutting-edge software tailored to SMBs, ensuring scalability and efficiency. Ready to elevate your operations? Let's innovate together! 💡 #InnovateWithUs #SMBs #SoftwareSolutions"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 Collateral Templates</a:t>
            </a:r>
          </a:p>
        </p:txBody>
      </p:sp>
      <p:sp>
        <p:nvSpPr>
          <p:cNvPr id="3" name="TextBox 2"/>
          <p:cNvSpPr txBox="1"/>
          <p:nvPr/>
        </p:nvSpPr>
        <p:spPr>
          <a:xfrm>
            <a:off x="914400" y="1371600"/>
            <a:ext cx="6400800" cy="2286000"/>
          </a:xfrm>
          <a:prstGeom prst="rect">
            <a:avLst/>
          </a:prstGeom>
          <a:noFill/>
        </p:spPr>
        <p:txBody>
          <a:bodyPr wrap="none">
            <a:spAutoFit/>
          </a:bodyPr>
          <a:lstStyle/>
          <a:p/>
          <a:p>
            <a:pPr>
              <a:defRPr sz="1300"/>
            </a:pPr>
            <a:r>
              <a:t>Business Card: Simple, clean business card layout for InnovateTech Solutions in Software Development. Emphasize clarity, logo, and minimal info.</a:t>
            </a:r>
          </a:p>
          <a:p>
            <a:pPr>
              <a:defRPr sz="1300"/>
            </a:pPr>
            <a:r>
              <a:t>Letterhead: Letterhead with InnovateTech Solutions branding, address, and subtle color accent from brand palette.</a:t>
            </a:r>
          </a:p>
          <a:p>
            <a:pPr>
              <a:defRPr sz="1300"/>
            </a:pPr>
            <a:r>
              <a:t>Email Signature: Professional email signature for InnovateTech Solutions with logo, name, title, and key contact details.</a:t>
            </a:r>
          </a:p>
          <a:p>
            <a:pPr>
              <a:defRPr sz="1300"/>
            </a:pPr>
            <a:r>
              <a:t>Presentation Template: PPT cover slide and content slide layouts using InnovateTech Solutions palette and fonts.</a:t>
            </a:r>
          </a:p>
          <a:p>
            <a:pPr>
              <a:defRPr sz="1300"/>
            </a:pPr>
            <a:r>
              <a:t>Social Templates: Instagram/Facebook post and story templates reflecting InnovateTech Solutions's style and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