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pic>
        <p:nvPicPr>
          <p:cNvPr id="2" name="Picture 1" descr="zeta_logo_1_20250828_233153_0c4ee81f.png"/>
          <p:cNvPicPr>
            <a:picLocks noChangeAspect="1"/>
          </p:cNvPicPr>
          <p:nvPr/>
        </p:nvPicPr>
        <p:blipFill>
          <a:blip r:embed="rId2"/>
          <a:stretch>
            <a:fillRect/>
          </a:stretch>
        </p:blipFill>
        <p:spPr>
          <a:xfrm>
            <a:off x="1143000" y="1943100"/>
            <a:ext cx="1371600" cy="1485900"/>
          </a:xfrm>
          <a:prstGeom prst="rect">
            <a:avLst/>
          </a:prstGeom>
        </p:spPr>
      </p:pic>
      <p:sp>
        <p:nvSpPr>
          <p:cNvPr id="3" name="TextBox 2"/>
          <p:cNvSpPr txBox="1"/>
          <p:nvPr/>
        </p:nvSpPr>
        <p:spPr>
          <a:xfrm>
            <a:off x="1143000" y="3800475"/>
            <a:ext cx="2743200" cy="742950"/>
          </a:xfrm>
          <a:prstGeom prst="rect">
            <a:avLst/>
          </a:prstGeom>
          <a:noFill/>
        </p:spPr>
        <p:txBody>
          <a:bodyPr wrap="none" lIns="0" rIns="0" tIns="0" bIns="0">
            <a:spAutoFit/>
          </a:bodyPr>
          <a:lstStyle/>
          <a:p>
            <a:pPr algn="l">
              <a:defRPr sz="3600" b="1">
                <a:solidFill>
                  <a:srgbClr val="FFFFFF"/>
                </a:solidFill>
                <a:latin typeface="Inter"/>
              </a:defRPr>
            </a:pPr>
            <a:r>
              <a:t>Zeta</a:t>
            </a:r>
          </a:p>
        </p:txBody>
      </p:sp>
      <p:cxnSp>
        <p:nvCxnSpPr>
          <p:cNvPr id="4" name="Connector 3"/>
          <p:cNvCxnSpPr/>
          <p:nvPr/>
        </p:nvCxnSpPr>
        <p:spPr>
          <a:xfrm>
            <a:off x="6629400.0" y="5657850.0"/>
            <a:ext cx="2057400.0" cy="0.0"/>
          </a:xfrm>
          <a:prstGeom prst="line">
            <a:avLst/>
          </a:prstGeom>
          <a:ln>
            <a:solidFill>
              <a:srgbClr val="059669"/>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6629400" y="5657850"/>
            <a:ext cx="2057400" cy="1485900"/>
          </a:xfrm>
          <a:prstGeom prst="rect">
            <a:avLst/>
          </a:prstGeom>
          <a:noFill/>
        </p:spPr>
        <p:txBody>
          <a:bodyPr wrap="none" anchor="ctr">
            <a:spAutoFit/>
          </a:bodyPr>
          <a:lstStyle/>
          <a:p>
            <a:pPr algn="ctr">
              <a:defRPr sz="1800" b="0">
                <a:solidFill>
                  <a:srgbClr val="059669"/>
                </a:solidFill>
                <a:latin typeface="Source Sans Pro"/>
              </a:defRPr>
            </a:pPr>
            <a:r>
              <a:t>Brand Identity System</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2743200" cy="731520"/>
          </a:xfrm>
          <a:prstGeom prst="rect">
            <a:avLst/>
          </a:prstGeom>
          <a:noFill/>
        </p:spPr>
        <p:txBody>
          <a:bodyPr wrap="none">
            <a:spAutoFit/>
          </a:bodyPr>
          <a:lstStyle/>
          <a:p>
            <a:pPr>
              <a:defRPr sz="2800" b="1">
                <a:solidFill>
                  <a:srgbClr val="059669"/>
                </a:solidFill>
                <a:latin typeface="Inter"/>
              </a:defRPr>
            </a:pPr>
            <a:r>
              <a:t>INDEX</a:t>
            </a:r>
          </a:p>
        </p:txBody>
      </p:sp>
      <p:cxnSp>
        <p:nvCxnSpPr>
          <p:cNvPr id="3" name="Connector 2"/>
          <p:cNvCxnSpPr/>
          <p:nvPr/>
        </p:nvCxnSpPr>
        <p:spPr>
          <a:xfrm>
            <a:off x="457200" y="1097280"/>
            <a:ext cx="8229600" cy="0"/>
          </a:xfrm>
          <a:prstGeom prst="line">
            <a:avLst/>
          </a:prstGeom>
          <a:ln w="25400">
            <a:solidFill>
              <a:srgbClr val="059669"/>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457200" y="1554480"/>
            <a:ext cx="1828800" cy="274320"/>
          </a:xfrm>
          <a:prstGeom prst="rect">
            <a:avLst/>
          </a:prstGeom>
          <a:noFill/>
        </p:spPr>
        <p:txBody>
          <a:bodyPr wrap="none" lIns="0" rIns="0" tIns="0" bIns="0">
            <a:spAutoFit/>
          </a:bodyPr>
          <a:lstStyle/>
          <a:p>
            <a:pPr>
              <a:defRPr sz="1200" b="1">
                <a:solidFill>
                  <a:srgbClr val="FFFFFF"/>
                </a:solidFill>
                <a:latin typeface="Source Sans Pro"/>
              </a:defRPr>
            </a:pPr>
            <a:r>
              <a:t>Introduction</a:t>
            </a:r>
          </a:p>
        </p:txBody>
      </p:sp>
      <p:cxnSp>
        <p:nvCxnSpPr>
          <p:cNvPr id="5" name="Connector 4"/>
          <p:cNvCxnSpPr/>
          <p:nvPr/>
        </p:nvCxnSpPr>
        <p:spPr>
          <a:xfrm>
            <a:off x="2331719" y="1664208"/>
            <a:ext cx="365760" cy="0"/>
          </a:xfrm>
          <a:prstGeom prst="line">
            <a:avLst/>
          </a:prstGeom>
          <a:ln w="19050">
            <a:solidFill>
              <a:srgbClr val="059669"/>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2743200" y="1554480"/>
            <a:ext cx="274320" cy="274320"/>
          </a:xfrm>
          <a:prstGeom prst="rect">
            <a:avLst/>
          </a:prstGeom>
          <a:noFill/>
        </p:spPr>
        <p:txBody>
          <a:bodyPr wrap="none" lIns="0" tIns="0" bIns="0">
            <a:spAutoFit/>
          </a:bodyPr>
          <a:lstStyle/>
          <a:p>
            <a:pPr>
              <a:defRPr sz="1200" b="1">
                <a:solidFill>
                  <a:srgbClr val="059669"/>
                </a:solidFill>
                <a:latin typeface="Source Sans Pro"/>
              </a:defRPr>
            </a:pPr>
            <a:r>
              <a:t>01</a:t>
            </a:r>
          </a:p>
        </p:txBody>
      </p:sp>
      <p:sp>
        <p:nvSpPr>
          <p:cNvPr id="7" name="TextBox 6"/>
          <p:cNvSpPr txBox="1"/>
          <p:nvPr/>
        </p:nvSpPr>
        <p:spPr>
          <a:xfrm>
            <a:off x="457200" y="2057400"/>
            <a:ext cx="1828800" cy="274320"/>
          </a:xfrm>
          <a:prstGeom prst="rect">
            <a:avLst/>
          </a:prstGeom>
          <a:noFill/>
        </p:spPr>
        <p:txBody>
          <a:bodyPr wrap="none" lIns="0" rIns="0" tIns="0" bIns="0">
            <a:spAutoFit/>
          </a:bodyPr>
          <a:lstStyle/>
          <a:p>
            <a:pPr>
              <a:defRPr sz="1200" b="1">
                <a:solidFill>
                  <a:srgbClr val="FFFFFF"/>
                </a:solidFill>
                <a:latin typeface="Source Sans Pro"/>
              </a:defRPr>
            </a:pPr>
            <a:r>
              <a:t>Brand Purpose (Vision)</a:t>
            </a:r>
          </a:p>
        </p:txBody>
      </p:sp>
      <p:cxnSp>
        <p:nvCxnSpPr>
          <p:cNvPr id="8" name="Connector 7"/>
          <p:cNvCxnSpPr/>
          <p:nvPr/>
        </p:nvCxnSpPr>
        <p:spPr>
          <a:xfrm>
            <a:off x="2331719" y="2167128"/>
            <a:ext cx="365760" cy="0"/>
          </a:xfrm>
          <a:prstGeom prst="line">
            <a:avLst/>
          </a:prstGeom>
          <a:ln w="19050">
            <a:solidFill>
              <a:srgbClr val="059669"/>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2743200" y="2057400"/>
            <a:ext cx="274320" cy="274320"/>
          </a:xfrm>
          <a:prstGeom prst="rect">
            <a:avLst/>
          </a:prstGeom>
          <a:noFill/>
        </p:spPr>
        <p:txBody>
          <a:bodyPr wrap="none" lIns="0" tIns="0" bIns="0">
            <a:spAutoFit/>
          </a:bodyPr>
          <a:lstStyle/>
          <a:p>
            <a:pPr>
              <a:defRPr sz="1200" b="1">
                <a:solidFill>
                  <a:srgbClr val="059669"/>
                </a:solidFill>
                <a:latin typeface="Source Sans Pro"/>
              </a:defRPr>
            </a:pPr>
            <a:r>
              <a:t>02</a:t>
            </a:r>
          </a:p>
        </p:txBody>
      </p:sp>
      <p:sp>
        <p:nvSpPr>
          <p:cNvPr id="10" name="TextBox 9"/>
          <p:cNvSpPr txBox="1"/>
          <p:nvPr/>
        </p:nvSpPr>
        <p:spPr>
          <a:xfrm>
            <a:off x="457200" y="2560320"/>
            <a:ext cx="1828800" cy="274320"/>
          </a:xfrm>
          <a:prstGeom prst="rect">
            <a:avLst/>
          </a:prstGeom>
          <a:noFill/>
        </p:spPr>
        <p:txBody>
          <a:bodyPr wrap="none" lIns="0" rIns="0" tIns="0" bIns="0">
            <a:spAutoFit/>
          </a:bodyPr>
          <a:lstStyle/>
          <a:p>
            <a:pPr>
              <a:defRPr sz="1200" b="1">
                <a:solidFill>
                  <a:srgbClr val="FFFFFF"/>
                </a:solidFill>
                <a:latin typeface="Source Sans Pro"/>
              </a:defRPr>
            </a:pPr>
            <a:r>
              <a:t>Brand Purpose (Mission)</a:t>
            </a:r>
          </a:p>
        </p:txBody>
      </p:sp>
      <p:cxnSp>
        <p:nvCxnSpPr>
          <p:cNvPr id="11" name="Connector 10"/>
          <p:cNvCxnSpPr/>
          <p:nvPr/>
        </p:nvCxnSpPr>
        <p:spPr>
          <a:xfrm>
            <a:off x="2331719" y="2670048"/>
            <a:ext cx="365760" cy="0"/>
          </a:xfrm>
          <a:prstGeom prst="line">
            <a:avLst/>
          </a:prstGeom>
          <a:ln w="19050">
            <a:solidFill>
              <a:srgbClr val="059669"/>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2743200" y="2560320"/>
            <a:ext cx="274320" cy="274320"/>
          </a:xfrm>
          <a:prstGeom prst="rect">
            <a:avLst/>
          </a:prstGeom>
          <a:noFill/>
        </p:spPr>
        <p:txBody>
          <a:bodyPr wrap="none" lIns="0" tIns="0" bIns="0">
            <a:spAutoFit/>
          </a:bodyPr>
          <a:lstStyle/>
          <a:p>
            <a:pPr>
              <a:defRPr sz="1200" b="1">
                <a:solidFill>
                  <a:srgbClr val="059669"/>
                </a:solidFill>
                <a:latin typeface="Source Sans Pro"/>
              </a:defRPr>
            </a:pPr>
            <a:r>
              <a:t>03</a:t>
            </a:r>
          </a:p>
        </p:txBody>
      </p:sp>
      <p:sp>
        <p:nvSpPr>
          <p:cNvPr id="13" name="TextBox 12"/>
          <p:cNvSpPr txBox="1"/>
          <p:nvPr/>
        </p:nvSpPr>
        <p:spPr>
          <a:xfrm>
            <a:off x="3474720" y="1554480"/>
            <a:ext cx="1828800" cy="274320"/>
          </a:xfrm>
          <a:prstGeom prst="rect">
            <a:avLst/>
          </a:prstGeom>
          <a:noFill/>
        </p:spPr>
        <p:txBody>
          <a:bodyPr wrap="none" lIns="0" rIns="0" tIns="0" bIns="0">
            <a:spAutoFit/>
          </a:bodyPr>
          <a:lstStyle/>
          <a:p>
            <a:pPr>
              <a:defRPr sz="1200" b="1">
                <a:solidFill>
                  <a:srgbClr val="FFFFFF"/>
                </a:solidFill>
                <a:latin typeface="Source Sans Pro"/>
              </a:defRPr>
            </a:pPr>
            <a:r>
              <a:t>Brand Purpose (Values)</a:t>
            </a:r>
          </a:p>
        </p:txBody>
      </p:sp>
      <p:cxnSp>
        <p:nvCxnSpPr>
          <p:cNvPr id="14" name="Connector 13"/>
          <p:cNvCxnSpPr/>
          <p:nvPr/>
        </p:nvCxnSpPr>
        <p:spPr>
          <a:xfrm>
            <a:off x="5349239" y="1664208"/>
            <a:ext cx="365760" cy="0"/>
          </a:xfrm>
          <a:prstGeom prst="line">
            <a:avLst/>
          </a:prstGeom>
          <a:ln w="19050">
            <a:solidFill>
              <a:srgbClr val="059669"/>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5760720" y="1554480"/>
            <a:ext cx="274320" cy="274320"/>
          </a:xfrm>
          <a:prstGeom prst="rect">
            <a:avLst/>
          </a:prstGeom>
          <a:noFill/>
        </p:spPr>
        <p:txBody>
          <a:bodyPr wrap="none" lIns="0" tIns="0" bIns="0">
            <a:spAutoFit/>
          </a:bodyPr>
          <a:lstStyle/>
          <a:p>
            <a:pPr>
              <a:defRPr sz="1200" b="1">
                <a:solidFill>
                  <a:srgbClr val="059669"/>
                </a:solidFill>
                <a:latin typeface="Source Sans Pro"/>
              </a:defRPr>
            </a:pPr>
            <a:r>
              <a:t>04</a:t>
            </a:r>
          </a:p>
        </p:txBody>
      </p:sp>
      <p:sp>
        <p:nvSpPr>
          <p:cNvPr id="16" name="TextBox 15"/>
          <p:cNvSpPr txBox="1"/>
          <p:nvPr/>
        </p:nvSpPr>
        <p:spPr>
          <a:xfrm>
            <a:off x="3474720" y="2057400"/>
            <a:ext cx="1828800" cy="274320"/>
          </a:xfrm>
          <a:prstGeom prst="rect">
            <a:avLst/>
          </a:prstGeom>
          <a:noFill/>
        </p:spPr>
        <p:txBody>
          <a:bodyPr wrap="none" lIns="0" rIns="0" tIns="0" bIns="0">
            <a:spAutoFit/>
          </a:bodyPr>
          <a:lstStyle/>
          <a:p>
            <a:pPr>
              <a:defRPr sz="1200" b="1">
                <a:solidFill>
                  <a:srgbClr val="FFFFFF"/>
                </a:solidFill>
                <a:latin typeface="Source Sans Pro"/>
              </a:defRPr>
            </a:pPr>
            <a:r>
              <a:t>Brand Story</a:t>
            </a:r>
          </a:p>
        </p:txBody>
      </p:sp>
      <p:cxnSp>
        <p:nvCxnSpPr>
          <p:cNvPr id="17" name="Connector 16"/>
          <p:cNvCxnSpPr/>
          <p:nvPr/>
        </p:nvCxnSpPr>
        <p:spPr>
          <a:xfrm>
            <a:off x="5349239" y="2167128"/>
            <a:ext cx="365760" cy="0"/>
          </a:xfrm>
          <a:prstGeom prst="line">
            <a:avLst/>
          </a:prstGeom>
          <a:ln w="19050">
            <a:solidFill>
              <a:srgbClr val="059669"/>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5760720" y="2057400"/>
            <a:ext cx="274320" cy="274320"/>
          </a:xfrm>
          <a:prstGeom prst="rect">
            <a:avLst/>
          </a:prstGeom>
          <a:noFill/>
        </p:spPr>
        <p:txBody>
          <a:bodyPr wrap="none" lIns="0" tIns="0" bIns="0">
            <a:spAutoFit/>
          </a:bodyPr>
          <a:lstStyle/>
          <a:p>
            <a:pPr>
              <a:defRPr sz="1200" b="1">
                <a:solidFill>
                  <a:srgbClr val="059669"/>
                </a:solidFill>
                <a:latin typeface="Source Sans Pro"/>
              </a:defRPr>
            </a:pPr>
            <a:r>
              <a:t>05</a:t>
            </a:r>
          </a:p>
        </p:txBody>
      </p:sp>
      <p:sp>
        <p:nvSpPr>
          <p:cNvPr id="19" name="TextBox 18"/>
          <p:cNvSpPr txBox="1"/>
          <p:nvPr/>
        </p:nvSpPr>
        <p:spPr>
          <a:xfrm>
            <a:off x="3474720" y="2560320"/>
            <a:ext cx="1828800" cy="274320"/>
          </a:xfrm>
          <a:prstGeom prst="rect">
            <a:avLst/>
          </a:prstGeom>
          <a:noFill/>
        </p:spPr>
        <p:txBody>
          <a:bodyPr wrap="none" lIns="0" rIns="0" tIns="0" bIns="0">
            <a:spAutoFit/>
          </a:bodyPr>
          <a:lstStyle/>
          <a:p>
            <a:pPr>
              <a:defRPr sz="1200" b="1">
                <a:solidFill>
                  <a:srgbClr val="FFFFFF"/>
                </a:solidFill>
                <a:latin typeface="Source Sans Pro"/>
              </a:defRPr>
            </a:pPr>
            <a:r>
              <a:t>Logo Variations</a:t>
            </a:r>
          </a:p>
        </p:txBody>
      </p:sp>
      <p:cxnSp>
        <p:nvCxnSpPr>
          <p:cNvPr id="20" name="Connector 19"/>
          <p:cNvCxnSpPr/>
          <p:nvPr/>
        </p:nvCxnSpPr>
        <p:spPr>
          <a:xfrm>
            <a:off x="5349239" y="2670048"/>
            <a:ext cx="365760" cy="0"/>
          </a:xfrm>
          <a:prstGeom prst="line">
            <a:avLst/>
          </a:prstGeom>
          <a:ln w="19050">
            <a:solidFill>
              <a:srgbClr val="059669"/>
            </a:solidFill>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5760720" y="2560320"/>
            <a:ext cx="274320" cy="274320"/>
          </a:xfrm>
          <a:prstGeom prst="rect">
            <a:avLst/>
          </a:prstGeom>
          <a:noFill/>
        </p:spPr>
        <p:txBody>
          <a:bodyPr wrap="none" lIns="0" tIns="0" bIns="0">
            <a:spAutoFit/>
          </a:bodyPr>
          <a:lstStyle/>
          <a:p>
            <a:pPr>
              <a:defRPr sz="1200" b="1">
                <a:solidFill>
                  <a:srgbClr val="059669"/>
                </a:solidFill>
                <a:latin typeface="Source Sans Pro"/>
              </a:defRPr>
            </a:pPr>
            <a:r>
              <a:t>06</a:t>
            </a:r>
          </a:p>
        </p:txBody>
      </p:sp>
      <p:sp>
        <p:nvSpPr>
          <p:cNvPr id="22" name="TextBox 21"/>
          <p:cNvSpPr txBox="1"/>
          <p:nvPr/>
        </p:nvSpPr>
        <p:spPr>
          <a:xfrm>
            <a:off x="3657600" y="2926079"/>
            <a:ext cx="1828800" cy="228600"/>
          </a:xfrm>
          <a:prstGeom prst="rect">
            <a:avLst/>
          </a:prstGeom>
          <a:noFill/>
        </p:spPr>
        <p:txBody>
          <a:bodyPr wrap="none" lIns="0" tIns="0" bIns="0">
            <a:spAutoFit/>
          </a:bodyPr>
          <a:lstStyle/>
          <a:p>
            <a:pPr>
              <a:defRPr sz="900" b="0">
                <a:solidFill>
                  <a:srgbClr val="CCCCCC"/>
                </a:solidFill>
                <a:latin typeface="Source Sans Pro"/>
              </a:defRPr>
            </a:pPr>
            <a:r>
              <a:t>Logo Mark</a:t>
            </a:r>
          </a:p>
        </p:txBody>
      </p:sp>
      <p:sp>
        <p:nvSpPr>
          <p:cNvPr id="23" name="TextBox 22"/>
          <p:cNvSpPr txBox="1"/>
          <p:nvPr/>
        </p:nvSpPr>
        <p:spPr>
          <a:xfrm>
            <a:off x="3657600" y="3154679"/>
            <a:ext cx="1828800" cy="228600"/>
          </a:xfrm>
          <a:prstGeom prst="rect">
            <a:avLst/>
          </a:prstGeom>
          <a:noFill/>
        </p:spPr>
        <p:txBody>
          <a:bodyPr wrap="none" lIns="0" tIns="0" bIns="0">
            <a:spAutoFit/>
          </a:bodyPr>
          <a:lstStyle/>
          <a:p>
            <a:pPr>
              <a:defRPr sz="900" b="0">
                <a:solidFill>
                  <a:srgbClr val="CCCCCC"/>
                </a:solidFill>
                <a:latin typeface="Source Sans Pro"/>
              </a:defRPr>
            </a:pPr>
            <a:r>
              <a:t>Clear Space</a:t>
            </a:r>
          </a:p>
        </p:txBody>
      </p:sp>
      <p:sp>
        <p:nvSpPr>
          <p:cNvPr id="24" name="TextBox 23"/>
          <p:cNvSpPr txBox="1"/>
          <p:nvPr/>
        </p:nvSpPr>
        <p:spPr>
          <a:xfrm>
            <a:off x="3657600" y="3383279"/>
            <a:ext cx="1828800" cy="228600"/>
          </a:xfrm>
          <a:prstGeom prst="rect">
            <a:avLst/>
          </a:prstGeom>
          <a:noFill/>
        </p:spPr>
        <p:txBody>
          <a:bodyPr wrap="none" lIns="0" tIns="0" bIns="0">
            <a:spAutoFit/>
          </a:bodyPr>
          <a:lstStyle/>
          <a:p>
            <a:pPr>
              <a:defRPr sz="900" b="0">
                <a:solidFill>
                  <a:srgbClr val="CCCCCC"/>
                </a:solidFill>
                <a:latin typeface="Source Sans Pro"/>
              </a:defRPr>
            </a:pPr>
            <a:r>
              <a:t>Usage Guidelines</a:t>
            </a:r>
          </a:p>
        </p:txBody>
      </p:sp>
      <p:sp>
        <p:nvSpPr>
          <p:cNvPr id="25" name="TextBox 24"/>
          <p:cNvSpPr txBox="1"/>
          <p:nvPr/>
        </p:nvSpPr>
        <p:spPr>
          <a:xfrm>
            <a:off x="6492240" y="1554480"/>
            <a:ext cx="1828800" cy="274320"/>
          </a:xfrm>
          <a:prstGeom prst="rect">
            <a:avLst/>
          </a:prstGeom>
          <a:noFill/>
        </p:spPr>
        <p:txBody>
          <a:bodyPr wrap="none" lIns="0" rIns="0" tIns="0" bIns="0">
            <a:spAutoFit/>
          </a:bodyPr>
          <a:lstStyle/>
          <a:p>
            <a:pPr>
              <a:defRPr sz="1200" b="1">
                <a:solidFill>
                  <a:srgbClr val="FFFFFF"/>
                </a:solidFill>
                <a:latin typeface="Source Sans Pro"/>
              </a:defRPr>
            </a:pPr>
            <a:r>
              <a:t>Brand Colors</a:t>
            </a:r>
          </a:p>
        </p:txBody>
      </p:sp>
      <p:cxnSp>
        <p:nvCxnSpPr>
          <p:cNvPr id="26" name="Connector 25"/>
          <p:cNvCxnSpPr/>
          <p:nvPr/>
        </p:nvCxnSpPr>
        <p:spPr>
          <a:xfrm>
            <a:off x="8366759" y="1664208"/>
            <a:ext cx="365760" cy="0"/>
          </a:xfrm>
          <a:prstGeom prst="line">
            <a:avLst/>
          </a:prstGeom>
          <a:ln w="19050">
            <a:solidFill>
              <a:srgbClr val="059669"/>
            </a:solidFill>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8778240" y="1554480"/>
            <a:ext cx="274320" cy="274320"/>
          </a:xfrm>
          <a:prstGeom prst="rect">
            <a:avLst/>
          </a:prstGeom>
          <a:noFill/>
        </p:spPr>
        <p:txBody>
          <a:bodyPr wrap="none" lIns="0" tIns="0" bIns="0">
            <a:spAutoFit/>
          </a:bodyPr>
          <a:lstStyle/>
          <a:p>
            <a:pPr>
              <a:defRPr sz="1200" b="1">
                <a:solidFill>
                  <a:srgbClr val="059669"/>
                </a:solidFill>
                <a:latin typeface="Source Sans Pro"/>
              </a:defRPr>
            </a:pPr>
            <a:r>
              <a:t>07</a:t>
            </a:r>
          </a:p>
        </p:txBody>
      </p:sp>
      <p:sp>
        <p:nvSpPr>
          <p:cNvPr id="28" name="TextBox 27"/>
          <p:cNvSpPr txBox="1"/>
          <p:nvPr/>
        </p:nvSpPr>
        <p:spPr>
          <a:xfrm>
            <a:off x="6675120" y="1920240"/>
            <a:ext cx="1828800" cy="228600"/>
          </a:xfrm>
          <a:prstGeom prst="rect">
            <a:avLst/>
          </a:prstGeom>
          <a:noFill/>
        </p:spPr>
        <p:txBody>
          <a:bodyPr wrap="none" lIns="0" tIns="0" bIns="0">
            <a:spAutoFit/>
          </a:bodyPr>
          <a:lstStyle/>
          <a:p>
            <a:pPr>
              <a:defRPr sz="900" b="0">
                <a:solidFill>
                  <a:srgbClr val="CCCCCC"/>
                </a:solidFill>
                <a:latin typeface="Source Sans Pro"/>
              </a:defRPr>
            </a:pPr>
            <a:r>
              <a:t>Primary Colors</a:t>
            </a:r>
          </a:p>
        </p:txBody>
      </p:sp>
      <p:sp>
        <p:nvSpPr>
          <p:cNvPr id="29" name="TextBox 28"/>
          <p:cNvSpPr txBox="1"/>
          <p:nvPr/>
        </p:nvSpPr>
        <p:spPr>
          <a:xfrm>
            <a:off x="6675120" y="2148840"/>
            <a:ext cx="1828800" cy="228600"/>
          </a:xfrm>
          <a:prstGeom prst="rect">
            <a:avLst/>
          </a:prstGeom>
          <a:noFill/>
        </p:spPr>
        <p:txBody>
          <a:bodyPr wrap="none" lIns="0" tIns="0" bIns="0">
            <a:spAutoFit/>
          </a:bodyPr>
          <a:lstStyle/>
          <a:p>
            <a:pPr>
              <a:defRPr sz="900" b="0">
                <a:solidFill>
                  <a:srgbClr val="CCCCCC"/>
                </a:solidFill>
                <a:latin typeface="Source Sans Pro"/>
              </a:defRPr>
            </a:pPr>
            <a:r>
              <a:t>Secondary Colors</a:t>
            </a:r>
          </a:p>
        </p:txBody>
      </p:sp>
      <p:sp>
        <p:nvSpPr>
          <p:cNvPr id="30" name="TextBox 29"/>
          <p:cNvSpPr txBox="1"/>
          <p:nvPr/>
        </p:nvSpPr>
        <p:spPr>
          <a:xfrm>
            <a:off x="6675120" y="2377440"/>
            <a:ext cx="1828800" cy="228600"/>
          </a:xfrm>
          <a:prstGeom prst="rect">
            <a:avLst/>
          </a:prstGeom>
          <a:noFill/>
        </p:spPr>
        <p:txBody>
          <a:bodyPr wrap="none" lIns="0" tIns="0" bIns="0">
            <a:spAutoFit/>
          </a:bodyPr>
          <a:lstStyle/>
          <a:p>
            <a:pPr>
              <a:defRPr sz="900" b="0">
                <a:solidFill>
                  <a:srgbClr val="CCCCCC"/>
                </a:solidFill>
                <a:latin typeface="Source Sans Pro"/>
              </a:defRPr>
            </a:pPr>
            <a:r>
              <a:t>Color Usage</a:t>
            </a:r>
          </a:p>
        </p:txBody>
      </p:sp>
      <p:sp>
        <p:nvSpPr>
          <p:cNvPr id="31" name="TextBox 30"/>
          <p:cNvSpPr txBox="1"/>
          <p:nvPr/>
        </p:nvSpPr>
        <p:spPr>
          <a:xfrm>
            <a:off x="6492240" y="2743200"/>
            <a:ext cx="1828800" cy="274320"/>
          </a:xfrm>
          <a:prstGeom prst="rect">
            <a:avLst/>
          </a:prstGeom>
          <a:noFill/>
        </p:spPr>
        <p:txBody>
          <a:bodyPr wrap="none" lIns="0" rIns="0" tIns="0" bIns="0">
            <a:spAutoFit/>
          </a:bodyPr>
          <a:lstStyle/>
          <a:p>
            <a:pPr>
              <a:defRPr sz="1200" b="1">
                <a:solidFill>
                  <a:srgbClr val="FFFFFF"/>
                </a:solidFill>
                <a:latin typeface="Source Sans Pro"/>
              </a:defRPr>
            </a:pPr>
            <a:r>
              <a:t>Typography</a:t>
            </a:r>
          </a:p>
        </p:txBody>
      </p:sp>
      <p:cxnSp>
        <p:nvCxnSpPr>
          <p:cNvPr id="32" name="Connector 31"/>
          <p:cNvCxnSpPr/>
          <p:nvPr/>
        </p:nvCxnSpPr>
        <p:spPr>
          <a:xfrm>
            <a:off x="8366759" y="2852928"/>
            <a:ext cx="365760" cy="0"/>
          </a:xfrm>
          <a:prstGeom prst="line">
            <a:avLst/>
          </a:prstGeom>
          <a:ln w="19050">
            <a:solidFill>
              <a:srgbClr val="059669"/>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8778240" y="2743200"/>
            <a:ext cx="274320" cy="274320"/>
          </a:xfrm>
          <a:prstGeom prst="rect">
            <a:avLst/>
          </a:prstGeom>
          <a:noFill/>
        </p:spPr>
        <p:txBody>
          <a:bodyPr wrap="none" lIns="0" tIns="0" bIns="0">
            <a:spAutoFit/>
          </a:bodyPr>
          <a:lstStyle/>
          <a:p>
            <a:pPr>
              <a:defRPr sz="1200" b="1">
                <a:solidFill>
                  <a:srgbClr val="059669"/>
                </a:solidFill>
                <a:latin typeface="Source Sans Pro"/>
              </a:defRPr>
            </a:pPr>
            <a:r>
              <a:t>08</a:t>
            </a:r>
          </a:p>
        </p:txBody>
      </p:sp>
      <p:sp>
        <p:nvSpPr>
          <p:cNvPr id="34" name="TextBox 33"/>
          <p:cNvSpPr txBox="1"/>
          <p:nvPr/>
        </p:nvSpPr>
        <p:spPr>
          <a:xfrm>
            <a:off x="6675120" y="3108960"/>
            <a:ext cx="1828800" cy="228600"/>
          </a:xfrm>
          <a:prstGeom prst="rect">
            <a:avLst/>
          </a:prstGeom>
          <a:noFill/>
        </p:spPr>
        <p:txBody>
          <a:bodyPr wrap="none" lIns="0" tIns="0" bIns="0">
            <a:spAutoFit/>
          </a:bodyPr>
          <a:lstStyle/>
          <a:p>
            <a:pPr>
              <a:defRPr sz="900" b="0">
                <a:solidFill>
                  <a:srgbClr val="CCCCCC"/>
                </a:solidFill>
                <a:latin typeface="Source Sans Pro"/>
              </a:defRPr>
            </a:pPr>
            <a:r>
              <a:t>Brand Font</a:t>
            </a:r>
          </a:p>
        </p:txBody>
      </p:sp>
      <p:sp>
        <p:nvSpPr>
          <p:cNvPr id="35" name="TextBox 34"/>
          <p:cNvSpPr txBox="1"/>
          <p:nvPr/>
        </p:nvSpPr>
        <p:spPr>
          <a:xfrm>
            <a:off x="6675120" y="3337560"/>
            <a:ext cx="1828800" cy="228600"/>
          </a:xfrm>
          <a:prstGeom prst="rect">
            <a:avLst/>
          </a:prstGeom>
          <a:noFill/>
        </p:spPr>
        <p:txBody>
          <a:bodyPr wrap="none" lIns="0" tIns="0" bIns="0">
            <a:spAutoFit/>
          </a:bodyPr>
          <a:lstStyle/>
          <a:p>
            <a:pPr>
              <a:defRPr sz="900" b="0">
                <a:solidFill>
                  <a:srgbClr val="CCCCCC"/>
                </a:solidFill>
                <a:latin typeface="Source Sans Pro"/>
              </a:defRPr>
            </a:pPr>
            <a:r>
              <a:t>Font Usage</a:t>
            </a:r>
          </a:p>
        </p:txBody>
      </p:sp>
      <p:sp>
        <p:nvSpPr>
          <p:cNvPr id="36" name="TextBox 35"/>
          <p:cNvSpPr txBox="1"/>
          <p:nvPr/>
        </p:nvSpPr>
        <p:spPr>
          <a:xfrm>
            <a:off x="6675120" y="3566160"/>
            <a:ext cx="1828800" cy="228600"/>
          </a:xfrm>
          <a:prstGeom prst="rect">
            <a:avLst/>
          </a:prstGeom>
          <a:noFill/>
        </p:spPr>
        <p:txBody>
          <a:bodyPr wrap="none" lIns="0" tIns="0" bIns="0">
            <a:spAutoFit/>
          </a:bodyPr>
          <a:lstStyle/>
          <a:p>
            <a:pPr>
              <a:defRPr sz="900" b="0">
                <a:solidFill>
                  <a:srgbClr val="CCCCCC"/>
                </a:solidFill>
                <a:latin typeface="Source Sans Pro"/>
              </a:defRPr>
            </a:pPr>
            <a:r>
              <a:t>Text Hierarchy</a:t>
            </a:r>
          </a:p>
        </p:txBody>
      </p:sp>
      <p:sp>
        <p:nvSpPr>
          <p:cNvPr id="37" name="TextBox 36"/>
          <p:cNvSpPr txBox="1"/>
          <p:nvPr/>
        </p:nvSpPr>
        <p:spPr>
          <a:xfrm>
            <a:off x="6492240" y="3931920"/>
            <a:ext cx="1828800" cy="274320"/>
          </a:xfrm>
          <a:prstGeom prst="rect">
            <a:avLst/>
          </a:prstGeom>
          <a:noFill/>
        </p:spPr>
        <p:txBody>
          <a:bodyPr wrap="none" lIns="0" rIns="0" tIns="0" bIns="0">
            <a:spAutoFit/>
          </a:bodyPr>
          <a:lstStyle/>
          <a:p>
            <a:pPr>
              <a:defRPr sz="1200" b="1">
                <a:solidFill>
                  <a:srgbClr val="FFFFFF"/>
                </a:solidFill>
                <a:latin typeface="Source Sans Pro"/>
              </a:defRPr>
            </a:pPr>
            <a:r>
              <a:t>Visual Guidelines</a:t>
            </a:r>
          </a:p>
        </p:txBody>
      </p:sp>
      <p:cxnSp>
        <p:nvCxnSpPr>
          <p:cNvPr id="38" name="Connector 37"/>
          <p:cNvCxnSpPr/>
          <p:nvPr/>
        </p:nvCxnSpPr>
        <p:spPr>
          <a:xfrm>
            <a:off x="8366759" y="4041648"/>
            <a:ext cx="365760" cy="0"/>
          </a:xfrm>
          <a:prstGeom prst="line">
            <a:avLst/>
          </a:prstGeom>
          <a:ln w="19050">
            <a:solidFill>
              <a:srgbClr val="059669"/>
            </a:solidFill>
          </a:ln>
        </p:spPr>
        <p:style>
          <a:lnRef idx="2">
            <a:schemeClr val="accent1"/>
          </a:lnRef>
          <a:fillRef idx="0">
            <a:schemeClr val="accent1"/>
          </a:fillRef>
          <a:effectRef idx="1">
            <a:schemeClr val="accent1"/>
          </a:effectRef>
          <a:fontRef idx="minor">
            <a:schemeClr val="tx1"/>
          </a:fontRef>
        </p:style>
      </p:cxnSp>
      <p:sp>
        <p:nvSpPr>
          <p:cNvPr id="39" name="TextBox 38"/>
          <p:cNvSpPr txBox="1"/>
          <p:nvPr/>
        </p:nvSpPr>
        <p:spPr>
          <a:xfrm>
            <a:off x="8778240" y="3931920"/>
            <a:ext cx="274320" cy="274320"/>
          </a:xfrm>
          <a:prstGeom prst="rect">
            <a:avLst/>
          </a:prstGeom>
          <a:noFill/>
        </p:spPr>
        <p:txBody>
          <a:bodyPr wrap="none" lIns="0" tIns="0" bIns="0">
            <a:spAutoFit/>
          </a:bodyPr>
          <a:lstStyle/>
          <a:p>
            <a:pPr>
              <a:defRPr sz="1200" b="1">
                <a:solidFill>
                  <a:srgbClr val="059669"/>
                </a:solidFill>
                <a:latin typeface="Source Sans Pro"/>
              </a:defRPr>
            </a:pPr>
            <a:r>
              <a:t>09</a:t>
            </a:r>
          </a:p>
        </p:txBody>
      </p:sp>
      <p:sp>
        <p:nvSpPr>
          <p:cNvPr id="40" name="TextBox 39"/>
          <p:cNvSpPr txBox="1"/>
          <p:nvPr/>
        </p:nvSpPr>
        <p:spPr>
          <a:xfrm>
            <a:off x="6675120" y="4297680"/>
            <a:ext cx="1828800" cy="228600"/>
          </a:xfrm>
          <a:prstGeom prst="rect">
            <a:avLst/>
          </a:prstGeom>
          <a:noFill/>
        </p:spPr>
        <p:txBody>
          <a:bodyPr wrap="none" lIns="0" tIns="0" bIns="0">
            <a:spAutoFit/>
          </a:bodyPr>
          <a:lstStyle/>
          <a:p>
            <a:pPr>
              <a:defRPr sz="900" b="0">
                <a:solidFill>
                  <a:srgbClr val="CCCCCC"/>
                </a:solidFill>
                <a:latin typeface="Source Sans Pro"/>
              </a:defRPr>
            </a:pPr>
            <a:r>
              <a:t>Visual Style</a:t>
            </a:r>
          </a:p>
        </p:txBody>
      </p:sp>
      <p:sp>
        <p:nvSpPr>
          <p:cNvPr id="41" name="TextBox 40"/>
          <p:cNvSpPr txBox="1"/>
          <p:nvPr/>
        </p:nvSpPr>
        <p:spPr>
          <a:xfrm>
            <a:off x="6675120" y="4526280"/>
            <a:ext cx="1828800" cy="228600"/>
          </a:xfrm>
          <a:prstGeom prst="rect">
            <a:avLst/>
          </a:prstGeom>
          <a:noFill/>
        </p:spPr>
        <p:txBody>
          <a:bodyPr wrap="none" lIns="0" tIns="0" bIns="0">
            <a:spAutoFit/>
          </a:bodyPr>
          <a:lstStyle/>
          <a:p>
            <a:pPr>
              <a:defRPr sz="900" b="0">
                <a:solidFill>
                  <a:srgbClr val="CCCCCC"/>
                </a:solidFill>
                <a:latin typeface="Source Sans Pro"/>
              </a:defRPr>
            </a:pPr>
            <a:r>
              <a:t>Photography</a:t>
            </a:r>
          </a:p>
        </p:txBody>
      </p:sp>
      <p:sp>
        <p:nvSpPr>
          <p:cNvPr id="42" name="TextBox 41"/>
          <p:cNvSpPr txBox="1"/>
          <p:nvPr/>
        </p:nvSpPr>
        <p:spPr>
          <a:xfrm>
            <a:off x="6675120" y="4754880"/>
            <a:ext cx="1828800" cy="228600"/>
          </a:xfrm>
          <a:prstGeom prst="rect">
            <a:avLst/>
          </a:prstGeom>
          <a:noFill/>
        </p:spPr>
        <p:txBody>
          <a:bodyPr wrap="none" lIns="0" tIns="0" bIns="0">
            <a:spAutoFit/>
          </a:bodyPr>
          <a:lstStyle/>
          <a:p>
            <a:pPr>
              <a:defRPr sz="900" b="0">
                <a:solidFill>
                  <a:srgbClr val="CCCCCC"/>
                </a:solidFill>
                <a:latin typeface="Source Sans Pro"/>
              </a:defRPr>
            </a:pPr>
            <a:r>
              <a:t>Imagery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800100" y="1051560"/>
            <a:ext cx="6858000" cy="2971800"/>
          </a:xfrm>
          <a:prstGeom prst="rect">
            <a:avLst/>
          </a:prstGeom>
          <a:noFill/>
        </p:spPr>
        <p:txBody>
          <a:bodyPr wrap="square" lIns="0" rIns="0" tIns="0" bIns="0">
            <a:spAutoFit/>
          </a:bodyPr>
          <a:lstStyle/>
          <a:p>
            <a:pPr algn="l">
              <a:spcAft>
                <a:spcPts val="800"/>
              </a:spcAft>
              <a:defRPr sz="2000" b="0">
                <a:solidFill>
                  <a:srgbClr val="FFFFFF"/>
                </a:solidFill>
                <a:latin typeface="Source Sans Pro"/>
              </a:defRPr>
            </a:pPr>
            <a:r>
              <a:t>Welcome to Zeta's brand identity system presentation, where we unveil the blueprint for our distinctive Banking Technology , Fintech brand. This system ensures an international, engaging, consistent, recognizable, and proprietary brand presentation, reflecting our core values of reliability, innovation, and customer empowerment. Join us as we showcase how our innovative approach and fundamental principles come to life in the dynamic world of Banks, Fintech companies, and Financial institutions.</a:t>
            </a:r>
          </a:p>
        </p:txBody>
      </p:sp>
      <p:cxnSp>
        <p:nvCxnSpPr>
          <p:cNvPr id="3" name="Connector 2"/>
          <p:cNvCxnSpPr/>
          <p:nvPr/>
        </p:nvCxnSpPr>
        <p:spPr>
          <a:xfrm>
            <a:off x="457200" y="4914900.0"/>
            <a:ext cx="8229600" cy="0.0"/>
          </a:xfrm>
          <a:prstGeom prst="line">
            <a:avLst/>
          </a:prstGeom>
          <a:ln w="25400">
            <a:solidFill>
              <a:srgbClr val="059669"/>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800100" y="5189220"/>
            <a:ext cx="3657600" cy="731520"/>
          </a:xfrm>
          <a:prstGeom prst="rect">
            <a:avLst/>
          </a:prstGeom>
          <a:noFill/>
        </p:spPr>
        <p:txBody>
          <a:bodyPr wrap="none">
            <a:spAutoFit/>
          </a:bodyPr>
          <a:lstStyle/>
          <a:p>
            <a:pPr algn="l">
              <a:defRPr sz="2800" b="1">
                <a:solidFill>
                  <a:srgbClr val="059669"/>
                </a:solidFill>
                <a:latin typeface="Inter"/>
              </a:defRPr>
            </a:pPr>
            <a:r>
              <a:t>INTRODUCTION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800100" y="1051560"/>
            <a:ext cx="6858000" cy="2971800"/>
          </a:xfrm>
          <a:prstGeom prst="rect">
            <a:avLst/>
          </a:prstGeom>
          <a:noFill/>
        </p:spPr>
        <p:txBody>
          <a:bodyPr wrap="square" lIns="0" rIns="0" tIns="0" bIns="0">
            <a:spAutoFit/>
          </a:bodyPr>
          <a:lstStyle/>
          <a:p>
            <a:pPr algn="l">
              <a:spcAft>
                <a:spcPts val="800"/>
              </a:spcAft>
              <a:defRPr sz="2000" b="0">
                <a:solidFill>
                  <a:srgbClr val="FFFFFF"/>
                </a:solidFill>
                <a:latin typeface="Source Sans Pro"/>
              </a:defRPr>
            </a:pPr>
            <a:r>
              <a:t>Zeta envisions a future where Banking Technology and Fintech solutions redefine the landscape of financial services, empowering Banks, Fintech companies, Financial institutions, NBFCs, and Corporates in markets like India to achieve unprecedented levels of innovation and customer-centricity. Our ultimate goal is to drive a digital transformation that revolutionizes the way financial entities operate, creating a more inclusive and efficient financial ecosystem for all.</a:t>
            </a:r>
          </a:p>
        </p:txBody>
      </p:sp>
      <p:cxnSp>
        <p:nvCxnSpPr>
          <p:cNvPr id="3" name="Connector 2"/>
          <p:cNvCxnSpPr/>
          <p:nvPr/>
        </p:nvCxnSpPr>
        <p:spPr>
          <a:xfrm>
            <a:off x="457200" y="4914900.0"/>
            <a:ext cx="8229600" cy="0.0"/>
          </a:xfrm>
          <a:prstGeom prst="line">
            <a:avLst/>
          </a:prstGeom>
          <a:ln w="25400">
            <a:solidFill>
              <a:srgbClr val="059669"/>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800100" y="5189220"/>
            <a:ext cx="5486400" cy="731520"/>
          </a:xfrm>
          <a:prstGeom prst="rect">
            <a:avLst/>
          </a:prstGeom>
          <a:noFill/>
        </p:spPr>
        <p:txBody>
          <a:bodyPr wrap="none">
            <a:spAutoFit/>
          </a:bodyPr>
          <a:lstStyle/>
          <a:p>
            <a:pPr algn="l">
              <a:defRPr sz="2800" b="1">
                <a:solidFill>
                  <a:srgbClr val="059669"/>
                </a:solidFill>
                <a:latin typeface="Inter"/>
              </a:defRPr>
            </a:pPr>
            <a:r>
              <a:t>BRAND PURPOSE (VISION)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800100" y="1051560"/>
            <a:ext cx="6858000" cy="2971800"/>
          </a:xfrm>
          <a:prstGeom prst="rect">
            <a:avLst/>
          </a:prstGeom>
          <a:noFill/>
        </p:spPr>
        <p:txBody>
          <a:bodyPr wrap="square" lIns="0" rIns="0" tIns="0" bIns="0">
            <a:spAutoFit/>
          </a:bodyPr>
          <a:lstStyle/>
          <a:p>
            <a:pPr algn="l">
              <a:spcAft>
                <a:spcPts val="800"/>
              </a:spcAft>
              <a:defRPr sz="2000" b="0">
                <a:solidFill>
                  <a:srgbClr val="FFFFFF"/>
                </a:solidFill>
                <a:latin typeface="Source Sans Pro"/>
              </a:defRPr>
            </a:pPr>
            <a:r>
              <a:t>At Zeta, we are dedicated to pioneering cutting-edge Banking Technology and Fintech solutions tailored specifically for Banks, Fintech companies, Financial institutions, NBFCs, and Corporates launching embedded banking in markets like India. Our mission is to provide user-centric design approaches that enhance operational efficiency, customer engagement, and industry competitiveness, ultimately revolutionizing the financial services sector through innovation and technology.</a:t>
            </a:r>
          </a:p>
        </p:txBody>
      </p:sp>
      <p:cxnSp>
        <p:nvCxnSpPr>
          <p:cNvPr id="3" name="Connector 2"/>
          <p:cNvCxnSpPr/>
          <p:nvPr/>
        </p:nvCxnSpPr>
        <p:spPr>
          <a:xfrm>
            <a:off x="457200" y="4914900.0"/>
            <a:ext cx="8229600" cy="0.0"/>
          </a:xfrm>
          <a:prstGeom prst="line">
            <a:avLst/>
          </a:prstGeom>
          <a:ln w="25400">
            <a:solidFill>
              <a:srgbClr val="059669"/>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800100" y="5189220"/>
            <a:ext cx="5486400" cy="731520"/>
          </a:xfrm>
          <a:prstGeom prst="rect">
            <a:avLst/>
          </a:prstGeom>
          <a:noFill/>
        </p:spPr>
        <p:txBody>
          <a:bodyPr wrap="none">
            <a:spAutoFit/>
          </a:bodyPr>
          <a:lstStyle/>
          <a:p>
            <a:pPr algn="l">
              <a:defRPr sz="2800" b="1">
                <a:solidFill>
                  <a:srgbClr val="059669"/>
                </a:solidFill>
                <a:latin typeface="Inter"/>
              </a:defRPr>
            </a:pPr>
            <a:r>
              <a:t>BRAND PURPOSE (MISSION)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800100" y="1051560"/>
            <a:ext cx="6858000" cy="2971800"/>
          </a:xfrm>
          <a:prstGeom prst="rect">
            <a:avLst/>
          </a:prstGeom>
          <a:noFill/>
        </p:spPr>
        <p:txBody>
          <a:bodyPr wrap="square" lIns="0" rIns="0" tIns="0" bIns="0">
            <a:spAutoFit/>
          </a:bodyPr>
          <a:lstStyle/>
          <a:p>
            <a:pPr algn="l">
              <a:spcAft>
                <a:spcPts val="800"/>
              </a:spcAft>
              <a:defRPr sz="2000" b="0">
                <a:solidFill>
                  <a:srgbClr val="FFFFFF"/>
                </a:solidFill>
                <a:latin typeface="Source Sans Pro"/>
              </a:defRPr>
            </a:pPr>
            <a:r>
              <a:t>Guided by the core principles of Reliability, Innovation, Precision, Scalability, Partnership, Compliance, Transparency, Speed, Business-Centric, and Customer Empowerment, Zeta is committed to upholding the highest standards of excellence in the Banking Technology and Fintech industry. We believe that through strategic partnerships, relentless innovation, and a customer-first approach, we can drive sustainable growth, foster trust, and empower financial institutions to thrive in the ever-evolving digital economy of today and tomorrow.</a:t>
            </a:r>
          </a:p>
        </p:txBody>
      </p:sp>
      <p:cxnSp>
        <p:nvCxnSpPr>
          <p:cNvPr id="3" name="Connector 2"/>
          <p:cNvCxnSpPr/>
          <p:nvPr/>
        </p:nvCxnSpPr>
        <p:spPr>
          <a:xfrm>
            <a:off x="457200" y="4914900.0"/>
            <a:ext cx="8229600" cy="0.0"/>
          </a:xfrm>
          <a:prstGeom prst="line">
            <a:avLst/>
          </a:prstGeom>
          <a:ln w="25400">
            <a:solidFill>
              <a:srgbClr val="059669"/>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800100" y="5189220"/>
            <a:ext cx="5486400" cy="731520"/>
          </a:xfrm>
          <a:prstGeom prst="rect">
            <a:avLst/>
          </a:prstGeom>
          <a:noFill/>
        </p:spPr>
        <p:txBody>
          <a:bodyPr wrap="none">
            <a:spAutoFit/>
          </a:bodyPr>
          <a:lstStyle/>
          <a:p>
            <a:pPr algn="l">
              <a:defRPr sz="2800" b="1">
                <a:solidFill>
                  <a:srgbClr val="059669"/>
                </a:solidFill>
                <a:latin typeface="Inter"/>
              </a:defRPr>
            </a:pPr>
            <a:r>
              <a:t>BRAND PURPOSE (VALUES)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800100" y="1051560"/>
            <a:ext cx="6858000" cy="2971800"/>
          </a:xfrm>
          <a:prstGeom prst="rect">
            <a:avLst/>
          </a:prstGeom>
          <a:noFill/>
        </p:spPr>
        <p:txBody>
          <a:bodyPr wrap="square" lIns="0" rIns="0" tIns="0" bIns="0">
            <a:spAutoFit/>
          </a:bodyPr>
          <a:lstStyle/>
          <a:p>
            <a:pPr algn="l">
              <a:spcAft>
                <a:spcPts val="800"/>
              </a:spcAft>
              <a:defRPr sz="2000" b="0">
                <a:solidFill>
                  <a:srgbClr val="FFFFFF"/>
                </a:solidFill>
                <a:latin typeface="Source Sans Pro"/>
              </a:defRPr>
            </a:pPr>
            <a:r>
              <a:t>In the bustling world of Banking Technology and Fintech, one name stands out among the rest - Zeta. Born out of a vision to revolutionize the way banks, fintech companies, financial institutions, NBFCs, and corporates approach embedded banking, Zeta is not just a solution provider; it is a partner in empowerment and innovation. At the heart of Zeta's ethos lies a commitment to reliability, precision, scalability, and compliance. We understand the challenges faced by our clients in navigating the complex landscape of modern finance, and we are here to provide them with cutting-edge solutions that not only meet their needs but exceed their expectations.</a:t>
            </a:r>
          </a:p>
          <a:p>
            <a:pPr algn="l">
              <a:spcAft>
                <a:spcPts val="800"/>
              </a:spcAft>
              <a:defRPr sz="2000" b="0">
                <a:solidFill>
                  <a:srgbClr val="FFFFFF"/>
                </a:solidFill>
                <a:latin typeface="Source Sans Pro"/>
              </a:defRPr>
            </a:pPr>
          </a:p>
          <a:p>
            <a:pPr algn="l">
              <a:spcAft>
                <a:spcPts val="800"/>
              </a:spcAft>
              <a:defRPr sz="2000" b="0">
                <a:solidFill>
                  <a:srgbClr val="FFFFFF"/>
                </a:solidFill>
                <a:latin typeface="Source Sans Pro"/>
              </a:defRPr>
            </a:pPr>
            <a:r>
              <a:t>Our brand promise is simple yet powerful - to empower banks, fintech companies, financial institutions, NBFCs, and corporates launching embedded banking in markets like India through our innovative Banking Technology and Fintech solutions. We believe in the power of partnership and transparency, working hand in hand with our clients to co-create solutions that drive their business forward. What sets Zeta apart is our unique value proposition - a distinctive approach to Banking Technology and Fintech solutions that is tailored to the specific needs of our clients in the Indian market. We understand the nuances of operating...</a:t>
            </a:r>
          </a:p>
        </p:txBody>
      </p:sp>
      <p:cxnSp>
        <p:nvCxnSpPr>
          <p:cNvPr id="3" name="Connector 2"/>
          <p:cNvCxnSpPr/>
          <p:nvPr/>
        </p:nvCxnSpPr>
        <p:spPr>
          <a:xfrm>
            <a:off x="457200" y="4914900.0"/>
            <a:ext cx="8229600" cy="0.0"/>
          </a:xfrm>
          <a:prstGeom prst="line">
            <a:avLst/>
          </a:prstGeom>
          <a:ln w="25400">
            <a:solidFill>
              <a:srgbClr val="059669"/>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800100" y="5189220"/>
            <a:ext cx="5486400" cy="731520"/>
          </a:xfrm>
          <a:prstGeom prst="rect">
            <a:avLst/>
          </a:prstGeom>
          <a:noFill/>
        </p:spPr>
        <p:txBody>
          <a:bodyPr wrap="none">
            <a:spAutoFit/>
          </a:bodyPr>
          <a:lstStyle/>
          <a:p>
            <a:pPr algn="l">
              <a:defRPr sz="2800" b="1">
                <a:solidFill>
                  <a:srgbClr val="059669"/>
                </a:solidFill>
                <a:latin typeface="Inter"/>
              </a:defRPr>
            </a:pPr>
            <a:r>
              <a:t>BRAND STORY</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sp>
        <p:nvSpPr>
          <p:cNvPr id="2" name="Rectangle 1"/>
          <p:cNvSpPr/>
          <p:nvPr/>
        </p:nvSpPr>
        <p:spPr>
          <a:xfrm>
            <a:off x="0" y="0"/>
            <a:ext cx="9144000" cy="6858000"/>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Pr/>
      <p:sp>
        <p:nvSpPr>
          <p:cNvPr id="3" name="TextBox 2"/>
          <p:cNvSpPr txBox="1"/>
          <p:nvPr/>
        </p:nvSpPr>
        <p:spPr>
          <a:xfrm>
            <a:off x="1143000" y="457200"/>
            <a:ext cx="6858000" cy="742950"/>
          </a:xfrm>
          <a:prstGeom prst="rect">
            <a:avLst/>
          </a:prstGeom>
          <a:noFill/>
        </p:spPr>
        <p:txBody>
          <a:bodyPr wrap="none">
            <a:spAutoFit/>
          </a:bodyPr>
          <a:lstStyle/>
          <a:p>
            <a:pPr>
              <a:defRPr sz="3200" b="1">
                <a:solidFill>
                  <a:srgbClr val="059669"/>
                </a:solidFill>
                <a:latin typeface="Inter"/>
              </a:defRPr>
            </a:pPr>
            <a:r>
              <a:t>Logo Variations (3 designs)</a:t>
            </a:r>
          </a:p>
        </p:txBody>
      </p:sp>
      <p:sp>
        <p:nvSpPr>
          <p:cNvPr id="4" name="Rectangle 3"/>
          <p:cNvSpPr/>
          <p:nvPr/>
        </p:nvSpPr>
        <p:spPr>
          <a:xfrm>
            <a:off x="1051560" y="1851660"/>
            <a:ext cx="1554480" cy="16687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zeta_logo_1_20250828_233153_0c4ee81f.png"/>
          <p:cNvPicPr>
            <a:picLocks noChangeAspect="1"/>
          </p:cNvPicPr>
          <p:nvPr/>
        </p:nvPicPr>
        <p:blipFill>
          <a:blip r:embed="rId2"/>
          <a:stretch>
            <a:fillRect/>
          </a:stretch>
        </p:blipFill>
        <p:spPr>
          <a:xfrm>
            <a:off x="1143000" y="1943100"/>
            <a:ext cx="1371600" cy="1485900"/>
          </a:xfrm>
          <a:prstGeom prst="rect">
            <a:avLst/>
          </a:prstGeom>
        </p:spPr>
      </p:pic>
      <p:sp>
        <p:nvSpPr>
          <p:cNvPr id="6" name="TextBox 5"/>
          <p:cNvSpPr txBox="1"/>
          <p:nvPr/>
        </p:nvSpPr>
        <p:spPr>
          <a:xfrm>
            <a:off x="1143000" y="3429000"/>
            <a:ext cx="1371600" cy="742950"/>
          </a:xfrm>
          <a:prstGeom prst="rect">
            <a:avLst/>
          </a:prstGeom>
          <a:noFill/>
        </p:spPr>
        <p:txBody>
          <a:bodyPr wrap="none">
            <a:spAutoFit/>
          </a:bodyPr>
          <a:lstStyle/>
          <a:p>
            <a:pPr algn="ctr">
              <a:defRPr sz="1200" b="0">
                <a:solidFill>
                  <a:srgbClr val="059669"/>
                </a:solidFill>
                <a:latin typeface="Source Sans Pro"/>
              </a:defRPr>
            </a:pPr>
            <a:r>
              <a:t>Version 1</a:t>
            </a:r>
          </a:p>
        </p:txBody>
      </p:sp>
      <p:sp>
        <p:nvSpPr>
          <p:cNvPr id="7" name="Rectangle 6"/>
          <p:cNvSpPr/>
          <p:nvPr/>
        </p:nvSpPr>
        <p:spPr>
          <a:xfrm>
            <a:off x="3108960" y="1851660"/>
            <a:ext cx="1554480" cy="16687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zeta_logo_2_20250828_233213_61c6a3d4.png"/>
          <p:cNvPicPr>
            <a:picLocks noChangeAspect="1"/>
          </p:cNvPicPr>
          <p:nvPr/>
        </p:nvPicPr>
        <p:blipFill>
          <a:blip r:embed="rId3"/>
          <a:stretch>
            <a:fillRect/>
          </a:stretch>
        </p:blipFill>
        <p:spPr>
          <a:xfrm>
            <a:off x="3200400" y="1943100"/>
            <a:ext cx="1371600" cy="1485900"/>
          </a:xfrm>
          <a:prstGeom prst="rect">
            <a:avLst/>
          </a:prstGeom>
        </p:spPr>
      </p:pic>
      <p:sp>
        <p:nvSpPr>
          <p:cNvPr id="9" name="TextBox 8"/>
          <p:cNvSpPr txBox="1"/>
          <p:nvPr/>
        </p:nvSpPr>
        <p:spPr>
          <a:xfrm>
            <a:off x="3200400" y="3429000"/>
            <a:ext cx="1371600" cy="742950"/>
          </a:xfrm>
          <a:prstGeom prst="rect">
            <a:avLst/>
          </a:prstGeom>
          <a:noFill/>
        </p:spPr>
        <p:txBody>
          <a:bodyPr wrap="none">
            <a:spAutoFit/>
          </a:bodyPr>
          <a:lstStyle/>
          <a:p>
            <a:pPr algn="ctr">
              <a:defRPr sz="1200" b="0">
                <a:solidFill>
                  <a:srgbClr val="059669"/>
                </a:solidFill>
                <a:latin typeface="Source Sans Pro"/>
              </a:defRPr>
            </a:pPr>
            <a:r>
              <a:t>Version 2</a:t>
            </a:r>
          </a:p>
        </p:txBody>
      </p:sp>
      <p:sp>
        <p:nvSpPr>
          <p:cNvPr id="10" name="Rectangle 9"/>
          <p:cNvSpPr/>
          <p:nvPr/>
        </p:nvSpPr>
        <p:spPr>
          <a:xfrm>
            <a:off x="5166360" y="1851660"/>
            <a:ext cx="1554480" cy="16687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zeta_logo_3_20250828_233235_388d8093.png"/>
          <p:cNvPicPr>
            <a:picLocks noChangeAspect="1"/>
          </p:cNvPicPr>
          <p:nvPr/>
        </p:nvPicPr>
        <p:blipFill>
          <a:blip r:embed="rId4"/>
          <a:stretch>
            <a:fillRect/>
          </a:stretch>
        </p:blipFill>
        <p:spPr>
          <a:xfrm>
            <a:off x="5257800" y="1943100"/>
            <a:ext cx="1371600" cy="1485900"/>
          </a:xfrm>
          <a:prstGeom prst="rect">
            <a:avLst/>
          </a:prstGeom>
        </p:spPr>
      </p:pic>
      <p:sp>
        <p:nvSpPr>
          <p:cNvPr id="12" name="TextBox 11"/>
          <p:cNvSpPr txBox="1"/>
          <p:nvPr/>
        </p:nvSpPr>
        <p:spPr>
          <a:xfrm>
            <a:off x="5257800" y="3429000"/>
            <a:ext cx="1371600" cy="742950"/>
          </a:xfrm>
          <a:prstGeom prst="rect">
            <a:avLst/>
          </a:prstGeom>
          <a:noFill/>
        </p:spPr>
        <p:txBody>
          <a:bodyPr wrap="none">
            <a:spAutoFit/>
          </a:bodyPr>
          <a:lstStyle/>
          <a:p>
            <a:pPr algn="ctr">
              <a:defRPr sz="1200" b="0">
                <a:solidFill>
                  <a:srgbClr val="059669"/>
                </a:solidFill>
                <a:latin typeface="Source Sans Pro"/>
              </a:defRPr>
            </a:pPr>
            <a:r>
              <a:t>Version 3</a:t>
            </a:r>
          </a:p>
        </p:txBody>
      </p:sp>
      <p:sp>
        <p:nvSpPr>
          <p:cNvPr id="13" name="TextBox 12"/>
          <p:cNvSpPr txBox="1"/>
          <p:nvPr/>
        </p:nvSpPr>
        <p:spPr>
          <a:xfrm>
            <a:off x="1143000" y="4914900"/>
            <a:ext cx="7543800" cy="742950"/>
          </a:xfrm>
          <a:prstGeom prst="rect">
            <a:avLst/>
          </a:prstGeom>
          <a:noFill/>
        </p:spPr>
        <p:txBody>
          <a:bodyPr wrap="none">
            <a:spAutoFit/>
          </a:bodyPr>
          <a:lstStyle/>
          <a:p>
            <a:pPr algn="ctr">
              <a:defRPr sz="1200" b="0">
                <a:solidFill>
                  <a:srgbClr val="059669"/>
                </a:solidFill>
                <a:latin typeface="Source Sans Pro"/>
              </a:defRPr>
            </a:pPr>
            <a:r>
              <a:t>Minimum size: 0.5 inches • Clearspace: 0.25 inches on all sides</a:t>
            </a:r>
          </a:p>
        </p:txBody>
      </p:sp>
      <p:sp>
        <p:nvSpPr>
          <p:cNvPr id="14" name="TextBox 13"/>
          <p:cNvSpPr txBox="1"/>
          <p:nvPr/>
        </p:nvSpPr>
        <p:spPr>
          <a:xfrm>
            <a:off x="457200" y="5657850"/>
            <a:ext cx="4114800" cy="742950"/>
          </a:xfrm>
          <a:prstGeom prst="rect">
            <a:avLst/>
          </a:prstGeom>
          <a:noFill/>
        </p:spPr>
        <p:txBody>
          <a:bodyPr wrap="none">
            <a:spAutoFit/>
          </a:bodyPr>
          <a:lstStyle/>
          <a:p>
            <a:pPr algn="l">
              <a:defRPr sz="1000" b="0">
                <a:solidFill>
                  <a:srgbClr val="059669"/>
                </a:solidFill>
                <a:latin typeface="Source Sans Pro"/>
              </a:defRPr>
            </a:pPr>
            <a:r>
              <a:t>Zeta</a:t>
            </a:r>
          </a:p>
        </p:txBody>
      </p:sp>
      <p:sp>
        <p:nvSpPr>
          <p:cNvPr id="15" name="TextBox 14"/>
          <p:cNvSpPr txBox="1"/>
          <p:nvPr/>
        </p:nvSpPr>
        <p:spPr>
          <a:xfrm>
            <a:off x="4572000" y="5657850"/>
            <a:ext cx="4114800" cy="742950"/>
          </a:xfrm>
          <a:prstGeom prst="rect">
            <a:avLst/>
          </a:prstGeom>
          <a:noFill/>
        </p:spPr>
        <p:txBody>
          <a:bodyPr wrap="none">
            <a:spAutoFit/>
          </a:bodyPr>
          <a:lstStyle/>
          <a:p>
            <a:pPr algn="r">
              <a:defRPr sz="1000" b="0">
                <a:solidFill>
                  <a:srgbClr val="059669"/>
                </a:solidFill>
                <a:latin typeface="Source Sans Pro"/>
              </a:defRPr>
            </a:pPr>
            <a: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sp>
        <p:nvSpPr>
          <p:cNvPr id="2" name="Rectangle 1"/>
          <p:cNvSpPr/>
          <p:nvPr/>
        </p:nvSpPr>
        <p:spPr>
          <a:xfrm>
            <a:off x="0" y="0"/>
            <a:ext cx="9144000" cy="6858000"/>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Pr/>
      <p:sp>
        <p:nvSpPr>
          <p:cNvPr id="3" name="TextBox 2"/>
          <p:cNvSpPr txBox="1"/>
          <p:nvPr/>
        </p:nvSpPr>
        <p:spPr>
          <a:xfrm>
            <a:off x="1143000" y="457200"/>
            <a:ext cx="6858000" cy="742950"/>
          </a:xfrm>
          <a:prstGeom prst="rect">
            <a:avLst/>
          </a:prstGeom>
          <a:noFill/>
        </p:spPr>
        <p:txBody>
          <a:bodyPr wrap="none">
            <a:spAutoFit/>
          </a:bodyPr>
          <a:lstStyle/>
          <a:p>
            <a:pPr>
              <a:defRPr sz="3200" b="1">
                <a:solidFill>
                  <a:srgbClr val="059669"/>
                </a:solidFill>
                <a:latin typeface="Inter"/>
              </a:defRPr>
            </a:pPr>
            <a:r>
              <a:t>Color Palette</a:t>
            </a:r>
          </a:p>
        </p:txBody>
      </p:sp>
      <p:sp>
        <p:nvSpPr>
          <p:cNvPr id="4" name="Rectangle 3"/>
          <p:cNvSpPr/>
          <p:nvPr/>
        </p:nvSpPr>
        <p:spPr>
          <a:xfrm>
            <a:off x="1143000" y="1943100"/>
            <a:ext cx="2057400" cy="1485900"/>
          </a:xfrm>
          <a:prstGeom prst="rect">
            <a:avLst/>
          </a:prstGeom>
          <a:solidFill>
            <a:srgbClr val="059669"/>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3429000"/>
            <a:ext cx="2057400" cy="1485900"/>
          </a:xfrm>
          <a:prstGeom prst="rect">
            <a:avLst/>
          </a:prstGeom>
          <a:noFill/>
        </p:spPr>
        <p:txBody>
          <a:bodyPr wrap="square">
            <a:spAutoFit/>
          </a:bodyPr>
          <a:lstStyle/>
          <a:p>
            <a:pPr>
              <a:defRPr sz="1000" b="0">
                <a:solidFill>
                  <a:srgbClr val="059669"/>
                </a:solidFill>
                <a:latin typeface="Source Sans Pro"/>
              </a:defRPr>
            </a:pPr>
            <a:r>
              <a:t>Primary</a:t>
            </a:r>
          </a:p>
          <a:p>
            <a:pPr>
              <a:defRPr sz="1000" b="0">
                <a:solidFill>
                  <a:srgbClr val="059669"/>
                </a:solidFill>
                <a:latin typeface="Source Sans Pro"/>
              </a:defRPr>
            </a:pPr>
            <a:r>
              <a:t>#059669</a:t>
            </a:r>
          </a:p>
          <a:p>
            <a:pPr>
              <a:defRPr sz="1000" b="0">
                <a:solidFill>
                  <a:srgbClr val="059669"/>
                </a:solidFill>
                <a:latin typeface="Source Sans Pro"/>
              </a:defRPr>
            </a:pPr>
            <a:r>
              <a:t>RGB(5, 150, 105)</a:t>
            </a:r>
          </a:p>
          <a:p>
            <a:pPr>
              <a:defRPr sz="1000" b="0">
                <a:solidFill>
                  <a:srgbClr val="059669"/>
                </a:solidFill>
                <a:latin typeface="Source Sans Pro"/>
              </a:defRPr>
            </a:pPr>
            <a:r>
              <a:t>CMYK(96, 0, 30, 41)</a:t>
            </a:r>
          </a:p>
          <a:p>
            <a:pPr>
              <a:defRPr sz="1000" b="0">
                <a:solidFill>
                  <a:srgbClr val="059669"/>
                </a:solidFill>
                <a:latin typeface="Source Sans Pro"/>
              </a:defRPr>
            </a:pPr>
            <a:r>
              <a:t>Use Light Text</a:t>
            </a:r>
          </a:p>
        </p:txBody>
      </p:sp>
      <p:sp>
        <p:nvSpPr>
          <p:cNvPr id="6" name="Rectangle 5"/>
          <p:cNvSpPr/>
          <p:nvPr/>
        </p:nvSpPr>
        <p:spPr>
          <a:xfrm>
            <a:off x="3886200" y="1943100"/>
            <a:ext cx="2057400" cy="1485900"/>
          </a:xfrm>
          <a:prstGeom prst="rect">
            <a:avLst/>
          </a:prstGeom>
          <a:solidFill>
            <a:srgbClr val="6D28D9"/>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886200" y="3429000"/>
            <a:ext cx="2057400" cy="1485900"/>
          </a:xfrm>
          <a:prstGeom prst="rect">
            <a:avLst/>
          </a:prstGeom>
          <a:noFill/>
        </p:spPr>
        <p:txBody>
          <a:bodyPr wrap="square">
            <a:spAutoFit/>
          </a:bodyPr>
          <a:lstStyle/>
          <a:p>
            <a:pPr>
              <a:defRPr sz="1000" b="0">
                <a:solidFill>
                  <a:srgbClr val="059669"/>
                </a:solidFill>
                <a:latin typeface="Source Sans Pro"/>
              </a:defRPr>
            </a:pPr>
            <a:r>
              <a:t>Secondary</a:t>
            </a:r>
          </a:p>
          <a:p>
            <a:pPr>
              <a:defRPr sz="1000" b="0">
                <a:solidFill>
                  <a:srgbClr val="059669"/>
                </a:solidFill>
                <a:latin typeface="Source Sans Pro"/>
              </a:defRPr>
            </a:pPr>
            <a:r>
              <a:t>#6D28D9</a:t>
            </a:r>
          </a:p>
          <a:p>
            <a:pPr>
              <a:defRPr sz="1000" b="0">
                <a:solidFill>
                  <a:srgbClr val="059669"/>
                </a:solidFill>
                <a:latin typeface="Source Sans Pro"/>
              </a:defRPr>
            </a:pPr>
            <a:r>
              <a:t>RGB(109, 40, 217)</a:t>
            </a:r>
          </a:p>
          <a:p>
            <a:pPr>
              <a:defRPr sz="1000" b="0">
                <a:solidFill>
                  <a:srgbClr val="059669"/>
                </a:solidFill>
                <a:latin typeface="Source Sans Pro"/>
              </a:defRPr>
            </a:pPr>
            <a:r>
              <a:t>CMYK(49, 81, 0, 14)</a:t>
            </a:r>
          </a:p>
          <a:p>
            <a:pPr>
              <a:defRPr sz="1000" b="0">
                <a:solidFill>
                  <a:srgbClr val="059669"/>
                </a:solidFill>
                <a:latin typeface="Source Sans Pro"/>
              </a:defRPr>
            </a:pPr>
            <a:r>
              <a:t>Use Light Text</a:t>
            </a:r>
          </a:p>
        </p:txBody>
      </p:sp>
      <p:sp>
        <p:nvSpPr>
          <p:cNvPr id="8" name="Rectangle 7"/>
          <p:cNvSpPr/>
          <p:nvPr/>
        </p:nvSpPr>
        <p:spPr>
          <a:xfrm>
            <a:off x="6629400" y="1943100"/>
            <a:ext cx="2057400" cy="1485900"/>
          </a:xfrm>
          <a:prstGeom prst="rect">
            <a:avLst/>
          </a:prstGeom>
          <a:solidFill>
            <a:srgbClr val="3B82F6"/>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629400" y="3429000"/>
            <a:ext cx="2057400" cy="1485900"/>
          </a:xfrm>
          <a:prstGeom prst="rect">
            <a:avLst/>
          </a:prstGeom>
          <a:noFill/>
        </p:spPr>
        <p:txBody>
          <a:bodyPr wrap="square">
            <a:spAutoFit/>
          </a:bodyPr>
          <a:lstStyle/>
          <a:p>
            <a:pPr>
              <a:defRPr sz="1000" b="0">
                <a:solidFill>
                  <a:srgbClr val="059669"/>
                </a:solidFill>
                <a:latin typeface="Source Sans Pro"/>
              </a:defRPr>
            </a:pPr>
            <a:r>
              <a:t>Accent</a:t>
            </a:r>
          </a:p>
          <a:p>
            <a:pPr>
              <a:defRPr sz="1000" b="0">
                <a:solidFill>
                  <a:srgbClr val="059669"/>
                </a:solidFill>
                <a:latin typeface="Source Sans Pro"/>
              </a:defRPr>
            </a:pPr>
            <a:r>
              <a:t>#3B82F6</a:t>
            </a:r>
          </a:p>
          <a:p>
            <a:pPr>
              <a:defRPr sz="1000" b="0">
                <a:solidFill>
                  <a:srgbClr val="059669"/>
                </a:solidFill>
                <a:latin typeface="Source Sans Pro"/>
              </a:defRPr>
            </a:pPr>
            <a:r>
              <a:t>RGB(59, 130, 246)</a:t>
            </a:r>
          </a:p>
          <a:p>
            <a:pPr>
              <a:defRPr sz="1000" b="0">
                <a:solidFill>
                  <a:srgbClr val="059669"/>
                </a:solidFill>
                <a:latin typeface="Source Sans Pro"/>
              </a:defRPr>
            </a:pPr>
            <a:r>
              <a:t>CMYK(76, 47, 0, 3)</a:t>
            </a:r>
          </a:p>
          <a:p>
            <a:pPr>
              <a:defRPr sz="1000" b="0">
                <a:solidFill>
                  <a:srgbClr val="059669"/>
                </a:solidFill>
                <a:latin typeface="Source Sans Pro"/>
              </a:defRPr>
            </a:pPr>
            <a:r>
              <a:t>Use Dark Text</a:t>
            </a:r>
          </a:p>
        </p:txBody>
      </p:sp>
      <p:sp>
        <p:nvSpPr>
          <p:cNvPr id="10" name="Rectangle 9"/>
          <p:cNvSpPr/>
          <p:nvPr/>
        </p:nvSpPr>
        <p:spPr>
          <a:xfrm>
            <a:off x="1143000" y="5657850"/>
            <a:ext cx="2057400" cy="1485900"/>
          </a:xfrm>
          <a:prstGeom prst="rect">
            <a:avLst/>
          </a:prstGeom>
          <a:solidFill>
            <a:srgbClr val="065F46"/>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43000" y="7143750"/>
            <a:ext cx="2057400" cy="1485900"/>
          </a:xfrm>
          <a:prstGeom prst="rect">
            <a:avLst/>
          </a:prstGeom>
          <a:noFill/>
        </p:spPr>
        <p:txBody>
          <a:bodyPr wrap="square">
            <a:spAutoFit/>
          </a:bodyPr>
          <a:lstStyle/>
          <a:p>
            <a:pPr>
              <a:defRPr sz="1000" b="0">
                <a:solidFill>
                  <a:srgbClr val="059669"/>
                </a:solidFill>
                <a:latin typeface="Source Sans Pro"/>
              </a:defRPr>
            </a:pPr>
            <a:r>
              <a:t>Supporting</a:t>
            </a:r>
          </a:p>
          <a:p>
            <a:pPr>
              <a:defRPr sz="1000" b="0">
                <a:solidFill>
                  <a:srgbClr val="059669"/>
                </a:solidFill>
                <a:latin typeface="Source Sans Pro"/>
              </a:defRPr>
            </a:pPr>
            <a:r>
              <a:t>#065F46</a:t>
            </a:r>
          </a:p>
          <a:p>
            <a:pPr>
              <a:defRPr sz="1000" b="0">
                <a:solidFill>
                  <a:srgbClr val="059669"/>
                </a:solidFill>
                <a:latin typeface="Source Sans Pro"/>
              </a:defRPr>
            </a:pPr>
            <a:r>
              <a:t>RGB(6, 95, 70)</a:t>
            </a:r>
          </a:p>
          <a:p>
            <a:pPr>
              <a:defRPr sz="1000" b="0">
                <a:solidFill>
                  <a:srgbClr val="059669"/>
                </a:solidFill>
                <a:latin typeface="Source Sans Pro"/>
              </a:defRPr>
            </a:pPr>
            <a:r>
              <a:t>CMYK(93, 0, 26, 62)</a:t>
            </a:r>
          </a:p>
          <a:p>
            <a:pPr>
              <a:defRPr sz="1000" b="0">
                <a:solidFill>
                  <a:srgbClr val="059669"/>
                </a:solidFill>
                <a:latin typeface="Source Sans Pro"/>
              </a:defRPr>
            </a:pPr>
            <a:r>
              <a:t>Use Light Text</a:t>
            </a:r>
          </a:p>
        </p:txBody>
      </p:sp>
      <p:sp>
        <p:nvSpPr>
          <p:cNvPr id="12" name="Rectangle 11"/>
          <p:cNvSpPr/>
          <p:nvPr/>
        </p:nvSpPr>
        <p:spPr>
          <a:xfrm>
            <a:off x="3886200" y="5657850"/>
            <a:ext cx="2057400" cy="1485900"/>
          </a:xfrm>
          <a:prstGeom prst="rect">
            <a:avLst/>
          </a:prstGeom>
          <a:solidFill>
            <a:srgbClr val="059669"/>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886200" y="7143750"/>
            <a:ext cx="2057400" cy="1485900"/>
          </a:xfrm>
          <a:prstGeom prst="rect">
            <a:avLst/>
          </a:prstGeom>
          <a:noFill/>
        </p:spPr>
        <p:txBody>
          <a:bodyPr wrap="square">
            <a:spAutoFit/>
          </a:bodyPr>
          <a:lstStyle/>
          <a:p>
            <a:pPr>
              <a:defRPr sz="1000" b="0">
                <a:solidFill>
                  <a:srgbClr val="059669"/>
                </a:solidFill>
                <a:latin typeface="Source Sans Pro"/>
              </a:defRPr>
            </a:pPr>
            <a:r>
              <a:t>Hex_Codes</a:t>
            </a:r>
          </a:p>
          <a:p>
            <a:pPr>
              <a:defRPr sz="1000" b="0">
                <a:solidFill>
                  <a:srgbClr val="059669"/>
                </a:solidFill>
                <a:latin typeface="Source Sans Pro"/>
              </a:defRPr>
            </a:pPr>
            <a:r>
              <a:t>#059669</a:t>
            </a:r>
          </a:p>
          <a:p>
            <a:pPr>
              <a:defRPr sz="1000" b="0">
                <a:solidFill>
                  <a:srgbClr val="059669"/>
                </a:solidFill>
                <a:latin typeface="Source Sans Pro"/>
              </a:defRPr>
            </a:pPr>
            <a:r>
              <a:t>RGB(5, 150, 105)</a:t>
            </a:r>
          </a:p>
          <a:p>
            <a:pPr>
              <a:defRPr sz="1000" b="0">
                <a:solidFill>
                  <a:srgbClr val="059669"/>
                </a:solidFill>
                <a:latin typeface="Source Sans Pro"/>
              </a:defRPr>
            </a:pPr>
            <a:r>
              <a:t>CMYK(96, 0, 30, 41)</a:t>
            </a:r>
          </a:p>
          <a:p>
            <a:pPr>
              <a:defRPr sz="1000" b="0">
                <a:solidFill>
                  <a:srgbClr val="059669"/>
                </a:solidFill>
                <a:latin typeface="Source Sans Pro"/>
              </a:defRPr>
            </a:pPr>
            <a:r>
              <a:t>Use Light Text</a:t>
            </a:r>
          </a:p>
        </p:txBody>
      </p:sp>
      <p:sp>
        <p:nvSpPr>
          <p:cNvPr id="14" name="TextBox 13"/>
          <p:cNvSpPr txBox="1"/>
          <p:nvPr/>
        </p:nvSpPr>
        <p:spPr>
          <a:xfrm>
            <a:off x="457200" y="5657850"/>
            <a:ext cx="4114800" cy="742950"/>
          </a:xfrm>
          <a:prstGeom prst="rect">
            <a:avLst/>
          </a:prstGeom>
          <a:noFill/>
        </p:spPr>
        <p:txBody>
          <a:bodyPr wrap="none">
            <a:spAutoFit/>
          </a:bodyPr>
          <a:lstStyle/>
          <a:p>
            <a:pPr algn="l">
              <a:defRPr sz="1000" b="0">
                <a:solidFill>
                  <a:srgbClr val="059669"/>
                </a:solidFill>
                <a:latin typeface="Source Sans Pro"/>
              </a:defRPr>
            </a:pPr>
            <a:r>
              <a:t>Zeta</a:t>
            </a:r>
          </a:p>
        </p:txBody>
      </p:sp>
      <p:sp>
        <p:nvSpPr>
          <p:cNvPr id="15" name="TextBox 14"/>
          <p:cNvSpPr txBox="1"/>
          <p:nvPr/>
        </p:nvSpPr>
        <p:spPr>
          <a:xfrm>
            <a:off x="4572000" y="5657850"/>
            <a:ext cx="4114800" cy="742950"/>
          </a:xfrm>
          <a:prstGeom prst="rect">
            <a:avLst/>
          </a:prstGeom>
          <a:noFill/>
        </p:spPr>
        <p:txBody>
          <a:bodyPr wrap="none">
            <a:spAutoFit/>
          </a:bodyPr>
          <a:lstStyle/>
          <a:p>
            <a:pPr algn="r">
              <a:defRPr sz="1000" b="0">
                <a:solidFill>
                  <a:srgbClr val="059669"/>
                </a:solidFill>
                <a:latin typeface="Source Sans Pro"/>
              </a:defRPr>
            </a:pPr>
            <a: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sp>
        <p:nvSpPr>
          <p:cNvPr id="2" name="Rectangle 1"/>
          <p:cNvSpPr/>
          <p:nvPr/>
        </p:nvSpPr>
        <p:spPr>
          <a:xfrm>
            <a:off x="0" y="0"/>
            <a:ext cx="9144000" cy="6858000"/>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Pr/>
      <p:sp>
        <p:nvSpPr>
          <p:cNvPr id="3" name="TextBox 2"/>
          <p:cNvSpPr txBox="1"/>
          <p:nvPr/>
        </p:nvSpPr>
        <p:spPr>
          <a:xfrm>
            <a:off x="1143000" y="457200"/>
            <a:ext cx="6858000" cy="742950"/>
          </a:xfrm>
          <a:prstGeom prst="rect">
            <a:avLst/>
          </a:prstGeom>
          <a:noFill/>
        </p:spPr>
        <p:txBody>
          <a:bodyPr wrap="none">
            <a:spAutoFit/>
          </a:bodyPr>
          <a:lstStyle/>
          <a:p>
            <a:pPr>
              <a:defRPr sz="3200" b="1">
                <a:solidFill>
                  <a:srgbClr val="059669"/>
                </a:solidFill>
                <a:latin typeface="Inter"/>
              </a:defRPr>
            </a:pPr>
            <a:r>
              <a:t>Typography</a:t>
            </a:r>
          </a:p>
        </p:txBody>
      </p:sp>
      <p:sp>
        <p:nvSpPr>
          <p:cNvPr id="4" name="TextBox 3"/>
          <p:cNvSpPr txBox="1"/>
          <p:nvPr/>
        </p:nvSpPr>
        <p:spPr>
          <a:xfrm>
            <a:off x="1143000" y="1943100"/>
            <a:ext cx="3429000" cy="742950"/>
          </a:xfrm>
          <a:prstGeom prst="rect">
            <a:avLst/>
          </a:prstGeom>
          <a:noFill/>
        </p:spPr>
        <p:txBody>
          <a:bodyPr wrap="none">
            <a:spAutoFit/>
          </a:bodyPr>
          <a:lstStyle/>
          <a:p>
            <a:pPr>
              <a:defRPr sz="2000" b="0">
                <a:solidFill>
                  <a:srgbClr val="059669"/>
                </a:solidFill>
                <a:latin typeface="Source Sans Pro"/>
              </a:defRPr>
            </a:pPr>
            <a:r>
              <a:t>Primary Font: Inter</a:t>
            </a:r>
          </a:p>
        </p:txBody>
      </p:sp>
      <p:sp>
        <p:nvSpPr>
          <p:cNvPr id="5" name="TextBox 4"/>
          <p:cNvSpPr txBox="1"/>
          <p:nvPr/>
        </p:nvSpPr>
        <p:spPr>
          <a:xfrm>
            <a:off x="1143000" y="2686050"/>
            <a:ext cx="3429000" cy="742950"/>
          </a:xfrm>
          <a:prstGeom prst="rect">
            <a:avLst/>
          </a:prstGeom>
          <a:noFill/>
        </p:spPr>
        <p:txBody>
          <a:bodyPr wrap="none">
            <a:spAutoFit/>
          </a:bodyPr>
          <a:lstStyle/>
          <a:p>
            <a:pPr>
              <a:defRPr sz="3200" b="1">
                <a:solidFill>
                  <a:srgbClr val="059669"/>
                </a:solidFill>
                <a:latin typeface="Inter"/>
              </a:defRPr>
            </a:pPr>
            <a:r>
              <a:t>H1 Heading</a:t>
            </a:r>
          </a:p>
        </p:txBody>
      </p:sp>
      <p:sp>
        <p:nvSpPr>
          <p:cNvPr id="6" name="TextBox 5"/>
          <p:cNvSpPr txBox="1"/>
          <p:nvPr/>
        </p:nvSpPr>
        <p:spPr>
          <a:xfrm>
            <a:off x="1143000" y="3429000"/>
            <a:ext cx="3429000" cy="742950"/>
          </a:xfrm>
          <a:prstGeom prst="rect">
            <a:avLst/>
          </a:prstGeom>
          <a:noFill/>
        </p:spPr>
        <p:txBody>
          <a:bodyPr wrap="none">
            <a:spAutoFit/>
          </a:bodyPr>
          <a:lstStyle/>
          <a:p>
            <a:pPr>
              <a:defRPr sz="2400" b="1">
                <a:solidFill>
                  <a:srgbClr val="059669"/>
                </a:solidFill>
                <a:latin typeface="Inter"/>
              </a:defRPr>
            </a:pPr>
            <a:r>
              <a:t>H2 Heading</a:t>
            </a:r>
          </a:p>
        </p:txBody>
      </p:sp>
      <p:sp>
        <p:nvSpPr>
          <p:cNvPr id="7" name="TextBox 6"/>
          <p:cNvSpPr txBox="1"/>
          <p:nvPr/>
        </p:nvSpPr>
        <p:spPr>
          <a:xfrm>
            <a:off x="1143000" y="4171950"/>
            <a:ext cx="3429000" cy="742950"/>
          </a:xfrm>
          <a:prstGeom prst="rect">
            <a:avLst/>
          </a:prstGeom>
          <a:noFill/>
        </p:spPr>
        <p:txBody>
          <a:bodyPr wrap="none">
            <a:spAutoFit/>
          </a:bodyPr>
          <a:lstStyle/>
          <a:p>
            <a:pPr>
              <a:defRPr sz="2000" b="0">
                <a:solidFill>
                  <a:srgbClr val="059669"/>
                </a:solidFill>
                <a:latin typeface="Inter"/>
              </a:defRPr>
            </a:pPr>
            <a:r>
              <a:t>H3 Heading</a:t>
            </a:r>
          </a:p>
        </p:txBody>
      </p:sp>
      <p:sp>
        <p:nvSpPr>
          <p:cNvPr id="8" name="TextBox 7"/>
          <p:cNvSpPr txBox="1"/>
          <p:nvPr/>
        </p:nvSpPr>
        <p:spPr>
          <a:xfrm>
            <a:off x="5257800" y="1943100"/>
            <a:ext cx="3429000" cy="742950"/>
          </a:xfrm>
          <a:prstGeom prst="rect">
            <a:avLst/>
          </a:prstGeom>
          <a:noFill/>
        </p:spPr>
        <p:txBody>
          <a:bodyPr wrap="none">
            <a:spAutoFit/>
          </a:bodyPr>
          <a:lstStyle/>
          <a:p>
            <a:pPr>
              <a:defRPr sz="2000" b="0">
                <a:solidFill>
                  <a:srgbClr val="059669"/>
                </a:solidFill>
                <a:latin typeface="Source Sans Pro"/>
              </a:defRPr>
            </a:pPr>
            <a:r>
              <a:t>Secondary Font: Source Sans Pro</a:t>
            </a:r>
          </a:p>
        </p:txBody>
      </p:sp>
      <p:sp>
        <p:nvSpPr>
          <p:cNvPr id="9" name="TextBox 8"/>
          <p:cNvSpPr txBox="1"/>
          <p:nvPr/>
        </p:nvSpPr>
        <p:spPr>
          <a:xfrm>
            <a:off x="5257800" y="2686050"/>
            <a:ext cx="3429000" cy="742950"/>
          </a:xfrm>
          <a:prstGeom prst="rect">
            <a:avLst/>
          </a:prstGeom>
          <a:noFill/>
        </p:spPr>
        <p:txBody>
          <a:bodyPr wrap="none">
            <a:spAutoFit/>
          </a:bodyPr>
          <a:lstStyle/>
          <a:p>
            <a:pPr>
              <a:defRPr sz="1600" b="0">
                <a:solidFill>
                  <a:srgbClr val="059669"/>
                </a:solidFill>
                <a:latin typeface="Source Sans Pro"/>
              </a:defRPr>
            </a:pPr>
            <a:r>
              <a:t>Body Text</a:t>
            </a:r>
          </a:p>
        </p:txBody>
      </p:sp>
      <p:sp>
        <p:nvSpPr>
          <p:cNvPr id="10" name="TextBox 9"/>
          <p:cNvSpPr txBox="1"/>
          <p:nvPr/>
        </p:nvSpPr>
        <p:spPr>
          <a:xfrm>
            <a:off x="5257800" y="3429000"/>
            <a:ext cx="3429000" cy="742950"/>
          </a:xfrm>
          <a:prstGeom prst="rect">
            <a:avLst/>
          </a:prstGeom>
          <a:noFill/>
        </p:spPr>
        <p:txBody>
          <a:bodyPr wrap="none">
            <a:spAutoFit/>
          </a:bodyPr>
          <a:lstStyle/>
          <a:p>
            <a:pPr>
              <a:defRPr sz="1600" b="1">
                <a:solidFill>
                  <a:srgbClr val="059669"/>
                </a:solidFill>
                <a:latin typeface="Source Sans Pro"/>
              </a:defRPr>
            </a:pPr>
            <a:r>
              <a:t>Body Bold</a:t>
            </a:r>
          </a:p>
        </p:txBody>
      </p:sp>
      <p:sp>
        <p:nvSpPr>
          <p:cNvPr id="11" name="TextBox 10"/>
          <p:cNvSpPr txBox="1"/>
          <p:nvPr/>
        </p:nvSpPr>
        <p:spPr>
          <a:xfrm>
            <a:off x="5257800" y="4171950"/>
            <a:ext cx="3429000" cy="742950"/>
          </a:xfrm>
          <a:prstGeom prst="rect">
            <a:avLst/>
          </a:prstGeom>
          <a:noFill/>
        </p:spPr>
        <p:txBody>
          <a:bodyPr wrap="none">
            <a:spAutoFit/>
          </a:bodyPr>
          <a:lstStyle/>
          <a:p>
            <a:pPr>
              <a:defRPr sz="1200" b="0">
                <a:solidFill>
                  <a:srgbClr val="059669"/>
                </a:solidFill>
                <a:latin typeface="Source Sans Pro"/>
              </a:defRPr>
            </a:pPr>
            <a:r>
              <a:t>Caption Text</a:t>
            </a:r>
          </a:p>
        </p:txBody>
      </p:sp>
      <p:sp>
        <p:nvSpPr>
          <p:cNvPr id="12" name="TextBox 11"/>
          <p:cNvSpPr txBox="1"/>
          <p:nvPr/>
        </p:nvSpPr>
        <p:spPr>
          <a:xfrm>
            <a:off x="457200" y="5657850"/>
            <a:ext cx="4114800" cy="742950"/>
          </a:xfrm>
          <a:prstGeom prst="rect">
            <a:avLst/>
          </a:prstGeom>
          <a:noFill/>
        </p:spPr>
        <p:txBody>
          <a:bodyPr wrap="none">
            <a:spAutoFit/>
          </a:bodyPr>
          <a:lstStyle/>
          <a:p>
            <a:pPr algn="l">
              <a:defRPr sz="1000" b="0">
                <a:solidFill>
                  <a:srgbClr val="059669"/>
                </a:solidFill>
                <a:latin typeface="Source Sans Pro"/>
              </a:defRPr>
            </a:pPr>
            <a:r>
              <a:t>Zeta</a:t>
            </a:r>
          </a:p>
        </p:txBody>
      </p:sp>
      <p:sp>
        <p:nvSpPr>
          <p:cNvPr id="13" name="TextBox 12"/>
          <p:cNvSpPr txBox="1"/>
          <p:nvPr/>
        </p:nvSpPr>
        <p:spPr>
          <a:xfrm>
            <a:off x="4572000" y="5657850"/>
            <a:ext cx="4114800" cy="742950"/>
          </a:xfrm>
          <a:prstGeom prst="rect">
            <a:avLst/>
          </a:prstGeom>
          <a:noFill/>
        </p:spPr>
        <p:txBody>
          <a:bodyPr wrap="none">
            <a:spAutoFit/>
          </a:bodyPr>
          <a:lstStyle/>
          <a:p>
            <a:pPr algn="r">
              <a:defRPr sz="1000" b="0">
                <a:solidFill>
                  <a:srgbClr val="059669"/>
                </a:solidFill>
                <a:latin typeface="Source Sans Pro"/>
              </a:defRPr>
            </a:pPr>
            <a: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sp>
        <p:nvSpPr>
          <p:cNvPr id="2" name="Rectangle 1"/>
          <p:cNvSpPr/>
          <p:nvPr/>
        </p:nvSpPr>
        <p:spPr>
          <a:xfrm>
            <a:off x="0" y="0"/>
            <a:ext cx="9144000" cy="6858000"/>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Pr/>
      <p:sp>
        <p:nvSpPr>
          <p:cNvPr id="3" name="TextBox 2"/>
          <p:cNvSpPr txBox="1"/>
          <p:nvPr/>
        </p:nvSpPr>
        <p:spPr>
          <a:xfrm>
            <a:off x="1143000" y="457200"/>
            <a:ext cx="6858000" cy="742950"/>
          </a:xfrm>
          <a:prstGeom prst="rect">
            <a:avLst/>
          </a:prstGeom>
          <a:noFill/>
        </p:spPr>
        <p:txBody>
          <a:bodyPr wrap="none">
            <a:spAutoFit/>
          </a:bodyPr>
          <a:lstStyle/>
          <a:p>
            <a:pPr>
              <a:defRPr sz="3200" b="1">
                <a:solidFill>
                  <a:srgbClr val="059669"/>
                </a:solidFill>
                <a:latin typeface="Inter"/>
              </a:defRPr>
            </a:pPr>
            <a:r>
              <a:t>Visual &amp; Photography Guidelines</a:t>
            </a:r>
          </a:p>
        </p:txBody>
      </p:sp>
      <p:sp>
        <p:nvSpPr>
          <p:cNvPr id="4" name="TextBox 3"/>
          <p:cNvSpPr txBox="1"/>
          <p:nvPr/>
        </p:nvSpPr>
        <p:spPr>
          <a:xfrm>
            <a:off x="1143000" y="1943100"/>
            <a:ext cx="3429000" cy="2971800"/>
          </a:xfrm>
          <a:prstGeom prst="rect">
            <a:avLst/>
          </a:prstGeom>
          <a:noFill/>
        </p:spPr>
        <p:txBody>
          <a:bodyPr wrap="square">
            <a:spAutoFit/>
          </a:bodyPr>
          <a:lstStyle/>
          <a:p>
            <a:pPr>
              <a:defRPr sz="1800" b="0">
                <a:solidFill>
                  <a:srgbClr val="059669"/>
                </a:solidFill>
                <a:latin typeface="Source Sans Pro"/>
              </a:defRPr>
            </a:pPr>
            <a:r>
              <a:t>Visual Style Guidelines:</a:t>
            </a:r>
          </a:p>
          <a:p>
            <a:pPr>
              <a:defRPr sz="1400" b="0">
                <a:solidFill>
                  <a:srgbClr val="059669"/>
                </a:solidFill>
                <a:latin typeface="Source Sans Pro"/>
              </a:defRPr>
            </a:pPr>
            <a:r>
              <a:t>• Visual style for Zeta in Banking Technology</a:t>
            </a:r>
          </a:p>
          <a:p>
            <a:pPr>
              <a:defRPr sz="1400" b="0">
                <a:solidFill>
                  <a:srgbClr val="059669"/>
                </a:solidFill>
                <a:latin typeface="Source Sans Pro"/>
              </a:defRPr>
            </a:pPr>
            <a:r>
              <a:t>• Fintech: Elegrant aesthetic</a:t>
            </a:r>
          </a:p>
          <a:p>
            <a:pPr>
              <a:defRPr sz="1400" b="0">
                <a:solidFill>
                  <a:srgbClr val="059669"/>
                </a:solidFill>
                <a:latin typeface="Source Sans Pro"/>
              </a:defRPr>
            </a:pPr>
            <a:r>
              <a:t>• values: Reliability</a:t>
            </a:r>
          </a:p>
          <a:p>
            <a:pPr>
              <a:defRPr sz="1400" b="0">
                <a:solidFill>
                  <a:srgbClr val="059669"/>
                </a:solidFill>
                <a:latin typeface="Source Sans Pro"/>
              </a:defRPr>
            </a:pPr>
            <a:r>
              <a:t>• Innovation</a:t>
            </a:r>
          </a:p>
          <a:p>
            <a:pPr>
              <a:defRPr sz="1400" b="0">
                <a:solidFill>
                  <a:srgbClr val="059669"/>
                </a:solidFill>
                <a:latin typeface="Source Sans Pro"/>
              </a:defRPr>
            </a:pPr>
            <a:r>
              <a:t>• Precision</a:t>
            </a:r>
          </a:p>
        </p:txBody>
      </p:sp>
      <p:sp>
        <p:nvSpPr>
          <p:cNvPr id="5" name="TextBox 4"/>
          <p:cNvSpPr txBox="1"/>
          <p:nvPr/>
        </p:nvSpPr>
        <p:spPr>
          <a:xfrm>
            <a:off x="5257800" y="1943100"/>
            <a:ext cx="3429000" cy="2971800"/>
          </a:xfrm>
          <a:prstGeom prst="rect">
            <a:avLst/>
          </a:prstGeom>
          <a:noFill/>
        </p:spPr>
        <p:txBody>
          <a:bodyPr wrap="square">
            <a:spAutoFit/>
          </a:bodyPr>
          <a:lstStyle/>
          <a:p>
            <a:pPr>
              <a:defRPr sz="1800" b="0">
                <a:solidFill>
                  <a:srgbClr val="059669"/>
                </a:solidFill>
                <a:latin typeface="Source Sans Pro"/>
              </a:defRPr>
            </a:pPr>
            <a:r>
              <a:t>Photography Guidelines:</a:t>
            </a:r>
          </a:p>
          <a:p>
            <a:pPr>
              <a:defRPr sz="1400" b="0">
                <a:solidFill>
                  <a:srgbClr val="059669"/>
                </a:solidFill>
                <a:latin typeface="Source Sans Pro"/>
              </a:defRPr>
            </a:pPr>
            <a:r>
              <a:t>• Photography style for Zeta: Elegrant and Banking Technology</a:t>
            </a:r>
          </a:p>
          <a:p>
            <a:pPr>
              <a:defRPr sz="1400" b="0">
                <a:solidFill>
                  <a:srgbClr val="059669"/>
                </a:solidFill>
                <a:latin typeface="Source Sans Pro"/>
              </a:defRPr>
            </a:pPr>
            <a:r>
              <a:t>• Fintech feel. Show diversity</a:t>
            </a:r>
          </a:p>
          <a:p>
            <a:pPr>
              <a:defRPr sz="1400" b="0">
                <a:solidFill>
                  <a:srgbClr val="059669"/>
                </a:solidFill>
                <a:latin typeface="Source Sans Pro"/>
              </a:defRPr>
            </a:pPr>
            <a:r>
              <a:t>• authenticity</a:t>
            </a:r>
          </a:p>
          <a:p>
            <a:pPr>
              <a:defRPr sz="1400" b="0">
                <a:solidFill>
                  <a:srgbClr val="059669"/>
                </a:solidFill>
                <a:latin typeface="Source Sans Pro"/>
              </a:defRPr>
            </a:pPr>
            <a:r>
              <a:t>• and lighting that supports brand values: Reliability</a:t>
            </a:r>
          </a:p>
          <a:p>
            <a:pPr>
              <a:defRPr sz="1400" b="0">
                <a:solidFill>
                  <a:srgbClr val="059669"/>
                </a:solidFill>
                <a:latin typeface="Source Sans Pro"/>
              </a:defRPr>
            </a:pPr>
            <a:r>
              <a:t>• Innovation</a:t>
            </a:r>
          </a:p>
        </p:txBody>
      </p:sp>
      <p:sp>
        <p:nvSpPr>
          <p:cNvPr id="6" name="Rectangle 5"/>
          <p:cNvSpPr/>
          <p:nvPr/>
        </p:nvSpPr>
        <p:spPr>
          <a:xfrm>
            <a:off x="5257800" y="4914900"/>
            <a:ext cx="685800" cy="742950"/>
          </a:xfrm>
          <a:prstGeom prst="rect">
            <a:avLst/>
          </a:prstGeom>
          <a:solidFill>
            <a:srgbClr val="404040"/>
          </a:solidFill>
          <a:ln w="12700">
            <a:solidFill>
              <a:srgbClr val="80808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257800" y="5162550"/>
            <a:ext cx="685800" cy="247650"/>
          </a:xfrm>
          <a:prstGeom prst="rect">
            <a:avLst/>
          </a:prstGeom>
          <a:noFill/>
        </p:spPr>
        <p:txBody>
          <a:bodyPr wrap="none">
            <a:spAutoFit/>
          </a:bodyPr>
          <a:lstStyle/>
          <a:p>
            <a:pPr algn="ctr">
              <a:defRPr sz="800" b="0">
                <a:solidFill>
                  <a:srgbClr val="059669"/>
                </a:solidFill>
                <a:latin typeface="Source Sans Pro"/>
              </a:defRPr>
            </a:pPr>
            <a:r>
              <a:t>Example</a:t>
            </a:r>
          </a:p>
        </p:txBody>
      </p:sp>
      <p:sp>
        <p:nvSpPr>
          <p:cNvPr id="8" name="Rectangle 7"/>
          <p:cNvSpPr/>
          <p:nvPr/>
        </p:nvSpPr>
        <p:spPr>
          <a:xfrm>
            <a:off x="6629400" y="4914900"/>
            <a:ext cx="685800" cy="742950"/>
          </a:xfrm>
          <a:prstGeom prst="rect">
            <a:avLst/>
          </a:prstGeom>
          <a:solidFill>
            <a:srgbClr val="404040"/>
          </a:solidFill>
          <a:ln w="12700">
            <a:solidFill>
              <a:srgbClr val="80808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629400" y="5162550"/>
            <a:ext cx="685800" cy="247650"/>
          </a:xfrm>
          <a:prstGeom prst="rect">
            <a:avLst/>
          </a:prstGeom>
          <a:noFill/>
        </p:spPr>
        <p:txBody>
          <a:bodyPr wrap="none">
            <a:spAutoFit/>
          </a:bodyPr>
          <a:lstStyle/>
          <a:p>
            <a:pPr algn="ctr">
              <a:defRPr sz="800" b="0">
                <a:solidFill>
                  <a:srgbClr val="059669"/>
                </a:solidFill>
                <a:latin typeface="Source Sans Pro"/>
              </a:defRPr>
            </a:pPr>
            <a:r>
              <a:t>Example</a:t>
            </a:r>
          </a:p>
        </p:txBody>
      </p:sp>
      <p:sp>
        <p:nvSpPr>
          <p:cNvPr id="10" name="Rectangle 9"/>
          <p:cNvSpPr/>
          <p:nvPr/>
        </p:nvSpPr>
        <p:spPr>
          <a:xfrm>
            <a:off x="8001000" y="4914900"/>
            <a:ext cx="685800" cy="742950"/>
          </a:xfrm>
          <a:prstGeom prst="rect">
            <a:avLst/>
          </a:prstGeom>
          <a:solidFill>
            <a:srgbClr val="404040"/>
          </a:solidFill>
          <a:ln w="12700">
            <a:solidFill>
              <a:srgbClr val="80808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001000" y="5162550"/>
            <a:ext cx="685800" cy="247650"/>
          </a:xfrm>
          <a:prstGeom prst="rect">
            <a:avLst/>
          </a:prstGeom>
          <a:noFill/>
        </p:spPr>
        <p:txBody>
          <a:bodyPr wrap="none">
            <a:spAutoFit/>
          </a:bodyPr>
          <a:lstStyle/>
          <a:p>
            <a:pPr algn="ctr">
              <a:defRPr sz="800" b="0">
                <a:solidFill>
                  <a:srgbClr val="059669"/>
                </a:solidFill>
                <a:latin typeface="Source Sans Pro"/>
              </a:defRPr>
            </a:pPr>
            <a:r>
              <a:t>Example</a:t>
            </a:r>
          </a:p>
        </p:txBody>
      </p:sp>
      <p:sp>
        <p:nvSpPr>
          <p:cNvPr id="12" name="TextBox 11"/>
          <p:cNvSpPr txBox="1"/>
          <p:nvPr/>
        </p:nvSpPr>
        <p:spPr>
          <a:xfrm>
            <a:off x="457200" y="5657850"/>
            <a:ext cx="4114800" cy="742950"/>
          </a:xfrm>
          <a:prstGeom prst="rect">
            <a:avLst/>
          </a:prstGeom>
          <a:noFill/>
        </p:spPr>
        <p:txBody>
          <a:bodyPr wrap="none">
            <a:spAutoFit/>
          </a:bodyPr>
          <a:lstStyle/>
          <a:p>
            <a:pPr algn="l">
              <a:defRPr sz="1000" b="0">
                <a:solidFill>
                  <a:srgbClr val="059669"/>
                </a:solidFill>
                <a:latin typeface="Source Sans Pro"/>
              </a:defRPr>
            </a:pPr>
            <a:r>
              <a:t>Zeta</a:t>
            </a:r>
          </a:p>
        </p:txBody>
      </p:sp>
      <p:sp>
        <p:nvSpPr>
          <p:cNvPr id="13" name="TextBox 12"/>
          <p:cNvSpPr txBox="1"/>
          <p:nvPr/>
        </p:nvSpPr>
        <p:spPr>
          <a:xfrm>
            <a:off x="4572000" y="5657850"/>
            <a:ext cx="4114800" cy="742950"/>
          </a:xfrm>
          <a:prstGeom prst="rect">
            <a:avLst/>
          </a:prstGeom>
          <a:noFill/>
        </p:spPr>
        <p:txBody>
          <a:bodyPr wrap="none">
            <a:spAutoFit/>
          </a:bodyPr>
          <a:lstStyle/>
          <a:p>
            <a:pPr algn="r">
              <a:defRPr sz="1000" b="0">
                <a:solidFill>
                  <a:srgbClr val="059669"/>
                </a:solidFill>
                <a:latin typeface="Source Sans Pro"/>
              </a:defRPr>
            </a:pPr>
            <a:r>
              <a:t>11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