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1_20250828_235333_3e1fde11.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059669"/>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059669"/>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059669"/>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059669"/>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059669"/>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059669"/>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059669"/>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059669"/>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Source Sans Pro"/>
              </a:defRPr>
            </a:pPr>
            <a:r>
              <a:t>Logo Mark</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Source Sans Pro"/>
              </a:defRPr>
            </a:pPr>
            <a:r>
              <a:t>Clear Space</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Source Sans Pro"/>
              </a:defRPr>
            </a:pPr>
            <a:r>
              <a:t>Usage Guidelines</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059669"/>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a:t>
            </a:r>
          </a:p>
        </p:txBody>
      </p:sp>
      <p:sp>
        <p:nvSpPr>
          <p:cNvPr id="31" name="TextBox 30"/>
          <p:cNvSpPr txBox="1"/>
          <p:nvPr/>
        </p:nvSpPr>
        <p:spPr>
          <a:xfrm>
            <a:off x="6492240" y="274320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32" name="Connector 31"/>
          <p:cNvCxnSpPr/>
          <p:nvPr/>
        </p:nvCxnSpPr>
        <p:spPr>
          <a:xfrm>
            <a:off x="8366759" y="28529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778240" y="2743200"/>
            <a:ext cx="274320" cy="274320"/>
          </a:xfrm>
          <a:prstGeom prst="rect">
            <a:avLst/>
          </a:prstGeom>
          <a:noFill/>
        </p:spPr>
        <p:txBody>
          <a:bodyPr wrap="none" lIns="0" tIns="0" bIns="0">
            <a:spAutoFit/>
          </a:bodyPr>
          <a:lstStyle/>
          <a:p>
            <a:pPr>
              <a:defRPr sz="1200" b="1">
                <a:solidFill>
                  <a:srgbClr val="059669"/>
                </a:solidFill>
                <a:latin typeface="Source Sans Pro"/>
              </a:defRPr>
            </a:pPr>
            <a:r>
              <a:t>08</a:t>
            </a:r>
          </a:p>
        </p:txBody>
      </p:sp>
      <p:sp>
        <p:nvSpPr>
          <p:cNvPr id="34" name="TextBox 33"/>
          <p:cNvSpPr txBox="1"/>
          <p:nvPr/>
        </p:nvSpPr>
        <p:spPr>
          <a:xfrm>
            <a:off x="6675120" y="310896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
        <p:nvSpPr>
          <p:cNvPr id="37" name="TextBox 36"/>
          <p:cNvSpPr txBox="1"/>
          <p:nvPr/>
        </p:nvSpPr>
        <p:spPr>
          <a:xfrm>
            <a:off x="6492240" y="3931920"/>
            <a:ext cx="1828800" cy="274320"/>
          </a:xfrm>
          <a:prstGeom prst="rect">
            <a:avLst/>
          </a:prstGeom>
          <a:noFill/>
        </p:spPr>
        <p:txBody>
          <a:bodyPr wrap="none" lIns="0" rIns="0" tIns="0" bIns="0">
            <a:spAutoFit/>
          </a:bodyPr>
          <a:lstStyle/>
          <a:p>
            <a:pPr>
              <a:defRPr sz="1200" b="1">
                <a:solidFill>
                  <a:srgbClr val="FFFFFF"/>
                </a:solidFill>
                <a:latin typeface="Source Sans Pro"/>
              </a:defRPr>
            </a:pPr>
            <a:r>
              <a:t>Visual Guidelines</a:t>
            </a:r>
          </a:p>
        </p:txBody>
      </p:sp>
      <p:cxnSp>
        <p:nvCxnSpPr>
          <p:cNvPr id="38" name="Connector 37"/>
          <p:cNvCxnSpPr/>
          <p:nvPr/>
        </p:nvCxnSpPr>
        <p:spPr>
          <a:xfrm>
            <a:off x="8366759" y="40416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778240" y="3931920"/>
            <a:ext cx="274320" cy="274320"/>
          </a:xfrm>
          <a:prstGeom prst="rect">
            <a:avLst/>
          </a:prstGeom>
          <a:noFill/>
        </p:spPr>
        <p:txBody>
          <a:bodyPr wrap="none" lIns="0" tIns="0" bIns="0">
            <a:spAutoFit/>
          </a:bodyPr>
          <a:lstStyle/>
          <a:p>
            <a:pPr>
              <a:defRPr sz="1200" b="1">
                <a:solidFill>
                  <a:srgbClr val="059669"/>
                </a:solidFill>
                <a:latin typeface="Source Sans Pro"/>
              </a:defRPr>
            </a:pPr>
            <a:r>
              <a:t>09</a:t>
            </a:r>
          </a:p>
        </p:txBody>
      </p:sp>
      <p:sp>
        <p:nvSpPr>
          <p:cNvPr id="40" name="TextBox 39"/>
          <p:cNvSpPr txBox="1"/>
          <p:nvPr/>
        </p:nvSpPr>
        <p:spPr>
          <a:xfrm>
            <a:off x="6675120" y="4297680"/>
            <a:ext cx="1828800" cy="228600"/>
          </a:xfrm>
          <a:prstGeom prst="rect">
            <a:avLst/>
          </a:prstGeom>
          <a:noFill/>
        </p:spPr>
        <p:txBody>
          <a:bodyPr wrap="none" lIns="0" tIns="0" bIns="0">
            <a:spAutoFit/>
          </a:bodyPr>
          <a:lstStyle/>
          <a:p>
            <a:pPr>
              <a:defRPr sz="900" b="0">
                <a:solidFill>
                  <a:srgbClr val="CCCCCC"/>
                </a:solidFill>
                <a:latin typeface="Source Sans Pro"/>
              </a:defRPr>
            </a:pPr>
            <a:r>
              <a:t>Visual Style</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Source Sans Pro"/>
              </a:defRPr>
            </a:pPr>
            <a:r>
              <a:t>Photography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Source Sans Pro"/>
              </a:defRPr>
            </a:pPr>
            <a:r>
              <a:t>Imagery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Welcome to Zeta's brand identity system presentation. At Zeta, we embody innovation and precision in the Banking Technology / Fintech industry. Our brand promise of empowering financial institutions in markets like India is brought to life through our distinctive solutions. This system ensures an internationally engaging, consistent, and recognizable brand presentation, reflective of our core values and creative approach.</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59669"/>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Zeta, our vision is to revolutionize the Banking Technology / Fintech landscape by pioneering innovative solutions that empower Banks, Fintech companies, Financial institutions, NBFCs, and Corporates in launching embedded banking, especially in dynamic markets like India. We aspire to be the catalyst for digital transformation, driving unprecedented growth and success for our partners.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Zeta is dedicated to delivering cutting-edge Banking Technology / Fintech solutions tailored to the unique needs of our stakeholders. By combining our user-centric design approach with relentless innovation, we aim to streamline operations, enhance customer experiences, and drive sustainable growth for our clients in the financial industry.</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Zeta, we embody a culture built on the pillars of Reliability, Innovation, Precision, Scalability, Partnership, Compliance, Transparency, Speed, Business-Centric focus, and Customer Empowerment. These values guide us in every endeavor, ensuring that we exceed expectations, foster meaningful collaborations, and empower our partners to thrive in an ever-evolving financial ecosystem.</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In the fast-evolving landscape of Banking Technology and Fintech, one name stands out as a beacon of innovation and reliability – Zeta. At Zeta, we are more than just a technology company; we are a partner in progress for Banks, Fintech companies, Financial institutions, NBFCs, and Corporates looking to revolutionize the way they do banking. Our core values of reliability, innovation, precision, scalability, partnership, compliance, transparency, speed, and customer empowerment guide everything we do. Picture this: a world where banking is seamless, efficient, and tailored to meet the unique needs of each customer.</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This is the world that Zeta is creating through our cutting-edge Banking Technology and Fintech solutions. We believe in empowering our clients to not just keep up with the times but to stay ahead of the curve. What sets us apart is our unwavering commitment to providing distinctive solutions that are business-centric and scalable, particularly in markets like India. We understand the challenges our clients face in this dynamic industry, and we are here to provide them with the tools they need to succeed. Our brand promise is simple yet powerful – to empower Banks, Fintech companies, Financial institutions, NBFCs, and Corporates launching embedded banking through innovative...</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Logo Variations (3 designs)</a:t>
            </a:r>
          </a:p>
        </p:txBody>
      </p:sp>
      <p:sp>
        <p:nvSpPr>
          <p:cNvPr id="4" name="Rectangle 3"/>
          <p:cNvSpPr/>
          <p:nvPr/>
        </p:nvSpPr>
        <p:spPr>
          <a:xfrm>
            <a:off x="10515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zeta_logo_1_20250828_235333_3e1fde11.png"/>
          <p:cNvPicPr>
            <a:picLocks noChangeAspect="1"/>
          </p:cNvPicPr>
          <p:nvPr/>
        </p:nvPicPr>
        <p:blipFill>
          <a:blip r:embed="rId2"/>
          <a:stretch>
            <a:fillRect/>
          </a:stretch>
        </p:blipFill>
        <p:spPr>
          <a:xfrm>
            <a:off x="1143000" y="1943100"/>
            <a:ext cx="1371600" cy="1485900"/>
          </a:xfrm>
          <a:prstGeom prst="rect">
            <a:avLst/>
          </a:prstGeom>
        </p:spPr>
      </p:pic>
      <p:sp>
        <p:nvSpPr>
          <p:cNvPr id="6" name="TextBox 5"/>
          <p:cNvSpPr txBox="1"/>
          <p:nvPr/>
        </p:nvSpPr>
        <p:spPr>
          <a:xfrm>
            <a:off x="1143000" y="3429000"/>
            <a:ext cx="1371600" cy="742950"/>
          </a:xfrm>
          <a:prstGeom prst="rect">
            <a:avLst/>
          </a:prstGeom>
          <a:noFill/>
        </p:spPr>
        <p:txBody>
          <a:bodyPr wrap="none">
            <a:spAutoFit/>
          </a:bodyPr>
          <a:lstStyle/>
          <a:p>
            <a:pPr algn="ctr">
              <a:defRPr sz="1200" b="0">
                <a:solidFill>
                  <a:srgbClr val="059669"/>
                </a:solidFill>
                <a:latin typeface="Source Sans Pro"/>
              </a:defRPr>
            </a:pPr>
            <a:r>
              <a:t>Version 1</a:t>
            </a:r>
          </a:p>
        </p:txBody>
      </p:sp>
      <p:sp>
        <p:nvSpPr>
          <p:cNvPr id="7" name="Rectangle 6"/>
          <p:cNvSpPr/>
          <p:nvPr/>
        </p:nvSpPr>
        <p:spPr>
          <a:xfrm>
            <a:off x="31089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zeta_logo_2_20250828_235352_a3259202.png"/>
          <p:cNvPicPr>
            <a:picLocks noChangeAspect="1"/>
          </p:cNvPicPr>
          <p:nvPr/>
        </p:nvPicPr>
        <p:blipFill>
          <a:blip r:embed="rId3"/>
          <a:stretch>
            <a:fillRect/>
          </a:stretch>
        </p:blipFill>
        <p:spPr>
          <a:xfrm>
            <a:off x="3200400" y="1943100"/>
            <a:ext cx="1371600" cy="1485900"/>
          </a:xfrm>
          <a:prstGeom prst="rect">
            <a:avLst/>
          </a:prstGeom>
        </p:spPr>
      </p:pic>
      <p:sp>
        <p:nvSpPr>
          <p:cNvPr id="9" name="TextBox 8"/>
          <p:cNvSpPr txBox="1"/>
          <p:nvPr/>
        </p:nvSpPr>
        <p:spPr>
          <a:xfrm>
            <a:off x="3200400" y="3429000"/>
            <a:ext cx="1371600" cy="742950"/>
          </a:xfrm>
          <a:prstGeom prst="rect">
            <a:avLst/>
          </a:prstGeom>
          <a:noFill/>
        </p:spPr>
        <p:txBody>
          <a:bodyPr wrap="none">
            <a:spAutoFit/>
          </a:bodyPr>
          <a:lstStyle/>
          <a:p>
            <a:pPr algn="ctr">
              <a:defRPr sz="1200" b="0">
                <a:solidFill>
                  <a:srgbClr val="059669"/>
                </a:solidFill>
                <a:latin typeface="Source Sans Pro"/>
              </a:defRPr>
            </a:pPr>
            <a:r>
              <a:t>Version 2</a:t>
            </a:r>
          </a:p>
        </p:txBody>
      </p:sp>
      <p:sp>
        <p:nvSpPr>
          <p:cNvPr id="10" name="Rectangle 9"/>
          <p:cNvSpPr/>
          <p:nvPr/>
        </p:nvSpPr>
        <p:spPr>
          <a:xfrm>
            <a:off x="5166360" y="1851660"/>
            <a:ext cx="1554480" cy="16687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eta_logo_3_20250828_235415_054bae29.png"/>
          <p:cNvPicPr>
            <a:picLocks noChangeAspect="1"/>
          </p:cNvPicPr>
          <p:nvPr/>
        </p:nvPicPr>
        <p:blipFill>
          <a:blip r:embed="rId4"/>
          <a:stretch>
            <a:fillRect/>
          </a:stretch>
        </p:blipFill>
        <p:spPr>
          <a:xfrm>
            <a:off x="5257800" y="1943100"/>
            <a:ext cx="1371600" cy="1485900"/>
          </a:xfrm>
          <a:prstGeom prst="rect">
            <a:avLst/>
          </a:prstGeom>
        </p:spPr>
      </p:pic>
      <p:sp>
        <p:nvSpPr>
          <p:cNvPr id="12" name="TextBox 11"/>
          <p:cNvSpPr txBox="1"/>
          <p:nvPr/>
        </p:nvSpPr>
        <p:spPr>
          <a:xfrm>
            <a:off x="5257800" y="3429000"/>
            <a:ext cx="1371600" cy="742950"/>
          </a:xfrm>
          <a:prstGeom prst="rect">
            <a:avLst/>
          </a:prstGeom>
          <a:noFill/>
        </p:spPr>
        <p:txBody>
          <a:bodyPr wrap="none">
            <a:spAutoFit/>
          </a:bodyPr>
          <a:lstStyle/>
          <a:p>
            <a:pPr algn="ctr">
              <a:defRPr sz="1200" b="0">
                <a:solidFill>
                  <a:srgbClr val="059669"/>
                </a:solidFill>
                <a:latin typeface="Source Sans Pro"/>
              </a:defRPr>
            </a:pPr>
            <a:r>
              <a:t>Version 3</a:t>
            </a:r>
          </a:p>
        </p:txBody>
      </p:sp>
      <p:sp>
        <p:nvSpPr>
          <p:cNvPr id="13" name="TextBox 12"/>
          <p:cNvSpPr txBox="1"/>
          <p:nvPr/>
        </p:nvSpPr>
        <p:spPr>
          <a:xfrm>
            <a:off x="1143000" y="4914900"/>
            <a:ext cx="7543800" cy="742950"/>
          </a:xfrm>
          <a:prstGeom prst="rect">
            <a:avLst/>
          </a:prstGeom>
          <a:noFill/>
        </p:spPr>
        <p:txBody>
          <a:bodyPr wrap="none">
            <a:spAutoFit/>
          </a:bodyPr>
          <a:lstStyle/>
          <a:p>
            <a:pPr algn="ctr">
              <a:defRPr sz="1200" b="0">
                <a:solidFill>
                  <a:srgbClr val="059669"/>
                </a:solidFill>
                <a:latin typeface="Source Sans Pro"/>
              </a:defRPr>
            </a:pPr>
            <a:r>
              <a:t>Minimum size: 0.5 inches • Clearspace: 0.25 inches on all sides</a:t>
            </a:r>
          </a:p>
        </p:txBody>
      </p:sp>
      <p:sp>
        <p:nvSpPr>
          <p:cNvPr id="14" name="TextBox 13"/>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Zeta</a:t>
            </a:r>
          </a:p>
        </p:txBody>
      </p:sp>
      <p:sp>
        <p:nvSpPr>
          <p:cNvPr id="15" name="TextBox 14"/>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Color Palette</a:t>
            </a:r>
          </a:p>
        </p:txBody>
      </p:sp>
      <p:sp>
        <p:nvSpPr>
          <p:cNvPr id="4" name="Rectangle 3"/>
          <p:cNvSpPr/>
          <p:nvPr/>
        </p:nvSpPr>
        <p:spPr>
          <a:xfrm>
            <a:off x="1143000" y="1943100"/>
            <a:ext cx="2057400" cy="1485900"/>
          </a:xfrm>
          <a:prstGeom prst="rect">
            <a:avLst/>
          </a:prstGeom>
          <a:solidFill>
            <a:srgbClr val="05966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3429000"/>
            <a:ext cx="2057400" cy="1485900"/>
          </a:xfrm>
          <a:prstGeom prst="rect">
            <a:avLst/>
          </a:prstGeom>
          <a:noFill/>
        </p:spPr>
        <p:txBody>
          <a:bodyPr wrap="square">
            <a:spAutoFit/>
          </a:bodyPr>
          <a:lstStyle/>
          <a:p>
            <a:pPr>
              <a:defRPr sz="1000" b="0">
                <a:solidFill>
                  <a:srgbClr val="059669"/>
                </a:solidFill>
                <a:latin typeface="Source Sans Pro"/>
              </a:defRPr>
            </a:pPr>
            <a:r>
              <a:t>Primary</a:t>
            </a:r>
          </a:p>
          <a:p>
            <a:pPr>
              <a:defRPr sz="1000" b="0">
                <a:solidFill>
                  <a:srgbClr val="059669"/>
                </a:solidFill>
                <a:latin typeface="Source Sans Pro"/>
              </a:defRPr>
            </a:pPr>
            <a:r>
              <a:t>#059669</a:t>
            </a:r>
          </a:p>
          <a:p>
            <a:pPr>
              <a:defRPr sz="1000" b="0">
                <a:solidFill>
                  <a:srgbClr val="059669"/>
                </a:solidFill>
                <a:latin typeface="Source Sans Pro"/>
              </a:defRPr>
            </a:pPr>
            <a:r>
              <a:t>RGB(5, 150, 105)</a:t>
            </a:r>
          </a:p>
          <a:p>
            <a:pPr>
              <a:defRPr sz="1000" b="0">
                <a:solidFill>
                  <a:srgbClr val="059669"/>
                </a:solidFill>
                <a:latin typeface="Source Sans Pro"/>
              </a:defRPr>
            </a:pPr>
            <a:r>
              <a:t>CMYK(96, 0, 30, 41)</a:t>
            </a:r>
          </a:p>
          <a:p>
            <a:pPr>
              <a:defRPr sz="1000" b="0">
                <a:solidFill>
                  <a:srgbClr val="059669"/>
                </a:solidFill>
                <a:latin typeface="Source Sans Pro"/>
              </a:defRPr>
            </a:pPr>
            <a:r>
              <a:t>Use Light Text</a:t>
            </a:r>
          </a:p>
        </p:txBody>
      </p:sp>
      <p:sp>
        <p:nvSpPr>
          <p:cNvPr id="6" name="Rectangle 5"/>
          <p:cNvSpPr/>
          <p:nvPr/>
        </p:nvSpPr>
        <p:spPr>
          <a:xfrm>
            <a:off x="3886200" y="1943100"/>
            <a:ext cx="2057400" cy="1485900"/>
          </a:xfrm>
          <a:prstGeom prst="rect">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86200" y="3429000"/>
            <a:ext cx="2057400" cy="1485900"/>
          </a:xfrm>
          <a:prstGeom prst="rect">
            <a:avLst/>
          </a:prstGeom>
          <a:noFill/>
        </p:spPr>
        <p:txBody>
          <a:bodyPr wrap="square">
            <a:spAutoFit/>
          </a:bodyPr>
          <a:lstStyle/>
          <a:p>
            <a:pPr>
              <a:defRPr sz="1000" b="0">
                <a:solidFill>
                  <a:srgbClr val="059669"/>
                </a:solidFill>
                <a:latin typeface="Source Sans Pro"/>
              </a:defRPr>
            </a:pPr>
            <a:r>
              <a:t>Secondary</a:t>
            </a:r>
          </a:p>
          <a:p>
            <a:pPr>
              <a:defRPr sz="1000" b="0">
                <a:solidFill>
                  <a:srgbClr val="059669"/>
                </a:solidFill>
                <a:latin typeface="Source Sans Pro"/>
              </a:defRPr>
            </a:pPr>
            <a:r>
              <a:t>#8B5CF6</a:t>
            </a:r>
          </a:p>
          <a:p>
            <a:pPr>
              <a:defRPr sz="1000" b="0">
                <a:solidFill>
                  <a:srgbClr val="059669"/>
                </a:solidFill>
                <a:latin typeface="Source Sans Pro"/>
              </a:defRPr>
            </a:pPr>
            <a:r>
              <a:t>RGB(139, 92, 246)</a:t>
            </a:r>
          </a:p>
          <a:p>
            <a:pPr>
              <a:defRPr sz="1000" b="0">
                <a:solidFill>
                  <a:srgbClr val="059669"/>
                </a:solidFill>
                <a:latin typeface="Source Sans Pro"/>
              </a:defRPr>
            </a:pPr>
            <a:r>
              <a:t>CMYK(43, 62, 0, 3)</a:t>
            </a:r>
          </a:p>
          <a:p>
            <a:pPr>
              <a:defRPr sz="1000" b="0">
                <a:solidFill>
                  <a:srgbClr val="059669"/>
                </a:solidFill>
                <a:latin typeface="Source Sans Pro"/>
              </a:defRPr>
            </a:pPr>
            <a:r>
              <a:t>Use Dark Text</a:t>
            </a:r>
          </a:p>
        </p:txBody>
      </p:sp>
      <p:sp>
        <p:nvSpPr>
          <p:cNvPr id="8" name="Rectangle 7"/>
          <p:cNvSpPr/>
          <p:nvPr/>
        </p:nvSpPr>
        <p:spPr>
          <a:xfrm>
            <a:off x="6629400" y="1943100"/>
            <a:ext cx="2057400" cy="1485900"/>
          </a:xfrm>
          <a:prstGeom prst="rect">
            <a:avLst/>
          </a:prstGeom>
          <a:solidFill>
            <a:srgbClr val="2563E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3429000"/>
            <a:ext cx="2057400" cy="1485900"/>
          </a:xfrm>
          <a:prstGeom prst="rect">
            <a:avLst/>
          </a:prstGeom>
          <a:noFill/>
        </p:spPr>
        <p:txBody>
          <a:bodyPr wrap="square">
            <a:spAutoFit/>
          </a:bodyPr>
          <a:lstStyle/>
          <a:p>
            <a:pPr>
              <a:defRPr sz="1000" b="0">
                <a:solidFill>
                  <a:srgbClr val="059669"/>
                </a:solidFill>
                <a:latin typeface="Source Sans Pro"/>
              </a:defRPr>
            </a:pPr>
            <a:r>
              <a:t>Accent</a:t>
            </a:r>
          </a:p>
          <a:p>
            <a:pPr>
              <a:defRPr sz="1000" b="0">
                <a:solidFill>
                  <a:srgbClr val="059669"/>
                </a:solidFill>
                <a:latin typeface="Source Sans Pro"/>
              </a:defRPr>
            </a:pPr>
            <a:r>
              <a:t>#2563EB</a:t>
            </a:r>
          </a:p>
          <a:p>
            <a:pPr>
              <a:defRPr sz="1000" b="0">
                <a:solidFill>
                  <a:srgbClr val="059669"/>
                </a:solidFill>
                <a:latin typeface="Source Sans Pro"/>
              </a:defRPr>
            </a:pPr>
            <a:r>
              <a:t>RGB(37, 99, 235)</a:t>
            </a:r>
          </a:p>
          <a:p>
            <a:pPr>
              <a:defRPr sz="1000" b="0">
                <a:solidFill>
                  <a:srgbClr val="059669"/>
                </a:solidFill>
                <a:latin typeface="Source Sans Pro"/>
              </a:defRPr>
            </a:pPr>
            <a:r>
              <a:t>CMYK(84, 57, 0, 7)</a:t>
            </a:r>
          </a:p>
          <a:p>
            <a:pPr>
              <a:defRPr sz="1000" b="0">
                <a:solidFill>
                  <a:srgbClr val="059669"/>
                </a:solidFill>
                <a:latin typeface="Source Sans Pro"/>
              </a:defRPr>
            </a:pPr>
            <a:r>
              <a:t>Use Light Text</a:t>
            </a:r>
          </a:p>
        </p:txBody>
      </p:sp>
      <p:sp>
        <p:nvSpPr>
          <p:cNvPr id="10" name="Rectangle 9"/>
          <p:cNvSpPr/>
          <p:nvPr/>
        </p:nvSpPr>
        <p:spPr>
          <a:xfrm>
            <a:off x="1143000" y="5657850"/>
            <a:ext cx="2057400" cy="1485900"/>
          </a:xfrm>
          <a:prstGeom prst="rect">
            <a:avLst/>
          </a:prstGeom>
          <a:solidFill>
            <a:srgbClr val="065F4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7143750"/>
            <a:ext cx="2057400" cy="1485900"/>
          </a:xfrm>
          <a:prstGeom prst="rect">
            <a:avLst/>
          </a:prstGeom>
          <a:noFill/>
        </p:spPr>
        <p:txBody>
          <a:bodyPr wrap="square">
            <a:spAutoFit/>
          </a:bodyPr>
          <a:lstStyle/>
          <a:p>
            <a:pPr>
              <a:defRPr sz="1000" b="0">
                <a:solidFill>
                  <a:srgbClr val="059669"/>
                </a:solidFill>
                <a:latin typeface="Source Sans Pro"/>
              </a:defRPr>
            </a:pPr>
            <a:r>
              <a:t>Supporting</a:t>
            </a:r>
          </a:p>
          <a:p>
            <a:pPr>
              <a:defRPr sz="1000" b="0">
                <a:solidFill>
                  <a:srgbClr val="059669"/>
                </a:solidFill>
                <a:latin typeface="Source Sans Pro"/>
              </a:defRPr>
            </a:pPr>
            <a:r>
              <a:t>#065F46</a:t>
            </a:r>
          </a:p>
          <a:p>
            <a:pPr>
              <a:defRPr sz="1000" b="0">
                <a:solidFill>
                  <a:srgbClr val="059669"/>
                </a:solidFill>
                <a:latin typeface="Source Sans Pro"/>
              </a:defRPr>
            </a:pPr>
            <a:r>
              <a:t>RGB(6, 95, 70)</a:t>
            </a:r>
          </a:p>
          <a:p>
            <a:pPr>
              <a:defRPr sz="1000" b="0">
                <a:solidFill>
                  <a:srgbClr val="059669"/>
                </a:solidFill>
                <a:latin typeface="Source Sans Pro"/>
              </a:defRPr>
            </a:pPr>
            <a:r>
              <a:t>CMYK(93, 0, 26, 62)</a:t>
            </a:r>
          </a:p>
          <a:p>
            <a:pPr>
              <a:defRPr sz="1000" b="0">
                <a:solidFill>
                  <a:srgbClr val="059669"/>
                </a:solidFill>
                <a:latin typeface="Source Sans Pro"/>
              </a:defRPr>
            </a:pPr>
            <a:r>
              <a:t>Use Light Text</a:t>
            </a:r>
          </a:p>
        </p:txBody>
      </p:sp>
      <p:sp>
        <p:nvSpPr>
          <p:cNvPr id="12" name="Rectangle 11"/>
          <p:cNvSpPr/>
          <p:nvPr/>
        </p:nvSpPr>
        <p:spPr>
          <a:xfrm>
            <a:off x="3886200" y="5657850"/>
            <a:ext cx="2057400" cy="1485900"/>
          </a:xfrm>
          <a:prstGeom prst="rect">
            <a:avLst/>
          </a:prstGeom>
          <a:solidFill>
            <a:srgbClr val="05966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6200" y="7143750"/>
            <a:ext cx="2057400" cy="1485900"/>
          </a:xfrm>
          <a:prstGeom prst="rect">
            <a:avLst/>
          </a:prstGeom>
          <a:noFill/>
        </p:spPr>
        <p:txBody>
          <a:bodyPr wrap="square">
            <a:spAutoFit/>
          </a:bodyPr>
          <a:lstStyle/>
          <a:p>
            <a:pPr>
              <a:defRPr sz="1000" b="0">
                <a:solidFill>
                  <a:srgbClr val="059669"/>
                </a:solidFill>
                <a:latin typeface="Source Sans Pro"/>
              </a:defRPr>
            </a:pPr>
            <a:r>
              <a:t>Hex_Codes</a:t>
            </a:r>
          </a:p>
          <a:p>
            <a:pPr>
              <a:defRPr sz="1000" b="0">
                <a:solidFill>
                  <a:srgbClr val="059669"/>
                </a:solidFill>
                <a:latin typeface="Source Sans Pro"/>
              </a:defRPr>
            </a:pPr>
            <a:r>
              <a:t>#059669</a:t>
            </a:r>
          </a:p>
          <a:p>
            <a:pPr>
              <a:defRPr sz="1000" b="0">
                <a:solidFill>
                  <a:srgbClr val="059669"/>
                </a:solidFill>
                <a:latin typeface="Source Sans Pro"/>
              </a:defRPr>
            </a:pPr>
            <a:r>
              <a:t>RGB(5, 150, 105)</a:t>
            </a:r>
          </a:p>
          <a:p>
            <a:pPr>
              <a:defRPr sz="1000" b="0">
                <a:solidFill>
                  <a:srgbClr val="059669"/>
                </a:solidFill>
                <a:latin typeface="Source Sans Pro"/>
              </a:defRPr>
            </a:pPr>
            <a:r>
              <a:t>CMYK(96, 0, 30, 41)</a:t>
            </a:r>
          </a:p>
          <a:p>
            <a:pPr>
              <a:defRPr sz="1000" b="0">
                <a:solidFill>
                  <a:srgbClr val="059669"/>
                </a:solidFill>
                <a:latin typeface="Source Sans Pro"/>
              </a:defRPr>
            </a:pPr>
            <a:r>
              <a:t>Use Light Text</a:t>
            </a:r>
          </a:p>
        </p:txBody>
      </p:sp>
      <p:sp>
        <p:nvSpPr>
          <p:cNvPr id="14" name="TextBox 13"/>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Zeta</a:t>
            </a:r>
          </a:p>
        </p:txBody>
      </p:sp>
      <p:sp>
        <p:nvSpPr>
          <p:cNvPr id="15" name="TextBox 14"/>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Typography</a:t>
            </a:r>
          </a:p>
        </p:txBody>
      </p:sp>
      <p:sp>
        <p:nvSpPr>
          <p:cNvPr id="4" name="TextBox 3"/>
          <p:cNvSpPr txBox="1"/>
          <p:nvPr/>
        </p:nvSpPr>
        <p:spPr>
          <a:xfrm>
            <a:off x="1143000" y="1943100"/>
            <a:ext cx="3429000" cy="742950"/>
          </a:xfrm>
          <a:prstGeom prst="rect">
            <a:avLst/>
          </a:prstGeom>
          <a:noFill/>
        </p:spPr>
        <p:txBody>
          <a:bodyPr wrap="none">
            <a:spAutoFit/>
          </a:bodyPr>
          <a:lstStyle/>
          <a:p>
            <a:pPr>
              <a:defRPr sz="2000" b="0">
                <a:solidFill>
                  <a:srgbClr val="059669"/>
                </a:solidFill>
                <a:latin typeface="Source Sans Pro"/>
              </a:defRPr>
            </a:pPr>
            <a:r>
              <a:t>Primary Font: Inter</a:t>
            </a:r>
          </a:p>
        </p:txBody>
      </p:sp>
      <p:sp>
        <p:nvSpPr>
          <p:cNvPr id="5" name="TextBox 4"/>
          <p:cNvSpPr txBox="1"/>
          <p:nvPr/>
        </p:nvSpPr>
        <p:spPr>
          <a:xfrm>
            <a:off x="1143000" y="2686050"/>
            <a:ext cx="3429000" cy="742950"/>
          </a:xfrm>
          <a:prstGeom prst="rect">
            <a:avLst/>
          </a:prstGeom>
          <a:noFill/>
        </p:spPr>
        <p:txBody>
          <a:bodyPr wrap="none">
            <a:spAutoFit/>
          </a:bodyPr>
          <a:lstStyle/>
          <a:p>
            <a:pPr>
              <a:defRPr sz="3200" b="1">
                <a:solidFill>
                  <a:srgbClr val="059669"/>
                </a:solidFill>
                <a:latin typeface="Inter"/>
              </a:defRPr>
            </a:pPr>
            <a:r>
              <a:t>H1 Heading</a:t>
            </a:r>
          </a:p>
        </p:txBody>
      </p:sp>
      <p:sp>
        <p:nvSpPr>
          <p:cNvPr id="6" name="TextBox 5"/>
          <p:cNvSpPr txBox="1"/>
          <p:nvPr/>
        </p:nvSpPr>
        <p:spPr>
          <a:xfrm>
            <a:off x="1143000" y="3429000"/>
            <a:ext cx="3429000" cy="742950"/>
          </a:xfrm>
          <a:prstGeom prst="rect">
            <a:avLst/>
          </a:prstGeom>
          <a:noFill/>
        </p:spPr>
        <p:txBody>
          <a:bodyPr wrap="none">
            <a:spAutoFit/>
          </a:bodyPr>
          <a:lstStyle/>
          <a:p>
            <a:pPr>
              <a:defRPr sz="2400" b="1">
                <a:solidFill>
                  <a:srgbClr val="059669"/>
                </a:solidFill>
                <a:latin typeface="Inter"/>
              </a:defRPr>
            </a:pPr>
            <a:r>
              <a:t>H2 Heading</a:t>
            </a:r>
          </a:p>
        </p:txBody>
      </p:sp>
      <p:sp>
        <p:nvSpPr>
          <p:cNvPr id="7" name="TextBox 6"/>
          <p:cNvSpPr txBox="1"/>
          <p:nvPr/>
        </p:nvSpPr>
        <p:spPr>
          <a:xfrm>
            <a:off x="1143000" y="4171950"/>
            <a:ext cx="3429000" cy="742950"/>
          </a:xfrm>
          <a:prstGeom prst="rect">
            <a:avLst/>
          </a:prstGeom>
          <a:noFill/>
        </p:spPr>
        <p:txBody>
          <a:bodyPr wrap="none">
            <a:spAutoFit/>
          </a:bodyPr>
          <a:lstStyle/>
          <a:p>
            <a:pPr>
              <a:defRPr sz="2000" b="0">
                <a:solidFill>
                  <a:srgbClr val="059669"/>
                </a:solidFill>
                <a:latin typeface="Inter"/>
              </a:defRPr>
            </a:pPr>
            <a:r>
              <a:t>H3 Heading</a:t>
            </a:r>
          </a:p>
        </p:txBody>
      </p:sp>
      <p:sp>
        <p:nvSpPr>
          <p:cNvPr id="8" name="TextBox 7"/>
          <p:cNvSpPr txBox="1"/>
          <p:nvPr/>
        </p:nvSpPr>
        <p:spPr>
          <a:xfrm>
            <a:off x="5257800" y="1943100"/>
            <a:ext cx="3429000" cy="742950"/>
          </a:xfrm>
          <a:prstGeom prst="rect">
            <a:avLst/>
          </a:prstGeom>
          <a:noFill/>
        </p:spPr>
        <p:txBody>
          <a:bodyPr wrap="none">
            <a:spAutoFit/>
          </a:bodyPr>
          <a:lstStyle/>
          <a:p>
            <a:pPr>
              <a:defRPr sz="2000" b="0">
                <a:solidFill>
                  <a:srgbClr val="059669"/>
                </a:solidFill>
                <a:latin typeface="Source Sans Pro"/>
              </a:defRPr>
            </a:pPr>
            <a:r>
              <a:t>Secondary Font: Source Sans Pro</a:t>
            </a:r>
          </a:p>
        </p:txBody>
      </p:sp>
      <p:sp>
        <p:nvSpPr>
          <p:cNvPr id="9" name="TextBox 8"/>
          <p:cNvSpPr txBox="1"/>
          <p:nvPr/>
        </p:nvSpPr>
        <p:spPr>
          <a:xfrm>
            <a:off x="5257800" y="2686050"/>
            <a:ext cx="3429000" cy="742950"/>
          </a:xfrm>
          <a:prstGeom prst="rect">
            <a:avLst/>
          </a:prstGeom>
          <a:noFill/>
        </p:spPr>
        <p:txBody>
          <a:bodyPr wrap="none">
            <a:spAutoFit/>
          </a:bodyPr>
          <a:lstStyle/>
          <a:p>
            <a:pPr>
              <a:defRPr sz="1600" b="0">
                <a:solidFill>
                  <a:srgbClr val="059669"/>
                </a:solidFill>
                <a:latin typeface="Source Sans Pro"/>
              </a:defRPr>
            </a:pPr>
            <a:r>
              <a:t>Body Text</a:t>
            </a:r>
          </a:p>
        </p:txBody>
      </p:sp>
      <p:sp>
        <p:nvSpPr>
          <p:cNvPr id="10" name="TextBox 9"/>
          <p:cNvSpPr txBox="1"/>
          <p:nvPr/>
        </p:nvSpPr>
        <p:spPr>
          <a:xfrm>
            <a:off x="5257800" y="3429000"/>
            <a:ext cx="3429000" cy="742950"/>
          </a:xfrm>
          <a:prstGeom prst="rect">
            <a:avLst/>
          </a:prstGeom>
          <a:noFill/>
        </p:spPr>
        <p:txBody>
          <a:bodyPr wrap="none">
            <a:spAutoFit/>
          </a:bodyPr>
          <a:lstStyle/>
          <a:p>
            <a:pPr>
              <a:defRPr sz="1600" b="1">
                <a:solidFill>
                  <a:srgbClr val="059669"/>
                </a:solidFill>
                <a:latin typeface="Source Sans Pro"/>
              </a:defRPr>
            </a:pPr>
            <a:r>
              <a:t>Body Bold</a:t>
            </a:r>
          </a:p>
        </p:txBody>
      </p:sp>
      <p:sp>
        <p:nvSpPr>
          <p:cNvPr id="11" name="TextBox 10"/>
          <p:cNvSpPr txBox="1"/>
          <p:nvPr/>
        </p:nvSpPr>
        <p:spPr>
          <a:xfrm>
            <a:off x="5257800" y="4171950"/>
            <a:ext cx="3429000" cy="742950"/>
          </a:xfrm>
          <a:prstGeom prst="rect">
            <a:avLst/>
          </a:prstGeom>
          <a:noFill/>
        </p:spPr>
        <p:txBody>
          <a:bodyPr wrap="none">
            <a:spAutoFit/>
          </a:bodyPr>
          <a:lstStyle/>
          <a:p>
            <a:pPr>
              <a:defRPr sz="1200" b="0">
                <a:solidFill>
                  <a:srgbClr val="059669"/>
                </a:solidFill>
                <a:latin typeface="Source Sans Pro"/>
              </a:defRPr>
            </a:pPr>
            <a:r>
              <a:t>Caption Text</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Zeta</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059669"/>
                </a:solidFill>
                <a:latin typeface="Inter"/>
              </a:defRPr>
            </a:pPr>
            <a:r>
              <a:t>Visual &amp; Photography Guidelines</a:t>
            </a:r>
          </a:p>
        </p:txBody>
      </p:sp>
      <p:sp>
        <p:nvSpPr>
          <p:cNvPr id="4" name="TextBox 3"/>
          <p:cNvSpPr txBox="1"/>
          <p:nvPr/>
        </p:nvSpPr>
        <p:spPr>
          <a:xfrm>
            <a:off x="1143000" y="1943100"/>
            <a:ext cx="3429000" cy="2971800"/>
          </a:xfrm>
          <a:prstGeom prst="rect">
            <a:avLst/>
          </a:prstGeom>
          <a:noFill/>
        </p:spPr>
        <p:txBody>
          <a:bodyPr wrap="square">
            <a:spAutoFit/>
          </a:bodyPr>
          <a:lstStyle/>
          <a:p>
            <a:pPr>
              <a:defRPr sz="1800" b="0">
                <a:solidFill>
                  <a:srgbClr val="059669"/>
                </a:solidFill>
                <a:latin typeface="Source Sans Pro"/>
              </a:defRPr>
            </a:pPr>
            <a:r>
              <a:t>Visual Style Guidelines:</a:t>
            </a:r>
          </a:p>
          <a:p>
            <a:pPr>
              <a:defRPr sz="1400" b="0">
                <a:solidFill>
                  <a:srgbClr val="059669"/>
                </a:solidFill>
                <a:latin typeface="Source Sans Pro"/>
              </a:defRPr>
            </a:pPr>
            <a:r>
              <a:t>• Visual style for Zeta in Banking Technology / Fintech: Elegant aesthetic</a:t>
            </a:r>
          </a:p>
          <a:p>
            <a:pPr>
              <a:defRPr sz="1400" b="0">
                <a:solidFill>
                  <a:srgbClr val="059669"/>
                </a:solidFill>
                <a:latin typeface="Source Sans Pro"/>
              </a:defRPr>
            </a:pPr>
            <a:r>
              <a:t>• values: Reliability</a:t>
            </a:r>
          </a:p>
          <a:p>
            <a:pPr>
              <a:defRPr sz="1400" b="0">
                <a:solidFill>
                  <a:srgbClr val="059669"/>
                </a:solidFill>
                <a:latin typeface="Source Sans Pro"/>
              </a:defRPr>
            </a:pPr>
            <a:r>
              <a:t>• Innovation</a:t>
            </a:r>
          </a:p>
          <a:p>
            <a:pPr>
              <a:defRPr sz="1400" b="0">
                <a:solidFill>
                  <a:srgbClr val="059669"/>
                </a:solidFill>
                <a:latin typeface="Source Sans Pro"/>
              </a:defRPr>
            </a:pPr>
            <a:r>
              <a:t>• Precision</a:t>
            </a:r>
          </a:p>
          <a:p>
            <a:pPr>
              <a:defRPr sz="1400" b="0">
                <a:solidFill>
                  <a:srgbClr val="059669"/>
                </a:solidFill>
                <a:latin typeface="Source Sans Pro"/>
              </a:defRPr>
            </a:pPr>
            <a:r>
              <a:t>• Scalability</a:t>
            </a:r>
          </a:p>
        </p:txBody>
      </p:sp>
      <p:sp>
        <p:nvSpPr>
          <p:cNvPr id="5" name="TextBox 4"/>
          <p:cNvSpPr txBox="1"/>
          <p:nvPr/>
        </p:nvSpPr>
        <p:spPr>
          <a:xfrm>
            <a:off x="5257800" y="1943100"/>
            <a:ext cx="3429000" cy="2971800"/>
          </a:xfrm>
          <a:prstGeom prst="rect">
            <a:avLst/>
          </a:prstGeom>
          <a:noFill/>
        </p:spPr>
        <p:txBody>
          <a:bodyPr wrap="square">
            <a:spAutoFit/>
          </a:bodyPr>
          <a:lstStyle/>
          <a:p>
            <a:pPr>
              <a:defRPr sz="1800" b="0">
                <a:solidFill>
                  <a:srgbClr val="059669"/>
                </a:solidFill>
                <a:latin typeface="Source Sans Pro"/>
              </a:defRPr>
            </a:pPr>
            <a:r>
              <a:t>Photography Guidelines:</a:t>
            </a:r>
          </a:p>
          <a:p>
            <a:pPr>
              <a:defRPr sz="1400" b="0">
                <a:solidFill>
                  <a:srgbClr val="059669"/>
                </a:solidFill>
                <a:latin typeface="Source Sans Pro"/>
              </a:defRPr>
            </a:pPr>
            <a:r>
              <a:t>• Photography style for Zeta: Elegant and Banking Technology / Fintech feel. Show diversity</a:t>
            </a:r>
          </a:p>
          <a:p>
            <a:pPr>
              <a:defRPr sz="1400" b="0">
                <a:solidFill>
                  <a:srgbClr val="059669"/>
                </a:solidFill>
                <a:latin typeface="Source Sans Pro"/>
              </a:defRPr>
            </a:pPr>
            <a:r>
              <a:t>• authenticity</a:t>
            </a:r>
          </a:p>
          <a:p>
            <a:pPr>
              <a:defRPr sz="1400" b="0">
                <a:solidFill>
                  <a:srgbClr val="059669"/>
                </a:solidFill>
                <a:latin typeface="Source Sans Pro"/>
              </a:defRPr>
            </a:pPr>
            <a:r>
              <a:t>• and lighting that supports brand values: Reliability</a:t>
            </a:r>
          </a:p>
          <a:p>
            <a:pPr>
              <a:defRPr sz="1400" b="0">
                <a:solidFill>
                  <a:srgbClr val="059669"/>
                </a:solidFill>
                <a:latin typeface="Source Sans Pro"/>
              </a:defRPr>
            </a:pPr>
            <a:r>
              <a:t>• Innovation</a:t>
            </a:r>
          </a:p>
          <a:p>
            <a:pPr>
              <a:defRPr sz="1400" b="0">
                <a:solidFill>
                  <a:srgbClr val="059669"/>
                </a:solidFill>
                <a:latin typeface="Source Sans Pro"/>
              </a:defRPr>
            </a:pPr>
            <a:r>
              <a:t>• Precision</a:t>
            </a:r>
          </a:p>
        </p:txBody>
      </p:sp>
      <p:sp>
        <p:nvSpPr>
          <p:cNvPr id="6" name="Rectangle 5"/>
          <p:cNvSpPr/>
          <p:nvPr/>
        </p:nvSpPr>
        <p:spPr>
          <a:xfrm>
            <a:off x="52578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5162550"/>
            <a:ext cx="685800" cy="247650"/>
          </a:xfrm>
          <a:prstGeom prst="rect">
            <a:avLst/>
          </a:prstGeom>
          <a:noFill/>
        </p:spPr>
        <p:txBody>
          <a:bodyPr wrap="none">
            <a:spAutoFit/>
          </a:bodyPr>
          <a:lstStyle/>
          <a:p>
            <a:pPr algn="ctr">
              <a:defRPr sz="800" b="0">
                <a:solidFill>
                  <a:srgbClr val="059669"/>
                </a:solidFill>
                <a:latin typeface="Source Sans Pro"/>
              </a:defRPr>
            </a:pPr>
            <a:r>
              <a:t>Example</a:t>
            </a:r>
          </a:p>
        </p:txBody>
      </p:sp>
      <p:sp>
        <p:nvSpPr>
          <p:cNvPr id="8" name="Rectangle 7"/>
          <p:cNvSpPr/>
          <p:nvPr/>
        </p:nvSpPr>
        <p:spPr>
          <a:xfrm>
            <a:off x="66294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5162550"/>
            <a:ext cx="685800" cy="247650"/>
          </a:xfrm>
          <a:prstGeom prst="rect">
            <a:avLst/>
          </a:prstGeom>
          <a:noFill/>
        </p:spPr>
        <p:txBody>
          <a:bodyPr wrap="none">
            <a:spAutoFit/>
          </a:bodyPr>
          <a:lstStyle/>
          <a:p>
            <a:pPr algn="ctr">
              <a:defRPr sz="800" b="0">
                <a:solidFill>
                  <a:srgbClr val="059669"/>
                </a:solidFill>
                <a:latin typeface="Source Sans Pro"/>
              </a:defRPr>
            </a:pPr>
            <a:r>
              <a:t>Example</a:t>
            </a:r>
          </a:p>
        </p:txBody>
      </p:sp>
      <p:sp>
        <p:nvSpPr>
          <p:cNvPr id="10" name="Rectangle 9"/>
          <p:cNvSpPr/>
          <p:nvPr/>
        </p:nvSpPr>
        <p:spPr>
          <a:xfrm>
            <a:off x="80010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5162550"/>
            <a:ext cx="685800" cy="247650"/>
          </a:xfrm>
          <a:prstGeom prst="rect">
            <a:avLst/>
          </a:prstGeom>
          <a:noFill/>
        </p:spPr>
        <p:txBody>
          <a:bodyPr wrap="none">
            <a:spAutoFit/>
          </a:bodyPr>
          <a:lstStyle/>
          <a:p>
            <a:pPr algn="ctr">
              <a:defRPr sz="800" b="0">
                <a:solidFill>
                  <a:srgbClr val="059669"/>
                </a:solidFill>
                <a:latin typeface="Source Sans Pro"/>
              </a:defRPr>
            </a:pPr>
            <a:r>
              <a:t>Example</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059669"/>
                </a:solidFill>
                <a:latin typeface="Source Sans Pro"/>
              </a:defRPr>
            </a:pPr>
            <a:r>
              <a:t>Zeta</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059669"/>
                </a:solidFill>
                <a:latin typeface="Source Sans Pro"/>
              </a:defRPr>
            </a:pPr>
            <a: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