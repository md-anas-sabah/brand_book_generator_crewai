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bbc_logo_1_20250901_132659_2c60be7f.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F9FAF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F9FAFB"/>
                </a:solidFill>
                <a:latin typeface="Inter"/>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005EB8"/>
                </a:solidFill>
                <a:latin typeface="Source Sans Pro"/>
              </a:defRPr>
            </a:pPr>
            <a:r>
              <a:t>INDEX</a:t>
            </a:r>
          </a:p>
        </p:txBody>
      </p:sp>
      <p:cxnSp>
        <p:nvCxnSpPr>
          <p:cNvPr id="3" name="Connector 2"/>
          <p:cNvCxnSpPr/>
          <p:nvPr/>
        </p:nvCxnSpPr>
        <p:spPr>
          <a:xfrm>
            <a:off x="457200" y="1097280"/>
            <a:ext cx="8229600" cy="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Inter"/>
              </a:defRPr>
            </a:pPr>
            <a:r>
              <a:t>Introduction</a:t>
            </a:r>
          </a:p>
        </p:txBody>
      </p:sp>
      <p:cxnSp>
        <p:nvCxnSpPr>
          <p:cNvPr id="5" name="Connector 4"/>
          <p:cNvCxnSpPr/>
          <p:nvPr/>
        </p:nvCxnSpPr>
        <p:spPr>
          <a:xfrm>
            <a:off x="2331719" y="166420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005EB8"/>
                </a:solidFill>
                <a:latin typeface="Inter"/>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Inter"/>
              </a:defRPr>
            </a:pPr>
            <a:r>
              <a:t>Brand Purpose (Vision)</a:t>
            </a:r>
          </a:p>
        </p:txBody>
      </p:sp>
      <p:cxnSp>
        <p:nvCxnSpPr>
          <p:cNvPr id="8" name="Connector 7"/>
          <p:cNvCxnSpPr/>
          <p:nvPr/>
        </p:nvCxnSpPr>
        <p:spPr>
          <a:xfrm>
            <a:off x="2331719" y="216712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005EB8"/>
                </a:solidFill>
                <a:latin typeface="Inter"/>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Inter"/>
              </a:defRPr>
            </a:pPr>
            <a:r>
              <a:t>Brand Purpose (Mission)</a:t>
            </a:r>
          </a:p>
        </p:txBody>
      </p:sp>
      <p:cxnSp>
        <p:nvCxnSpPr>
          <p:cNvPr id="11" name="Connector 10"/>
          <p:cNvCxnSpPr/>
          <p:nvPr/>
        </p:nvCxnSpPr>
        <p:spPr>
          <a:xfrm>
            <a:off x="2331719" y="267004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005EB8"/>
                </a:solidFill>
                <a:latin typeface="Inter"/>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Inter"/>
              </a:defRPr>
            </a:pPr>
            <a:r>
              <a:t>Brand Purpose (Values)</a:t>
            </a:r>
          </a:p>
        </p:txBody>
      </p:sp>
      <p:cxnSp>
        <p:nvCxnSpPr>
          <p:cNvPr id="14" name="Connector 13"/>
          <p:cNvCxnSpPr/>
          <p:nvPr/>
        </p:nvCxnSpPr>
        <p:spPr>
          <a:xfrm>
            <a:off x="5349239" y="166420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005EB8"/>
                </a:solidFill>
                <a:latin typeface="Inter"/>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Inter"/>
              </a:defRPr>
            </a:pPr>
            <a:r>
              <a:t>Brand Story</a:t>
            </a:r>
          </a:p>
        </p:txBody>
      </p:sp>
      <p:cxnSp>
        <p:nvCxnSpPr>
          <p:cNvPr id="17" name="Connector 16"/>
          <p:cNvCxnSpPr/>
          <p:nvPr/>
        </p:nvCxnSpPr>
        <p:spPr>
          <a:xfrm>
            <a:off x="5349239" y="216712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005EB8"/>
                </a:solidFill>
                <a:latin typeface="Inter"/>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Inter"/>
              </a:defRPr>
            </a:pPr>
            <a:r>
              <a:t>Logo Variations</a:t>
            </a:r>
          </a:p>
        </p:txBody>
      </p:sp>
      <p:cxnSp>
        <p:nvCxnSpPr>
          <p:cNvPr id="20" name="Connector 19"/>
          <p:cNvCxnSpPr/>
          <p:nvPr/>
        </p:nvCxnSpPr>
        <p:spPr>
          <a:xfrm>
            <a:off x="5349239" y="267004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005EB8"/>
                </a:solidFill>
                <a:latin typeface="Inter"/>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Inter"/>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Inter"/>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Inter"/>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Inter"/>
              </a:defRPr>
            </a:pPr>
            <a:r>
              <a:t>Brand Colors</a:t>
            </a:r>
          </a:p>
        </p:txBody>
      </p:sp>
      <p:cxnSp>
        <p:nvCxnSpPr>
          <p:cNvPr id="26" name="Connector 25"/>
          <p:cNvCxnSpPr/>
          <p:nvPr/>
        </p:nvCxnSpPr>
        <p:spPr>
          <a:xfrm>
            <a:off x="8366759" y="166420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005EB8"/>
                </a:solidFill>
                <a:latin typeface="Inter"/>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Inter"/>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Inter"/>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Inter"/>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Inter"/>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Inter"/>
              </a:defRPr>
            </a:pPr>
            <a:r>
              <a:t>Typography</a:t>
            </a:r>
          </a:p>
        </p:txBody>
      </p:sp>
      <p:cxnSp>
        <p:nvCxnSpPr>
          <p:cNvPr id="33" name="Connector 32"/>
          <p:cNvCxnSpPr/>
          <p:nvPr/>
        </p:nvCxnSpPr>
        <p:spPr>
          <a:xfrm>
            <a:off x="8366759" y="308152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005EB8"/>
                </a:solidFill>
                <a:latin typeface="Inter"/>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Inter"/>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Inter"/>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Inter"/>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Inter"/>
              </a:defRPr>
            </a:pPr>
            <a:r>
              <a:t>Imagery &amp; Visuals</a:t>
            </a:r>
          </a:p>
        </p:txBody>
      </p:sp>
      <p:cxnSp>
        <p:nvCxnSpPr>
          <p:cNvPr id="39" name="Connector 38"/>
          <p:cNvCxnSpPr/>
          <p:nvPr/>
        </p:nvCxnSpPr>
        <p:spPr>
          <a:xfrm>
            <a:off x="8366759" y="4270248"/>
            <a:ext cx="365760" cy="0"/>
          </a:xfrm>
          <a:prstGeom prst="line">
            <a:avLst/>
          </a:prstGeom>
          <a:ln w="19050">
            <a:solidFill>
              <a:srgbClr val="005EB8"/>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005EB8"/>
                </a:solidFill>
                <a:latin typeface="Inter"/>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Inter"/>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Inter"/>
              </a:defRPr>
            </a:pPr>
            <a:r>
              <a:t>Illustrations</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Inter"/>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Welcome to the BBC's global brand identity system. As the world's leading public service broadcaster, we deliver a unified, engaging, and instantly recognizable presence across all media platforms. Our commitment to journalistic excellence, creative storytelling, and unwavering integrity shapes everything we do - from breaking news and groundbreaking documentaries to world-class entertainment and innovative digital experiences. Built on nearly a century of trust and impartiality, we continue to inform, educate, and inspire audiences worldwide through distinctive content that reflects our core values. Join us as we shape the future of broadcasting while staying true to our mission of enriching people's lives through the power of public service media.</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05EB8"/>
                </a:solidFill>
                <a:latin typeface="Source Sans Pro"/>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At BBC, our vision is to redefine the landscape of Media &amp; Broadcasting (News, Entertainment &amp; Digital) by inspiring and empowering Global citizens, News consumers, Entertainment viewers, Digital audiences, Professionals, and Students worldwide. We strive to be the beacon of innovative storytelling, setting new standards for creativity and engagement in the industry.</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05EB8"/>
                </a:solidFill>
                <a:latin typeface="Source Sans Pro"/>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Our mission at BBC is to deliver unparalleled Media &amp; Broadcasting solutions that inform, educate, entertain, and connect diverse audiences across the globe. Through our commitment to trust, impartiality, and public service, we aim to provide cutting-edge content that resonates with the hearts and minds of our viewers, fostering a sense of unity and understanding in an ever-evolving digital world.</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05EB8"/>
                </a:solidFill>
                <a:latin typeface="Source Sans Pro"/>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At BBC, we uphold the pillars of Trust by delivering accurate and reliable information, Impartiality by presenting diverse perspectives, Creativity by pushing boundaries in storytelling, and Innovation by embracing new technologies. Our commitment to Integrity ensures transparency and accountability in all our endeavors, while our dedication to Public Service drives us to serve the greater good. Embracing Diversity in all forms, we celebrate inclusivity and representation, reflecting the richness of our global audience.</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05EB8"/>
                </a:solidFill>
                <a:latin typeface="Source Sans Pro"/>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In a world where information is abundant yet trust is scarce, there stands a beacon of integrity and impartiality. A pioneer in the realm of Media &amp; Broadcasting, BBC has been a steadfast companion to global citizens, news consumers, entertainment viewers, digital audiences, professionals, and students alike. With a core value system rooted in trust, creativity, innovation, and public service, BBC has carved a niche for itself as a source of reliable information and compelling entertainment. Our commitment to diversity ensures that every voice is heard, every story is told, and every perspective is respected.</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05EB8"/>
                </a:solidFill>
                <a:latin typeface="Source Sans Pro"/>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At the heart of our brand lies a promise – to empower global citizens, news consumers, entertainment viewers, digital audiences, professionals, and students through innovative Media &amp; Broadcasting solutions. We understand the power of media in shaping opinions, influencing decisions, and connecting people across the globe. With every story we tell, every show we produce, and every digital platform we create, we strive to make a difference in the lives of our audience. Our unique value proposition lies in our ability to cater to a diverse audience with distinct needs and preferences. From breaking news coverage to thought-provoking documentaries, from captivating entertainment programs to interactive...</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05EB8"/>
                </a:solidFill>
                <a:latin typeface="Source Sans Pro"/>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bbc_logo_1_20250901_132659_2c60be7f.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Inter"/>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05EB8"/>
                </a:solidFill>
                <a:latin typeface="Source Sans Pro"/>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bbc_logo_2_20250901_132713_df4a2ebf.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Inter"/>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05EB8"/>
                </a:solidFill>
                <a:latin typeface="Source Sans Pro"/>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bbc_logo_3_20250901_132728_c6833d57.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Inter"/>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05EB8"/>
                </a:solidFill>
                <a:latin typeface="Source Sans Pro"/>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005EB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Inter"/>
              </a:defRPr>
            </a:pPr>
            <a:r>
              <a:t>Trust Blue</a:t>
            </a:r>
          </a:p>
          <a:p>
            <a:pPr algn="l">
              <a:spcAft>
                <a:spcPts val="300"/>
              </a:spcAft>
              <a:defRPr sz="1000" b="0">
                <a:solidFill>
                  <a:srgbClr val="FFFFFF"/>
                </a:solidFill>
                <a:latin typeface="Inter"/>
              </a:defRPr>
            </a:pPr>
            <a:r>
              <a:t>#005EB8</a:t>
            </a:r>
          </a:p>
          <a:p>
            <a:pPr algn="l">
              <a:spcAft>
                <a:spcPts val="300"/>
              </a:spcAft>
              <a:defRPr sz="1000" b="0">
                <a:solidFill>
                  <a:srgbClr val="FFFFFF"/>
                </a:solidFill>
                <a:latin typeface="Inter"/>
              </a:defRPr>
            </a:pPr>
            <a:r>
              <a:t>RGB(0, 94, 184)</a:t>
            </a:r>
          </a:p>
          <a:p>
            <a:pPr algn="l">
              <a:spcAft>
                <a:spcPts val="300"/>
              </a:spcAft>
              <a:defRPr sz="1000" b="0">
                <a:solidFill>
                  <a:srgbClr val="FFFFFF"/>
                </a:solidFill>
                <a:latin typeface="Inter"/>
              </a:defRPr>
            </a:pPr>
            <a:r>
              <a:t>CMYK(100, 48, 0, 27)</a:t>
            </a:r>
          </a:p>
          <a:p>
            <a:pPr algn="l">
              <a:spcAft>
                <a:spcPts val="300"/>
              </a:spcAft>
              <a:defRPr sz="1000" b="0">
                <a:solidFill>
                  <a:srgbClr val="FFFFFF"/>
                </a:solidFill>
                <a:latin typeface="Inter"/>
              </a:defRPr>
            </a:pPr>
            <a:r>
              <a:t>Use Light Text</a:t>
            </a:r>
          </a:p>
        </p:txBody>
      </p:sp>
      <p:sp>
        <p:nvSpPr>
          <p:cNvPr id="4" name="Rectangle 3"/>
          <p:cNvSpPr/>
          <p:nvPr/>
        </p:nvSpPr>
        <p:spPr>
          <a:xfrm>
            <a:off x="4572000" y="1645920"/>
            <a:ext cx="1828800" cy="1371600"/>
          </a:xfrm>
          <a:prstGeom prst="rect">
            <a:avLst/>
          </a:prstGeom>
          <a:solidFill>
            <a:srgbClr val="F2C94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Inter"/>
              </a:defRPr>
            </a:pPr>
            <a:r>
              <a:t>Innovation Yellow</a:t>
            </a:r>
          </a:p>
          <a:p>
            <a:pPr algn="l">
              <a:spcAft>
                <a:spcPts val="300"/>
              </a:spcAft>
              <a:defRPr sz="1000" b="0">
                <a:solidFill>
                  <a:srgbClr val="FFFFFF"/>
                </a:solidFill>
                <a:latin typeface="Inter"/>
              </a:defRPr>
            </a:pPr>
            <a:r>
              <a:t>#F2C94C</a:t>
            </a:r>
          </a:p>
          <a:p>
            <a:pPr algn="l">
              <a:spcAft>
                <a:spcPts val="300"/>
              </a:spcAft>
              <a:defRPr sz="1000" b="0">
                <a:solidFill>
                  <a:srgbClr val="FFFFFF"/>
                </a:solidFill>
                <a:latin typeface="Inter"/>
              </a:defRPr>
            </a:pPr>
            <a:r>
              <a:t>RGB(242, 201, 76)</a:t>
            </a:r>
          </a:p>
          <a:p>
            <a:pPr algn="l">
              <a:spcAft>
                <a:spcPts val="300"/>
              </a:spcAft>
              <a:defRPr sz="1000" b="0">
                <a:solidFill>
                  <a:srgbClr val="FFFFFF"/>
                </a:solidFill>
                <a:latin typeface="Inter"/>
              </a:defRPr>
            </a:pPr>
            <a:r>
              <a:t>CMYK(0, 16, 68, 5)</a:t>
            </a:r>
          </a:p>
          <a:p>
            <a:pPr algn="l">
              <a:spcAft>
                <a:spcPts val="300"/>
              </a:spcAft>
              <a:defRPr sz="1000" b="0">
                <a:solidFill>
                  <a:srgbClr val="FFFFFF"/>
                </a:solidFill>
                <a:latin typeface="Inter"/>
              </a:defRPr>
            </a:pPr>
            <a:r>
              <a:t>Use Dark Text</a:t>
            </a:r>
          </a:p>
        </p:txBody>
      </p:sp>
      <p:sp>
        <p:nvSpPr>
          <p:cNvPr id="6" name="Rectangle 5"/>
          <p:cNvSpPr/>
          <p:nvPr/>
        </p:nvSpPr>
        <p:spPr>
          <a:xfrm>
            <a:off x="1143000" y="3726180"/>
            <a:ext cx="1828800" cy="1371600"/>
          </a:xfrm>
          <a:prstGeom prst="rect">
            <a:avLst/>
          </a:prstGeom>
          <a:solidFill>
            <a:srgbClr val="4CAF5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Inter"/>
              </a:defRPr>
            </a:pPr>
            <a:r>
              <a:t>Public Green</a:t>
            </a:r>
          </a:p>
          <a:p>
            <a:pPr algn="l">
              <a:spcAft>
                <a:spcPts val="300"/>
              </a:spcAft>
              <a:defRPr sz="1000" b="0">
                <a:solidFill>
                  <a:srgbClr val="FFFFFF"/>
                </a:solidFill>
                <a:latin typeface="Inter"/>
              </a:defRPr>
            </a:pPr>
            <a:r>
              <a:t>#4CAF50</a:t>
            </a:r>
          </a:p>
          <a:p>
            <a:pPr algn="l">
              <a:spcAft>
                <a:spcPts val="300"/>
              </a:spcAft>
              <a:defRPr sz="1000" b="0">
                <a:solidFill>
                  <a:srgbClr val="FFFFFF"/>
                </a:solidFill>
                <a:latin typeface="Inter"/>
              </a:defRPr>
            </a:pPr>
            <a:r>
              <a:t>RGB(76, 175, 80)</a:t>
            </a:r>
          </a:p>
          <a:p>
            <a:pPr algn="l">
              <a:spcAft>
                <a:spcPts val="300"/>
              </a:spcAft>
              <a:defRPr sz="1000" b="0">
                <a:solidFill>
                  <a:srgbClr val="FFFFFF"/>
                </a:solidFill>
                <a:latin typeface="Inter"/>
              </a:defRPr>
            </a:pPr>
            <a:r>
              <a:t>CMYK(56, 0, 54, 31)</a:t>
            </a:r>
          </a:p>
          <a:p>
            <a:pPr algn="l">
              <a:spcAft>
                <a:spcPts val="300"/>
              </a:spcAft>
              <a:defRPr sz="1000" b="0">
                <a:solidFill>
                  <a:srgbClr val="FFFFFF"/>
                </a:solidFill>
                <a:latin typeface="Inter"/>
              </a:defRPr>
            </a:pPr>
            <a:r>
              <a:t>Use Dark Text</a:t>
            </a:r>
          </a:p>
        </p:txBody>
      </p:sp>
      <p:cxnSp>
        <p:nvCxnSpPr>
          <p:cNvPr id="8" name="Connector 7"/>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 y="5560695"/>
            <a:ext cx="5486400" cy="731520"/>
          </a:xfrm>
          <a:prstGeom prst="rect">
            <a:avLst/>
          </a:prstGeom>
          <a:noFill/>
        </p:spPr>
        <p:txBody>
          <a:bodyPr wrap="none">
            <a:spAutoFit/>
          </a:bodyPr>
          <a:lstStyle/>
          <a:p>
            <a:pPr algn="l">
              <a:defRPr sz="2800" b="1">
                <a:solidFill>
                  <a:srgbClr val="005EB8"/>
                </a:solidFill>
                <a:latin typeface="Source Sans Pro"/>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Inter"/>
              </a:defRPr>
            </a:pPr>
            <a:r>
              <a:t>Light Gray</a:t>
            </a:r>
          </a:p>
          <a:p>
            <a:pPr algn="ctr">
              <a:spcAft>
                <a:spcPts val="300"/>
              </a:spcAft>
              <a:defRPr sz="1000" b="0">
                <a:solidFill>
                  <a:srgbClr val="FFFFFF"/>
                </a:solidFill>
                <a:latin typeface="Inter"/>
              </a:defRPr>
            </a:pPr>
            <a:r>
              <a:t>#F8F9FA</a:t>
            </a:r>
          </a:p>
          <a:p>
            <a:pPr algn="ctr">
              <a:spcAft>
                <a:spcPts val="300"/>
              </a:spcAft>
              <a:defRPr sz="1000" b="0">
                <a:solidFill>
                  <a:srgbClr val="FFFFFF"/>
                </a:solidFill>
                <a:latin typeface="Inter"/>
              </a:defRPr>
            </a:pPr>
            <a:r>
              <a:t>Use Dark Text</a:t>
            </a:r>
          </a:p>
        </p:txBody>
      </p:sp>
      <p:sp>
        <p:nvSpPr>
          <p:cNvPr id="4" name="Rectangle 3"/>
          <p:cNvSpPr/>
          <p:nvPr/>
        </p:nvSpPr>
        <p:spPr>
          <a:xfrm>
            <a:off x="3200400" y="1571625"/>
            <a:ext cx="1828800" cy="914400"/>
          </a:xfrm>
          <a:prstGeom prst="rect">
            <a:avLst/>
          </a:prstGeom>
          <a:solidFill>
            <a:srgbClr val="00596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Inter"/>
              </a:defRPr>
            </a:pPr>
            <a:r>
              <a:t>Dark Teal</a:t>
            </a:r>
          </a:p>
          <a:p>
            <a:pPr algn="ctr">
              <a:spcAft>
                <a:spcPts val="300"/>
              </a:spcAft>
              <a:defRPr sz="1000" b="0">
                <a:solidFill>
                  <a:srgbClr val="FFFFFF"/>
                </a:solidFill>
                <a:latin typeface="Inter"/>
              </a:defRPr>
            </a:pPr>
            <a:r>
              <a:t>#005960</a:t>
            </a:r>
          </a:p>
          <a:p>
            <a:pPr algn="ctr">
              <a:spcAft>
                <a:spcPts val="300"/>
              </a:spcAft>
              <a:defRPr sz="1000" b="0">
                <a:solidFill>
                  <a:srgbClr val="FFFFFF"/>
                </a:solidFill>
                <a:latin typeface="Inter"/>
              </a:defRPr>
            </a:pPr>
            <a:r>
              <a:t>Use Light Text</a:t>
            </a:r>
          </a:p>
        </p:txBody>
      </p:sp>
      <p:sp>
        <p:nvSpPr>
          <p:cNvPr id="6" name="Rectangle 5"/>
          <p:cNvSpPr/>
          <p:nvPr/>
        </p:nvSpPr>
        <p:spPr>
          <a:xfrm>
            <a:off x="5257800" y="1571625"/>
            <a:ext cx="1828800" cy="914400"/>
          </a:xfrm>
          <a:prstGeom prst="rect">
            <a:avLst/>
          </a:prstGeom>
          <a:solidFill>
            <a:srgbClr val="E9B94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Inter"/>
              </a:defRPr>
            </a:pPr>
            <a:r>
              <a:t>Mustard Yellow</a:t>
            </a:r>
          </a:p>
          <a:p>
            <a:pPr algn="ctr">
              <a:spcAft>
                <a:spcPts val="300"/>
              </a:spcAft>
              <a:defRPr sz="1000" b="0">
                <a:solidFill>
                  <a:srgbClr val="FFFFFF"/>
                </a:solidFill>
                <a:latin typeface="Inter"/>
              </a:defRPr>
            </a:pPr>
            <a:r>
              <a:t>#E9B949</a:t>
            </a:r>
          </a:p>
          <a:p>
            <a:pPr algn="ctr">
              <a:spcAft>
                <a:spcPts val="300"/>
              </a:spcAft>
              <a:defRPr sz="1000" b="0">
                <a:solidFill>
                  <a:srgbClr val="FFFFFF"/>
                </a:solidFill>
                <a:latin typeface="Inter"/>
              </a:defRPr>
            </a:pPr>
            <a:r>
              <a:t>Use Dark Text</a:t>
            </a:r>
          </a:p>
        </p:txBody>
      </p:sp>
      <p:sp>
        <p:nvSpPr>
          <p:cNvPr id="8" name="Rectangle 7"/>
          <p:cNvSpPr/>
          <p:nvPr/>
        </p:nvSpPr>
        <p:spPr>
          <a:xfrm>
            <a:off x="2171700" y="3429000"/>
            <a:ext cx="1828800" cy="914400"/>
          </a:xfrm>
          <a:prstGeom prst="rect">
            <a:avLst/>
          </a:prstGeom>
          <a:solidFill>
            <a:srgbClr val="8DBF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Inter"/>
              </a:defRPr>
            </a:pPr>
            <a:r>
              <a:t>Soft Green</a:t>
            </a:r>
          </a:p>
          <a:p>
            <a:pPr algn="ctr">
              <a:spcAft>
                <a:spcPts val="300"/>
              </a:spcAft>
              <a:defRPr sz="1000" b="0">
                <a:solidFill>
                  <a:srgbClr val="FFFFFF"/>
                </a:solidFill>
                <a:latin typeface="Inter"/>
              </a:defRPr>
            </a:pPr>
            <a:r>
              <a:t>#8DBF8D</a:t>
            </a:r>
          </a:p>
          <a:p>
            <a:pPr algn="ctr">
              <a:spcAft>
                <a:spcPts val="300"/>
              </a:spcAft>
              <a:defRPr sz="1000" b="0">
                <a:solidFill>
                  <a:srgbClr val="FFFFFF"/>
                </a:solidFill>
                <a:latin typeface="Inter"/>
              </a:defRPr>
            </a:pPr>
            <a:r>
              <a:t>Use Dark Text</a:t>
            </a:r>
          </a:p>
        </p:txBody>
      </p:sp>
      <p:sp>
        <p:nvSpPr>
          <p:cNvPr id="10" name="Rectangle 9"/>
          <p:cNvSpPr/>
          <p:nvPr/>
        </p:nvSpPr>
        <p:spPr>
          <a:xfrm>
            <a:off x="4229100" y="3429000"/>
            <a:ext cx="1828800" cy="914400"/>
          </a:xfrm>
          <a:prstGeom prst="rect">
            <a:avLst/>
          </a:prstGeom>
          <a:solidFill>
            <a:srgbClr val="00336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Inter"/>
              </a:defRPr>
            </a:pPr>
            <a:r>
              <a:t>Deep Blue</a:t>
            </a:r>
          </a:p>
          <a:p>
            <a:pPr algn="ctr">
              <a:spcAft>
                <a:spcPts val="300"/>
              </a:spcAft>
              <a:defRPr sz="1000" b="0">
                <a:solidFill>
                  <a:srgbClr val="FFFFFF"/>
                </a:solidFill>
                <a:latin typeface="Inter"/>
              </a:defRPr>
            </a:pPr>
            <a:r>
              <a:t>#003366</a:t>
            </a:r>
          </a:p>
          <a:p>
            <a:pPr algn="ctr">
              <a:spcAft>
                <a:spcPts val="300"/>
              </a:spcAft>
              <a:defRPr sz="1000" b="0">
                <a:solidFill>
                  <a:srgbClr val="FFFFFF"/>
                </a:solidFill>
                <a:latin typeface="Inter"/>
              </a:defRPr>
            </a:pPr>
            <a:r>
              <a:t>Use Light Text</a:t>
            </a:r>
          </a:p>
        </p:txBody>
      </p:sp>
      <p:cxnSp>
        <p:nvCxnSpPr>
          <p:cNvPr id="12" name="Connector 11"/>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005EB8"/>
                </a:solidFill>
                <a:latin typeface="Source Sans Pro"/>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Inter"/>
              </a:defRPr>
            </a:pPr>
            <a:r>
              <a:t>Primary Color Usage</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Use for brand-critical elements:</a:t>
            </a:r>
          </a:p>
          <a:p>
            <a:pPr algn="l">
              <a:spcAft>
                <a:spcPts val="600"/>
              </a:spcAft>
              <a:defRPr sz="1400" b="0">
                <a:solidFill>
                  <a:srgbClr val="FFFFFF"/>
                </a:solidFill>
                <a:latin typeface="Inter"/>
              </a:defRPr>
            </a:pPr>
            <a:r>
              <a:t>• Logos and main brand marks</a:t>
            </a:r>
          </a:p>
          <a:p>
            <a:pPr algn="l">
              <a:spcAft>
                <a:spcPts val="600"/>
              </a:spcAft>
              <a:defRPr sz="1400" b="0">
                <a:solidFill>
                  <a:srgbClr val="FFFFFF"/>
                </a:solidFill>
                <a:latin typeface="Inter"/>
              </a:defRPr>
            </a:pPr>
            <a:r>
              <a:t>• Headlines and key text</a:t>
            </a:r>
          </a:p>
          <a:p>
            <a:pPr algn="l">
              <a:spcAft>
                <a:spcPts val="600"/>
              </a:spcAft>
              <a:defRPr sz="1400" b="0">
                <a:solidFill>
                  <a:srgbClr val="FFFFFF"/>
                </a:solidFill>
                <a:latin typeface="Inter"/>
              </a:defRPr>
            </a:pPr>
            <a:r>
              <a:t>• CTA buttons and navigation</a:t>
            </a:r>
          </a:p>
          <a:p>
            <a:pPr algn="l">
              <a:spcAft>
                <a:spcPts val="600"/>
              </a:spcAft>
              <a:defRPr sz="1400" b="0">
                <a:solidFill>
                  <a:srgbClr val="FFFFFF"/>
                </a:solidFill>
                <a:latin typeface="Inter"/>
              </a:defRPr>
            </a:pPr>
            <a:r>
              <a:t>• Hero sections</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Colors: Trust Blue, Innovation Yellow, Public Green</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Best Practices:</a:t>
            </a:r>
          </a:p>
          <a:p>
            <a:pPr algn="l">
              <a:spcAft>
                <a:spcPts val="600"/>
              </a:spcAft>
              <a:defRPr sz="1400" b="0">
                <a:solidFill>
                  <a:srgbClr val="FFFFFF"/>
                </a:solidFill>
                <a:latin typeface="Inter"/>
              </a:defRPr>
            </a:pPr>
            <a:r>
              <a:t>- Maximum brand recognition</a:t>
            </a:r>
          </a:p>
          <a:p>
            <a:pPr algn="l">
              <a:spcAft>
                <a:spcPts val="600"/>
              </a:spcAft>
              <a:defRPr sz="1400" b="0">
                <a:solidFill>
                  <a:srgbClr val="FFFFFF"/>
                </a:solidFill>
                <a:latin typeface="Inter"/>
              </a:defRPr>
            </a:pPr>
            <a:r>
              <a:t>- Consistent application</a:t>
            </a:r>
          </a:p>
          <a:p>
            <a:pPr algn="l">
              <a:spcAft>
                <a:spcPts val="600"/>
              </a:spcAft>
              <a:defRPr sz="1400" b="0">
                <a:solidFill>
                  <a:srgbClr val="FFFFFF"/>
                </a:solidFill>
                <a:latin typeface="Inter"/>
              </a:defRPr>
            </a:pPr>
            <a:r>
              <a:t>- Sufficient contrast</a:t>
            </a:r>
          </a:p>
          <a:p>
            <a:pPr algn="l">
              <a:spcAft>
                <a:spcPts val="600"/>
              </a:spcAft>
              <a:defRPr sz="1400" b="0">
                <a:solidFill>
                  <a:srgbClr val="FFFFFF"/>
                </a:solidFill>
                <a:latin typeface="Inter"/>
              </a:defRPr>
            </a:pPr>
            <a:r>
              <a:t>- Accessibility compliance</a:t>
            </a:r>
          </a:p>
        </p:txBody>
      </p:sp>
      <p:cxnSp>
        <p:nvCxnSpPr>
          <p:cNvPr id="3" name="Connector 2"/>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05EB8"/>
                </a:solidFill>
                <a:latin typeface="Source Sans Pro"/>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Inter"/>
              </a:defRPr>
            </a:pPr>
            <a:r>
              <a:t>Secondary Color Usage</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Use for supporting elements:</a:t>
            </a:r>
          </a:p>
          <a:p>
            <a:pPr algn="l">
              <a:spcAft>
                <a:spcPts val="600"/>
              </a:spcAft>
              <a:defRPr sz="1400" b="0">
                <a:solidFill>
                  <a:srgbClr val="FFFFFF"/>
                </a:solidFill>
                <a:latin typeface="Inter"/>
              </a:defRPr>
            </a:pPr>
            <a:r>
              <a:t>• Backgrounds and subtle accents</a:t>
            </a:r>
          </a:p>
          <a:p>
            <a:pPr algn="l">
              <a:spcAft>
                <a:spcPts val="600"/>
              </a:spcAft>
              <a:defRPr sz="1400" b="0">
                <a:solidFill>
                  <a:srgbClr val="FFFFFF"/>
                </a:solidFill>
                <a:latin typeface="Inter"/>
              </a:defRPr>
            </a:pPr>
            <a:r>
              <a:t>• Secondary text</a:t>
            </a:r>
          </a:p>
          <a:p>
            <a:pPr algn="l">
              <a:spcAft>
                <a:spcPts val="600"/>
              </a:spcAft>
              <a:defRPr sz="1400" b="0">
                <a:solidFill>
                  <a:srgbClr val="FFFFFF"/>
                </a:solidFill>
                <a:latin typeface="Inter"/>
              </a:defRPr>
            </a:pPr>
            <a:r>
              <a:t>• Borders and dividers</a:t>
            </a:r>
          </a:p>
          <a:p>
            <a:pPr algn="l">
              <a:spcAft>
                <a:spcPts val="600"/>
              </a:spcAft>
              <a:defRPr sz="1400" b="0">
                <a:solidFill>
                  <a:srgbClr val="FFFFFF"/>
                </a:solidFill>
                <a:latin typeface="Inter"/>
              </a:defRPr>
            </a:pPr>
            <a:r>
              <a:t>• Hover states and icons</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Colors: Light Gray, Dark Teal, Mustard Yellow, Soft Green, Deep Blue</a:t>
            </a:r>
          </a:p>
          <a:p>
            <a:pPr algn="l">
              <a:spcAft>
                <a:spcPts val="600"/>
              </a:spcAft>
              <a:defRPr sz="1400" b="0">
                <a:solidFill>
                  <a:srgbClr val="FFFFFF"/>
                </a:solidFill>
                <a:latin typeface="Inter"/>
              </a:defRPr>
            </a:pPr>
          </a:p>
          <a:p>
            <a:pPr algn="l">
              <a:spcAft>
                <a:spcPts val="600"/>
              </a:spcAft>
              <a:defRPr sz="1400" b="0">
                <a:solidFill>
                  <a:srgbClr val="FFFFFF"/>
                </a:solidFill>
                <a:latin typeface="Inter"/>
              </a:defRPr>
            </a:pPr>
            <a:r>
              <a:t>Best Practices:</a:t>
            </a:r>
          </a:p>
          <a:p>
            <a:pPr algn="l">
              <a:spcAft>
                <a:spcPts val="600"/>
              </a:spcAft>
              <a:defRPr sz="1400" b="0">
                <a:solidFill>
                  <a:srgbClr val="FFFFFF"/>
                </a:solidFill>
                <a:latin typeface="Inter"/>
              </a:defRPr>
            </a:pPr>
            <a:r>
              <a:t>- Create visual hierarchy</a:t>
            </a:r>
          </a:p>
          <a:p>
            <a:pPr algn="l">
              <a:spcAft>
                <a:spcPts val="600"/>
              </a:spcAft>
              <a:defRPr sz="1400" b="0">
                <a:solidFill>
                  <a:srgbClr val="FFFFFF"/>
                </a:solidFill>
                <a:latin typeface="Inter"/>
              </a:defRPr>
            </a:pPr>
            <a:r>
              <a:t>- Support, don't compete</a:t>
            </a:r>
          </a:p>
          <a:p>
            <a:pPr algn="l">
              <a:spcAft>
                <a:spcPts val="600"/>
              </a:spcAft>
              <a:defRPr sz="1400" b="0">
                <a:solidFill>
                  <a:srgbClr val="FFFFFF"/>
                </a:solidFill>
                <a:latin typeface="Inter"/>
              </a:defRPr>
            </a:pPr>
            <a:r>
              <a:t>- Maintain readability</a:t>
            </a:r>
          </a:p>
          <a:p>
            <a:pPr algn="l">
              <a:spcAft>
                <a:spcPts val="600"/>
              </a:spcAft>
              <a:defRPr sz="1400" b="0">
                <a:solidFill>
                  <a:srgbClr val="FFFFFF"/>
                </a:solidFill>
                <a:latin typeface="Inter"/>
              </a:defRPr>
            </a:pPr>
            <a:r>
              <a:t>- Use sparingly</a:t>
            </a:r>
          </a:p>
        </p:txBody>
      </p:sp>
      <p:cxnSp>
        <p:nvCxnSpPr>
          <p:cNvPr id="3" name="Connector 2"/>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05EB8"/>
                </a:solidFill>
                <a:latin typeface="Source Sans Pro"/>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Primary Font: Source Sans Pro</a:t>
            </a:r>
          </a:p>
          <a:p>
            <a:pPr algn="l">
              <a:spcAft>
                <a:spcPts val="800"/>
              </a:spcAft>
              <a:defRPr sz="2000" b="0">
                <a:solidFill>
                  <a:srgbClr val="FFFFFF"/>
                </a:solidFill>
                <a:latin typeface="Inter"/>
              </a:defRPr>
            </a:pPr>
          </a:p>
          <a:p>
            <a:pPr algn="l">
              <a:spcAft>
                <a:spcPts val="800"/>
              </a:spcAft>
              <a:defRPr sz="2000" b="0">
                <a:solidFill>
                  <a:srgbClr val="FFFFFF"/>
                </a:solidFill>
                <a:latin typeface="Inter"/>
              </a:defRPr>
            </a:pPr>
            <a:r>
              <a:t>Secondary Font: Inter</a:t>
            </a:r>
          </a:p>
          <a:p>
            <a:pPr algn="l">
              <a:spcAft>
                <a:spcPts val="800"/>
              </a:spcAft>
              <a:defRPr sz="2000" b="0">
                <a:solidFill>
                  <a:srgbClr val="FFFFFF"/>
                </a:solidFill>
                <a:latin typeface="Inter"/>
              </a:defRPr>
            </a:pPr>
          </a:p>
          <a:p>
            <a:pPr algn="l">
              <a:spcAft>
                <a:spcPts val="800"/>
              </a:spcAft>
              <a:defRPr sz="2000" b="0">
                <a:solidFill>
                  <a:srgbClr val="FFFFFF"/>
                </a:solidFill>
                <a:latin typeface="Inter"/>
              </a:defRPr>
            </a:pPr>
            <a:r>
              <a:t>Font Hierarchy:</a:t>
            </a:r>
          </a:p>
          <a:p>
            <a:pPr algn="l">
              <a:spcAft>
                <a:spcPts val="800"/>
              </a:spcAft>
              <a:defRPr sz="2000" b="0">
                <a:solidFill>
                  <a:srgbClr val="FFFFFF"/>
                </a:solidFill>
                <a:latin typeface="Inter"/>
              </a:defRPr>
            </a:pPr>
            <a:r>
              <a:t>• Headlines: Source Sans Pro - Bold, 28-32pt</a:t>
            </a:r>
          </a:p>
          <a:p>
            <a:pPr algn="l">
              <a:spcAft>
                <a:spcPts val="800"/>
              </a:spcAft>
              <a:defRPr sz="2000" b="0">
                <a:solidFill>
                  <a:srgbClr val="FFFFFF"/>
                </a:solidFill>
                <a:latin typeface="Inter"/>
              </a:defRPr>
            </a:pPr>
            <a:r>
              <a:t>• Subheadlines: Source Sans Pro - Bold, 20-24pt</a:t>
            </a:r>
          </a:p>
          <a:p>
            <a:pPr algn="l">
              <a:spcAft>
                <a:spcPts val="800"/>
              </a:spcAft>
              <a:defRPr sz="2000" b="0">
                <a:solidFill>
                  <a:srgbClr val="FFFFFF"/>
                </a:solidFill>
                <a:latin typeface="Inter"/>
              </a:defRPr>
            </a:pPr>
            <a:r>
              <a:t>• Body Text: Inter - Regular, 16-18pt</a:t>
            </a:r>
          </a:p>
          <a:p>
            <a:pPr algn="l">
              <a:spcAft>
                <a:spcPts val="800"/>
              </a:spcAft>
              <a:defRPr sz="2000" b="0">
                <a:solidFill>
                  <a:srgbClr val="FFFFFF"/>
                </a:solidFill>
                <a:latin typeface="Inter"/>
              </a:defRPr>
            </a:pPr>
            <a:r>
              <a:t>• Caption Text: Inter - Regular, 12-14pt</a:t>
            </a:r>
          </a:p>
        </p:txBody>
      </p:sp>
      <p:cxnSp>
        <p:nvCxnSpPr>
          <p:cNvPr id="3" name="Connector 2"/>
          <p:cNvCxnSpPr/>
          <p:nvPr/>
        </p:nvCxnSpPr>
        <p:spPr>
          <a:xfrm>
            <a:off x="457200" y="4914900.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05EB8"/>
                </a:solidFill>
                <a:latin typeface="Source Sans Pro"/>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FFFFFF"/>
                </a:solidFill>
                <a:latin typeface="Inter"/>
              </a:defRPr>
            </a:pPr>
            <a:r>
              <a:t>BBC Icons</a:t>
            </a:r>
          </a:p>
        </p:txBody>
      </p:sp>
      <p:pic>
        <p:nvPicPr>
          <p:cNvPr id="3" name="Picture 2" descr="bbc_icon_trust_20250901_132901_0783a9f9.png"/>
          <p:cNvPicPr>
            <a:picLocks noChangeAspect="1"/>
          </p:cNvPicPr>
          <p:nvPr/>
        </p:nvPicPr>
        <p:blipFill>
          <a:blip r:embed="rId2"/>
          <a:stretch>
            <a:fillRect/>
          </a:stretch>
        </p:blipFill>
        <p:spPr>
          <a:xfrm>
            <a:off x="2743200" y="2286000"/>
            <a:ext cx="914400" cy="914400"/>
          </a:xfrm>
          <a:prstGeom prst="rect">
            <a:avLst/>
          </a:prstGeom>
        </p:spPr>
      </p:pic>
      <p:sp>
        <p:nvSpPr>
          <p:cNvPr id="4" name="TextBox 3"/>
          <p:cNvSpPr txBox="1"/>
          <p:nvPr/>
        </p:nvSpPr>
        <p:spPr>
          <a:xfrm>
            <a:off x="2743200" y="3291840"/>
            <a:ext cx="914400" cy="365760"/>
          </a:xfrm>
          <a:prstGeom prst="rect">
            <a:avLst/>
          </a:prstGeom>
          <a:noFill/>
        </p:spPr>
        <p:txBody>
          <a:bodyPr wrap="none" lIns="0" rIns="0" tIns="0" bIns="0">
            <a:spAutoFit/>
          </a:bodyPr>
          <a:lstStyle/>
          <a:p>
            <a:pPr algn="ctr">
              <a:defRPr sz="1200" b="0">
                <a:solidFill>
                  <a:srgbClr val="FFFFFF"/>
                </a:solidFill>
                <a:latin typeface="Inter"/>
              </a:defRPr>
            </a:pPr>
            <a:r>
              <a:t>Trust</a:t>
            </a:r>
          </a:p>
        </p:txBody>
      </p:sp>
      <p:pic>
        <p:nvPicPr>
          <p:cNvPr id="5" name="Picture 4" descr="bbc_icon_innovation_20250901_132915_c5b1f353.png"/>
          <p:cNvPicPr>
            <a:picLocks noChangeAspect="1"/>
          </p:cNvPicPr>
          <p:nvPr/>
        </p:nvPicPr>
        <p:blipFill>
          <a:blip r:embed="rId3"/>
          <a:stretch>
            <a:fillRect/>
          </a:stretch>
        </p:blipFill>
        <p:spPr>
          <a:xfrm>
            <a:off x="4572000" y="2286000"/>
            <a:ext cx="914400" cy="914400"/>
          </a:xfrm>
          <a:prstGeom prst="rect">
            <a:avLst/>
          </a:prstGeom>
        </p:spPr>
      </p:pic>
      <p:sp>
        <p:nvSpPr>
          <p:cNvPr id="6" name="TextBox 5"/>
          <p:cNvSpPr txBox="1"/>
          <p:nvPr/>
        </p:nvSpPr>
        <p:spPr>
          <a:xfrm>
            <a:off x="4572000" y="3291840"/>
            <a:ext cx="914400" cy="365760"/>
          </a:xfrm>
          <a:prstGeom prst="rect">
            <a:avLst/>
          </a:prstGeom>
          <a:noFill/>
        </p:spPr>
        <p:txBody>
          <a:bodyPr wrap="none" lIns="0" rIns="0" tIns="0" bIns="0">
            <a:spAutoFit/>
          </a:bodyPr>
          <a:lstStyle/>
          <a:p>
            <a:pPr algn="ctr">
              <a:defRPr sz="1200" b="0">
                <a:solidFill>
                  <a:srgbClr val="FFFFFF"/>
                </a:solidFill>
                <a:latin typeface="Inter"/>
              </a:defRPr>
            </a:pPr>
            <a:r>
              <a:t>Innovation</a:t>
            </a:r>
          </a:p>
        </p:txBody>
      </p:sp>
      <p:pic>
        <p:nvPicPr>
          <p:cNvPr id="7" name="Picture 6" descr="bbc_icon_quality_20250901_132929_7376e6f1.png"/>
          <p:cNvPicPr>
            <a:picLocks noChangeAspect="1"/>
          </p:cNvPicPr>
          <p:nvPr/>
        </p:nvPicPr>
        <p:blipFill>
          <a:blip r:embed="rId4"/>
          <a:stretch>
            <a:fillRect/>
          </a:stretch>
        </p:blipFill>
        <p:spPr>
          <a:xfrm>
            <a:off x="6400800" y="2286000"/>
            <a:ext cx="914400" cy="914400"/>
          </a:xfrm>
          <a:prstGeom prst="rect">
            <a:avLst/>
          </a:prstGeom>
        </p:spPr>
      </p:pic>
      <p:sp>
        <p:nvSpPr>
          <p:cNvPr id="8" name="TextBox 7"/>
          <p:cNvSpPr txBox="1"/>
          <p:nvPr/>
        </p:nvSpPr>
        <p:spPr>
          <a:xfrm>
            <a:off x="6400800" y="3291840"/>
            <a:ext cx="914400" cy="365760"/>
          </a:xfrm>
          <a:prstGeom prst="rect">
            <a:avLst/>
          </a:prstGeom>
          <a:noFill/>
        </p:spPr>
        <p:txBody>
          <a:bodyPr wrap="none" lIns="0" rIns="0" tIns="0" bIns="0">
            <a:spAutoFit/>
          </a:bodyPr>
          <a:lstStyle/>
          <a:p>
            <a:pPr algn="ctr">
              <a:defRPr sz="1200" b="0">
                <a:solidFill>
                  <a:srgbClr val="FFFFFF"/>
                </a:solidFill>
                <a:latin typeface="Inter"/>
              </a:defRPr>
            </a:pPr>
            <a:r>
              <a:t>Quality</a:t>
            </a:r>
          </a:p>
        </p:txBody>
      </p:sp>
      <p:pic>
        <p:nvPicPr>
          <p:cNvPr id="9" name="Picture 8" descr="bbc_icon_communication_20250901_132942_112d92c1.png"/>
          <p:cNvPicPr>
            <a:picLocks noChangeAspect="1"/>
          </p:cNvPicPr>
          <p:nvPr/>
        </p:nvPicPr>
        <p:blipFill>
          <a:blip r:embed="rId5"/>
          <a:stretch>
            <a:fillRect/>
          </a:stretch>
        </p:blipFill>
        <p:spPr>
          <a:xfrm>
            <a:off x="2743200" y="3657600"/>
            <a:ext cx="914400" cy="914400"/>
          </a:xfrm>
          <a:prstGeom prst="rect">
            <a:avLst/>
          </a:prstGeom>
        </p:spPr>
      </p:pic>
      <p:sp>
        <p:nvSpPr>
          <p:cNvPr id="10" name="TextBox 9"/>
          <p:cNvSpPr txBox="1"/>
          <p:nvPr/>
        </p:nvSpPr>
        <p:spPr>
          <a:xfrm>
            <a:off x="2743200" y="4663440"/>
            <a:ext cx="914400" cy="365760"/>
          </a:xfrm>
          <a:prstGeom prst="rect">
            <a:avLst/>
          </a:prstGeom>
          <a:noFill/>
        </p:spPr>
        <p:txBody>
          <a:bodyPr wrap="none" lIns="0" rIns="0" tIns="0" bIns="0">
            <a:spAutoFit/>
          </a:bodyPr>
          <a:lstStyle/>
          <a:p>
            <a:pPr algn="ctr">
              <a:defRPr sz="1200" b="0">
                <a:solidFill>
                  <a:srgbClr val="FFFFFF"/>
                </a:solidFill>
                <a:latin typeface="Inter"/>
              </a:defRPr>
            </a:pPr>
            <a:r>
              <a:t>Communication</a:t>
            </a:r>
          </a:p>
        </p:txBody>
      </p:sp>
      <p:pic>
        <p:nvPicPr>
          <p:cNvPr id="11" name="Picture 10" descr="bbc_icon_growth_20250901_132955_431e9b87.png"/>
          <p:cNvPicPr>
            <a:picLocks noChangeAspect="1"/>
          </p:cNvPicPr>
          <p:nvPr/>
        </p:nvPicPr>
        <p:blipFill>
          <a:blip r:embed="rId6"/>
          <a:stretch>
            <a:fillRect/>
          </a:stretch>
        </p:blipFill>
        <p:spPr>
          <a:xfrm>
            <a:off x="4572000" y="3657600"/>
            <a:ext cx="914400" cy="914400"/>
          </a:xfrm>
          <a:prstGeom prst="rect">
            <a:avLst/>
          </a:prstGeom>
        </p:spPr>
      </p:pic>
      <p:sp>
        <p:nvSpPr>
          <p:cNvPr id="12" name="TextBox 11"/>
          <p:cNvSpPr txBox="1"/>
          <p:nvPr/>
        </p:nvSpPr>
        <p:spPr>
          <a:xfrm>
            <a:off x="4572000" y="4663440"/>
            <a:ext cx="914400" cy="365760"/>
          </a:xfrm>
          <a:prstGeom prst="rect">
            <a:avLst/>
          </a:prstGeom>
          <a:noFill/>
        </p:spPr>
        <p:txBody>
          <a:bodyPr wrap="none" lIns="0" rIns="0" tIns="0" bIns="0">
            <a:spAutoFit/>
          </a:bodyPr>
          <a:lstStyle/>
          <a:p>
            <a:pPr algn="ctr">
              <a:defRPr sz="1200" b="0">
                <a:solidFill>
                  <a:srgbClr val="FFFFFF"/>
                </a:solidFill>
                <a:latin typeface="Inter"/>
              </a:defRPr>
            </a:pPr>
            <a:r>
              <a:t>Growth</a:t>
            </a:r>
          </a:p>
        </p:txBody>
      </p:sp>
      <p:pic>
        <p:nvPicPr>
          <p:cNvPr id="13" name="Picture 12" descr="bbc_icon_collaboration_20250901_133009_f23dc3d9.png"/>
          <p:cNvPicPr>
            <a:picLocks noChangeAspect="1"/>
          </p:cNvPicPr>
          <p:nvPr/>
        </p:nvPicPr>
        <p:blipFill>
          <a:blip r:embed="rId7"/>
          <a:stretch>
            <a:fillRect/>
          </a:stretch>
        </p:blipFill>
        <p:spPr>
          <a:xfrm>
            <a:off x="6400800" y="3657600"/>
            <a:ext cx="914400" cy="914400"/>
          </a:xfrm>
          <a:prstGeom prst="rect">
            <a:avLst/>
          </a:prstGeom>
        </p:spPr>
      </p:pic>
      <p:sp>
        <p:nvSpPr>
          <p:cNvPr id="14" name="TextBox 13"/>
          <p:cNvSpPr txBox="1"/>
          <p:nvPr/>
        </p:nvSpPr>
        <p:spPr>
          <a:xfrm>
            <a:off x="6400800" y="4663440"/>
            <a:ext cx="914400" cy="365760"/>
          </a:xfrm>
          <a:prstGeom prst="rect">
            <a:avLst/>
          </a:prstGeom>
          <a:noFill/>
        </p:spPr>
        <p:txBody>
          <a:bodyPr wrap="none" lIns="0" rIns="0" tIns="0" bIns="0">
            <a:spAutoFit/>
          </a:bodyPr>
          <a:lstStyle/>
          <a:p>
            <a:pPr algn="ctr">
              <a:defRPr sz="1200" b="0">
                <a:solidFill>
                  <a:srgbClr val="FFFFFF"/>
                </a:solidFill>
                <a:latin typeface="Inter"/>
              </a:defRPr>
            </a:pPr>
            <a:r>
              <a:t>Collaboration</a:t>
            </a:r>
          </a:p>
        </p:txBody>
      </p:sp>
      <p:cxnSp>
        <p:nvCxnSpPr>
          <p:cNvPr id="15" name="Connector 14"/>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005EB8"/>
                </a:solidFill>
                <a:latin typeface="Source Sans Pro"/>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FFFFFF"/>
                </a:solidFill>
                <a:latin typeface="Inter"/>
              </a:defRPr>
            </a:pPr>
            <a:r>
              <a:t>Style: Flat design</a:t>
            </a:r>
          </a:p>
          <a:p>
            <a:pPr algn="l">
              <a:spcAft>
                <a:spcPts val="600"/>
              </a:spcAft>
              <a:defRPr sz="1800" b="0">
                <a:solidFill>
                  <a:srgbClr val="FFFFFF"/>
                </a:solidFill>
                <a:latin typeface="Inter"/>
              </a:defRPr>
            </a:pPr>
            <a:r>
              <a:t>Color: #005EB8 on black background</a:t>
            </a:r>
          </a:p>
          <a:p>
            <a:pPr algn="l">
              <a:spcAft>
                <a:spcPts val="600"/>
              </a:spcAft>
              <a:defRPr sz="1800" b="0">
                <a:solidFill>
                  <a:srgbClr val="FFFFFF"/>
                </a:solidFill>
                <a:latin typeface="Inter"/>
              </a:defRPr>
            </a:pPr>
          </a:p>
          <a:p>
            <a:pPr algn="l">
              <a:spcAft>
                <a:spcPts val="600"/>
              </a:spcAft>
              <a:defRPr sz="1800" b="0">
                <a:solidFill>
                  <a:srgbClr val="FFFFFF"/>
                </a:solidFill>
                <a:latin typeface="Inter"/>
              </a:defRPr>
            </a:pPr>
            <a:r>
              <a:t>Size Requirements:</a:t>
            </a:r>
          </a:p>
          <a:p>
            <a:pPr algn="l">
              <a:spcAft>
                <a:spcPts val="600"/>
              </a:spcAft>
              <a:defRPr sz="1800" b="0">
                <a:solidFill>
                  <a:srgbClr val="FFFFFF"/>
                </a:solidFill>
                <a:latin typeface="Inter"/>
              </a:defRPr>
            </a:pPr>
            <a:r>
              <a:t>• Minimum: 16px web, 0.5" print</a:t>
            </a:r>
          </a:p>
          <a:p>
            <a:pPr algn="l">
              <a:spcAft>
                <a:spcPts val="600"/>
              </a:spcAft>
              <a:defRPr sz="1800" b="0">
                <a:solidFill>
                  <a:srgbClr val="FFFFFF"/>
                </a:solidFill>
                <a:latin typeface="Inter"/>
              </a:defRPr>
            </a:pPr>
            <a:r>
              <a:t>• Recommended: 24px+ web, 0.75"+ print</a:t>
            </a:r>
          </a:p>
          <a:p>
            <a:pPr algn="l">
              <a:spcAft>
                <a:spcPts val="600"/>
              </a:spcAft>
              <a:defRPr sz="1800" b="0">
                <a:solidFill>
                  <a:srgbClr val="FFFFFF"/>
                </a:solidFill>
                <a:latin typeface="Inter"/>
              </a:defRPr>
            </a:pPr>
          </a:p>
          <a:p>
            <a:pPr algn="l">
              <a:spcAft>
                <a:spcPts val="600"/>
              </a:spcAft>
              <a:defRPr sz="1800" b="0">
                <a:solidFill>
                  <a:srgbClr val="FFFFFF"/>
                </a:solidFill>
                <a:latin typeface="Inter"/>
              </a:defRPr>
            </a:pPr>
            <a:r>
              <a:t>Spacing:</a:t>
            </a:r>
          </a:p>
          <a:p>
            <a:pPr algn="l">
              <a:spcAft>
                <a:spcPts val="600"/>
              </a:spcAft>
              <a:defRPr sz="1800" b="0">
                <a:solidFill>
                  <a:srgbClr val="FFFFFF"/>
                </a:solidFill>
                <a:latin typeface="Inter"/>
              </a:defRPr>
            </a:pPr>
            <a:r>
              <a:t>• Clear space: 50% of icon width</a:t>
            </a:r>
          </a:p>
          <a:p>
            <a:pPr algn="l">
              <a:spcAft>
                <a:spcPts val="600"/>
              </a:spcAft>
              <a:defRPr sz="1800" b="0">
                <a:solidFill>
                  <a:srgbClr val="FFFFFF"/>
                </a:solidFill>
                <a:latin typeface="Inter"/>
              </a:defRPr>
            </a:pPr>
            <a:r>
              <a:t>• Consistent grid alignment</a:t>
            </a:r>
          </a:p>
        </p:txBody>
      </p:sp>
      <p:cxnSp>
        <p:nvCxnSpPr>
          <p:cNvPr id="3" name="Connector 2"/>
          <p:cNvCxnSpPr/>
          <p:nvPr/>
        </p:nvCxnSpPr>
        <p:spPr>
          <a:xfrm>
            <a:off x="457200" y="5286375.0"/>
            <a:ext cx="8229600" cy="0.0"/>
          </a:xfrm>
          <a:prstGeom prst="line">
            <a:avLst/>
          </a:prstGeom>
          <a:ln w="25400">
            <a:solidFill>
              <a:srgbClr val="005E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005EB8"/>
                </a:solidFill>
                <a:latin typeface="Source Sans Pro"/>
              </a:defRPr>
            </a:pPr>
            <a:r>
              <a:t>USAGE GUIDELINES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