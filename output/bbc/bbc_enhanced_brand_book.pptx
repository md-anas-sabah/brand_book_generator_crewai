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bbc_logo_1_20250901_155818_35fc7bca.png"/>
          <p:cNvPicPr>
            <a:picLocks noChangeAspect="1"/>
          </p:cNvPicPr>
          <p:nvPr/>
        </p:nvPicPr>
        <p:blipFill>
          <a:blip r:embed="rId2"/>
          <a:stretch>
            <a:fillRect/>
          </a:stretch>
        </p:blipFill>
        <p:spPr>
          <a:xfrm>
            <a:off x="0" y="0"/>
            <a:ext cx="9144000" cy="6858000"/>
          </a:xfrm>
          <a:prstGeom prst="rect">
            <a:avLst/>
          </a:prstGeom>
        </p:spPr>
      </p:pic>
      <p:cxnSp>
        <p:nvCxnSpPr>
          <p:cNvPr id="3" name="Connector 2"/>
          <p:cNvCxnSpPr/>
          <p:nvPr/>
        </p:nvCxnSpPr>
        <p:spPr>
          <a:xfrm>
            <a:off x="6629400.0" y="5657850.0"/>
            <a:ext cx="2057400.0" cy="0.0"/>
          </a:xfrm>
          <a:prstGeom prst="line">
            <a:avLst/>
          </a:prstGeom>
          <a:ln>
            <a:solidFill>
              <a:srgbClr val="F3F4F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29400" y="5657850"/>
            <a:ext cx="2057400" cy="1485900"/>
          </a:xfrm>
          <a:prstGeom prst="rect">
            <a:avLst/>
          </a:prstGeom>
          <a:noFill/>
        </p:spPr>
        <p:txBody>
          <a:bodyPr wrap="none" anchor="ctr">
            <a:spAutoFit/>
          </a:bodyPr>
          <a:lstStyle/>
          <a:p>
            <a:pPr algn="ctr">
              <a:defRPr sz="1800" b="0">
                <a:solidFill>
                  <a:srgbClr val="F3F4F6"/>
                </a:solidFill>
                <a:latin typeface="Inter"/>
              </a:defRPr>
            </a:pPr>
            <a:r>
              <a:t>Brand Identity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2743200" cy="731520"/>
          </a:xfrm>
          <a:prstGeom prst="rect">
            <a:avLst/>
          </a:prstGeom>
          <a:noFill/>
        </p:spPr>
        <p:txBody>
          <a:bodyPr wrap="none">
            <a:spAutoFit/>
          </a:bodyPr>
          <a:lstStyle/>
          <a:p>
            <a:pPr>
              <a:defRPr sz="2800" b="1">
                <a:solidFill>
                  <a:srgbClr val="1C2C5B"/>
                </a:solidFill>
                <a:latin typeface="Source Sans Pro"/>
              </a:defRPr>
            </a:pPr>
            <a:r>
              <a:t>INDEX</a:t>
            </a:r>
          </a:p>
        </p:txBody>
      </p:sp>
      <p:cxnSp>
        <p:nvCxnSpPr>
          <p:cNvPr id="3" name="Connector 2"/>
          <p:cNvCxnSpPr/>
          <p:nvPr/>
        </p:nvCxnSpPr>
        <p:spPr>
          <a:xfrm>
            <a:off x="457200" y="1097280"/>
            <a:ext cx="8229600" cy="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554480"/>
            <a:ext cx="1828800" cy="274320"/>
          </a:xfrm>
          <a:prstGeom prst="rect">
            <a:avLst/>
          </a:prstGeom>
          <a:noFill/>
        </p:spPr>
        <p:txBody>
          <a:bodyPr wrap="none" lIns="0" rIns="0" tIns="0" bIns="0">
            <a:spAutoFit/>
          </a:bodyPr>
          <a:lstStyle/>
          <a:p>
            <a:pPr>
              <a:defRPr sz="1200" b="1">
                <a:solidFill>
                  <a:srgbClr val="FFFFFF"/>
                </a:solidFill>
                <a:latin typeface="Inter"/>
              </a:defRPr>
            </a:pPr>
            <a:r>
              <a:t>Introduction</a:t>
            </a:r>
          </a:p>
        </p:txBody>
      </p:sp>
      <p:cxnSp>
        <p:nvCxnSpPr>
          <p:cNvPr id="5" name="Connector 4"/>
          <p:cNvCxnSpPr/>
          <p:nvPr/>
        </p:nvCxnSpPr>
        <p:spPr>
          <a:xfrm>
            <a:off x="2331719" y="1664208"/>
            <a:ext cx="365760" cy="0"/>
          </a:xfrm>
          <a:prstGeom prst="line">
            <a:avLst/>
          </a:prstGeom>
          <a:ln w="19050">
            <a:solidFill>
              <a:srgbClr val="1C2C5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0" y="1554480"/>
            <a:ext cx="274320" cy="274320"/>
          </a:xfrm>
          <a:prstGeom prst="rect">
            <a:avLst/>
          </a:prstGeom>
          <a:noFill/>
        </p:spPr>
        <p:txBody>
          <a:bodyPr wrap="none" lIns="0" tIns="0" bIns="0">
            <a:spAutoFit/>
          </a:bodyPr>
          <a:lstStyle/>
          <a:p>
            <a:pPr>
              <a:defRPr sz="1200" b="1">
                <a:solidFill>
                  <a:srgbClr val="1C2C5B"/>
                </a:solidFill>
                <a:latin typeface="Inter"/>
              </a:defRPr>
            </a:pPr>
            <a:r>
              <a:t>01</a:t>
            </a:r>
          </a:p>
        </p:txBody>
      </p:sp>
      <p:sp>
        <p:nvSpPr>
          <p:cNvPr id="7" name="TextBox 6"/>
          <p:cNvSpPr txBox="1"/>
          <p:nvPr/>
        </p:nvSpPr>
        <p:spPr>
          <a:xfrm>
            <a:off x="457200" y="2057400"/>
            <a:ext cx="1828800" cy="274320"/>
          </a:xfrm>
          <a:prstGeom prst="rect">
            <a:avLst/>
          </a:prstGeom>
          <a:noFill/>
        </p:spPr>
        <p:txBody>
          <a:bodyPr wrap="none" lIns="0" rIns="0" tIns="0" bIns="0">
            <a:spAutoFit/>
          </a:bodyPr>
          <a:lstStyle/>
          <a:p>
            <a:pPr>
              <a:defRPr sz="1200" b="1">
                <a:solidFill>
                  <a:srgbClr val="FFFFFF"/>
                </a:solidFill>
                <a:latin typeface="Inter"/>
              </a:defRPr>
            </a:pPr>
            <a:r>
              <a:t>Brand Purpose (Vision)</a:t>
            </a:r>
          </a:p>
        </p:txBody>
      </p:sp>
      <p:cxnSp>
        <p:nvCxnSpPr>
          <p:cNvPr id="8" name="Connector 7"/>
          <p:cNvCxnSpPr/>
          <p:nvPr/>
        </p:nvCxnSpPr>
        <p:spPr>
          <a:xfrm>
            <a:off x="2331719" y="2167128"/>
            <a:ext cx="365760" cy="0"/>
          </a:xfrm>
          <a:prstGeom prst="line">
            <a:avLst/>
          </a:prstGeom>
          <a:ln w="19050">
            <a:solidFill>
              <a:srgbClr val="1C2C5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2057400"/>
            <a:ext cx="274320" cy="274320"/>
          </a:xfrm>
          <a:prstGeom prst="rect">
            <a:avLst/>
          </a:prstGeom>
          <a:noFill/>
        </p:spPr>
        <p:txBody>
          <a:bodyPr wrap="none" lIns="0" tIns="0" bIns="0">
            <a:spAutoFit/>
          </a:bodyPr>
          <a:lstStyle/>
          <a:p>
            <a:pPr>
              <a:defRPr sz="1200" b="1">
                <a:solidFill>
                  <a:srgbClr val="1C2C5B"/>
                </a:solidFill>
                <a:latin typeface="Inter"/>
              </a:defRPr>
            </a:pPr>
            <a:r>
              <a:t>02</a:t>
            </a:r>
          </a:p>
        </p:txBody>
      </p:sp>
      <p:sp>
        <p:nvSpPr>
          <p:cNvPr id="10" name="TextBox 9"/>
          <p:cNvSpPr txBox="1"/>
          <p:nvPr/>
        </p:nvSpPr>
        <p:spPr>
          <a:xfrm>
            <a:off x="457200" y="2560320"/>
            <a:ext cx="1828800" cy="274320"/>
          </a:xfrm>
          <a:prstGeom prst="rect">
            <a:avLst/>
          </a:prstGeom>
          <a:noFill/>
        </p:spPr>
        <p:txBody>
          <a:bodyPr wrap="none" lIns="0" rIns="0" tIns="0" bIns="0">
            <a:spAutoFit/>
          </a:bodyPr>
          <a:lstStyle/>
          <a:p>
            <a:pPr>
              <a:defRPr sz="1200" b="1">
                <a:solidFill>
                  <a:srgbClr val="FFFFFF"/>
                </a:solidFill>
                <a:latin typeface="Inter"/>
              </a:defRPr>
            </a:pPr>
            <a:r>
              <a:t>Brand Purpose (Mission)</a:t>
            </a:r>
          </a:p>
        </p:txBody>
      </p:sp>
      <p:cxnSp>
        <p:nvCxnSpPr>
          <p:cNvPr id="11" name="Connector 10"/>
          <p:cNvCxnSpPr/>
          <p:nvPr/>
        </p:nvCxnSpPr>
        <p:spPr>
          <a:xfrm>
            <a:off x="2331719" y="2670048"/>
            <a:ext cx="365760" cy="0"/>
          </a:xfrm>
          <a:prstGeom prst="line">
            <a:avLst/>
          </a:prstGeom>
          <a:ln w="19050">
            <a:solidFill>
              <a:srgbClr val="1C2C5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0" y="2560320"/>
            <a:ext cx="274320" cy="274320"/>
          </a:xfrm>
          <a:prstGeom prst="rect">
            <a:avLst/>
          </a:prstGeom>
          <a:noFill/>
        </p:spPr>
        <p:txBody>
          <a:bodyPr wrap="none" lIns="0" tIns="0" bIns="0">
            <a:spAutoFit/>
          </a:bodyPr>
          <a:lstStyle/>
          <a:p>
            <a:pPr>
              <a:defRPr sz="1200" b="1">
                <a:solidFill>
                  <a:srgbClr val="1C2C5B"/>
                </a:solidFill>
                <a:latin typeface="Inter"/>
              </a:defRPr>
            </a:pPr>
            <a:r>
              <a:t>03</a:t>
            </a:r>
          </a:p>
        </p:txBody>
      </p:sp>
      <p:sp>
        <p:nvSpPr>
          <p:cNvPr id="13" name="TextBox 12"/>
          <p:cNvSpPr txBox="1"/>
          <p:nvPr/>
        </p:nvSpPr>
        <p:spPr>
          <a:xfrm>
            <a:off x="3474720" y="1554480"/>
            <a:ext cx="1828800" cy="274320"/>
          </a:xfrm>
          <a:prstGeom prst="rect">
            <a:avLst/>
          </a:prstGeom>
          <a:noFill/>
        </p:spPr>
        <p:txBody>
          <a:bodyPr wrap="none" lIns="0" rIns="0" tIns="0" bIns="0">
            <a:spAutoFit/>
          </a:bodyPr>
          <a:lstStyle/>
          <a:p>
            <a:pPr>
              <a:defRPr sz="1200" b="1">
                <a:solidFill>
                  <a:srgbClr val="FFFFFF"/>
                </a:solidFill>
                <a:latin typeface="Inter"/>
              </a:defRPr>
            </a:pPr>
            <a:r>
              <a:t>Brand Purpose (Values)</a:t>
            </a:r>
          </a:p>
        </p:txBody>
      </p:sp>
      <p:cxnSp>
        <p:nvCxnSpPr>
          <p:cNvPr id="14" name="Connector 13"/>
          <p:cNvCxnSpPr/>
          <p:nvPr/>
        </p:nvCxnSpPr>
        <p:spPr>
          <a:xfrm>
            <a:off x="5349239" y="1664208"/>
            <a:ext cx="365760" cy="0"/>
          </a:xfrm>
          <a:prstGeom prst="line">
            <a:avLst/>
          </a:prstGeom>
          <a:ln w="19050">
            <a:solidFill>
              <a:srgbClr val="1C2C5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60720" y="1554480"/>
            <a:ext cx="274320" cy="274320"/>
          </a:xfrm>
          <a:prstGeom prst="rect">
            <a:avLst/>
          </a:prstGeom>
          <a:noFill/>
        </p:spPr>
        <p:txBody>
          <a:bodyPr wrap="none" lIns="0" tIns="0" bIns="0">
            <a:spAutoFit/>
          </a:bodyPr>
          <a:lstStyle/>
          <a:p>
            <a:pPr>
              <a:defRPr sz="1200" b="1">
                <a:solidFill>
                  <a:srgbClr val="1C2C5B"/>
                </a:solidFill>
                <a:latin typeface="Inter"/>
              </a:defRPr>
            </a:pPr>
            <a:r>
              <a:t>04</a:t>
            </a:r>
          </a:p>
        </p:txBody>
      </p:sp>
      <p:sp>
        <p:nvSpPr>
          <p:cNvPr id="16" name="TextBox 15"/>
          <p:cNvSpPr txBox="1"/>
          <p:nvPr/>
        </p:nvSpPr>
        <p:spPr>
          <a:xfrm>
            <a:off x="3474720" y="2057400"/>
            <a:ext cx="1828800" cy="274320"/>
          </a:xfrm>
          <a:prstGeom prst="rect">
            <a:avLst/>
          </a:prstGeom>
          <a:noFill/>
        </p:spPr>
        <p:txBody>
          <a:bodyPr wrap="none" lIns="0" rIns="0" tIns="0" bIns="0">
            <a:spAutoFit/>
          </a:bodyPr>
          <a:lstStyle/>
          <a:p>
            <a:pPr>
              <a:defRPr sz="1200" b="1">
                <a:solidFill>
                  <a:srgbClr val="FFFFFF"/>
                </a:solidFill>
                <a:latin typeface="Inter"/>
              </a:defRPr>
            </a:pPr>
            <a:r>
              <a:t>Brand Story</a:t>
            </a:r>
          </a:p>
        </p:txBody>
      </p:sp>
      <p:cxnSp>
        <p:nvCxnSpPr>
          <p:cNvPr id="17" name="Connector 16"/>
          <p:cNvCxnSpPr/>
          <p:nvPr/>
        </p:nvCxnSpPr>
        <p:spPr>
          <a:xfrm>
            <a:off x="5349239" y="2167128"/>
            <a:ext cx="365760" cy="0"/>
          </a:xfrm>
          <a:prstGeom prst="line">
            <a:avLst/>
          </a:prstGeom>
          <a:ln w="19050">
            <a:solidFill>
              <a:srgbClr val="1C2C5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0720" y="2057400"/>
            <a:ext cx="274320" cy="274320"/>
          </a:xfrm>
          <a:prstGeom prst="rect">
            <a:avLst/>
          </a:prstGeom>
          <a:noFill/>
        </p:spPr>
        <p:txBody>
          <a:bodyPr wrap="none" lIns="0" tIns="0" bIns="0">
            <a:spAutoFit/>
          </a:bodyPr>
          <a:lstStyle/>
          <a:p>
            <a:pPr>
              <a:defRPr sz="1200" b="1">
                <a:solidFill>
                  <a:srgbClr val="1C2C5B"/>
                </a:solidFill>
                <a:latin typeface="Inter"/>
              </a:defRPr>
            </a:pPr>
            <a:r>
              <a:t>05</a:t>
            </a:r>
          </a:p>
        </p:txBody>
      </p:sp>
      <p:sp>
        <p:nvSpPr>
          <p:cNvPr id="19" name="TextBox 18"/>
          <p:cNvSpPr txBox="1"/>
          <p:nvPr/>
        </p:nvSpPr>
        <p:spPr>
          <a:xfrm>
            <a:off x="3474720" y="2560320"/>
            <a:ext cx="1828800" cy="274320"/>
          </a:xfrm>
          <a:prstGeom prst="rect">
            <a:avLst/>
          </a:prstGeom>
          <a:noFill/>
        </p:spPr>
        <p:txBody>
          <a:bodyPr wrap="none" lIns="0" rIns="0" tIns="0" bIns="0">
            <a:spAutoFit/>
          </a:bodyPr>
          <a:lstStyle/>
          <a:p>
            <a:pPr>
              <a:defRPr sz="1200" b="1">
                <a:solidFill>
                  <a:srgbClr val="FFFFFF"/>
                </a:solidFill>
                <a:latin typeface="Inter"/>
              </a:defRPr>
            </a:pPr>
            <a:r>
              <a:t>Logo Variations</a:t>
            </a:r>
          </a:p>
        </p:txBody>
      </p:sp>
      <p:cxnSp>
        <p:nvCxnSpPr>
          <p:cNvPr id="20" name="Connector 19"/>
          <p:cNvCxnSpPr/>
          <p:nvPr/>
        </p:nvCxnSpPr>
        <p:spPr>
          <a:xfrm>
            <a:off x="5349239" y="2670048"/>
            <a:ext cx="365760" cy="0"/>
          </a:xfrm>
          <a:prstGeom prst="line">
            <a:avLst/>
          </a:prstGeom>
          <a:ln w="19050">
            <a:solidFill>
              <a:srgbClr val="1C2C5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760720" y="2560320"/>
            <a:ext cx="274320" cy="274320"/>
          </a:xfrm>
          <a:prstGeom prst="rect">
            <a:avLst/>
          </a:prstGeom>
          <a:noFill/>
        </p:spPr>
        <p:txBody>
          <a:bodyPr wrap="none" lIns="0" tIns="0" bIns="0">
            <a:spAutoFit/>
          </a:bodyPr>
          <a:lstStyle/>
          <a:p>
            <a:pPr>
              <a:defRPr sz="1200" b="1">
                <a:solidFill>
                  <a:srgbClr val="1C2C5B"/>
                </a:solidFill>
                <a:latin typeface="Inter"/>
              </a:defRPr>
            </a:pPr>
            <a:r>
              <a:t>06</a:t>
            </a:r>
          </a:p>
        </p:txBody>
      </p:sp>
      <p:sp>
        <p:nvSpPr>
          <p:cNvPr id="22" name="TextBox 21"/>
          <p:cNvSpPr txBox="1"/>
          <p:nvPr/>
        </p:nvSpPr>
        <p:spPr>
          <a:xfrm>
            <a:off x="3657600" y="2926079"/>
            <a:ext cx="1828800" cy="228600"/>
          </a:xfrm>
          <a:prstGeom prst="rect">
            <a:avLst/>
          </a:prstGeom>
          <a:noFill/>
        </p:spPr>
        <p:txBody>
          <a:bodyPr wrap="none" lIns="0" tIns="0" bIns="0">
            <a:spAutoFit/>
          </a:bodyPr>
          <a:lstStyle/>
          <a:p>
            <a:pPr>
              <a:defRPr sz="900" b="0">
                <a:solidFill>
                  <a:srgbClr val="CCCCCC"/>
                </a:solidFill>
                <a:latin typeface="Inter"/>
              </a:defRPr>
            </a:pPr>
            <a:r>
              <a:t>Variation 1</a:t>
            </a:r>
          </a:p>
        </p:txBody>
      </p:sp>
      <p:sp>
        <p:nvSpPr>
          <p:cNvPr id="23" name="TextBox 22"/>
          <p:cNvSpPr txBox="1"/>
          <p:nvPr/>
        </p:nvSpPr>
        <p:spPr>
          <a:xfrm>
            <a:off x="3657600" y="3154679"/>
            <a:ext cx="1828800" cy="228600"/>
          </a:xfrm>
          <a:prstGeom prst="rect">
            <a:avLst/>
          </a:prstGeom>
          <a:noFill/>
        </p:spPr>
        <p:txBody>
          <a:bodyPr wrap="none" lIns="0" tIns="0" bIns="0">
            <a:spAutoFit/>
          </a:bodyPr>
          <a:lstStyle/>
          <a:p>
            <a:pPr>
              <a:defRPr sz="900" b="0">
                <a:solidFill>
                  <a:srgbClr val="CCCCCC"/>
                </a:solidFill>
                <a:latin typeface="Inter"/>
              </a:defRPr>
            </a:pPr>
            <a:r>
              <a:t>Variation 2</a:t>
            </a:r>
          </a:p>
        </p:txBody>
      </p:sp>
      <p:sp>
        <p:nvSpPr>
          <p:cNvPr id="24" name="TextBox 23"/>
          <p:cNvSpPr txBox="1"/>
          <p:nvPr/>
        </p:nvSpPr>
        <p:spPr>
          <a:xfrm>
            <a:off x="3657600" y="3383279"/>
            <a:ext cx="1828800" cy="228600"/>
          </a:xfrm>
          <a:prstGeom prst="rect">
            <a:avLst/>
          </a:prstGeom>
          <a:noFill/>
        </p:spPr>
        <p:txBody>
          <a:bodyPr wrap="none" lIns="0" tIns="0" bIns="0">
            <a:spAutoFit/>
          </a:bodyPr>
          <a:lstStyle/>
          <a:p>
            <a:pPr>
              <a:defRPr sz="900" b="0">
                <a:solidFill>
                  <a:srgbClr val="CCCCCC"/>
                </a:solidFill>
                <a:latin typeface="Inter"/>
              </a:defRPr>
            </a:pPr>
            <a:r>
              <a:t>Variation 3</a:t>
            </a:r>
          </a:p>
        </p:txBody>
      </p:sp>
      <p:sp>
        <p:nvSpPr>
          <p:cNvPr id="25" name="TextBox 24"/>
          <p:cNvSpPr txBox="1"/>
          <p:nvPr/>
        </p:nvSpPr>
        <p:spPr>
          <a:xfrm>
            <a:off x="6492240" y="1554480"/>
            <a:ext cx="1828800" cy="274320"/>
          </a:xfrm>
          <a:prstGeom prst="rect">
            <a:avLst/>
          </a:prstGeom>
          <a:noFill/>
        </p:spPr>
        <p:txBody>
          <a:bodyPr wrap="none" lIns="0" rIns="0" tIns="0" bIns="0">
            <a:spAutoFit/>
          </a:bodyPr>
          <a:lstStyle/>
          <a:p>
            <a:pPr>
              <a:defRPr sz="1200" b="1">
                <a:solidFill>
                  <a:srgbClr val="FFFFFF"/>
                </a:solidFill>
                <a:latin typeface="Inter"/>
              </a:defRPr>
            </a:pPr>
            <a:r>
              <a:t>Brand Colors</a:t>
            </a:r>
          </a:p>
        </p:txBody>
      </p:sp>
      <p:cxnSp>
        <p:nvCxnSpPr>
          <p:cNvPr id="26" name="Connector 25"/>
          <p:cNvCxnSpPr/>
          <p:nvPr/>
        </p:nvCxnSpPr>
        <p:spPr>
          <a:xfrm>
            <a:off x="8366759" y="1664208"/>
            <a:ext cx="365760" cy="0"/>
          </a:xfrm>
          <a:prstGeom prst="line">
            <a:avLst/>
          </a:prstGeom>
          <a:ln w="19050">
            <a:solidFill>
              <a:srgbClr val="1C2C5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1554480"/>
            <a:ext cx="274320" cy="274320"/>
          </a:xfrm>
          <a:prstGeom prst="rect">
            <a:avLst/>
          </a:prstGeom>
          <a:noFill/>
        </p:spPr>
        <p:txBody>
          <a:bodyPr wrap="none" lIns="0" tIns="0" bIns="0">
            <a:spAutoFit/>
          </a:bodyPr>
          <a:lstStyle/>
          <a:p>
            <a:pPr>
              <a:defRPr sz="1200" b="1">
                <a:solidFill>
                  <a:srgbClr val="1C2C5B"/>
                </a:solidFill>
                <a:latin typeface="Inter"/>
              </a:defRPr>
            </a:pPr>
            <a:r>
              <a:t>07</a:t>
            </a:r>
          </a:p>
        </p:txBody>
      </p:sp>
      <p:sp>
        <p:nvSpPr>
          <p:cNvPr id="28" name="TextBox 27"/>
          <p:cNvSpPr txBox="1"/>
          <p:nvPr/>
        </p:nvSpPr>
        <p:spPr>
          <a:xfrm>
            <a:off x="6675120" y="1920240"/>
            <a:ext cx="1828800" cy="228600"/>
          </a:xfrm>
          <a:prstGeom prst="rect">
            <a:avLst/>
          </a:prstGeom>
          <a:noFill/>
        </p:spPr>
        <p:txBody>
          <a:bodyPr wrap="none" lIns="0" tIns="0" bIns="0">
            <a:spAutoFit/>
          </a:bodyPr>
          <a:lstStyle/>
          <a:p>
            <a:pPr>
              <a:defRPr sz="900" b="0">
                <a:solidFill>
                  <a:srgbClr val="CCCCCC"/>
                </a:solidFill>
                <a:latin typeface="Inter"/>
              </a:defRPr>
            </a:pPr>
            <a:r>
              <a:t>Primary Colors</a:t>
            </a:r>
          </a:p>
        </p:txBody>
      </p:sp>
      <p:sp>
        <p:nvSpPr>
          <p:cNvPr id="29" name="TextBox 28"/>
          <p:cNvSpPr txBox="1"/>
          <p:nvPr/>
        </p:nvSpPr>
        <p:spPr>
          <a:xfrm>
            <a:off x="6675120" y="2148840"/>
            <a:ext cx="1828800" cy="228600"/>
          </a:xfrm>
          <a:prstGeom prst="rect">
            <a:avLst/>
          </a:prstGeom>
          <a:noFill/>
        </p:spPr>
        <p:txBody>
          <a:bodyPr wrap="none" lIns="0" tIns="0" bIns="0">
            <a:spAutoFit/>
          </a:bodyPr>
          <a:lstStyle/>
          <a:p>
            <a:pPr>
              <a:defRPr sz="900" b="0">
                <a:solidFill>
                  <a:srgbClr val="CCCCCC"/>
                </a:solidFill>
                <a:latin typeface="Inter"/>
              </a:defRPr>
            </a:pPr>
            <a:r>
              <a:t>Secondary Colors</a:t>
            </a:r>
          </a:p>
        </p:txBody>
      </p:sp>
      <p:sp>
        <p:nvSpPr>
          <p:cNvPr id="30" name="TextBox 29"/>
          <p:cNvSpPr txBox="1"/>
          <p:nvPr/>
        </p:nvSpPr>
        <p:spPr>
          <a:xfrm>
            <a:off x="6675120" y="2377440"/>
            <a:ext cx="1828800" cy="228600"/>
          </a:xfrm>
          <a:prstGeom prst="rect">
            <a:avLst/>
          </a:prstGeom>
          <a:noFill/>
        </p:spPr>
        <p:txBody>
          <a:bodyPr wrap="none" lIns="0" tIns="0" bIns="0">
            <a:spAutoFit/>
          </a:bodyPr>
          <a:lstStyle/>
          <a:p>
            <a:pPr>
              <a:defRPr sz="900" b="0">
                <a:solidFill>
                  <a:srgbClr val="CCCCCC"/>
                </a:solidFill>
                <a:latin typeface="Inter"/>
              </a:defRPr>
            </a:pPr>
            <a:r>
              <a:t>Color Usage 1/2</a:t>
            </a:r>
          </a:p>
        </p:txBody>
      </p:sp>
      <p:sp>
        <p:nvSpPr>
          <p:cNvPr id="31" name="TextBox 30"/>
          <p:cNvSpPr txBox="1"/>
          <p:nvPr/>
        </p:nvSpPr>
        <p:spPr>
          <a:xfrm>
            <a:off x="6675120" y="2606040"/>
            <a:ext cx="1828800" cy="228600"/>
          </a:xfrm>
          <a:prstGeom prst="rect">
            <a:avLst/>
          </a:prstGeom>
          <a:noFill/>
        </p:spPr>
        <p:txBody>
          <a:bodyPr wrap="none" lIns="0" tIns="0" bIns="0">
            <a:spAutoFit/>
          </a:bodyPr>
          <a:lstStyle/>
          <a:p>
            <a:pPr>
              <a:defRPr sz="900" b="0">
                <a:solidFill>
                  <a:srgbClr val="CCCCCC"/>
                </a:solidFill>
                <a:latin typeface="Inter"/>
              </a:defRPr>
            </a:pPr>
            <a:r>
              <a:t>Color Usage 2/2</a:t>
            </a:r>
          </a:p>
        </p:txBody>
      </p:sp>
      <p:sp>
        <p:nvSpPr>
          <p:cNvPr id="32" name="TextBox 31"/>
          <p:cNvSpPr txBox="1"/>
          <p:nvPr/>
        </p:nvSpPr>
        <p:spPr>
          <a:xfrm>
            <a:off x="6492240" y="2971800"/>
            <a:ext cx="1828800" cy="274320"/>
          </a:xfrm>
          <a:prstGeom prst="rect">
            <a:avLst/>
          </a:prstGeom>
          <a:noFill/>
        </p:spPr>
        <p:txBody>
          <a:bodyPr wrap="none" lIns="0" rIns="0" tIns="0" bIns="0">
            <a:spAutoFit/>
          </a:bodyPr>
          <a:lstStyle/>
          <a:p>
            <a:pPr>
              <a:defRPr sz="1200" b="1">
                <a:solidFill>
                  <a:srgbClr val="FFFFFF"/>
                </a:solidFill>
                <a:latin typeface="Inter"/>
              </a:defRPr>
            </a:pPr>
            <a:r>
              <a:t>Typography</a:t>
            </a:r>
          </a:p>
        </p:txBody>
      </p:sp>
      <p:cxnSp>
        <p:nvCxnSpPr>
          <p:cNvPr id="33" name="Connector 32"/>
          <p:cNvCxnSpPr/>
          <p:nvPr/>
        </p:nvCxnSpPr>
        <p:spPr>
          <a:xfrm>
            <a:off x="8366759" y="3081528"/>
            <a:ext cx="365760" cy="0"/>
          </a:xfrm>
          <a:prstGeom prst="line">
            <a:avLst/>
          </a:prstGeom>
          <a:ln w="19050">
            <a:solidFill>
              <a:srgbClr val="1C2C5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778240" y="2971800"/>
            <a:ext cx="274320" cy="274320"/>
          </a:xfrm>
          <a:prstGeom prst="rect">
            <a:avLst/>
          </a:prstGeom>
          <a:noFill/>
        </p:spPr>
        <p:txBody>
          <a:bodyPr wrap="none" lIns="0" tIns="0" bIns="0">
            <a:spAutoFit/>
          </a:bodyPr>
          <a:lstStyle/>
          <a:p>
            <a:pPr>
              <a:defRPr sz="1200" b="1">
                <a:solidFill>
                  <a:srgbClr val="1C2C5B"/>
                </a:solidFill>
                <a:latin typeface="Inter"/>
              </a:defRPr>
            </a:pPr>
            <a:r>
              <a:t>08</a:t>
            </a:r>
          </a:p>
        </p:txBody>
      </p:sp>
      <p:sp>
        <p:nvSpPr>
          <p:cNvPr id="35" name="TextBox 34"/>
          <p:cNvSpPr txBox="1"/>
          <p:nvPr/>
        </p:nvSpPr>
        <p:spPr>
          <a:xfrm>
            <a:off x="6675120" y="3337560"/>
            <a:ext cx="1828800" cy="228600"/>
          </a:xfrm>
          <a:prstGeom prst="rect">
            <a:avLst/>
          </a:prstGeom>
          <a:noFill/>
        </p:spPr>
        <p:txBody>
          <a:bodyPr wrap="none" lIns="0" tIns="0" bIns="0">
            <a:spAutoFit/>
          </a:bodyPr>
          <a:lstStyle/>
          <a:p>
            <a:pPr>
              <a:defRPr sz="900" b="0">
                <a:solidFill>
                  <a:srgbClr val="CCCCCC"/>
                </a:solidFill>
                <a:latin typeface="Inter"/>
              </a:defRPr>
            </a:pPr>
            <a:r>
              <a:t>Brand Font</a:t>
            </a:r>
          </a:p>
        </p:txBody>
      </p:sp>
      <p:sp>
        <p:nvSpPr>
          <p:cNvPr id="36" name="TextBox 35"/>
          <p:cNvSpPr txBox="1"/>
          <p:nvPr/>
        </p:nvSpPr>
        <p:spPr>
          <a:xfrm>
            <a:off x="6675120" y="3566160"/>
            <a:ext cx="1828800" cy="228600"/>
          </a:xfrm>
          <a:prstGeom prst="rect">
            <a:avLst/>
          </a:prstGeom>
          <a:noFill/>
        </p:spPr>
        <p:txBody>
          <a:bodyPr wrap="none" lIns="0" tIns="0" bIns="0">
            <a:spAutoFit/>
          </a:bodyPr>
          <a:lstStyle/>
          <a:p>
            <a:pPr>
              <a:defRPr sz="900" b="0">
                <a:solidFill>
                  <a:srgbClr val="CCCCCC"/>
                </a:solidFill>
                <a:latin typeface="Inter"/>
              </a:defRPr>
            </a:pPr>
            <a:r>
              <a:t>Font Usage</a:t>
            </a:r>
          </a:p>
        </p:txBody>
      </p:sp>
      <p:sp>
        <p:nvSpPr>
          <p:cNvPr id="37" name="TextBox 36"/>
          <p:cNvSpPr txBox="1"/>
          <p:nvPr/>
        </p:nvSpPr>
        <p:spPr>
          <a:xfrm>
            <a:off x="6675120" y="3794760"/>
            <a:ext cx="1828800" cy="228600"/>
          </a:xfrm>
          <a:prstGeom prst="rect">
            <a:avLst/>
          </a:prstGeom>
          <a:noFill/>
        </p:spPr>
        <p:txBody>
          <a:bodyPr wrap="none" lIns="0" tIns="0" bIns="0">
            <a:spAutoFit/>
          </a:bodyPr>
          <a:lstStyle/>
          <a:p>
            <a:pPr>
              <a:defRPr sz="900" b="0">
                <a:solidFill>
                  <a:srgbClr val="CCCCCC"/>
                </a:solidFill>
                <a:latin typeface="Inter"/>
              </a:defRPr>
            </a:pPr>
            <a:r>
              <a:t>Text Hierarchy</a:t>
            </a:r>
          </a:p>
        </p:txBody>
      </p:sp>
      <p:sp>
        <p:nvSpPr>
          <p:cNvPr id="38" name="TextBox 37"/>
          <p:cNvSpPr txBox="1"/>
          <p:nvPr/>
        </p:nvSpPr>
        <p:spPr>
          <a:xfrm>
            <a:off x="6492240" y="4160520"/>
            <a:ext cx="1828800" cy="274320"/>
          </a:xfrm>
          <a:prstGeom prst="rect">
            <a:avLst/>
          </a:prstGeom>
          <a:noFill/>
        </p:spPr>
        <p:txBody>
          <a:bodyPr wrap="none" lIns="0" rIns="0" tIns="0" bIns="0">
            <a:spAutoFit/>
          </a:bodyPr>
          <a:lstStyle/>
          <a:p>
            <a:pPr>
              <a:defRPr sz="1200" b="1">
                <a:solidFill>
                  <a:srgbClr val="FFFFFF"/>
                </a:solidFill>
                <a:latin typeface="Inter"/>
              </a:defRPr>
            </a:pPr>
            <a:r>
              <a:t>Imagery &amp; Visuals</a:t>
            </a:r>
          </a:p>
        </p:txBody>
      </p:sp>
      <p:cxnSp>
        <p:nvCxnSpPr>
          <p:cNvPr id="39" name="Connector 38"/>
          <p:cNvCxnSpPr/>
          <p:nvPr/>
        </p:nvCxnSpPr>
        <p:spPr>
          <a:xfrm>
            <a:off x="8366759" y="4270248"/>
            <a:ext cx="365760" cy="0"/>
          </a:xfrm>
          <a:prstGeom prst="line">
            <a:avLst/>
          </a:prstGeom>
          <a:ln w="19050">
            <a:solidFill>
              <a:srgbClr val="1C2C5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78240" y="4160520"/>
            <a:ext cx="274320" cy="274320"/>
          </a:xfrm>
          <a:prstGeom prst="rect">
            <a:avLst/>
          </a:prstGeom>
          <a:noFill/>
        </p:spPr>
        <p:txBody>
          <a:bodyPr wrap="none" lIns="0" tIns="0" bIns="0">
            <a:spAutoFit/>
          </a:bodyPr>
          <a:lstStyle/>
          <a:p>
            <a:pPr>
              <a:defRPr sz="1200" b="1">
                <a:solidFill>
                  <a:srgbClr val="1C2C5B"/>
                </a:solidFill>
                <a:latin typeface="Inter"/>
              </a:defRPr>
            </a:pPr>
            <a:r>
              <a:t>09</a:t>
            </a:r>
          </a:p>
        </p:txBody>
      </p:sp>
      <p:sp>
        <p:nvSpPr>
          <p:cNvPr id="41" name="TextBox 40"/>
          <p:cNvSpPr txBox="1"/>
          <p:nvPr/>
        </p:nvSpPr>
        <p:spPr>
          <a:xfrm>
            <a:off x="6675120" y="4526280"/>
            <a:ext cx="1828800" cy="228600"/>
          </a:xfrm>
          <a:prstGeom prst="rect">
            <a:avLst/>
          </a:prstGeom>
          <a:noFill/>
        </p:spPr>
        <p:txBody>
          <a:bodyPr wrap="none" lIns="0" tIns="0" bIns="0">
            <a:spAutoFit/>
          </a:bodyPr>
          <a:lstStyle/>
          <a:p>
            <a:pPr>
              <a:defRPr sz="900" b="0">
                <a:solidFill>
                  <a:srgbClr val="CCCCCC"/>
                </a:solidFill>
                <a:latin typeface="Inter"/>
              </a:defRPr>
            </a:pPr>
            <a:r>
              <a:t>Iconography</a:t>
            </a:r>
          </a:p>
        </p:txBody>
      </p:sp>
      <p:sp>
        <p:nvSpPr>
          <p:cNvPr id="42" name="TextBox 41"/>
          <p:cNvSpPr txBox="1"/>
          <p:nvPr/>
        </p:nvSpPr>
        <p:spPr>
          <a:xfrm>
            <a:off x="6675120" y="4754880"/>
            <a:ext cx="1828800" cy="228600"/>
          </a:xfrm>
          <a:prstGeom prst="rect">
            <a:avLst/>
          </a:prstGeom>
          <a:noFill/>
        </p:spPr>
        <p:txBody>
          <a:bodyPr wrap="none" lIns="0" tIns="0" bIns="0">
            <a:spAutoFit/>
          </a:bodyPr>
          <a:lstStyle/>
          <a:p>
            <a:pPr>
              <a:defRPr sz="900" b="0">
                <a:solidFill>
                  <a:srgbClr val="CCCCCC"/>
                </a:solidFill>
                <a:latin typeface="Inter"/>
              </a:defRPr>
            </a:pPr>
            <a:r>
              <a:t>Illustrations</a:t>
            </a:r>
          </a:p>
        </p:txBody>
      </p:sp>
      <p:sp>
        <p:nvSpPr>
          <p:cNvPr id="43" name="TextBox 42"/>
          <p:cNvSpPr txBox="1"/>
          <p:nvPr/>
        </p:nvSpPr>
        <p:spPr>
          <a:xfrm>
            <a:off x="6675120" y="4983480"/>
            <a:ext cx="1828800" cy="228600"/>
          </a:xfrm>
          <a:prstGeom prst="rect">
            <a:avLst/>
          </a:prstGeom>
          <a:noFill/>
        </p:spPr>
        <p:txBody>
          <a:bodyPr wrap="none" lIns="0" tIns="0" bIns="0">
            <a:spAutoFit/>
          </a:bodyPr>
          <a:lstStyle/>
          <a:p>
            <a:pPr>
              <a:defRPr sz="900" b="0">
                <a:solidFill>
                  <a:srgbClr val="CCCCCC"/>
                </a:solidFill>
                <a:latin typeface="Inter"/>
              </a:defRPr>
            </a:pPr>
            <a:r>
              <a:t>Merchandise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Welcome to the BBC's brand identity system, representing our enduring mission to inform, educate, and inspire audiences worldwide through exceptional broadcasting and digital media. As a global leader in news, entertainment, and digital content, we've crafted this system to ensure our brand remains instantly recognizable, distinctively British, yet universally relevant. Our unwavering commitment to truth, independence, and creative excellence shapes every aspect of our identity, delivering consistent, engaging experiences across all platforms. Through this unified approach, we continue to build trust and forge meaningful connections with our diverse, global community of viewers, listeners, and digital users.</a:t>
            </a:r>
          </a:p>
        </p:txBody>
      </p:sp>
      <p:cxnSp>
        <p:nvCxnSpPr>
          <p:cNvPr id="3" name="Connector 2"/>
          <p:cNvCxnSpPr/>
          <p:nvPr/>
        </p:nvCxnSpPr>
        <p:spPr>
          <a:xfrm>
            <a:off x="457200" y="4914900.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1C2C5B"/>
                </a:solidFill>
                <a:latin typeface="Source Sans Pro"/>
              </a:defRPr>
            </a:pPr>
            <a: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At BBC, our vision is to pioneer a future where global citizens are empowered and united through transformative media and broadcasting solutions. We aspire to be the beacon of truth, creativity, and innovation, inspiring positive change and connecting diverse audiences worldwide.</a:t>
            </a:r>
          </a:p>
        </p:txBody>
      </p:sp>
      <p:cxnSp>
        <p:nvCxnSpPr>
          <p:cNvPr id="3" name="Connector 2"/>
          <p:cNvCxnSpPr/>
          <p:nvPr/>
        </p:nvCxnSpPr>
        <p:spPr>
          <a:xfrm>
            <a:off x="457200" y="4914900.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1C2C5B"/>
                </a:solidFill>
                <a:latin typeface="Source Sans Pro"/>
              </a:defRPr>
            </a:pPr>
            <a:r>
              <a:t>BRAND PURPOSE (VISION)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Our mission at BBC is to deliver unparalleled news, entertainment, and digital experiences with unwavering trust, impartiality, and integrity. We are committed to serving the public interest, fostering creativity, and championing diversity through user-centric design approaches that cater to the evolving needs of professionals, students, and all those who seek knowledge and inspiration.</a:t>
            </a:r>
          </a:p>
        </p:txBody>
      </p:sp>
      <p:cxnSp>
        <p:nvCxnSpPr>
          <p:cNvPr id="3" name="Connector 2"/>
          <p:cNvCxnSpPr/>
          <p:nvPr/>
        </p:nvCxnSpPr>
        <p:spPr>
          <a:xfrm>
            <a:off x="457200" y="4914900.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1C2C5B"/>
                </a:solidFill>
                <a:latin typeface="Source Sans Pro"/>
              </a:defRPr>
            </a:pPr>
            <a:r>
              <a:t>BRAND PURPOSE (MISSION)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Trust is the cornerstone of our commitment to providing accurate and reliable information. Impartiality guides our storytelling, ensuring fairness and balance in every narrative we share. Creativity and innovation drive our quest to engage and captivate audiences across various platforms, while integrity forms the bedrock of our ethical standards. Public service is our promise to deliver content that serves the greater good, while diversity fuels our inclusive approach, celebrating the richness of perspectives and voices in our global community. Together, these values form the heart of our dedication to empowering individuals, fostering understanding, and shaping a brighter, more informed world.</a:t>
            </a:r>
          </a:p>
        </p:txBody>
      </p:sp>
      <p:cxnSp>
        <p:nvCxnSpPr>
          <p:cNvPr id="3" name="Connector 2"/>
          <p:cNvCxnSpPr/>
          <p:nvPr/>
        </p:nvCxnSpPr>
        <p:spPr>
          <a:xfrm>
            <a:off x="457200" y="4914900.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1C2C5B"/>
                </a:solidFill>
                <a:latin typeface="Source Sans Pro"/>
              </a:defRPr>
            </a:pPr>
            <a:r>
              <a:t>BRAND PURPOSE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In a world inundated with information, where truth is often obscured by bias and sensationalism, there stands a beacon of unwavering integrity and trust. That beacon is the British Broadcasting Corporation (BBC), a stalwart in the Media &amp; Broadcasting industry, dedicated to empowering global citizens, news consumers, entertainment viewers, digital audiences, professionals, and students through innovative solutions that inform, entertain, and inspire. At the heart of BBC's mission lies a commitment to impartiality and accuracy, ensuring that every story is told with integrity and honesty.</a:t>
            </a:r>
          </a:p>
        </p:txBody>
      </p:sp>
      <p:cxnSp>
        <p:nvCxnSpPr>
          <p:cNvPr id="3" name="Connector 2"/>
          <p:cNvCxnSpPr/>
          <p:nvPr/>
        </p:nvCxnSpPr>
        <p:spPr>
          <a:xfrm>
            <a:off x="457200" y="4914900.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1C2C5B"/>
                </a:solidFill>
                <a:latin typeface="Source Sans Pro"/>
              </a:defRPr>
            </a:pPr>
            <a:r>
              <a:t>BRAND STORY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With a legacy of over a century of journalistic excellence, BBC has earned the trust of millions around the world, delivering news that is not just breaking, but also balanced and insightful, giving voice to diverse perspectives and shining a light on underreported issues. But BBC is not just a purveyor of news – it is a storyteller, a creator of worlds that captivate and entertain audiences across the globe. From gripping dramas to thought-provoking documentaries, BBC's creative prowess knows no bounds, pushing the boundaries of storytelling and setting new standards for excellence in entertainment. In the digital age, BBC remains at the forefront of innovation, harnessing the power of technology to reach audiences in...</a:t>
            </a:r>
          </a:p>
        </p:txBody>
      </p:sp>
      <p:cxnSp>
        <p:nvCxnSpPr>
          <p:cNvPr id="3" name="Connector 2"/>
          <p:cNvCxnSpPr/>
          <p:nvPr/>
        </p:nvCxnSpPr>
        <p:spPr>
          <a:xfrm>
            <a:off x="457200" y="4914900.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1C2C5B"/>
                </a:solidFill>
                <a:latin typeface="Source Sans Pro"/>
              </a:defRPr>
            </a:pPr>
            <a:r>
              <a:t>BRAND STORY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bbc_logo_1_20250901_155818_35fc7bca.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FFFFFF"/>
                </a:solidFill>
                <a:latin typeface="Inter"/>
              </a:defRPr>
            </a:pPr>
            <a:r>
              <a:t>Choose for maximum impact and brand recognition in primary applications.</a:t>
            </a:r>
          </a:p>
        </p:txBody>
      </p:sp>
      <p:cxnSp>
        <p:nvCxnSpPr>
          <p:cNvPr id="4" name="Connector 3"/>
          <p:cNvCxnSpPr/>
          <p:nvPr/>
        </p:nvCxnSpPr>
        <p:spPr>
          <a:xfrm>
            <a:off x="457200" y="5286375.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1C2C5B"/>
                </a:solidFill>
                <a:latin typeface="Source Sans Pro"/>
              </a:defRPr>
            </a:pPr>
            <a:r>
              <a:t>Logo Variation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bbc_logo_2_20250901_155832_6f84b857.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FFFFFF"/>
                </a:solidFill>
                <a:latin typeface="Inter"/>
              </a:defRPr>
            </a:pPr>
            <a:r>
              <a:t>Perfect for constrained spaces while maintaining professional brand presence and clarity.</a:t>
            </a:r>
          </a:p>
        </p:txBody>
      </p:sp>
      <p:cxnSp>
        <p:nvCxnSpPr>
          <p:cNvPr id="4" name="Connector 3"/>
          <p:cNvCxnSpPr/>
          <p:nvPr/>
        </p:nvCxnSpPr>
        <p:spPr>
          <a:xfrm>
            <a:off x="457200" y="5286375.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1C2C5B"/>
                </a:solidFill>
                <a:latin typeface="Source Sans Pro"/>
              </a:defRPr>
            </a:pPr>
            <a:r>
              <a:t>Logo Variation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bbc_logo_3_20250901_155847_48f4488f.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FFFFFF"/>
                </a:solidFill>
                <a:latin typeface="Inter"/>
              </a:defRPr>
            </a:pPr>
            <a:r>
              <a:t>Ideal for small sizes, watermarks, and applications requiring simplified brand representation.</a:t>
            </a:r>
          </a:p>
        </p:txBody>
      </p:sp>
      <p:cxnSp>
        <p:nvCxnSpPr>
          <p:cNvPr id="4" name="Connector 3"/>
          <p:cNvCxnSpPr/>
          <p:nvPr/>
        </p:nvCxnSpPr>
        <p:spPr>
          <a:xfrm>
            <a:off x="457200" y="5286375.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1C2C5B"/>
                </a:solidFill>
                <a:latin typeface="Source Sans Pro"/>
              </a:defRPr>
            </a:pPr>
            <a:r>
              <a:t>Logo Variation 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1143000" y="1645920"/>
            <a:ext cx="1828800" cy="1371600"/>
          </a:xfrm>
          <a:prstGeom prst="rect">
            <a:avLst/>
          </a:prstGeom>
          <a:solidFill>
            <a:srgbClr val="1C2C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54680" y="1645920"/>
            <a:ext cx="3017520" cy="1371600"/>
          </a:xfrm>
          <a:prstGeom prst="rect">
            <a:avLst/>
          </a:prstGeom>
          <a:noFill/>
        </p:spPr>
        <p:txBody>
          <a:bodyPr wrap="square" lIns="0" rIns="0" tIns="0" bIns="0">
            <a:spAutoFit/>
          </a:bodyPr>
          <a:lstStyle/>
          <a:p>
            <a:pPr algn="l">
              <a:spcAft>
                <a:spcPts val="300"/>
              </a:spcAft>
              <a:defRPr sz="1000" b="0">
                <a:solidFill>
                  <a:srgbClr val="FFFFFF"/>
                </a:solidFill>
                <a:latin typeface="Inter"/>
              </a:defRPr>
            </a:pPr>
            <a:r>
              <a:t>Trust Navy</a:t>
            </a:r>
          </a:p>
          <a:p>
            <a:pPr algn="l">
              <a:spcAft>
                <a:spcPts val="300"/>
              </a:spcAft>
              <a:defRPr sz="1000" b="0">
                <a:solidFill>
                  <a:srgbClr val="FFFFFF"/>
                </a:solidFill>
                <a:latin typeface="Inter"/>
              </a:defRPr>
            </a:pPr>
            <a:r>
              <a:t>#1C2C5B</a:t>
            </a:r>
          </a:p>
          <a:p>
            <a:pPr algn="l">
              <a:spcAft>
                <a:spcPts val="300"/>
              </a:spcAft>
              <a:defRPr sz="1000" b="0">
                <a:solidFill>
                  <a:srgbClr val="FFFFFF"/>
                </a:solidFill>
                <a:latin typeface="Inter"/>
              </a:defRPr>
            </a:pPr>
            <a:r>
              <a:t>RGB(28, 44, 91)</a:t>
            </a:r>
          </a:p>
          <a:p>
            <a:pPr algn="l">
              <a:spcAft>
                <a:spcPts val="300"/>
              </a:spcAft>
              <a:defRPr sz="1000" b="0">
                <a:solidFill>
                  <a:srgbClr val="FFFFFF"/>
                </a:solidFill>
                <a:latin typeface="Inter"/>
              </a:defRPr>
            </a:pPr>
            <a:r>
              <a:t>CMYK(69, 51, 0, 64)</a:t>
            </a:r>
          </a:p>
          <a:p>
            <a:pPr algn="l">
              <a:spcAft>
                <a:spcPts val="300"/>
              </a:spcAft>
              <a:defRPr sz="1000" b="0">
                <a:solidFill>
                  <a:srgbClr val="FFFFFF"/>
                </a:solidFill>
                <a:latin typeface="Inter"/>
              </a:defRPr>
            </a:pPr>
            <a:r>
              <a:t>Use Light Text</a:t>
            </a:r>
          </a:p>
        </p:txBody>
      </p:sp>
      <p:sp>
        <p:nvSpPr>
          <p:cNvPr id="4" name="Rectangle 3"/>
          <p:cNvSpPr/>
          <p:nvPr/>
        </p:nvSpPr>
        <p:spPr>
          <a:xfrm>
            <a:off x="4572000" y="1645920"/>
            <a:ext cx="1828800" cy="1371600"/>
          </a:xfrm>
          <a:prstGeom prst="rect">
            <a:avLst/>
          </a:prstGeom>
          <a:solidFill>
            <a:srgbClr val="E6394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1645920"/>
            <a:ext cx="3017520" cy="1371600"/>
          </a:xfrm>
          <a:prstGeom prst="rect">
            <a:avLst/>
          </a:prstGeom>
          <a:noFill/>
        </p:spPr>
        <p:txBody>
          <a:bodyPr wrap="square" lIns="0" rIns="0" tIns="0" bIns="0">
            <a:spAutoFit/>
          </a:bodyPr>
          <a:lstStyle/>
          <a:p>
            <a:pPr algn="l">
              <a:spcAft>
                <a:spcPts val="300"/>
              </a:spcAft>
              <a:defRPr sz="1000" b="0">
                <a:solidFill>
                  <a:srgbClr val="FFFFFF"/>
                </a:solidFill>
                <a:latin typeface="Inter"/>
              </a:defRPr>
            </a:pPr>
            <a:r>
              <a:t>Urgent Red</a:t>
            </a:r>
          </a:p>
          <a:p>
            <a:pPr algn="l">
              <a:spcAft>
                <a:spcPts val="300"/>
              </a:spcAft>
              <a:defRPr sz="1000" b="0">
                <a:solidFill>
                  <a:srgbClr val="FFFFFF"/>
                </a:solidFill>
                <a:latin typeface="Inter"/>
              </a:defRPr>
            </a:pPr>
            <a:r>
              <a:t>#E63946</a:t>
            </a:r>
          </a:p>
          <a:p>
            <a:pPr algn="l">
              <a:spcAft>
                <a:spcPts val="300"/>
              </a:spcAft>
              <a:defRPr sz="1000" b="0">
                <a:solidFill>
                  <a:srgbClr val="FFFFFF"/>
                </a:solidFill>
                <a:latin typeface="Inter"/>
              </a:defRPr>
            </a:pPr>
            <a:r>
              <a:t>RGB(230, 57, 70)</a:t>
            </a:r>
          </a:p>
          <a:p>
            <a:pPr algn="l">
              <a:spcAft>
                <a:spcPts val="300"/>
              </a:spcAft>
              <a:defRPr sz="1000" b="0">
                <a:solidFill>
                  <a:srgbClr val="FFFFFF"/>
                </a:solidFill>
                <a:latin typeface="Inter"/>
              </a:defRPr>
            </a:pPr>
            <a:r>
              <a:t>CMYK(0, 75, 69, 9)</a:t>
            </a:r>
          </a:p>
          <a:p>
            <a:pPr algn="l">
              <a:spcAft>
                <a:spcPts val="300"/>
              </a:spcAft>
              <a:defRPr sz="1000" b="0">
                <a:solidFill>
                  <a:srgbClr val="FFFFFF"/>
                </a:solidFill>
                <a:latin typeface="Inter"/>
              </a:defRPr>
            </a:pPr>
            <a:r>
              <a:t>Use Dark Text</a:t>
            </a:r>
          </a:p>
        </p:txBody>
      </p:sp>
      <p:sp>
        <p:nvSpPr>
          <p:cNvPr id="6" name="Rectangle 5"/>
          <p:cNvSpPr/>
          <p:nvPr/>
        </p:nvSpPr>
        <p:spPr>
          <a:xfrm>
            <a:off x="1143000" y="3726180"/>
            <a:ext cx="1828800" cy="1371600"/>
          </a:xfrm>
          <a:prstGeom prst="rect">
            <a:avLst/>
          </a:prstGeom>
          <a:solidFill>
            <a:srgbClr val="1D1D1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54680" y="3726180"/>
            <a:ext cx="3017520" cy="1371600"/>
          </a:xfrm>
          <a:prstGeom prst="rect">
            <a:avLst/>
          </a:prstGeom>
          <a:noFill/>
        </p:spPr>
        <p:txBody>
          <a:bodyPr wrap="square" lIns="0" rIns="0" tIns="0" bIns="0">
            <a:spAutoFit/>
          </a:bodyPr>
          <a:lstStyle/>
          <a:p>
            <a:pPr algn="l">
              <a:spcAft>
                <a:spcPts val="300"/>
              </a:spcAft>
              <a:defRPr sz="1000" b="0">
                <a:solidFill>
                  <a:srgbClr val="FFFFFF"/>
                </a:solidFill>
                <a:latin typeface="Inter"/>
              </a:defRPr>
            </a:pPr>
            <a:r>
              <a:t>Sophisticated Black</a:t>
            </a:r>
          </a:p>
          <a:p>
            <a:pPr algn="l">
              <a:spcAft>
                <a:spcPts val="300"/>
              </a:spcAft>
              <a:defRPr sz="1000" b="0">
                <a:solidFill>
                  <a:srgbClr val="FFFFFF"/>
                </a:solidFill>
                <a:latin typeface="Inter"/>
              </a:defRPr>
            </a:pPr>
            <a:r>
              <a:t>#1D1D1D</a:t>
            </a:r>
          </a:p>
          <a:p>
            <a:pPr algn="l">
              <a:spcAft>
                <a:spcPts val="300"/>
              </a:spcAft>
              <a:defRPr sz="1000" b="0">
                <a:solidFill>
                  <a:srgbClr val="FFFFFF"/>
                </a:solidFill>
                <a:latin typeface="Inter"/>
              </a:defRPr>
            </a:pPr>
            <a:r>
              <a:t>RGB(29, 29, 29)</a:t>
            </a:r>
          </a:p>
          <a:p>
            <a:pPr algn="l">
              <a:spcAft>
                <a:spcPts val="300"/>
              </a:spcAft>
              <a:defRPr sz="1000" b="0">
                <a:solidFill>
                  <a:srgbClr val="FFFFFF"/>
                </a:solidFill>
                <a:latin typeface="Inter"/>
              </a:defRPr>
            </a:pPr>
            <a:r>
              <a:t>CMYK(0, 0, 0, 88)</a:t>
            </a:r>
          </a:p>
          <a:p>
            <a:pPr algn="l">
              <a:spcAft>
                <a:spcPts val="300"/>
              </a:spcAft>
              <a:defRPr sz="1000" b="0">
                <a:solidFill>
                  <a:srgbClr val="FFFFFF"/>
                </a:solidFill>
                <a:latin typeface="Inter"/>
              </a:defRPr>
            </a:pPr>
            <a:r>
              <a:t>Use Light Text</a:t>
            </a:r>
          </a:p>
        </p:txBody>
      </p:sp>
      <p:sp>
        <p:nvSpPr>
          <p:cNvPr id="8" name="Rectangle 7"/>
          <p:cNvSpPr/>
          <p:nvPr/>
        </p:nvSpPr>
        <p:spPr>
          <a:xfrm>
            <a:off x="4572000" y="3726180"/>
            <a:ext cx="1828800" cy="1371600"/>
          </a:xfrm>
          <a:prstGeom prst="rect">
            <a:avLst/>
          </a:prstGeom>
          <a:solidFill>
            <a:srgbClr val="00758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3726180"/>
            <a:ext cx="3017520" cy="1371600"/>
          </a:xfrm>
          <a:prstGeom prst="rect">
            <a:avLst/>
          </a:prstGeom>
          <a:noFill/>
        </p:spPr>
        <p:txBody>
          <a:bodyPr wrap="square" lIns="0" rIns="0" tIns="0" bIns="0">
            <a:spAutoFit/>
          </a:bodyPr>
          <a:lstStyle/>
          <a:p>
            <a:pPr algn="l">
              <a:spcAft>
                <a:spcPts val="300"/>
              </a:spcAft>
              <a:defRPr sz="1000" b="0">
                <a:solidFill>
                  <a:srgbClr val="FFFFFF"/>
                </a:solidFill>
                <a:latin typeface="Inter"/>
              </a:defRPr>
            </a:pPr>
            <a:r>
              <a:t>Innovative Teal</a:t>
            </a:r>
          </a:p>
          <a:p>
            <a:pPr algn="l">
              <a:spcAft>
                <a:spcPts val="300"/>
              </a:spcAft>
              <a:defRPr sz="1000" b="0">
                <a:solidFill>
                  <a:srgbClr val="FFFFFF"/>
                </a:solidFill>
                <a:latin typeface="Inter"/>
              </a:defRPr>
            </a:pPr>
            <a:r>
              <a:t>#007580</a:t>
            </a:r>
          </a:p>
          <a:p>
            <a:pPr algn="l">
              <a:spcAft>
                <a:spcPts val="300"/>
              </a:spcAft>
              <a:defRPr sz="1000" b="0">
                <a:solidFill>
                  <a:srgbClr val="FFFFFF"/>
                </a:solidFill>
                <a:latin typeface="Inter"/>
              </a:defRPr>
            </a:pPr>
            <a:r>
              <a:t>RGB(0, 117, 128)</a:t>
            </a:r>
          </a:p>
          <a:p>
            <a:pPr algn="l">
              <a:spcAft>
                <a:spcPts val="300"/>
              </a:spcAft>
              <a:defRPr sz="1000" b="0">
                <a:solidFill>
                  <a:srgbClr val="FFFFFF"/>
                </a:solidFill>
                <a:latin typeface="Inter"/>
              </a:defRPr>
            </a:pPr>
            <a:r>
              <a:t>CMYK(100, 8, 0, 49)</a:t>
            </a:r>
          </a:p>
          <a:p>
            <a:pPr algn="l">
              <a:spcAft>
                <a:spcPts val="300"/>
              </a:spcAft>
              <a:defRPr sz="1000" b="0">
                <a:solidFill>
                  <a:srgbClr val="FFFFFF"/>
                </a:solidFill>
                <a:latin typeface="Inter"/>
              </a:defRPr>
            </a:pPr>
            <a:r>
              <a:t>Use Light Text</a:t>
            </a:r>
          </a:p>
        </p:txBody>
      </p:sp>
      <p:cxnSp>
        <p:nvCxnSpPr>
          <p:cNvPr id="10" name="Connector 9"/>
          <p:cNvCxnSpPr/>
          <p:nvPr/>
        </p:nvCxnSpPr>
        <p:spPr>
          <a:xfrm>
            <a:off x="457200" y="5286375.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5560695"/>
            <a:ext cx="5486400" cy="731520"/>
          </a:xfrm>
          <a:prstGeom prst="rect">
            <a:avLst/>
          </a:prstGeom>
          <a:noFill/>
        </p:spPr>
        <p:txBody>
          <a:bodyPr wrap="none">
            <a:spAutoFit/>
          </a:bodyPr>
          <a:lstStyle/>
          <a:p>
            <a:pPr algn="l">
              <a:defRPr sz="2800" b="1">
                <a:solidFill>
                  <a:srgbClr val="1C2C5B"/>
                </a:solidFill>
                <a:latin typeface="Source Sans Pro"/>
              </a:defRPr>
            </a:pPr>
            <a:r>
              <a:t>Primary Colors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1143000" y="1571625"/>
            <a:ext cx="1828800" cy="914400"/>
          </a:xfrm>
          <a:prstGeom prst="rect">
            <a:avLst/>
          </a:prstGeom>
          <a:solidFill>
            <a:srgbClr val="F8F9F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2668905"/>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Inter"/>
              </a:defRPr>
            </a:pPr>
            <a:r>
              <a:t>Light Gray</a:t>
            </a:r>
          </a:p>
          <a:p>
            <a:pPr algn="ctr">
              <a:spcAft>
                <a:spcPts val="300"/>
              </a:spcAft>
              <a:defRPr sz="1000" b="0">
                <a:solidFill>
                  <a:srgbClr val="FFFFFF"/>
                </a:solidFill>
                <a:latin typeface="Inter"/>
              </a:defRPr>
            </a:pPr>
            <a:r>
              <a:t>#F8F9FA</a:t>
            </a:r>
          </a:p>
          <a:p>
            <a:pPr algn="ctr">
              <a:spcAft>
                <a:spcPts val="300"/>
              </a:spcAft>
              <a:defRPr sz="1000" b="0">
                <a:solidFill>
                  <a:srgbClr val="FFFFFF"/>
                </a:solidFill>
                <a:latin typeface="Inter"/>
              </a:defRPr>
            </a:pPr>
            <a:r>
              <a:t>Use Dark Text</a:t>
            </a:r>
          </a:p>
        </p:txBody>
      </p:sp>
      <p:sp>
        <p:nvSpPr>
          <p:cNvPr id="4" name="Rectangle 3"/>
          <p:cNvSpPr/>
          <p:nvPr/>
        </p:nvSpPr>
        <p:spPr>
          <a:xfrm>
            <a:off x="3200400" y="1571625"/>
            <a:ext cx="1828800" cy="914400"/>
          </a:xfrm>
          <a:prstGeom prst="rect">
            <a:avLst/>
          </a:prstGeom>
          <a:solidFill>
            <a:srgbClr val="4D8C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0" y="2668905"/>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Inter"/>
              </a:defRPr>
            </a:pPr>
            <a:r>
              <a:t>Muted Teal</a:t>
            </a:r>
          </a:p>
          <a:p>
            <a:pPr algn="ctr">
              <a:spcAft>
                <a:spcPts val="300"/>
              </a:spcAft>
              <a:defRPr sz="1000" b="0">
                <a:solidFill>
                  <a:srgbClr val="FFFFFF"/>
                </a:solidFill>
                <a:latin typeface="Inter"/>
              </a:defRPr>
            </a:pPr>
            <a:r>
              <a:t>#4D8C88</a:t>
            </a:r>
          </a:p>
          <a:p>
            <a:pPr algn="ctr">
              <a:spcAft>
                <a:spcPts val="300"/>
              </a:spcAft>
              <a:defRPr sz="1000" b="0">
                <a:solidFill>
                  <a:srgbClr val="FFFFFF"/>
                </a:solidFill>
                <a:latin typeface="Inter"/>
              </a:defRPr>
            </a:pPr>
            <a:r>
              <a:t>Use Dark Text</a:t>
            </a:r>
          </a:p>
        </p:txBody>
      </p:sp>
      <p:sp>
        <p:nvSpPr>
          <p:cNvPr id="6" name="Rectangle 5"/>
          <p:cNvSpPr/>
          <p:nvPr/>
        </p:nvSpPr>
        <p:spPr>
          <a:xfrm>
            <a:off x="5257800" y="1571625"/>
            <a:ext cx="1828800" cy="914400"/>
          </a:xfrm>
          <a:prstGeom prst="rect">
            <a:avLst/>
          </a:prstGeom>
          <a:solidFill>
            <a:srgbClr val="F192A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2668905"/>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Inter"/>
              </a:defRPr>
            </a:pPr>
            <a:r>
              <a:t>Soft Pink</a:t>
            </a:r>
          </a:p>
          <a:p>
            <a:pPr algn="ctr">
              <a:spcAft>
                <a:spcPts val="300"/>
              </a:spcAft>
              <a:defRPr sz="1000" b="0">
                <a:solidFill>
                  <a:srgbClr val="FFFFFF"/>
                </a:solidFill>
                <a:latin typeface="Inter"/>
              </a:defRPr>
            </a:pPr>
            <a:r>
              <a:t>#F192AA</a:t>
            </a:r>
          </a:p>
          <a:p>
            <a:pPr algn="ctr">
              <a:spcAft>
                <a:spcPts val="300"/>
              </a:spcAft>
              <a:defRPr sz="1000" b="0">
                <a:solidFill>
                  <a:srgbClr val="FFFFFF"/>
                </a:solidFill>
                <a:latin typeface="Inter"/>
              </a:defRPr>
            </a:pPr>
            <a:r>
              <a:t>Use Dark Text</a:t>
            </a:r>
          </a:p>
        </p:txBody>
      </p:sp>
      <p:sp>
        <p:nvSpPr>
          <p:cNvPr id="8" name="Rectangle 7"/>
          <p:cNvSpPr/>
          <p:nvPr/>
        </p:nvSpPr>
        <p:spPr>
          <a:xfrm>
            <a:off x="2171700" y="3429000"/>
            <a:ext cx="1828800" cy="914400"/>
          </a:xfrm>
          <a:prstGeom prst="rect">
            <a:avLst/>
          </a:prstGeom>
          <a:solidFill>
            <a:srgbClr val="0B1C3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71700" y="4526280"/>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Inter"/>
              </a:defRPr>
            </a:pPr>
            <a:r>
              <a:t>Dark Blue</a:t>
            </a:r>
          </a:p>
          <a:p>
            <a:pPr algn="ctr">
              <a:spcAft>
                <a:spcPts val="300"/>
              </a:spcAft>
              <a:defRPr sz="1000" b="0">
                <a:solidFill>
                  <a:srgbClr val="FFFFFF"/>
                </a:solidFill>
                <a:latin typeface="Inter"/>
              </a:defRPr>
            </a:pPr>
            <a:r>
              <a:t>#0B1C3D</a:t>
            </a:r>
          </a:p>
          <a:p>
            <a:pPr algn="ctr">
              <a:spcAft>
                <a:spcPts val="300"/>
              </a:spcAft>
              <a:defRPr sz="1000" b="0">
                <a:solidFill>
                  <a:srgbClr val="FFFFFF"/>
                </a:solidFill>
                <a:latin typeface="Inter"/>
              </a:defRPr>
            </a:pPr>
            <a:r>
              <a:t>Use Light Text</a:t>
            </a:r>
          </a:p>
        </p:txBody>
      </p:sp>
      <p:sp>
        <p:nvSpPr>
          <p:cNvPr id="10" name="Rectangle 9"/>
          <p:cNvSpPr/>
          <p:nvPr/>
        </p:nvSpPr>
        <p:spPr>
          <a:xfrm>
            <a:off x="4229100" y="3429000"/>
            <a:ext cx="1828800" cy="914400"/>
          </a:xfrm>
          <a:prstGeom prst="rect">
            <a:avLst/>
          </a:prstGeom>
          <a:solidFill>
            <a:srgbClr val="A2A2A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29100" y="4526280"/>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Inter"/>
              </a:defRPr>
            </a:pPr>
            <a:r>
              <a:t>Warm Gray</a:t>
            </a:r>
          </a:p>
          <a:p>
            <a:pPr algn="ctr">
              <a:spcAft>
                <a:spcPts val="300"/>
              </a:spcAft>
              <a:defRPr sz="1000" b="0">
                <a:solidFill>
                  <a:srgbClr val="FFFFFF"/>
                </a:solidFill>
                <a:latin typeface="Inter"/>
              </a:defRPr>
            </a:pPr>
            <a:r>
              <a:t>#A2A2A2</a:t>
            </a:r>
          </a:p>
          <a:p>
            <a:pPr algn="ctr">
              <a:spcAft>
                <a:spcPts val="300"/>
              </a:spcAft>
              <a:defRPr sz="1000" b="0">
                <a:solidFill>
                  <a:srgbClr val="FFFFFF"/>
                </a:solidFill>
                <a:latin typeface="Inter"/>
              </a:defRPr>
            </a:pPr>
            <a:r>
              <a:t>Use Dark Text</a:t>
            </a:r>
          </a:p>
        </p:txBody>
      </p:sp>
      <p:cxnSp>
        <p:nvCxnSpPr>
          <p:cNvPr id="12" name="Connector 11"/>
          <p:cNvCxnSpPr/>
          <p:nvPr/>
        </p:nvCxnSpPr>
        <p:spPr>
          <a:xfrm>
            <a:off x="457200" y="5286375.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5560695"/>
            <a:ext cx="5486400" cy="731520"/>
          </a:xfrm>
          <a:prstGeom prst="rect">
            <a:avLst/>
          </a:prstGeom>
          <a:noFill/>
        </p:spPr>
        <p:txBody>
          <a:bodyPr wrap="none">
            <a:spAutoFit/>
          </a:bodyPr>
          <a:lstStyle/>
          <a:p>
            <a:pPr algn="l">
              <a:defRPr sz="2800" b="1">
                <a:solidFill>
                  <a:srgbClr val="1C2C5B"/>
                </a:solidFill>
                <a:latin typeface="Source Sans Pro"/>
              </a:defRPr>
            </a:pPr>
            <a:r>
              <a:t>Secondary Colors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FFFFFF"/>
                </a:solidFill>
                <a:latin typeface="Inter"/>
              </a:defRPr>
            </a:pPr>
            <a:r>
              <a:t>Primary Color Usage</a:t>
            </a:r>
          </a:p>
          <a:p>
            <a:pPr algn="l">
              <a:spcAft>
                <a:spcPts val="600"/>
              </a:spcAft>
              <a:defRPr sz="1400" b="0">
                <a:solidFill>
                  <a:srgbClr val="FFFFFF"/>
                </a:solidFill>
                <a:latin typeface="Inter"/>
              </a:defRPr>
            </a:pPr>
          </a:p>
          <a:p>
            <a:pPr algn="l">
              <a:spcAft>
                <a:spcPts val="600"/>
              </a:spcAft>
              <a:defRPr sz="1400" b="0">
                <a:solidFill>
                  <a:srgbClr val="FFFFFF"/>
                </a:solidFill>
                <a:latin typeface="Inter"/>
              </a:defRPr>
            </a:pPr>
            <a:r>
              <a:t>Use for brand-critical elements:</a:t>
            </a:r>
          </a:p>
          <a:p>
            <a:pPr algn="l">
              <a:spcAft>
                <a:spcPts val="600"/>
              </a:spcAft>
              <a:defRPr sz="1400" b="0">
                <a:solidFill>
                  <a:srgbClr val="FFFFFF"/>
                </a:solidFill>
                <a:latin typeface="Inter"/>
              </a:defRPr>
            </a:pPr>
            <a:r>
              <a:t>• Logos and main brand marks</a:t>
            </a:r>
          </a:p>
          <a:p>
            <a:pPr algn="l">
              <a:spcAft>
                <a:spcPts val="600"/>
              </a:spcAft>
              <a:defRPr sz="1400" b="0">
                <a:solidFill>
                  <a:srgbClr val="FFFFFF"/>
                </a:solidFill>
                <a:latin typeface="Inter"/>
              </a:defRPr>
            </a:pPr>
            <a:r>
              <a:t>• Headlines and key text</a:t>
            </a:r>
          </a:p>
          <a:p>
            <a:pPr algn="l">
              <a:spcAft>
                <a:spcPts val="600"/>
              </a:spcAft>
              <a:defRPr sz="1400" b="0">
                <a:solidFill>
                  <a:srgbClr val="FFFFFF"/>
                </a:solidFill>
                <a:latin typeface="Inter"/>
              </a:defRPr>
            </a:pPr>
            <a:r>
              <a:t>• CTA buttons and navigation</a:t>
            </a:r>
          </a:p>
          <a:p>
            <a:pPr algn="l">
              <a:spcAft>
                <a:spcPts val="600"/>
              </a:spcAft>
              <a:defRPr sz="1400" b="0">
                <a:solidFill>
                  <a:srgbClr val="FFFFFF"/>
                </a:solidFill>
                <a:latin typeface="Inter"/>
              </a:defRPr>
            </a:pPr>
            <a:r>
              <a:t>• Hero sections</a:t>
            </a:r>
          </a:p>
          <a:p>
            <a:pPr algn="l">
              <a:spcAft>
                <a:spcPts val="600"/>
              </a:spcAft>
              <a:defRPr sz="1400" b="0">
                <a:solidFill>
                  <a:srgbClr val="FFFFFF"/>
                </a:solidFill>
                <a:latin typeface="Inter"/>
              </a:defRPr>
            </a:pPr>
          </a:p>
          <a:p>
            <a:pPr algn="l">
              <a:spcAft>
                <a:spcPts val="600"/>
              </a:spcAft>
              <a:defRPr sz="1400" b="0">
                <a:solidFill>
                  <a:srgbClr val="FFFFFF"/>
                </a:solidFill>
                <a:latin typeface="Inter"/>
              </a:defRPr>
            </a:pPr>
            <a:r>
              <a:t>Colors: Trust Navy, Urgent Red, Sophisticated Black, Innovative Teal</a:t>
            </a:r>
          </a:p>
          <a:p>
            <a:pPr algn="l">
              <a:spcAft>
                <a:spcPts val="600"/>
              </a:spcAft>
              <a:defRPr sz="1400" b="0">
                <a:solidFill>
                  <a:srgbClr val="FFFFFF"/>
                </a:solidFill>
                <a:latin typeface="Inter"/>
              </a:defRPr>
            </a:pPr>
          </a:p>
          <a:p>
            <a:pPr algn="l">
              <a:spcAft>
                <a:spcPts val="600"/>
              </a:spcAft>
              <a:defRPr sz="1400" b="0">
                <a:solidFill>
                  <a:srgbClr val="FFFFFF"/>
                </a:solidFill>
                <a:latin typeface="Inter"/>
              </a:defRPr>
            </a:pPr>
            <a:r>
              <a:t>Best Practices:</a:t>
            </a:r>
          </a:p>
          <a:p>
            <a:pPr algn="l">
              <a:spcAft>
                <a:spcPts val="600"/>
              </a:spcAft>
              <a:defRPr sz="1400" b="0">
                <a:solidFill>
                  <a:srgbClr val="FFFFFF"/>
                </a:solidFill>
                <a:latin typeface="Inter"/>
              </a:defRPr>
            </a:pPr>
            <a:r>
              <a:t>- Maximum brand recognition</a:t>
            </a:r>
          </a:p>
          <a:p>
            <a:pPr algn="l">
              <a:spcAft>
                <a:spcPts val="600"/>
              </a:spcAft>
              <a:defRPr sz="1400" b="0">
                <a:solidFill>
                  <a:srgbClr val="FFFFFF"/>
                </a:solidFill>
                <a:latin typeface="Inter"/>
              </a:defRPr>
            </a:pPr>
            <a:r>
              <a:t>- Consistent application</a:t>
            </a:r>
          </a:p>
          <a:p>
            <a:pPr algn="l">
              <a:spcAft>
                <a:spcPts val="600"/>
              </a:spcAft>
              <a:defRPr sz="1400" b="0">
                <a:solidFill>
                  <a:srgbClr val="FFFFFF"/>
                </a:solidFill>
                <a:latin typeface="Inter"/>
              </a:defRPr>
            </a:pPr>
            <a:r>
              <a:t>- Sufficient contrast</a:t>
            </a:r>
          </a:p>
          <a:p>
            <a:pPr algn="l">
              <a:spcAft>
                <a:spcPts val="600"/>
              </a:spcAft>
              <a:defRPr sz="1400" b="0">
                <a:solidFill>
                  <a:srgbClr val="FFFFFF"/>
                </a:solidFill>
                <a:latin typeface="Inter"/>
              </a:defRPr>
            </a:pPr>
            <a:r>
              <a:t>- Accessibility compliance</a:t>
            </a:r>
          </a:p>
        </p:txBody>
      </p:sp>
      <p:cxnSp>
        <p:nvCxnSpPr>
          <p:cNvPr id="3" name="Connector 2"/>
          <p:cNvCxnSpPr/>
          <p:nvPr/>
        </p:nvCxnSpPr>
        <p:spPr>
          <a:xfrm>
            <a:off x="457200" y="5286375.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5560695"/>
            <a:ext cx="5486400" cy="731520"/>
          </a:xfrm>
          <a:prstGeom prst="rect">
            <a:avLst/>
          </a:prstGeom>
          <a:noFill/>
        </p:spPr>
        <p:txBody>
          <a:bodyPr wrap="none">
            <a:spAutoFit/>
          </a:bodyPr>
          <a:lstStyle/>
          <a:p>
            <a:pPr algn="l">
              <a:defRPr sz="2800" b="1">
                <a:solidFill>
                  <a:srgbClr val="1C2C5B"/>
                </a:solidFill>
                <a:latin typeface="Source Sans Pro"/>
              </a:defRPr>
            </a:pPr>
            <a:r>
              <a:t>Color Usage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FFFFFF"/>
                </a:solidFill>
                <a:latin typeface="Inter"/>
              </a:defRPr>
            </a:pPr>
            <a:r>
              <a:t>Secondary Color Usage</a:t>
            </a:r>
          </a:p>
          <a:p>
            <a:pPr algn="l">
              <a:spcAft>
                <a:spcPts val="600"/>
              </a:spcAft>
              <a:defRPr sz="1400" b="0">
                <a:solidFill>
                  <a:srgbClr val="FFFFFF"/>
                </a:solidFill>
                <a:latin typeface="Inter"/>
              </a:defRPr>
            </a:pPr>
          </a:p>
          <a:p>
            <a:pPr algn="l">
              <a:spcAft>
                <a:spcPts val="600"/>
              </a:spcAft>
              <a:defRPr sz="1400" b="0">
                <a:solidFill>
                  <a:srgbClr val="FFFFFF"/>
                </a:solidFill>
                <a:latin typeface="Inter"/>
              </a:defRPr>
            </a:pPr>
            <a:r>
              <a:t>Use for supporting elements:</a:t>
            </a:r>
          </a:p>
          <a:p>
            <a:pPr algn="l">
              <a:spcAft>
                <a:spcPts val="600"/>
              </a:spcAft>
              <a:defRPr sz="1400" b="0">
                <a:solidFill>
                  <a:srgbClr val="FFFFFF"/>
                </a:solidFill>
                <a:latin typeface="Inter"/>
              </a:defRPr>
            </a:pPr>
            <a:r>
              <a:t>• Backgrounds and subtle accents</a:t>
            </a:r>
          </a:p>
          <a:p>
            <a:pPr algn="l">
              <a:spcAft>
                <a:spcPts val="600"/>
              </a:spcAft>
              <a:defRPr sz="1400" b="0">
                <a:solidFill>
                  <a:srgbClr val="FFFFFF"/>
                </a:solidFill>
                <a:latin typeface="Inter"/>
              </a:defRPr>
            </a:pPr>
            <a:r>
              <a:t>• Secondary text</a:t>
            </a:r>
          </a:p>
          <a:p>
            <a:pPr algn="l">
              <a:spcAft>
                <a:spcPts val="600"/>
              </a:spcAft>
              <a:defRPr sz="1400" b="0">
                <a:solidFill>
                  <a:srgbClr val="FFFFFF"/>
                </a:solidFill>
                <a:latin typeface="Inter"/>
              </a:defRPr>
            </a:pPr>
            <a:r>
              <a:t>• Borders and dividers</a:t>
            </a:r>
          </a:p>
          <a:p>
            <a:pPr algn="l">
              <a:spcAft>
                <a:spcPts val="600"/>
              </a:spcAft>
              <a:defRPr sz="1400" b="0">
                <a:solidFill>
                  <a:srgbClr val="FFFFFF"/>
                </a:solidFill>
                <a:latin typeface="Inter"/>
              </a:defRPr>
            </a:pPr>
            <a:r>
              <a:t>• Hover states and icons</a:t>
            </a:r>
          </a:p>
          <a:p>
            <a:pPr algn="l">
              <a:spcAft>
                <a:spcPts val="600"/>
              </a:spcAft>
              <a:defRPr sz="1400" b="0">
                <a:solidFill>
                  <a:srgbClr val="FFFFFF"/>
                </a:solidFill>
                <a:latin typeface="Inter"/>
              </a:defRPr>
            </a:pPr>
          </a:p>
          <a:p>
            <a:pPr algn="l">
              <a:spcAft>
                <a:spcPts val="600"/>
              </a:spcAft>
              <a:defRPr sz="1400" b="0">
                <a:solidFill>
                  <a:srgbClr val="FFFFFF"/>
                </a:solidFill>
                <a:latin typeface="Inter"/>
              </a:defRPr>
            </a:pPr>
            <a:r>
              <a:t>Colors: Light Gray, Muted Teal, Soft Pink, Dark Blue, Warm Gray</a:t>
            </a:r>
          </a:p>
          <a:p>
            <a:pPr algn="l">
              <a:spcAft>
                <a:spcPts val="600"/>
              </a:spcAft>
              <a:defRPr sz="1400" b="0">
                <a:solidFill>
                  <a:srgbClr val="FFFFFF"/>
                </a:solidFill>
                <a:latin typeface="Inter"/>
              </a:defRPr>
            </a:pPr>
          </a:p>
          <a:p>
            <a:pPr algn="l">
              <a:spcAft>
                <a:spcPts val="600"/>
              </a:spcAft>
              <a:defRPr sz="1400" b="0">
                <a:solidFill>
                  <a:srgbClr val="FFFFFF"/>
                </a:solidFill>
                <a:latin typeface="Inter"/>
              </a:defRPr>
            </a:pPr>
            <a:r>
              <a:t>Best Practices:</a:t>
            </a:r>
          </a:p>
          <a:p>
            <a:pPr algn="l">
              <a:spcAft>
                <a:spcPts val="600"/>
              </a:spcAft>
              <a:defRPr sz="1400" b="0">
                <a:solidFill>
                  <a:srgbClr val="FFFFFF"/>
                </a:solidFill>
                <a:latin typeface="Inter"/>
              </a:defRPr>
            </a:pPr>
            <a:r>
              <a:t>- Create visual hierarchy</a:t>
            </a:r>
          </a:p>
          <a:p>
            <a:pPr algn="l">
              <a:spcAft>
                <a:spcPts val="600"/>
              </a:spcAft>
              <a:defRPr sz="1400" b="0">
                <a:solidFill>
                  <a:srgbClr val="FFFFFF"/>
                </a:solidFill>
                <a:latin typeface="Inter"/>
              </a:defRPr>
            </a:pPr>
            <a:r>
              <a:t>- Support, don't compete</a:t>
            </a:r>
          </a:p>
          <a:p>
            <a:pPr algn="l">
              <a:spcAft>
                <a:spcPts val="600"/>
              </a:spcAft>
              <a:defRPr sz="1400" b="0">
                <a:solidFill>
                  <a:srgbClr val="FFFFFF"/>
                </a:solidFill>
                <a:latin typeface="Inter"/>
              </a:defRPr>
            </a:pPr>
            <a:r>
              <a:t>- Maintain readability</a:t>
            </a:r>
          </a:p>
          <a:p>
            <a:pPr algn="l">
              <a:spcAft>
                <a:spcPts val="600"/>
              </a:spcAft>
              <a:defRPr sz="1400" b="0">
                <a:solidFill>
                  <a:srgbClr val="FFFFFF"/>
                </a:solidFill>
                <a:latin typeface="Inter"/>
              </a:defRPr>
            </a:pPr>
            <a:r>
              <a:t>- Use sparingly</a:t>
            </a:r>
          </a:p>
        </p:txBody>
      </p:sp>
      <p:cxnSp>
        <p:nvCxnSpPr>
          <p:cNvPr id="3" name="Connector 2"/>
          <p:cNvCxnSpPr/>
          <p:nvPr/>
        </p:nvCxnSpPr>
        <p:spPr>
          <a:xfrm>
            <a:off x="457200" y="5286375.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5560695"/>
            <a:ext cx="5486400" cy="731520"/>
          </a:xfrm>
          <a:prstGeom prst="rect">
            <a:avLst/>
          </a:prstGeom>
          <a:noFill/>
        </p:spPr>
        <p:txBody>
          <a:bodyPr wrap="none">
            <a:spAutoFit/>
          </a:bodyPr>
          <a:lstStyle/>
          <a:p>
            <a:pPr algn="l">
              <a:defRPr sz="2800" b="1">
                <a:solidFill>
                  <a:srgbClr val="1C2C5B"/>
                </a:solidFill>
                <a:latin typeface="Source Sans Pro"/>
              </a:defRPr>
            </a:pPr>
            <a:r>
              <a:t>Color Usage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Primary Font: Source Sans Pro</a:t>
            </a:r>
          </a:p>
          <a:p>
            <a:pPr algn="l">
              <a:spcAft>
                <a:spcPts val="800"/>
              </a:spcAft>
              <a:defRPr sz="2000" b="0">
                <a:solidFill>
                  <a:srgbClr val="FFFFFF"/>
                </a:solidFill>
                <a:latin typeface="Inter"/>
              </a:defRPr>
            </a:pPr>
          </a:p>
          <a:p>
            <a:pPr algn="l">
              <a:spcAft>
                <a:spcPts val="800"/>
              </a:spcAft>
              <a:defRPr sz="2000" b="0">
                <a:solidFill>
                  <a:srgbClr val="FFFFFF"/>
                </a:solidFill>
                <a:latin typeface="Inter"/>
              </a:defRPr>
            </a:pPr>
            <a:r>
              <a:t>Secondary Font: Inter</a:t>
            </a:r>
          </a:p>
          <a:p>
            <a:pPr algn="l">
              <a:spcAft>
                <a:spcPts val="800"/>
              </a:spcAft>
              <a:defRPr sz="2000" b="0">
                <a:solidFill>
                  <a:srgbClr val="FFFFFF"/>
                </a:solidFill>
                <a:latin typeface="Inter"/>
              </a:defRPr>
            </a:pPr>
          </a:p>
          <a:p>
            <a:pPr algn="l">
              <a:spcAft>
                <a:spcPts val="800"/>
              </a:spcAft>
              <a:defRPr sz="2000" b="0">
                <a:solidFill>
                  <a:srgbClr val="FFFFFF"/>
                </a:solidFill>
                <a:latin typeface="Inter"/>
              </a:defRPr>
            </a:pPr>
            <a:r>
              <a:t>Font Hierarchy:</a:t>
            </a:r>
          </a:p>
          <a:p>
            <a:pPr algn="l">
              <a:spcAft>
                <a:spcPts val="800"/>
              </a:spcAft>
              <a:defRPr sz="2000" b="0">
                <a:solidFill>
                  <a:srgbClr val="FFFFFF"/>
                </a:solidFill>
                <a:latin typeface="Inter"/>
              </a:defRPr>
            </a:pPr>
            <a:r>
              <a:t>• Headlines: Source Sans Pro - Bold, 28-32pt</a:t>
            </a:r>
          </a:p>
          <a:p>
            <a:pPr algn="l">
              <a:spcAft>
                <a:spcPts val="800"/>
              </a:spcAft>
              <a:defRPr sz="2000" b="0">
                <a:solidFill>
                  <a:srgbClr val="FFFFFF"/>
                </a:solidFill>
                <a:latin typeface="Inter"/>
              </a:defRPr>
            </a:pPr>
            <a:r>
              <a:t>• Subheadlines: Source Sans Pro - Bold, 20-24pt</a:t>
            </a:r>
          </a:p>
          <a:p>
            <a:pPr algn="l">
              <a:spcAft>
                <a:spcPts val="800"/>
              </a:spcAft>
              <a:defRPr sz="2000" b="0">
                <a:solidFill>
                  <a:srgbClr val="FFFFFF"/>
                </a:solidFill>
                <a:latin typeface="Inter"/>
              </a:defRPr>
            </a:pPr>
            <a:r>
              <a:t>• Body Text: Inter - Regular, 16-18pt</a:t>
            </a:r>
          </a:p>
          <a:p>
            <a:pPr algn="l">
              <a:spcAft>
                <a:spcPts val="800"/>
              </a:spcAft>
              <a:defRPr sz="2000" b="0">
                <a:solidFill>
                  <a:srgbClr val="FFFFFF"/>
                </a:solidFill>
                <a:latin typeface="Inter"/>
              </a:defRPr>
            </a:pPr>
            <a:r>
              <a:t>• Caption Text: Inter - Regular, 12-14pt</a:t>
            </a:r>
          </a:p>
        </p:txBody>
      </p:sp>
      <p:cxnSp>
        <p:nvCxnSpPr>
          <p:cNvPr id="3" name="Connector 2"/>
          <p:cNvCxnSpPr/>
          <p:nvPr/>
        </p:nvCxnSpPr>
        <p:spPr>
          <a:xfrm>
            <a:off x="457200" y="4914900.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1C2C5B"/>
                </a:solidFill>
                <a:latin typeface="Source Sans Pro"/>
              </a:defRPr>
            </a:pPr>
            <a:r>
              <a:t>TYPOGRAPHY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74295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BBC Icons</a:t>
            </a:r>
          </a:p>
        </p:txBody>
      </p:sp>
      <p:pic>
        <p:nvPicPr>
          <p:cNvPr id="3" name="Picture 2" descr="bbc_icon_collaboration_20250901_160002_2590077c.png"/>
          <p:cNvPicPr>
            <a:picLocks noChangeAspect="1"/>
          </p:cNvPicPr>
          <p:nvPr/>
        </p:nvPicPr>
        <p:blipFill>
          <a:blip r:embed="rId2"/>
          <a:stretch>
            <a:fillRect/>
          </a:stretch>
        </p:blipFill>
        <p:spPr>
          <a:xfrm>
            <a:off x="2743200" y="2286000"/>
            <a:ext cx="914400" cy="914400"/>
          </a:xfrm>
          <a:prstGeom prst="rect">
            <a:avLst/>
          </a:prstGeom>
        </p:spPr>
      </p:pic>
      <p:sp>
        <p:nvSpPr>
          <p:cNvPr id="4" name="TextBox 3"/>
          <p:cNvSpPr txBox="1"/>
          <p:nvPr/>
        </p:nvSpPr>
        <p:spPr>
          <a:xfrm>
            <a:off x="2743200" y="3291840"/>
            <a:ext cx="914400" cy="365760"/>
          </a:xfrm>
          <a:prstGeom prst="rect">
            <a:avLst/>
          </a:prstGeom>
          <a:noFill/>
        </p:spPr>
        <p:txBody>
          <a:bodyPr wrap="none" lIns="0" rIns="0" tIns="0" bIns="0">
            <a:spAutoFit/>
          </a:bodyPr>
          <a:lstStyle/>
          <a:p>
            <a:pPr algn="ctr">
              <a:defRPr sz="1200" b="0">
                <a:solidFill>
                  <a:srgbClr val="FFFFFF"/>
                </a:solidFill>
                <a:latin typeface="Inter"/>
              </a:defRPr>
            </a:pPr>
            <a:r>
              <a:t>Collaboration</a:t>
            </a:r>
          </a:p>
        </p:txBody>
      </p:sp>
      <p:pic>
        <p:nvPicPr>
          <p:cNvPr id="5" name="Picture 4" descr="bbc_icon_quality_20250901_160017_5613a742.png"/>
          <p:cNvPicPr>
            <a:picLocks noChangeAspect="1"/>
          </p:cNvPicPr>
          <p:nvPr/>
        </p:nvPicPr>
        <p:blipFill>
          <a:blip r:embed="rId3"/>
          <a:stretch>
            <a:fillRect/>
          </a:stretch>
        </p:blipFill>
        <p:spPr>
          <a:xfrm>
            <a:off x="4572000" y="2286000"/>
            <a:ext cx="914400" cy="914400"/>
          </a:xfrm>
          <a:prstGeom prst="rect">
            <a:avLst/>
          </a:prstGeom>
        </p:spPr>
      </p:pic>
      <p:sp>
        <p:nvSpPr>
          <p:cNvPr id="6" name="TextBox 5"/>
          <p:cNvSpPr txBox="1"/>
          <p:nvPr/>
        </p:nvSpPr>
        <p:spPr>
          <a:xfrm>
            <a:off x="4572000" y="3291840"/>
            <a:ext cx="914400" cy="365760"/>
          </a:xfrm>
          <a:prstGeom prst="rect">
            <a:avLst/>
          </a:prstGeom>
          <a:noFill/>
        </p:spPr>
        <p:txBody>
          <a:bodyPr wrap="none" lIns="0" rIns="0" tIns="0" bIns="0">
            <a:spAutoFit/>
          </a:bodyPr>
          <a:lstStyle/>
          <a:p>
            <a:pPr algn="ctr">
              <a:defRPr sz="1200" b="0">
                <a:solidFill>
                  <a:srgbClr val="FFFFFF"/>
                </a:solidFill>
                <a:latin typeface="Inter"/>
              </a:defRPr>
            </a:pPr>
            <a:r>
              <a:t>Quality</a:t>
            </a:r>
          </a:p>
        </p:txBody>
      </p:sp>
      <p:pic>
        <p:nvPicPr>
          <p:cNvPr id="7" name="Picture 6" descr="bbc_icon_growth_20250901_160031_507cd0cf.png"/>
          <p:cNvPicPr>
            <a:picLocks noChangeAspect="1"/>
          </p:cNvPicPr>
          <p:nvPr/>
        </p:nvPicPr>
        <p:blipFill>
          <a:blip r:embed="rId4"/>
          <a:stretch>
            <a:fillRect/>
          </a:stretch>
        </p:blipFill>
        <p:spPr>
          <a:xfrm>
            <a:off x="6400800" y="2286000"/>
            <a:ext cx="914400" cy="914400"/>
          </a:xfrm>
          <a:prstGeom prst="rect">
            <a:avLst/>
          </a:prstGeom>
        </p:spPr>
      </p:pic>
      <p:sp>
        <p:nvSpPr>
          <p:cNvPr id="8" name="TextBox 7"/>
          <p:cNvSpPr txBox="1"/>
          <p:nvPr/>
        </p:nvSpPr>
        <p:spPr>
          <a:xfrm>
            <a:off x="6400800" y="3291840"/>
            <a:ext cx="914400" cy="365760"/>
          </a:xfrm>
          <a:prstGeom prst="rect">
            <a:avLst/>
          </a:prstGeom>
          <a:noFill/>
        </p:spPr>
        <p:txBody>
          <a:bodyPr wrap="none" lIns="0" rIns="0" tIns="0" bIns="0">
            <a:spAutoFit/>
          </a:bodyPr>
          <a:lstStyle/>
          <a:p>
            <a:pPr algn="ctr">
              <a:defRPr sz="1200" b="0">
                <a:solidFill>
                  <a:srgbClr val="FFFFFF"/>
                </a:solidFill>
                <a:latin typeface="Inter"/>
              </a:defRPr>
            </a:pPr>
            <a:r>
              <a:t>Growth</a:t>
            </a:r>
          </a:p>
        </p:txBody>
      </p:sp>
      <p:pic>
        <p:nvPicPr>
          <p:cNvPr id="9" name="Picture 8" descr="bbc_icon_trust_20250901_160044_70fcdb6c.png"/>
          <p:cNvPicPr>
            <a:picLocks noChangeAspect="1"/>
          </p:cNvPicPr>
          <p:nvPr/>
        </p:nvPicPr>
        <p:blipFill>
          <a:blip r:embed="rId5"/>
          <a:stretch>
            <a:fillRect/>
          </a:stretch>
        </p:blipFill>
        <p:spPr>
          <a:xfrm>
            <a:off x="2743200" y="3657600"/>
            <a:ext cx="914400" cy="914400"/>
          </a:xfrm>
          <a:prstGeom prst="rect">
            <a:avLst/>
          </a:prstGeom>
        </p:spPr>
      </p:pic>
      <p:sp>
        <p:nvSpPr>
          <p:cNvPr id="10" name="TextBox 9"/>
          <p:cNvSpPr txBox="1"/>
          <p:nvPr/>
        </p:nvSpPr>
        <p:spPr>
          <a:xfrm>
            <a:off x="2743200" y="4663440"/>
            <a:ext cx="914400" cy="365760"/>
          </a:xfrm>
          <a:prstGeom prst="rect">
            <a:avLst/>
          </a:prstGeom>
          <a:noFill/>
        </p:spPr>
        <p:txBody>
          <a:bodyPr wrap="none" lIns="0" rIns="0" tIns="0" bIns="0">
            <a:spAutoFit/>
          </a:bodyPr>
          <a:lstStyle/>
          <a:p>
            <a:pPr algn="ctr">
              <a:defRPr sz="1200" b="0">
                <a:solidFill>
                  <a:srgbClr val="FFFFFF"/>
                </a:solidFill>
                <a:latin typeface="Inter"/>
              </a:defRPr>
            </a:pPr>
            <a:r>
              <a:t>Trust</a:t>
            </a:r>
          </a:p>
        </p:txBody>
      </p:sp>
      <p:pic>
        <p:nvPicPr>
          <p:cNvPr id="11" name="Picture 10" descr="bbc_icon_creativity_20250901_160058_ccbbe128.png"/>
          <p:cNvPicPr>
            <a:picLocks noChangeAspect="1"/>
          </p:cNvPicPr>
          <p:nvPr/>
        </p:nvPicPr>
        <p:blipFill>
          <a:blip r:embed="rId6"/>
          <a:stretch>
            <a:fillRect/>
          </a:stretch>
        </p:blipFill>
        <p:spPr>
          <a:xfrm>
            <a:off x="4572000" y="3657600"/>
            <a:ext cx="914400" cy="914400"/>
          </a:xfrm>
          <a:prstGeom prst="rect">
            <a:avLst/>
          </a:prstGeom>
        </p:spPr>
      </p:pic>
      <p:sp>
        <p:nvSpPr>
          <p:cNvPr id="12" name="TextBox 11"/>
          <p:cNvSpPr txBox="1"/>
          <p:nvPr/>
        </p:nvSpPr>
        <p:spPr>
          <a:xfrm>
            <a:off x="4572000" y="4663440"/>
            <a:ext cx="914400" cy="365760"/>
          </a:xfrm>
          <a:prstGeom prst="rect">
            <a:avLst/>
          </a:prstGeom>
          <a:noFill/>
        </p:spPr>
        <p:txBody>
          <a:bodyPr wrap="none" lIns="0" rIns="0" tIns="0" bIns="0">
            <a:spAutoFit/>
          </a:bodyPr>
          <a:lstStyle/>
          <a:p>
            <a:pPr algn="ctr">
              <a:defRPr sz="1200" b="0">
                <a:solidFill>
                  <a:srgbClr val="FFFFFF"/>
                </a:solidFill>
                <a:latin typeface="Inter"/>
              </a:defRPr>
            </a:pPr>
            <a:r>
              <a:t>Creativity</a:t>
            </a:r>
          </a:p>
        </p:txBody>
      </p:sp>
      <p:pic>
        <p:nvPicPr>
          <p:cNvPr id="13" name="Picture 12" descr="bbc_icon_communication_20250901_160113_c105f0b2.png"/>
          <p:cNvPicPr>
            <a:picLocks noChangeAspect="1"/>
          </p:cNvPicPr>
          <p:nvPr/>
        </p:nvPicPr>
        <p:blipFill>
          <a:blip r:embed="rId7"/>
          <a:stretch>
            <a:fillRect/>
          </a:stretch>
        </p:blipFill>
        <p:spPr>
          <a:xfrm>
            <a:off x="6400800" y="3657600"/>
            <a:ext cx="914400" cy="914400"/>
          </a:xfrm>
          <a:prstGeom prst="rect">
            <a:avLst/>
          </a:prstGeom>
        </p:spPr>
      </p:pic>
      <p:sp>
        <p:nvSpPr>
          <p:cNvPr id="14" name="TextBox 13"/>
          <p:cNvSpPr txBox="1"/>
          <p:nvPr/>
        </p:nvSpPr>
        <p:spPr>
          <a:xfrm>
            <a:off x="6400800" y="4663440"/>
            <a:ext cx="914400" cy="365760"/>
          </a:xfrm>
          <a:prstGeom prst="rect">
            <a:avLst/>
          </a:prstGeom>
          <a:noFill/>
        </p:spPr>
        <p:txBody>
          <a:bodyPr wrap="none" lIns="0" rIns="0" tIns="0" bIns="0">
            <a:spAutoFit/>
          </a:bodyPr>
          <a:lstStyle/>
          <a:p>
            <a:pPr algn="ctr">
              <a:defRPr sz="1200" b="0">
                <a:solidFill>
                  <a:srgbClr val="FFFFFF"/>
                </a:solidFill>
                <a:latin typeface="Inter"/>
              </a:defRPr>
            </a:pPr>
            <a:r>
              <a:t>Communication</a:t>
            </a:r>
          </a:p>
        </p:txBody>
      </p:sp>
      <p:cxnSp>
        <p:nvCxnSpPr>
          <p:cNvPr id="15" name="Connector 14"/>
          <p:cNvCxnSpPr/>
          <p:nvPr/>
        </p:nvCxnSpPr>
        <p:spPr>
          <a:xfrm>
            <a:off x="457200" y="5286375.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00100" y="5560695"/>
            <a:ext cx="3657600" cy="731520"/>
          </a:xfrm>
          <a:prstGeom prst="rect">
            <a:avLst/>
          </a:prstGeom>
          <a:noFill/>
        </p:spPr>
        <p:txBody>
          <a:bodyPr wrap="none">
            <a:spAutoFit/>
          </a:bodyPr>
          <a:lstStyle/>
          <a:p>
            <a:pPr algn="l">
              <a:defRPr sz="2800" b="1">
                <a:solidFill>
                  <a:srgbClr val="1C2C5B"/>
                </a:solidFill>
                <a:latin typeface="Source Sans Pro"/>
              </a:defRPr>
            </a:pPr>
            <a:r>
              <a:t>ICONOGRAPHY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228850"/>
          </a:xfrm>
          <a:prstGeom prst="rect">
            <a:avLst/>
          </a:prstGeom>
          <a:noFill/>
        </p:spPr>
        <p:txBody>
          <a:bodyPr wrap="square" lIns="0" rIns="0" tIns="0" bIns="0">
            <a:spAutoFit/>
          </a:bodyPr>
          <a:lstStyle/>
          <a:p>
            <a:pPr algn="l">
              <a:spcAft>
                <a:spcPts val="600"/>
              </a:spcAft>
              <a:defRPr sz="1800" b="0">
                <a:solidFill>
                  <a:srgbClr val="FFFFFF"/>
                </a:solidFill>
                <a:latin typeface="Inter"/>
              </a:defRPr>
            </a:pPr>
            <a:r>
              <a:t>Style: Flat design</a:t>
            </a:r>
          </a:p>
          <a:p>
            <a:pPr algn="l">
              <a:spcAft>
                <a:spcPts val="600"/>
              </a:spcAft>
              <a:defRPr sz="1800" b="0">
                <a:solidFill>
                  <a:srgbClr val="FFFFFF"/>
                </a:solidFill>
                <a:latin typeface="Inter"/>
              </a:defRPr>
            </a:pPr>
            <a:r>
              <a:t>Color: #1C2C5B on black background</a:t>
            </a:r>
          </a:p>
          <a:p>
            <a:pPr algn="l">
              <a:spcAft>
                <a:spcPts val="600"/>
              </a:spcAft>
              <a:defRPr sz="1800" b="0">
                <a:solidFill>
                  <a:srgbClr val="FFFFFF"/>
                </a:solidFill>
                <a:latin typeface="Inter"/>
              </a:defRPr>
            </a:pPr>
          </a:p>
          <a:p>
            <a:pPr algn="l">
              <a:spcAft>
                <a:spcPts val="600"/>
              </a:spcAft>
              <a:defRPr sz="1800" b="0">
                <a:solidFill>
                  <a:srgbClr val="FFFFFF"/>
                </a:solidFill>
                <a:latin typeface="Inter"/>
              </a:defRPr>
            </a:pPr>
            <a:r>
              <a:t>Size Requirements:</a:t>
            </a:r>
          </a:p>
          <a:p>
            <a:pPr algn="l">
              <a:spcAft>
                <a:spcPts val="600"/>
              </a:spcAft>
              <a:defRPr sz="1800" b="0">
                <a:solidFill>
                  <a:srgbClr val="FFFFFF"/>
                </a:solidFill>
                <a:latin typeface="Inter"/>
              </a:defRPr>
            </a:pPr>
            <a:r>
              <a:t>• Minimum: 16px web, 0.5" print</a:t>
            </a:r>
          </a:p>
          <a:p>
            <a:pPr algn="l">
              <a:spcAft>
                <a:spcPts val="600"/>
              </a:spcAft>
              <a:defRPr sz="1800" b="0">
                <a:solidFill>
                  <a:srgbClr val="FFFFFF"/>
                </a:solidFill>
                <a:latin typeface="Inter"/>
              </a:defRPr>
            </a:pPr>
            <a:r>
              <a:t>• Recommended: 24px+ web, 0.75"+ print</a:t>
            </a:r>
          </a:p>
          <a:p>
            <a:pPr algn="l">
              <a:spcAft>
                <a:spcPts val="600"/>
              </a:spcAft>
              <a:defRPr sz="1800" b="0">
                <a:solidFill>
                  <a:srgbClr val="FFFFFF"/>
                </a:solidFill>
                <a:latin typeface="Inter"/>
              </a:defRPr>
            </a:pPr>
          </a:p>
          <a:p>
            <a:pPr algn="l">
              <a:spcAft>
                <a:spcPts val="600"/>
              </a:spcAft>
              <a:defRPr sz="1800" b="0">
                <a:solidFill>
                  <a:srgbClr val="FFFFFF"/>
                </a:solidFill>
                <a:latin typeface="Inter"/>
              </a:defRPr>
            </a:pPr>
            <a:r>
              <a:t>Spacing:</a:t>
            </a:r>
          </a:p>
          <a:p>
            <a:pPr algn="l">
              <a:spcAft>
                <a:spcPts val="600"/>
              </a:spcAft>
              <a:defRPr sz="1800" b="0">
                <a:solidFill>
                  <a:srgbClr val="FFFFFF"/>
                </a:solidFill>
                <a:latin typeface="Inter"/>
              </a:defRPr>
            </a:pPr>
            <a:r>
              <a:t>• Clear space: 50% of icon width</a:t>
            </a:r>
          </a:p>
          <a:p>
            <a:pPr algn="l">
              <a:spcAft>
                <a:spcPts val="600"/>
              </a:spcAft>
              <a:defRPr sz="1800" b="0">
                <a:solidFill>
                  <a:srgbClr val="FFFFFF"/>
                </a:solidFill>
                <a:latin typeface="Inter"/>
              </a:defRPr>
            </a:pPr>
            <a:r>
              <a:t>• Consistent grid alignment</a:t>
            </a:r>
          </a:p>
        </p:txBody>
      </p:sp>
      <p:cxnSp>
        <p:nvCxnSpPr>
          <p:cNvPr id="3" name="Connector 2"/>
          <p:cNvCxnSpPr/>
          <p:nvPr/>
        </p:nvCxnSpPr>
        <p:spPr>
          <a:xfrm>
            <a:off x="457200" y="5286375.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560695"/>
            <a:ext cx="5486400" cy="731520"/>
          </a:xfrm>
          <a:prstGeom prst="rect">
            <a:avLst/>
          </a:prstGeom>
          <a:noFill/>
        </p:spPr>
        <p:txBody>
          <a:bodyPr wrap="none">
            <a:spAutoFit/>
          </a:bodyPr>
          <a:lstStyle/>
          <a:p>
            <a:pPr algn="l">
              <a:defRPr sz="2800" b="1">
                <a:solidFill>
                  <a:srgbClr val="1C2C5B"/>
                </a:solidFill>
                <a:latin typeface="Source Sans Pro"/>
              </a:defRPr>
            </a:pPr>
            <a:r>
              <a:t>USAGE GUIDELINES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bbc_illustration_1_20250901_160131_6d3fc9c0.png"/>
          <p:cNvPicPr>
            <a:picLocks noChangeAspect="1"/>
          </p:cNvPicPr>
          <p:nvPr/>
        </p:nvPicPr>
        <p:blipFill>
          <a:blip r:embed="rId2"/>
          <a:stretch>
            <a:fillRect/>
          </a:stretch>
        </p:blipFill>
        <p:spPr>
          <a:xfrm>
            <a:off x="731520" y="457200"/>
            <a:ext cx="2560320" cy="1463040"/>
          </a:xfrm>
          <a:prstGeom prst="rect">
            <a:avLst/>
          </a:prstGeom>
        </p:spPr>
      </p:pic>
      <p:sp>
        <p:nvSpPr>
          <p:cNvPr id="3" name="TextBox 2"/>
          <p:cNvSpPr txBox="1"/>
          <p:nvPr/>
        </p:nvSpPr>
        <p:spPr>
          <a:xfrm>
            <a:off x="731520" y="1965960"/>
            <a:ext cx="2560320" cy="274320"/>
          </a:xfrm>
          <a:prstGeom prst="rect">
            <a:avLst/>
          </a:prstGeom>
          <a:noFill/>
        </p:spPr>
        <p:txBody>
          <a:bodyPr wrap="none" lIns="0" rIns="0" tIns="0" bIns="0">
            <a:spAutoFit/>
          </a:bodyPr>
          <a:lstStyle/>
          <a:p>
            <a:pPr algn="ctr">
              <a:defRPr sz="900" b="0">
                <a:solidFill>
                  <a:srgbClr val="CCCCCC"/>
                </a:solidFill>
                <a:latin typeface="Inter"/>
              </a:defRPr>
            </a:pPr>
            <a:r>
              <a:t>Digital innovation in Media &amp; Broadcasti...</a:t>
            </a:r>
          </a:p>
        </p:txBody>
      </p:sp>
      <p:pic>
        <p:nvPicPr>
          <p:cNvPr id="4" name="Picture 3" descr="bbc_illustration_2_20250901_160147_780e806b.png"/>
          <p:cNvPicPr>
            <a:picLocks noChangeAspect="1"/>
          </p:cNvPicPr>
          <p:nvPr/>
        </p:nvPicPr>
        <p:blipFill>
          <a:blip r:embed="rId3"/>
          <a:stretch>
            <a:fillRect/>
          </a:stretch>
        </p:blipFill>
        <p:spPr>
          <a:xfrm>
            <a:off x="3657600" y="457200"/>
            <a:ext cx="2560320" cy="1463040"/>
          </a:xfrm>
          <a:prstGeom prst="rect">
            <a:avLst/>
          </a:prstGeom>
        </p:spPr>
      </p:pic>
      <p:sp>
        <p:nvSpPr>
          <p:cNvPr id="5" name="TextBox 4"/>
          <p:cNvSpPr txBox="1"/>
          <p:nvPr/>
        </p:nvSpPr>
        <p:spPr>
          <a:xfrm>
            <a:off x="3657600" y="1965960"/>
            <a:ext cx="2560320" cy="274320"/>
          </a:xfrm>
          <a:prstGeom prst="rect">
            <a:avLst/>
          </a:prstGeom>
          <a:noFill/>
        </p:spPr>
        <p:txBody>
          <a:bodyPr wrap="none" lIns="0" rIns="0" tIns="0" bIns="0">
            <a:spAutoFit/>
          </a:bodyPr>
          <a:lstStyle/>
          <a:p>
            <a:pPr algn="ctr">
              <a:defRPr sz="900" b="0">
                <a:solidFill>
                  <a:srgbClr val="CCCCCC"/>
                </a:solidFill>
                <a:latin typeface="Inter"/>
              </a:defRPr>
            </a:pPr>
            <a:r>
              <a:t>Professional excellence in Media &amp; Broad...</a:t>
            </a:r>
          </a:p>
        </p:txBody>
      </p:sp>
      <p:pic>
        <p:nvPicPr>
          <p:cNvPr id="6" name="Picture 5" descr="bbc_illustration_3_20250901_160205_cbe2fa35.png"/>
          <p:cNvPicPr>
            <a:picLocks noChangeAspect="1"/>
          </p:cNvPicPr>
          <p:nvPr/>
        </p:nvPicPr>
        <p:blipFill>
          <a:blip r:embed="rId4"/>
          <a:stretch>
            <a:fillRect/>
          </a:stretch>
        </p:blipFill>
        <p:spPr>
          <a:xfrm>
            <a:off x="6583680" y="457200"/>
            <a:ext cx="2560320" cy="1463040"/>
          </a:xfrm>
          <a:prstGeom prst="rect">
            <a:avLst/>
          </a:prstGeom>
        </p:spPr>
      </p:pic>
      <p:sp>
        <p:nvSpPr>
          <p:cNvPr id="7" name="TextBox 6"/>
          <p:cNvSpPr txBox="1"/>
          <p:nvPr/>
        </p:nvSpPr>
        <p:spPr>
          <a:xfrm>
            <a:off x="6583680" y="1965960"/>
            <a:ext cx="2560320" cy="274320"/>
          </a:xfrm>
          <a:prstGeom prst="rect">
            <a:avLst/>
          </a:prstGeom>
          <a:noFill/>
        </p:spPr>
        <p:txBody>
          <a:bodyPr wrap="none" lIns="0" rIns="0" tIns="0" bIns="0">
            <a:spAutoFit/>
          </a:bodyPr>
          <a:lstStyle/>
          <a:p>
            <a:pPr algn="ctr">
              <a:defRPr sz="900" b="0">
                <a:solidFill>
                  <a:srgbClr val="CCCCCC"/>
                </a:solidFill>
                <a:latin typeface="Inter"/>
              </a:defRPr>
            </a:pPr>
            <a:r>
              <a:t>Innovative solutions for Media &amp; Broadca...</a:t>
            </a:r>
          </a:p>
        </p:txBody>
      </p:sp>
      <p:pic>
        <p:nvPicPr>
          <p:cNvPr id="8" name="Picture 7" descr="bbc_illustration_4_20250901_160222_097d9939.png"/>
          <p:cNvPicPr>
            <a:picLocks noChangeAspect="1"/>
          </p:cNvPicPr>
          <p:nvPr/>
        </p:nvPicPr>
        <p:blipFill>
          <a:blip r:embed="rId5"/>
          <a:stretch>
            <a:fillRect/>
          </a:stretch>
        </p:blipFill>
        <p:spPr>
          <a:xfrm>
            <a:off x="731520" y="2286000"/>
            <a:ext cx="2560320" cy="1463040"/>
          </a:xfrm>
          <a:prstGeom prst="rect">
            <a:avLst/>
          </a:prstGeom>
        </p:spPr>
      </p:pic>
      <p:sp>
        <p:nvSpPr>
          <p:cNvPr id="9" name="TextBox 8"/>
          <p:cNvSpPr txBox="1"/>
          <p:nvPr/>
        </p:nvSpPr>
        <p:spPr>
          <a:xfrm>
            <a:off x="731520" y="3794760"/>
            <a:ext cx="2560320" cy="274320"/>
          </a:xfrm>
          <a:prstGeom prst="rect">
            <a:avLst/>
          </a:prstGeom>
          <a:noFill/>
        </p:spPr>
        <p:txBody>
          <a:bodyPr wrap="none" lIns="0" rIns="0" tIns="0" bIns="0">
            <a:spAutoFit/>
          </a:bodyPr>
          <a:lstStyle/>
          <a:p>
            <a:pPr algn="ctr">
              <a:defRPr sz="900" b="0">
                <a:solidFill>
                  <a:srgbClr val="CCCCCC"/>
                </a:solidFill>
                <a:latin typeface="Inter"/>
              </a:defRPr>
            </a:pPr>
            <a:r>
              <a:t>Strategic growth and development in Medi...</a:t>
            </a:r>
          </a:p>
        </p:txBody>
      </p:sp>
      <p:pic>
        <p:nvPicPr>
          <p:cNvPr id="10" name="Picture 9" descr="bbc_illustration_5_20250901_160237_a301479a.png"/>
          <p:cNvPicPr>
            <a:picLocks noChangeAspect="1"/>
          </p:cNvPicPr>
          <p:nvPr/>
        </p:nvPicPr>
        <p:blipFill>
          <a:blip r:embed="rId6"/>
          <a:stretch>
            <a:fillRect/>
          </a:stretch>
        </p:blipFill>
        <p:spPr>
          <a:xfrm>
            <a:off x="3657600" y="2286000"/>
            <a:ext cx="2560320" cy="1463040"/>
          </a:xfrm>
          <a:prstGeom prst="rect">
            <a:avLst/>
          </a:prstGeom>
        </p:spPr>
      </p:pic>
      <p:sp>
        <p:nvSpPr>
          <p:cNvPr id="11" name="TextBox 10"/>
          <p:cNvSpPr txBox="1"/>
          <p:nvPr/>
        </p:nvSpPr>
        <p:spPr>
          <a:xfrm>
            <a:off x="3657600" y="3794760"/>
            <a:ext cx="2560320" cy="274320"/>
          </a:xfrm>
          <a:prstGeom prst="rect">
            <a:avLst/>
          </a:prstGeom>
          <a:noFill/>
        </p:spPr>
        <p:txBody>
          <a:bodyPr wrap="none" lIns="0" rIns="0" tIns="0" bIns="0">
            <a:spAutoFit/>
          </a:bodyPr>
          <a:lstStyle/>
          <a:p>
            <a:pPr algn="ctr">
              <a:defRPr sz="900" b="0">
                <a:solidFill>
                  <a:srgbClr val="CCCCCC"/>
                </a:solidFill>
                <a:latin typeface="Inter"/>
              </a:defRPr>
            </a:pPr>
            <a:r>
              <a:t>Collaborative teamwork and company cultu...</a:t>
            </a:r>
          </a:p>
        </p:txBody>
      </p:sp>
      <p:pic>
        <p:nvPicPr>
          <p:cNvPr id="12" name="Picture 11" descr="bbc_illustration_6_20250901_160255_f7965ef1.png"/>
          <p:cNvPicPr>
            <a:picLocks noChangeAspect="1"/>
          </p:cNvPicPr>
          <p:nvPr/>
        </p:nvPicPr>
        <p:blipFill>
          <a:blip r:embed="rId7"/>
          <a:stretch>
            <a:fillRect/>
          </a:stretch>
        </p:blipFill>
        <p:spPr>
          <a:xfrm>
            <a:off x="6583680" y="2286000"/>
            <a:ext cx="2560320" cy="1463040"/>
          </a:xfrm>
          <a:prstGeom prst="rect">
            <a:avLst/>
          </a:prstGeom>
        </p:spPr>
      </p:pic>
      <p:sp>
        <p:nvSpPr>
          <p:cNvPr id="13" name="TextBox 12"/>
          <p:cNvSpPr txBox="1"/>
          <p:nvPr/>
        </p:nvSpPr>
        <p:spPr>
          <a:xfrm>
            <a:off x="6583680" y="3794760"/>
            <a:ext cx="2560320" cy="274320"/>
          </a:xfrm>
          <a:prstGeom prst="rect">
            <a:avLst/>
          </a:prstGeom>
          <a:noFill/>
        </p:spPr>
        <p:txBody>
          <a:bodyPr wrap="none" lIns="0" rIns="0" tIns="0" bIns="0">
            <a:spAutoFit/>
          </a:bodyPr>
          <a:lstStyle/>
          <a:p>
            <a:pPr algn="ctr">
              <a:defRPr sz="900" b="0">
                <a:solidFill>
                  <a:srgbClr val="CCCCCC"/>
                </a:solidFill>
                <a:latin typeface="Inter"/>
              </a:defRPr>
            </a:pPr>
            <a:r>
              <a:t>Technology integration and digital trans...</a:t>
            </a:r>
          </a:p>
        </p:txBody>
      </p:sp>
      <p:cxnSp>
        <p:nvCxnSpPr>
          <p:cNvPr id="14" name="Connector 13"/>
          <p:cNvCxnSpPr/>
          <p:nvPr/>
        </p:nvCxnSpPr>
        <p:spPr>
          <a:xfrm>
            <a:off x="457200" y="4914900.0"/>
            <a:ext cx="8229600" cy="0.0"/>
          </a:xfrm>
          <a:prstGeom prst="line">
            <a:avLst/>
          </a:prstGeom>
          <a:ln w="25400">
            <a:solidFill>
              <a:srgbClr val="1C2C5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00100" y="5189220"/>
            <a:ext cx="5486400" cy="731520"/>
          </a:xfrm>
          <a:prstGeom prst="rect">
            <a:avLst/>
          </a:prstGeom>
          <a:noFill/>
        </p:spPr>
        <p:txBody>
          <a:bodyPr wrap="none" lIns="0" rIns="0" tIns="0" bIns="0">
            <a:spAutoFit/>
          </a:bodyPr>
          <a:lstStyle/>
          <a:p>
            <a:pPr algn="l">
              <a:defRPr sz="2800" b="1">
                <a:solidFill>
                  <a:srgbClr val="1C2C5B"/>
                </a:solidFill>
                <a:latin typeface="Source Sans Pro"/>
              </a:defRPr>
            </a:pPr>
            <a:r>
              <a:t>BRAND ILLUSTRATIONS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