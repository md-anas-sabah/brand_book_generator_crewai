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orbes_media_logo_1_20250902_103103_3b611de3.png"/>
          <p:cNvPicPr>
            <a:picLocks noChangeAspect="1"/>
          </p:cNvPicPr>
          <p:nvPr/>
        </p:nvPicPr>
        <p:blipFill>
          <a:blip r:embed="rId2"/>
          <a:stretch>
            <a:fillRect/>
          </a:stretch>
        </p:blipFill>
        <p:spPr>
          <a:xfrm>
            <a:off x="0" y="0"/>
            <a:ext cx="9144000" cy="6858000"/>
          </a:xfrm>
          <a:prstGeom prst="rect">
            <a:avLst/>
          </a:prstGeom>
        </p:spPr>
      </p:pic>
      <p:cxnSp>
        <p:nvCxnSpPr>
          <p:cNvPr id="3" name="Connector 2"/>
          <p:cNvCxnSpPr/>
          <p:nvPr/>
        </p:nvCxnSpPr>
        <p:spPr>
          <a:xfrm>
            <a:off x="6629400.0" y="5657850.0"/>
            <a:ext cx="2057400.0" cy="0.0"/>
          </a:xfrm>
          <a:prstGeom prst="line">
            <a:avLst/>
          </a:prstGeom>
          <a:ln>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29400" y="5657850"/>
            <a:ext cx="2057400" cy="1485900"/>
          </a:xfrm>
          <a:prstGeom prst="rect">
            <a:avLst/>
          </a:prstGeom>
          <a:noFill/>
        </p:spPr>
        <p:txBody>
          <a:bodyPr wrap="none" anchor="ctr">
            <a:spAutoFit/>
          </a:bodyPr>
          <a:lstStyle/>
          <a:p>
            <a:pPr algn="ctr">
              <a:defRPr sz="1800" b="0">
                <a:solidFill>
                  <a:srgbClr val="4CAF50"/>
                </a:solidFill>
                <a:latin typeface="Inter"/>
              </a:defRPr>
            </a:pPr>
            <a:r>
              <a:t>Brand Identity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2743200" cy="731520"/>
          </a:xfrm>
          <a:prstGeom prst="rect">
            <a:avLst/>
          </a:prstGeom>
          <a:noFill/>
        </p:spPr>
        <p:txBody>
          <a:bodyPr wrap="none">
            <a:spAutoFit/>
          </a:bodyPr>
          <a:lstStyle/>
          <a:p>
            <a:pPr>
              <a:defRPr sz="2800" b="1">
                <a:solidFill>
                  <a:srgbClr val="4CAF50"/>
                </a:solidFill>
                <a:latin typeface="Source Sans Pro"/>
              </a:defRPr>
            </a:pPr>
            <a:r>
              <a:t>INDEX</a:t>
            </a:r>
          </a:p>
        </p:txBody>
      </p:sp>
      <p:cxnSp>
        <p:nvCxnSpPr>
          <p:cNvPr id="3" name="Connector 2"/>
          <p:cNvCxnSpPr/>
          <p:nvPr/>
        </p:nvCxnSpPr>
        <p:spPr>
          <a:xfrm>
            <a:off x="457200" y="1097280"/>
            <a:ext cx="8229600" cy="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554480"/>
            <a:ext cx="1828800" cy="274320"/>
          </a:xfrm>
          <a:prstGeom prst="rect">
            <a:avLst/>
          </a:prstGeom>
          <a:noFill/>
        </p:spPr>
        <p:txBody>
          <a:bodyPr wrap="none" lIns="0" rIns="0" tIns="0" bIns="0">
            <a:spAutoFit/>
          </a:bodyPr>
          <a:lstStyle/>
          <a:p>
            <a:pPr>
              <a:defRPr sz="1200" b="1">
                <a:solidFill>
                  <a:srgbClr val="000000"/>
                </a:solidFill>
                <a:latin typeface="Inter"/>
              </a:defRPr>
            </a:pPr>
            <a:r>
              <a:t>Introduction</a:t>
            </a:r>
          </a:p>
        </p:txBody>
      </p:sp>
      <p:cxnSp>
        <p:nvCxnSpPr>
          <p:cNvPr id="5" name="Connector 4"/>
          <p:cNvCxnSpPr/>
          <p:nvPr/>
        </p:nvCxnSpPr>
        <p:spPr>
          <a:xfrm>
            <a:off x="2331719" y="166420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0" y="1554480"/>
            <a:ext cx="274320" cy="274320"/>
          </a:xfrm>
          <a:prstGeom prst="rect">
            <a:avLst/>
          </a:prstGeom>
          <a:noFill/>
        </p:spPr>
        <p:txBody>
          <a:bodyPr wrap="none" lIns="0" tIns="0" bIns="0">
            <a:spAutoFit/>
          </a:bodyPr>
          <a:lstStyle/>
          <a:p>
            <a:pPr>
              <a:defRPr sz="1200" b="1">
                <a:solidFill>
                  <a:srgbClr val="4CAF50"/>
                </a:solidFill>
                <a:latin typeface="Inter"/>
              </a:defRPr>
            </a:pPr>
            <a:r>
              <a:t>01</a:t>
            </a:r>
          </a:p>
        </p:txBody>
      </p:sp>
      <p:sp>
        <p:nvSpPr>
          <p:cNvPr id="7" name="TextBox 6"/>
          <p:cNvSpPr txBox="1"/>
          <p:nvPr/>
        </p:nvSpPr>
        <p:spPr>
          <a:xfrm>
            <a:off x="457200" y="2057400"/>
            <a:ext cx="1828800" cy="274320"/>
          </a:xfrm>
          <a:prstGeom prst="rect">
            <a:avLst/>
          </a:prstGeom>
          <a:noFill/>
        </p:spPr>
        <p:txBody>
          <a:bodyPr wrap="none" lIns="0" rIns="0" tIns="0" bIns="0">
            <a:spAutoFit/>
          </a:bodyPr>
          <a:lstStyle/>
          <a:p>
            <a:pPr>
              <a:defRPr sz="1200" b="1">
                <a:solidFill>
                  <a:srgbClr val="000000"/>
                </a:solidFill>
                <a:latin typeface="Inter"/>
              </a:defRPr>
            </a:pPr>
            <a:r>
              <a:t>Brand Purpose (Vision)</a:t>
            </a:r>
          </a:p>
        </p:txBody>
      </p:sp>
      <p:cxnSp>
        <p:nvCxnSpPr>
          <p:cNvPr id="8" name="Connector 7"/>
          <p:cNvCxnSpPr/>
          <p:nvPr/>
        </p:nvCxnSpPr>
        <p:spPr>
          <a:xfrm>
            <a:off x="2331719" y="216712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2057400"/>
            <a:ext cx="274320" cy="274320"/>
          </a:xfrm>
          <a:prstGeom prst="rect">
            <a:avLst/>
          </a:prstGeom>
          <a:noFill/>
        </p:spPr>
        <p:txBody>
          <a:bodyPr wrap="none" lIns="0" tIns="0" bIns="0">
            <a:spAutoFit/>
          </a:bodyPr>
          <a:lstStyle/>
          <a:p>
            <a:pPr>
              <a:defRPr sz="1200" b="1">
                <a:solidFill>
                  <a:srgbClr val="4CAF50"/>
                </a:solidFill>
                <a:latin typeface="Inter"/>
              </a:defRPr>
            </a:pPr>
            <a:r>
              <a:t>02</a:t>
            </a:r>
          </a:p>
        </p:txBody>
      </p:sp>
      <p:sp>
        <p:nvSpPr>
          <p:cNvPr id="10" name="TextBox 9"/>
          <p:cNvSpPr txBox="1"/>
          <p:nvPr/>
        </p:nvSpPr>
        <p:spPr>
          <a:xfrm>
            <a:off x="457200" y="2560320"/>
            <a:ext cx="1828800" cy="274320"/>
          </a:xfrm>
          <a:prstGeom prst="rect">
            <a:avLst/>
          </a:prstGeom>
          <a:noFill/>
        </p:spPr>
        <p:txBody>
          <a:bodyPr wrap="none" lIns="0" rIns="0" tIns="0" bIns="0">
            <a:spAutoFit/>
          </a:bodyPr>
          <a:lstStyle/>
          <a:p>
            <a:pPr>
              <a:defRPr sz="1200" b="1">
                <a:solidFill>
                  <a:srgbClr val="000000"/>
                </a:solidFill>
                <a:latin typeface="Inter"/>
              </a:defRPr>
            </a:pPr>
            <a:r>
              <a:t>Brand Purpose (Mission)</a:t>
            </a:r>
          </a:p>
        </p:txBody>
      </p:sp>
      <p:cxnSp>
        <p:nvCxnSpPr>
          <p:cNvPr id="11" name="Connector 10"/>
          <p:cNvCxnSpPr/>
          <p:nvPr/>
        </p:nvCxnSpPr>
        <p:spPr>
          <a:xfrm>
            <a:off x="2331719" y="267004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0" y="2560320"/>
            <a:ext cx="274320" cy="274320"/>
          </a:xfrm>
          <a:prstGeom prst="rect">
            <a:avLst/>
          </a:prstGeom>
          <a:noFill/>
        </p:spPr>
        <p:txBody>
          <a:bodyPr wrap="none" lIns="0" tIns="0" bIns="0">
            <a:spAutoFit/>
          </a:bodyPr>
          <a:lstStyle/>
          <a:p>
            <a:pPr>
              <a:defRPr sz="1200" b="1">
                <a:solidFill>
                  <a:srgbClr val="4CAF50"/>
                </a:solidFill>
                <a:latin typeface="Inter"/>
              </a:defRPr>
            </a:pPr>
            <a:r>
              <a:t>03</a:t>
            </a:r>
          </a:p>
        </p:txBody>
      </p:sp>
      <p:sp>
        <p:nvSpPr>
          <p:cNvPr id="13" name="TextBox 12"/>
          <p:cNvSpPr txBox="1"/>
          <p:nvPr/>
        </p:nvSpPr>
        <p:spPr>
          <a:xfrm>
            <a:off x="3474720" y="1554480"/>
            <a:ext cx="1828800" cy="274320"/>
          </a:xfrm>
          <a:prstGeom prst="rect">
            <a:avLst/>
          </a:prstGeom>
          <a:noFill/>
        </p:spPr>
        <p:txBody>
          <a:bodyPr wrap="none" lIns="0" rIns="0" tIns="0" bIns="0">
            <a:spAutoFit/>
          </a:bodyPr>
          <a:lstStyle/>
          <a:p>
            <a:pPr>
              <a:defRPr sz="1200" b="1">
                <a:solidFill>
                  <a:srgbClr val="000000"/>
                </a:solidFill>
                <a:latin typeface="Inter"/>
              </a:defRPr>
            </a:pPr>
            <a:r>
              <a:t>Brand Purpose (Values)</a:t>
            </a:r>
          </a:p>
        </p:txBody>
      </p:sp>
      <p:cxnSp>
        <p:nvCxnSpPr>
          <p:cNvPr id="14" name="Connector 13"/>
          <p:cNvCxnSpPr/>
          <p:nvPr/>
        </p:nvCxnSpPr>
        <p:spPr>
          <a:xfrm>
            <a:off x="5349239" y="166420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60720" y="1554480"/>
            <a:ext cx="274320" cy="274320"/>
          </a:xfrm>
          <a:prstGeom prst="rect">
            <a:avLst/>
          </a:prstGeom>
          <a:noFill/>
        </p:spPr>
        <p:txBody>
          <a:bodyPr wrap="none" lIns="0" tIns="0" bIns="0">
            <a:spAutoFit/>
          </a:bodyPr>
          <a:lstStyle/>
          <a:p>
            <a:pPr>
              <a:defRPr sz="1200" b="1">
                <a:solidFill>
                  <a:srgbClr val="4CAF50"/>
                </a:solidFill>
                <a:latin typeface="Inter"/>
              </a:defRPr>
            </a:pPr>
            <a:r>
              <a:t>04</a:t>
            </a:r>
          </a:p>
        </p:txBody>
      </p:sp>
      <p:sp>
        <p:nvSpPr>
          <p:cNvPr id="16" name="TextBox 15"/>
          <p:cNvSpPr txBox="1"/>
          <p:nvPr/>
        </p:nvSpPr>
        <p:spPr>
          <a:xfrm>
            <a:off x="3474720" y="2057400"/>
            <a:ext cx="1828800" cy="274320"/>
          </a:xfrm>
          <a:prstGeom prst="rect">
            <a:avLst/>
          </a:prstGeom>
          <a:noFill/>
        </p:spPr>
        <p:txBody>
          <a:bodyPr wrap="none" lIns="0" rIns="0" tIns="0" bIns="0">
            <a:spAutoFit/>
          </a:bodyPr>
          <a:lstStyle/>
          <a:p>
            <a:pPr>
              <a:defRPr sz="1200" b="1">
                <a:solidFill>
                  <a:srgbClr val="000000"/>
                </a:solidFill>
                <a:latin typeface="Inter"/>
              </a:defRPr>
            </a:pPr>
            <a:r>
              <a:t>Brand Story</a:t>
            </a:r>
          </a:p>
        </p:txBody>
      </p:sp>
      <p:cxnSp>
        <p:nvCxnSpPr>
          <p:cNvPr id="17" name="Connector 16"/>
          <p:cNvCxnSpPr/>
          <p:nvPr/>
        </p:nvCxnSpPr>
        <p:spPr>
          <a:xfrm>
            <a:off x="5349239" y="216712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0720" y="2057400"/>
            <a:ext cx="274320" cy="274320"/>
          </a:xfrm>
          <a:prstGeom prst="rect">
            <a:avLst/>
          </a:prstGeom>
          <a:noFill/>
        </p:spPr>
        <p:txBody>
          <a:bodyPr wrap="none" lIns="0" tIns="0" bIns="0">
            <a:spAutoFit/>
          </a:bodyPr>
          <a:lstStyle/>
          <a:p>
            <a:pPr>
              <a:defRPr sz="1200" b="1">
                <a:solidFill>
                  <a:srgbClr val="4CAF50"/>
                </a:solidFill>
                <a:latin typeface="Inter"/>
              </a:defRPr>
            </a:pPr>
            <a:r>
              <a:t>05</a:t>
            </a:r>
          </a:p>
        </p:txBody>
      </p:sp>
      <p:sp>
        <p:nvSpPr>
          <p:cNvPr id="19" name="TextBox 18"/>
          <p:cNvSpPr txBox="1"/>
          <p:nvPr/>
        </p:nvSpPr>
        <p:spPr>
          <a:xfrm>
            <a:off x="3474720" y="2560320"/>
            <a:ext cx="1828800" cy="274320"/>
          </a:xfrm>
          <a:prstGeom prst="rect">
            <a:avLst/>
          </a:prstGeom>
          <a:noFill/>
        </p:spPr>
        <p:txBody>
          <a:bodyPr wrap="none" lIns="0" rIns="0" tIns="0" bIns="0">
            <a:spAutoFit/>
          </a:bodyPr>
          <a:lstStyle/>
          <a:p>
            <a:pPr>
              <a:defRPr sz="1200" b="1">
                <a:solidFill>
                  <a:srgbClr val="000000"/>
                </a:solidFill>
                <a:latin typeface="Inter"/>
              </a:defRPr>
            </a:pPr>
            <a:r>
              <a:t>Logo Variations</a:t>
            </a:r>
          </a:p>
        </p:txBody>
      </p:sp>
      <p:cxnSp>
        <p:nvCxnSpPr>
          <p:cNvPr id="20" name="Connector 19"/>
          <p:cNvCxnSpPr/>
          <p:nvPr/>
        </p:nvCxnSpPr>
        <p:spPr>
          <a:xfrm>
            <a:off x="5349239" y="267004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760720" y="2560320"/>
            <a:ext cx="274320" cy="274320"/>
          </a:xfrm>
          <a:prstGeom prst="rect">
            <a:avLst/>
          </a:prstGeom>
          <a:noFill/>
        </p:spPr>
        <p:txBody>
          <a:bodyPr wrap="none" lIns="0" tIns="0" bIns="0">
            <a:spAutoFit/>
          </a:bodyPr>
          <a:lstStyle/>
          <a:p>
            <a:pPr>
              <a:defRPr sz="1200" b="1">
                <a:solidFill>
                  <a:srgbClr val="4CAF50"/>
                </a:solidFill>
                <a:latin typeface="Inter"/>
              </a:defRPr>
            </a:pPr>
            <a:r>
              <a:t>06</a:t>
            </a:r>
          </a:p>
        </p:txBody>
      </p:sp>
      <p:sp>
        <p:nvSpPr>
          <p:cNvPr id="22" name="TextBox 21"/>
          <p:cNvSpPr txBox="1"/>
          <p:nvPr/>
        </p:nvSpPr>
        <p:spPr>
          <a:xfrm>
            <a:off x="3657600" y="2926079"/>
            <a:ext cx="1828800" cy="228600"/>
          </a:xfrm>
          <a:prstGeom prst="rect">
            <a:avLst/>
          </a:prstGeom>
          <a:noFill/>
        </p:spPr>
        <p:txBody>
          <a:bodyPr wrap="none" lIns="0" tIns="0" bIns="0">
            <a:spAutoFit/>
          </a:bodyPr>
          <a:lstStyle/>
          <a:p>
            <a:pPr>
              <a:defRPr sz="900" b="0">
                <a:solidFill>
                  <a:srgbClr val="666666"/>
                </a:solidFill>
                <a:latin typeface="Inter"/>
              </a:defRPr>
            </a:pPr>
            <a:r>
              <a:t>Variation 1</a:t>
            </a:r>
          </a:p>
        </p:txBody>
      </p:sp>
      <p:sp>
        <p:nvSpPr>
          <p:cNvPr id="23" name="TextBox 22"/>
          <p:cNvSpPr txBox="1"/>
          <p:nvPr/>
        </p:nvSpPr>
        <p:spPr>
          <a:xfrm>
            <a:off x="3657600" y="3154679"/>
            <a:ext cx="1828800" cy="228600"/>
          </a:xfrm>
          <a:prstGeom prst="rect">
            <a:avLst/>
          </a:prstGeom>
          <a:noFill/>
        </p:spPr>
        <p:txBody>
          <a:bodyPr wrap="none" lIns="0" tIns="0" bIns="0">
            <a:spAutoFit/>
          </a:bodyPr>
          <a:lstStyle/>
          <a:p>
            <a:pPr>
              <a:defRPr sz="900" b="0">
                <a:solidFill>
                  <a:srgbClr val="666666"/>
                </a:solidFill>
                <a:latin typeface="Inter"/>
              </a:defRPr>
            </a:pPr>
            <a:r>
              <a:t>Variation 2</a:t>
            </a:r>
          </a:p>
        </p:txBody>
      </p:sp>
      <p:sp>
        <p:nvSpPr>
          <p:cNvPr id="24" name="TextBox 23"/>
          <p:cNvSpPr txBox="1"/>
          <p:nvPr/>
        </p:nvSpPr>
        <p:spPr>
          <a:xfrm>
            <a:off x="3657600" y="3383279"/>
            <a:ext cx="1828800" cy="228600"/>
          </a:xfrm>
          <a:prstGeom prst="rect">
            <a:avLst/>
          </a:prstGeom>
          <a:noFill/>
        </p:spPr>
        <p:txBody>
          <a:bodyPr wrap="none" lIns="0" tIns="0" bIns="0">
            <a:spAutoFit/>
          </a:bodyPr>
          <a:lstStyle/>
          <a:p>
            <a:pPr>
              <a:defRPr sz="900" b="0">
                <a:solidFill>
                  <a:srgbClr val="666666"/>
                </a:solidFill>
                <a:latin typeface="Inter"/>
              </a:defRPr>
            </a:pPr>
            <a:r>
              <a:t>Variation 3</a:t>
            </a:r>
          </a:p>
        </p:txBody>
      </p:sp>
      <p:sp>
        <p:nvSpPr>
          <p:cNvPr id="25" name="TextBox 24"/>
          <p:cNvSpPr txBox="1"/>
          <p:nvPr/>
        </p:nvSpPr>
        <p:spPr>
          <a:xfrm>
            <a:off x="6492240" y="1554480"/>
            <a:ext cx="1828800" cy="274320"/>
          </a:xfrm>
          <a:prstGeom prst="rect">
            <a:avLst/>
          </a:prstGeom>
          <a:noFill/>
        </p:spPr>
        <p:txBody>
          <a:bodyPr wrap="none" lIns="0" rIns="0" tIns="0" bIns="0">
            <a:spAutoFit/>
          </a:bodyPr>
          <a:lstStyle/>
          <a:p>
            <a:pPr>
              <a:defRPr sz="1200" b="1">
                <a:solidFill>
                  <a:srgbClr val="000000"/>
                </a:solidFill>
                <a:latin typeface="Inter"/>
              </a:defRPr>
            </a:pPr>
            <a:r>
              <a:t>Brand Colors</a:t>
            </a:r>
          </a:p>
        </p:txBody>
      </p:sp>
      <p:cxnSp>
        <p:nvCxnSpPr>
          <p:cNvPr id="26" name="Connector 25"/>
          <p:cNvCxnSpPr/>
          <p:nvPr/>
        </p:nvCxnSpPr>
        <p:spPr>
          <a:xfrm>
            <a:off x="8366759" y="166420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1554480"/>
            <a:ext cx="274320" cy="274320"/>
          </a:xfrm>
          <a:prstGeom prst="rect">
            <a:avLst/>
          </a:prstGeom>
          <a:noFill/>
        </p:spPr>
        <p:txBody>
          <a:bodyPr wrap="none" lIns="0" tIns="0" bIns="0">
            <a:spAutoFit/>
          </a:bodyPr>
          <a:lstStyle/>
          <a:p>
            <a:pPr>
              <a:defRPr sz="1200" b="1">
                <a:solidFill>
                  <a:srgbClr val="4CAF50"/>
                </a:solidFill>
                <a:latin typeface="Inter"/>
              </a:defRPr>
            </a:pPr>
            <a:r>
              <a:t>07</a:t>
            </a:r>
          </a:p>
        </p:txBody>
      </p:sp>
      <p:sp>
        <p:nvSpPr>
          <p:cNvPr id="28" name="TextBox 27"/>
          <p:cNvSpPr txBox="1"/>
          <p:nvPr/>
        </p:nvSpPr>
        <p:spPr>
          <a:xfrm>
            <a:off x="6675120" y="1920240"/>
            <a:ext cx="1828800" cy="228600"/>
          </a:xfrm>
          <a:prstGeom prst="rect">
            <a:avLst/>
          </a:prstGeom>
          <a:noFill/>
        </p:spPr>
        <p:txBody>
          <a:bodyPr wrap="none" lIns="0" tIns="0" bIns="0">
            <a:spAutoFit/>
          </a:bodyPr>
          <a:lstStyle/>
          <a:p>
            <a:pPr>
              <a:defRPr sz="900" b="0">
                <a:solidFill>
                  <a:srgbClr val="666666"/>
                </a:solidFill>
                <a:latin typeface="Inter"/>
              </a:defRPr>
            </a:pPr>
            <a:r>
              <a:t>Primary Colors</a:t>
            </a:r>
          </a:p>
        </p:txBody>
      </p:sp>
      <p:sp>
        <p:nvSpPr>
          <p:cNvPr id="29" name="TextBox 28"/>
          <p:cNvSpPr txBox="1"/>
          <p:nvPr/>
        </p:nvSpPr>
        <p:spPr>
          <a:xfrm>
            <a:off x="6675120" y="2148840"/>
            <a:ext cx="1828800" cy="228600"/>
          </a:xfrm>
          <a:prstGeom prst="rect">
            <a:avLst/>
          </a:prstGeom>
          <a:noFill/>
        </p:spPr>
        <p:txBody>
          <a:bodyPr wrap="none" lIns="0" tIns="0" bIns="0">
            <a:spAutoFit/>
          </a:bodyPr>
          <a:lstStyle/>
          <a:p>
            <a:pPr>
              <a:defRPr sz="900" b="0">
                <a:solidFill>
                  <a:srgbClr val="666666"/>
                </a:solidFill>
                <a:latin typeface="Inter"/>
              </a:defRPr>
            </a:pPr>
            <a:r>
              <a:t>Secondary Colors</a:t>
            </a:r>
          </a:p>
        </p:txBody>
      </p:sp>
      <p:sp>
        <p:nvSpPr>
          <p:cNvPr id="30" name="TextBox 29"/>
          <p:cNvSpPr txBox="1"/>
          <p:nvPr/>
        </p:nvSpPr>
        <p:spPr>
          <a:xfrm>
            <a:off x="6675120" y="2377440"/>
            <a:ext cx="1828800" cy="228600"/>
          </a:xfrm>
          <a:prstGeom prst="rect">
            <a:avLst/>
          </a:prstGeom>
          <a:noFill/>
        </p:spPr>
        <p:txBody>
          <a:bodyPr wrap="none" lIns="0" tIns="0" bIns="0">
            <a:spAutoFit/>
          </a:bodyPr>
          <a:lstStyle/>
          <a:p>
            <a:pPr>
              <a:defRPr sz="900" b="0">
                <a:solidFill>
                  <a:srgbClr val="666666"/>
                </a:solidFill>
                <a:latin typeface="Inter"/>
              </a:defRPr>
            </a:pPr>
            <a:r>
              <a:t>Color Usage 1/2</a:t>
            </a:r>
          </a:p>
        </p:txBody>
      </p:sp>
      <p:sp>
        <p:nvSpPr>
          <p:cNvPr id="31" name="TextBox 30"/>
          <p:cNvSpPr txBox="1"/>
          <p:nvPr/>
        </p:nvSpPr>
        <p:spPr>
          <a:xfrm>
            <a:off x="6675120" y="2606040"/>
            <a:ext cx="1828800" cy="228600"/>
          </a:xfrm>
          <a:prstGeom prst="rect">
            <a:avLst/>
          </a:prstGeom>
          <a:noFill/>
        </p:spPr>
        <p:txBody>
          <a:bodyPr wrap="none" lIns="0" tIns="0" bIns="0">
            <a:spAutoFit/>
          </a:bodyPr>
          <a:lstStyle/>
          <a:p>
            <a:pPr>
              <a:defRPr sz="900" b="0">
                <a:solidFill>
                  <a:srgbClr val="666666"/>
                </a:solidFill>
                <a:latin typeface="Inter"/>
              </a:defRPr>
            </a:pPr>
            <a:r>
              <a:t>Color Usage 2/2</a:t>
            </a:r>
          </a:p>
        </p:txBody>
      </p:sp>
      <p:sp>
        <p:nvSpPr>
          <p:cNvPr id="32" name="TextBox 31"/>
          <p:cNvSpPr txBox="1"/>
          <p:nvPr/>
        </p:nvSpPr>
        <p:spPr>
          <a:xfrm>
            <a:off x="6492240" y="2971800"/>
            <a:ext cx="1828800" cy="274320"/>
          </a:xfrm>
          <a:prstGeom prst="rect">
            <a:avLst/>
          </a:prstGeom>
          <a:noFill/>
        </p:spPr>
        <p:txBody>
          <a:bodyPr wrap="none" lIns="0" rIns="0" tIns="0" bIns="0">
            <a:spAutoFit/>
          </a:bodyPr>
          <a:lstStyle/>
          <a:p>
            <a:pPr>
              <a:defRPr sz="1200" b="1">
                <a:solidFill>
                  <a:srgbClr val="000000"/>
                </a:solidFill>
                <a:latin typeface="Inter"/>
              </a:defRPr>
            </a:pPr>
            <a:r>
              <a:t>Typography</a:t>
            </a:r>
          </a:p>
        </p:txBody>
      </p:sp>
      <p:cxnSp>
        <p:nvCxnSpPr>
          <p:cNvPr id="33" name="Connector 32"/>
          <p:cNvCxnSpPr/>
          <p:nvPr/>
        </p:nvCxnSpPr>
        <p:spPr>
          <a:xfrm>
            <a:off x="8366759" y="308152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778240" y="2971800"/>
            <a:ext cx="274320" cy="274320"/>
          </a:xfrm>
          <a:prstGeom prst="rect">
            <a:avLst/>
          </a:prstGeom>
          <a:noFill/>
        </p:spPr>
        <p:txBody>
          <a:bodyPr wrap="none" lIns="0" tIns="0" bIns="0">
            <a:spAutoFit/>
          </a:bodyPr>
          <a:lstStyle/>
          <a:p>
            <a:pPr>
              <a:defRPr sz="1200" b="1">
                <a:solidFill>
                  <a:srgbClr val="4CAF50"/>
                </a:solidFill>
                <a:latin typeface="Inter"/>
              </a:defRPr>
            </a:pPr>
            <a:r>
              <a:t>08</a:t>
            </a:r>
          </a:p>
        </p:txBody>
      </p:sp>
      <p:sp>
        <p:nvSpPr>
          <p:cNvPr id="35" name="TextBox 34"/>
          <p:cNvSpPr txBox="1"/>
          <p:nvPr/>
        </p:nvSpPr>
        <p:spPr>
          <a:xfrm>
            <a:off x="6675120" y="3337560"/>
            <a:ext cx="1828800" cy="228600"/>
          </a:xfrm>
          <a:prstGeom prst="rect">
            <a:avLst/>
          </a:prstGeom>
          <a:noFill/>
        </p:spPr>
        <p:txBody>
          <a:bodyPr wrap="none" lIns="0" tIns="0" bIns="0">
            <a:spAutoFit/>
          </a:bodyPr>
          <a:lstStyle/>
          <a:p>
            <a:pPr>
              <a:defRPr sz="900" b="0">
                <a:solidFill>
                  <a:srgbClr val="666666"/>
                </a:solidFill>
                <a:latin typeface="Inter"/>
              </a:defRPr>
            </a:pPr>
            <a:r>
              <a:t>Brand Font</a:t>
            </a:r>
          </a:p>
        </p:txBody>
      </p:sp>
      <p:sp>
        <p:nvSpPr>
          <p:cNvPr id="36" name="TextBox 35"/>
          <p:cNvSpPr txBox="1"/>
          <p:nvPr/>
        </p:nvSpPr>
        <p:spPr>
          <a:xfrm>
            <a:off x="6675120" y="3566160"/>
            <a:ext cx="1828800" cy="228600"/>
          </a:xfrm>
          <a:prstGeom prst="rect">
            <a:avLst/>
          </a:prstGeom>
          <a:noFill/>
        </p:spPr>
        <p:txBody>
          <a:bodyPr wrap="none" lIns="0" tIns="0" bIns="0">
            <a:spAutoFit/>
          </a:bodyPr>
          <a:lstStyle/>
          <a:p>
            <a:pPr>
              <a:defRPr sz="900" b="0">
                <a:solidFill>
                  <a:srgbClr val="666666"/>
                </a:solidFill>
                <a:latin typeface="Inter"/>
              </a:defRPr>
            </a:pPr>
            <a:r>
              <a:t>Font Usage</a:t>
            </a:r>
          </a:p>
        </p:txBody>
      </p:sp>
      <p:sp>
        <p:nvSpPr>
          <p:cNvPr id="37" name="TextBox 36"/>
          <p:cNvSpPr txBox="1"/>
          <p:nvPr/>
        </p:nvSpPr>
        <p:spPr>
          <a:xfrm>
            <a:off x="6675120" y="3794760"/>
            <a:ext cx="1828800" cy="228600"/>
          </a:xfrm>
          <a:prstGeom prst="rect">
            <a:avLst/>
          </a:prstGeom>
          <a:noFill/>
        </p:spPr>
        <p:txBody>
          <a:bodyPr wrap="none" lIns="0" tIns="0" bIns="0">
            <a:spAutoFit/>
          </a:bodyPr>
          <a:lstStyle/>
          <a:p>
            <a:pPr>
              <a:defRPr sz="900" b="0">
                <a:solidFill>
                  <a:srgbClr val="666666"/>
                </a:solidFill>
                <a:latin typeface="Inter"/>
              </a:defRPr>
            </a:pPr>
            <a:r>
              <a:t>Text Hierarchy</a:t>
            </a:r>
          </a:p>
        </p:txBody>
      </p:sp>
      <p:sp>
        <p:nvSpPr>
          <p:cNvPr id="38" name="TextBox 37"/>
          <p:cNvSpPr txBox="1"/>
          <p:nvPr/>
        </p:nvSpPr>
        <p:spPr>
          <a:xfrm>
            <a:off x="6492240" y="4160520"/>
            <a:ext cx="1828800" cy="274320"/>
          </a:xfrm>
          <a:prstGeom prst="rect">
            <a:avLst/>
          </a:prstGeom>
          <a:noFill/>
        </p:spPr>
        <p:txBody>
          <a:bodyPr wrap="none" lIns="0" rIns="0" tIns="0" bIns="0">
            <a:spAutoFit/>
          </a:bodyPr>
          <a:lstStyle/>
          <a:p>
            <a:pPr>
              <a:defRPr sz="1200" b="1">
                <a:solidFill>
                  <a:srgbClr val="000000"/>
                </a:solidFill>
                <a:latin typeface="Inter"/>
              </a:defRPr>
            </a:pPr>
            <a:r>
              <a:t>Imagery &amp; Visuals</a:t>
            </a:r>
          </a:p>
        </p:txBody>
      </p:sp>
      <p:cxnSp>
        <p:nvCxnSpPr>
          <p:cNvPr id="39" name="Connector 38"/>
          <p:cNvCxnSpPr/>
          <p:nvPr/>
        </p:nvCxnSpPr>
        <p:spPr>
          <a:xfrm>
            <a:off x="8366759" y="427024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78240" y="4160520"/>
            <a:ext cx="274320" cy="274320"/>
          </a:xfrm>
          <a:prstGeom prst="rect">
            <a:avLst/>
          </a:prstGeom>
          <a:noFill/>
        </p:spPr>
        <p:txBody>
          <a:bodyPr wrap="none" lIns="0" tIns="0" bIns="0">
            <a:spAutoFit/>
          </a:bodyPr>
          <a:lstStyle/>
          <a:p>
            <a:pPr>
              <a:defRPr sz="1200" b="1">
                <a:solidFill>
                  <a:srgbClr val="4CAF50"/>
                </a:solidFill>
                <a:latin typeface="Inter"/>
              </a:defRPr>
            </a:pPr>
            <a:r>
              <a:t>09</a:t>
            </a:r>
          </a:p>
        </p:txBody>
      </p:sp>
      <p:sp>
        <p:nvSpPr>
          <p:cNvPr id="41" name="TextBox 40"/>
          <p:cNvSpPr txBox="1"/>
          <p:nvPr/>
        </p:nvSpPr>
        <p:spPr>
          <a:xfrm>
            <a:off x="6675120" y="4526280"/>
            <a:ext cx="1828800" cy="228600"/>
          </a:xfrm>
          <a:prstGeom prst="rect">
            <a:avLst/>
          </a:prstGeom>
          <a:noFill/>
        </p:spPr>
        <p:txBody>
          <a:bodyPr wrap="none" lIns="0" tIns="0" bIns="0">
            <a:spAutoFit/>
          </a:bodyPr>
          <a:lstStyle/>
          <a:p>
            <a:pPr>
              <a:defRPr sz="900" b="0">
                <a:solidFill>
                  <a:srgbClr val="666666"/>
                </a:solidFill>
                <a:latin typeface="Inter"/>
              </a:defRPr>
            </a:pPr>
            <a:r>
              <a:t>Iconography</a:t>
            </a:r>
          </a:p>
        </p:txBody>
      </p:sp>
      <p:sp>
        <p:nvSpPr>
          <p:cNvPr id="42" name="TextBox 41"/>
          <p:cNvSpPr txBox="1"/>
          <p:nvPr/>
        </p:nvSpPr>
        <p:spPr>
          <a:xfrm>
            <a:off x="6675120" y="4754880"/>
            <a:ext cx="1828800" cy="228600"/>
          </a:xfrm>
          <a:prstGeom prst="rect">
            <a:avLst/>
          </a:prstGeom>
          <a:noFill/>
        </p:spPr>
        <p:txBody>
          <a:bodyPr wrap="none" lIns="0" tIns="0" bIns="0">
            <a:spAutoFit/>
          </a:bodyPr>
          <a:lstStyle/>
          <a:p>
            <a:pPr>
              <a:defRPr sz="900" b="0">
                <a:solidFill>
                  <a:srgbClr val="666666"/>
                </a:solidFill>
                <a:latin typeface="Inter"/>
              </a:defRPr>
            </a:pPr>
            <a:r>
              <a:t>Illustrations</a:t>
            </a:r>
          </a:p>
        </p:txBody>
      </p:sp>
      <p:sp>
        <p:nvSpPr>
          <p:cNvPr id="43" name="TextBox 42"/>
          <p:cNvSpPr txBox="1"/>
          <p:nvPr/>
        </p:nvSpPr>
        <p:spPr>
          <a:xfrm>
            <a:off x="6675120" y="4983480"/>
            <a:ext cx="1828800" cy="228600"/>
          </a:xfrm>
          <a:prstGeom prst="rect">
            <a:avLst/>
          </a:prstGeom>
          <a:noFill/>
        </p:spPr>
        <p:txBody>
          <a:bodyPr wrap="none" lIns="0" tIns="0" bIns="0">
            <a:spAutoFit/>
          </a:bodyPr>
          <a:lstStyle/>
          <a:p>
            <a:pPr>
              <a:defRPr sz="900" b="0">
                <a:solidFill>
                  <a:srgbClr val="666666"/>
                </a:solidFill>
                <a:latin typeface="Inter"/>
              </a:defRPr>
            </a:pPr>
            <a:r>
              <a:t>Merchandise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Welcome to Forbes Media's global brand framework, a sophisticated system crafted to deliver an international, engaging, and consistently recognizable media presence. For over a century, we have shaped the landscape of business journalism through unwavering integrity, pioneering innovation, and entrepreneurial insight. Our brand identity system reflects this rich heritage while embracing digital transformation, ensuring Forbes remains the definitive voice in business media. We invite you to explore how our distinctive approach continues to inspire and empower global leaders, visionary entrepreneurs, and influential professionals across every platform and medium.</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4CAF50"/>
                </a:solidFill>
                <a:latin typeface="Source Sans Pro"/>
              </a:defRPr>
            </a:pPr>
            <a: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Forbes Media envisions a world where every business leader, entrepreneur, investor, professional, high-net-worth individual, and aspiring youth is empowered with knowledge and insights to drive global innovation and progress. Our ultimate goal is to inspire and motivate individuals to reach their full potential and shape a brighter future through our innovative Media &amp; Publishing solutions.</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4CAF50"/>
                </a:solidFill>
                <a:latin typeface="Source Sans Pro"/>
              </a:defRPr>
            </a:pPr>
            <a:r>
              <a:t>BRAND PURPOSE (VISION)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Forbes Media is dedicated to delivering cutting-edge Media &amp; Publishing (Business Journalism &amp; Digital Media) solutions that provide unparalleled value to business leaders, entrepreneurs, investors, professionals, high-net-worth individuals, and aspiring youth. We aim to be the go-to platform for insightful and forward-thinking content that drives success, fosters entrepreneurship, and shapes the future of global business.</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4CAF50"/>
                </a:solidFill>
                <a:latin typeface="Source Sans Pro"/>
              </a:defRPr>
            </a:pPr>
            <a:r>
              <a:t>BRAND PURPOSE (MISSION)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At Forbes Media, we are driven by a commitment to innovation, integrity, entrepreneurship, excellence, and a global perspective. We believe in the power of influence and the importance of credibility in all our endeavors. These core values guide us in creating impactful and relevant content for our audience, fostering a culture of trust, growth, and inspiration within the Media &amp; Publishing (Business Journalism &amp; Digital Media) industry.</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4CAF50"/>
                </a:solidFill>
                <a:latin typeface="Source Sans Pro"/>
              </a:defRPr>
            </a:pPr>
            <a:r>
              <a:t>BRAND PURPOSE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In a world where information is power, Forbes Media stands as a beacon of innovation and integrity, empowering business leaders, entrepreneurs, investors, professionals, high-net-worth individuals, and aspiring youth with cutting-edge Media &amp; Publishing solutions. Our story began with a vision to provide a platform that offers more than just news - a platform that inspires, educates, and elevates. We are driven by the core values of entrepreneurship, excellence, and a global perspective, ensuring that our audience receives the most credible and influential insights to make informed decisions in an ever-evolving business landscape. At Forbes Media, we believe in the power of storytelling to drive change and shape the future.</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4CAF50"/>
                </a:solidFill>
                <a:latin typeface="Source Sans Pro"/>
              </a:defRPr>
            </a:pPr>
            <a:r>
              <a:t>BRAND STORY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Our unique value proposition lies in our distinctive approach to Business Journalism and Digital Media, offering a holistic view of the business world that resonates with our diverse audience. Whether you are a seasoned business leader navigating complex markets or a young professional looking to make your mark, Forbes Media is here to guide and inspire you on your journey to success. Our brand promise is simple yet powerful - to empower individuals with the knowledge and resources they need to thrive in today's competitive environment. Through our innovative and forward-thinking...</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4CAF50"/>
                </a:solidFill>
                <a:latin typeface="Source Sans Pro"/>
              </a:defRPr>
            </a:pPr>
            <a:r>
              <a:t>BRAND STORY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orbes_media_logo_1_20250902_103103_3b611de3.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000000"/>
                </a:solidFill>
                <a:latin typeface="Inter"/>
              </a:defRPr>
            </a:pPr>
            <a:r>
              <a:t>Choose for maximum impact and brand recognition in primary applications.</a:t>
            </a:r>
          </a:p>
        </p:txBody>
      </p:sp>
      <p:cxnSp>
        <p:nvCxnSpPr>
          <p:cNvPr id="4" name="Connector 3"/>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4CAF50"/>
                </a:solidFill>
                <a:latin typeface="Source Sans Pro"/>
              </a:defRPr>
            </a:pPr>
            <a:r>
              <a:t>Logo Variation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orbes_media_logo_2_20250902_103119_5cd5d660.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000000"/>
                </a:solidFill>
                <a:latin typeface="Inter"/>
              </a:defRPr>
            </a:pPr>
            <a:r>
              <a:t>Perfect for constrained spaces while maintaining professional brand presence and clarity.</a:t>
            </a:r>
          </a:p>
        </p:txBody>
      </p:sp>
      <p:cxnSp>
        <p:nvCxnSpPr>
          <p:cNvPr id="4" name="Connector 3"/>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4CAF50"/>
                </a:solidFill>
                <a:latin typeface="Source Sans Pro"/>
              </a:defRPr>
            </a:pPr>
            <a:r>
              <a:t>Logo Variation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orbes_media_logo_3_20250902_103133_e167094c.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000000"/>
                </a:solidFill>
                <a:latin typeface="Inter"/>
              </a:defRPr>
            </a:pPr>
            <a:r>
              <a:t>Ideal for small sizes, watermarks, and applications requiring simplified brand representation.</a:t>
            </a:r>
          </a:p>
        </p:txBody>
      </p:sp>
      <p:cxnSp>
        <p:nvCxnSpPr>
          <p:cNvPr id="4" name="Connector 3"/>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4CAF50"/>
                </a:solidFill>
                <a:latin typeface="Source Sans Pro"/>
              </a:defRPr>
            </a:pPr>
            <a:r>
              <a:t>Logo Variation 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43000" y="1645920"/>
            <a:ext cx="1828800" cy="1371600"/>
          </a:xfrm>
          <a:prstGeom prst="rect">
            <a:avLst/>
          </a:prstGeom>
          <a:solidFill>
            <a:srgbClr val="4CAF5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54680" y="164592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Inter"/>
              </a:defRPr>
            </a:pPr>
            <a:r>
              <a:t>Innovation Green</a:t>
            </a:r>
          </a:p>
          <a:p>
            <a:pPr algn="l">
              <a:spcAft>
                <a:spcPts val="300"/>
              </a:spcAft>
              <a:defRPr sz="1000" b="0">
                <a:solidFill>
                  <a:srgbClr val="000000"/>
                </a:solidFill>
                <a:latin typeface="Inter"/>
              </a:defRPr>
            </a:pPr>
            <a:r>
              <a:t>#4CAF50</a:t>
            </a:r>
          </a:p>
          <a:p>
            <a:pPr algn="l">
              <a:spcAft>
                <a:spcPts val="300"/>
              </a:spcAft>
              <a:defRPr sz="1000" b="0">
                <a:solidFill>
                  <a:srgbClr val="000000"/>
                </a:solidFill>
                <a:latin typeface="Inter"/>
              </a:defRPr>
            </a:pPr>
            <a:r>
              <a:t>RGB(76, 175, 80)</a:t>
            </a:r>
          </a:p>
          <a:p>
            <a:pPr algn="l">
              <a:spcAft>
                <a:spcPts val="300"/>
              </a:spcAft>
              <a:defRPr sz="1000" b="0">
                <a:solidFill>
                  <a:srgbClr val="000000"/>
                </a:solidFill>
                <a:latin typeface="Inter"/>
              </a:defRPr>
            </a:pPr>
            <a:r>
              <a:t>CMYK(56, 0, 54, 31)</a:t>
            </a:r>
          </a:p>
          <a:p>
            <a:pPr algn="l">
              <a:spcAft>
                <a:spcPts val="300"/>
              </a:spcAft>
              <a:defRPr sz="1000" b="0">
                <a:solidFill>
                  <a:srgbClr val="000000"/>
                </a:solidFill>
                <a:latin typeface="Inter"/>
              </a:defRPr>
            </a:pPr>
            <a:r>
              <a:t>Use Dark Text</a:t>
            </a:r>
          </a:p>
        </p:txBody>
      </p:sp>
      <p:sp>
        <p:nvSpPr>
          <p:cNvPr id="4" name="Rectangle 3"/>
          <p:cNvSpPr/>
          <p:nvPr/>
        </p:nvSpPr>
        <p:spPr>
          <a:xfrm>
            <a:off x="4572000" y="1645920"/>
            <a:ext cx="1828800" cy="1371600"/>
          </a:xfrm>
          <a:prstGeom prst="rect">
            <a:avLst/>
          </a:prstGeom>
          <a:solidFill>
            <a:srgbClr val="9E9E9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164592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Inter"/>
              </a:defRPr>
            </a:pPr>
            <a:r>
              <a:t>Integrity Gray</a:t>
            </a:r>
          </a:p>
          <a:p>
            <a:pPr algn="l">
              <a:spcAft>
                <a:spcPts val="300"/>
              </a:spcAft>
              <a:defRPr sz="1000" b="0">
                <a:solidFill>
                  <a:srgbClr val="000000"/>
                </a:solidFill>
                <a:latin typeface="Inter"/>
              </a:defRPr>
            </a:pPr>
            <a:r>
              <a:t>#9E9E9E</a:t>
            </a:r>
          </a:p>
          <a:p>
            <a:pPr algn="l">
              <a:spcAft>
                <a:spcPts val="300"/>
              </a:spcAft>
              <a:defRPr sz="1000" b="0">
                <a:solidFill>
                  <a:srgbClr val="000000"/>
                </a:solidFill>
                <a:latin typeface="Inter"/>
              </a:defRPr>
            </a:pPr>
            <a:r>
              <a:t>RGB(158, 158, 158)</a:t>
            </a:r>
          </a:p>
          <a:p>
            <a:pPr algn="l">
              <a:spcAft>
                <a:spcPts val="300"/>
              </a:spcAft>
              <a:defRPr sz="1000" b="0">
                <a:solidFill>
                  <a:srgbClr val="000000"/>
                </a:solidFill>
                <a:latin typeface="Inter"/>
              </a:defRPr>
            </a:pPr>
            <a:r>
              <a:t>CMYK(0, 0, 0, 38)</a:t>
            </a:r>
          </a:p>
          <a:p>
            <a:pPr algn="l">
              <a:spcAft>
                <a:spcPts val="300"/>
              </a:spcAft>
              <a:defRPr sz="1000" b="0">
                <a:solidFill>
                  <a:srgbClr val="000000"/>
                </a:solidFill>
                <a:latin typeface="Inter"/>
              </a:defRPr>
            </a:pPr>
            <a:r>
              <a:t>Use Dark Text</a:t>
            </a:r>
          </a:p>
        </p:txBody>
      </p:sp>
      <p:sp>
        <p:nvSpPr>
          <p:cNvPr id="6" name="Rectangle 5"/>
          <p:cNvSpPr/>
          <p:nvPr/>
        </p:nvSpPr>
        <p:spPr>
          <a:xfrm>
            <a:off x="1143000" y="3726180"/>
            <a:ext cx="1828800" cy="1371600"/>
          </a:xfrm>
          <a:prstGeom prst="rect">
            <a:avLst/>
          </a:prstGeom>
          <a:solidFill>
            <a:srgbClr val="FFD7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54680" y="372618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Inter"/>
              </a:defRPr>
            </a:pPr>
            <a:r>
              <a:t>Global Gold</a:t>
            </a:r>
          </a:p>
          <a:p>
            <a:pPr algn="l">
              <a:spcAft>
                <a:spcPts val="300"/>
              </a:spcAft>
              <a:defRPr sz="1000" b="0">
                <a:solidFill>
                  <a:srgbClr val="000000"/>
                </a:solidFill>
                <a:latin typeface="Inter"/>
              </a:defRPr>
            </a:pPr>
            <a:r>
              <a:t>#FFD700</a:t>
            </a:r>
          </a:p>
          <a:p>
            <a:pPr algn="l">
              <a:spcAft>
                <a:spcPts val="300"/>
              </a:spcAft>
              <a:defRPr sz="1000" b="0">
                <a:solidFill>
                  <a:srgbClr val="000000"/>
                </a:solidFill>
                <a:latin typeface="Inter"/>
              </a:defRPr>
            </a:pPr>
            <a:r>
              <a:t>RGB(255, 215, 0)</a:t>
            </a:r>
          </a:p>
          <a:p>
            <a:pPr algn="l">
              <a:spcAft>
                <a:spcPts val="300"/>
              </a:spcAft>
              <a:defRPr sz="1000" b="0">
                <a:solidFill>
                  <a:srgbClr val="000000"/>
                </a:solidFill>
                <a:latin typeface="Inter"/>
              </a:defRPr>
            </a:pPr>
            <a:r>
              <a:t>CMYK(0, 15, 100, 0)</a:t>
            </a:r>
          </a:p>
          <a:p>
            <a:pPr algn="l">
              <a:spcAft>
                <a:spcPts val="300"/>
              </a:spcAft>
              <a:defRPr sz="1000" b="0">
                <a:solidFill>
                  <a:srgbClr val="000000"/>
                </a:solidFill>
                <a:latin typeface="Inter"/>
              </a:defRPr>
            </a:pPr>
            <a:r>
              <a:t>Use Dark Text</a:t>
            </a:r>
          </a:p>
        </p:txBody>
      </p:sp>
      <p:sp>
        <p:nvSpPr>
          <p:cNvPr id="8" name="Rectangle 7"/>
          <p:cNvSpPr/>
          <p:nvPr/>
        </p:nvSpPr>
        <p:spPr>
          <a:xfrm>
            <a:off x="4572000" y="3726180"/>
            <a:ext cx="1828800" cy="1371600"/>
          </a:xfrm>
          <a:prstGeom prst="rect">
            <a:avLst/>
          </a:prstGeom>
          <a:solidFill>
            <a:srgbClr val="0096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372618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Inter"/>
              </a:defRPr>
            </a:pPr>
            <a:r>
              <a:t>Entrepreneurship Teal</a:t>
            </a:r>
          </a:p>
          <a:p>
            <a:pPr algn="l">
              <a:spcAft>
                <a:spcPts val="300"/>
              </a:spcAft>
              <a:defRPr sz="1000" b="0">
                <a:solidFill>
                  <a:srgbClr val="000000"/>
                </a:solidFill>
                <a:latin typeface="Inter"/>
              </a:defRPr>
            </a:pPr>
            <a:r>
              <a:t>#009688</a:t>
            </a:r>
          </a:p>
          <a:p>
            <a:pPr algn="l">
              <a:spcAft>
                <a:spcPts val="300"/>
              </a:spcAft>
              <a:defRPr sz="1000" b="0">
                <a:solidFill>
                  <a:srgbClr val="000000"/>
                </a:solidFill>
                <a:latin typeface="Inter"/>
              </a:defRPr>
            </a:pPr>
            <a:r>
              <a:t>RGB(0, 150, 136)</a:t>
            </a:r>
          </a:p>
          <a:p>
            <a:pPr algn="l">
              <a:spcAft>
                <a:spcPts val="300"/>
              </a:spcAft>
              <a:defRPr sz="1000" b="0">
                <a:solidFill>
                  <a:srgbClr val="000000"/>
                </a:solidFill>
                <a:latin typeface="Inter"/>
              </a:defRPr>
            </a:pPr>
            <a:r>
              <a:t>CMYK(100, 0, 9, 41)</a:t>
            </a:r>
          </a:p>
          <a:p>
            <a:pPr algn="l">
              <a:spcAft>
                <a:spcPts val="300"/>
              </a:spcAft>
              <a:defRPr sz="1000" b="0">
                <a:solidFill>
                  <a:srgbClr val="000000"/>
                </a:solidFill>
                <a:latin typeface="Inter"/>
              </a:defRPr>
            </a:pPr>
            <a:r>
              <a:t>Use Dark Text</a:t>
            </a:r>
          </a:p>
        </p:txBody>
      </p:sp>
      <p:cxnSp>
        <p:nvCxnSpPr>
          <p:cNvPr id="10" name="Connector 9"/>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5560695"/>
            <a:ext cx="5486400" cy="731520"/>
          </a:xfrm>
          <a:prstGeom prst="rect">
            <a:avLst/>
          </a:prstGeom>
          <a:noFill/>
        </p:spPr>
        <p:txBody>
          <a:bodyPr wrap="none">
            <a:spAutoFit/>
          </a:bodyPr>
          <a:lstStyle/>
          <a:p>
            <a:pPr algn="l">
              <a:defRPr sz="2800" b="1">
                <a:solidFill>
                  <a:srgbClr val="4CAF50"/>
                </a:solidFill>
                <a:latin typeface="Source Sans Pro"/>
              </a:defRPr>
            </a:pPr>
            <a:r>
              <a:t>Primary Colors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43000" y="1571625"/>
            <a:ext cx="1828800" cy="914400"/>
          </a:xfrm>
          <a:prstGeom prst="rect">
            <a:avLst/>
          </a:prstGeom>
          <a:solidFill>
            <a:srgbClr val="F8F9F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2668905"/>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Inter"/>
              </a:defRPr>
            </a:pPr>
            <a:r>
              <a:t>Light Gray</a:t>
            </a:r>
          </a:p>
          <a:p>
            <a:pPr algn="ctr">
              <a:spcAft>
                <a:spcPts val="300"/>
              </a:spcAft>
              <a:defRPr sz="1000" b="0">
                <a:solidFill>
                  <a:srgbClr val="000000"/>
                </a:solidFill>
                <a:latin typeface="Inter"/>
              </a:defRPr>
            </a:pPr>
            <a:r>
              <a:t>#F8F9FA</a:t>
            </a:r>
          </a:p>
          <a:p>
            <a:pPr algn="ctr">
              <a:spcAft>
                <a:spcPts val="300"/>
              </a:spcAft>
              <a:defRPr sz="1000" b="0">
                <a:solidFill>
                  <a:srgbClr val="000000"/>
                </a:solidFill>
                <a:latin typeface="Inter"/>
              </a:defRPr>
            </a:pPr>
            <a:r>
              <a:t>Use Dark Text</a:t>
            </a:r>
          </a:p>
        </p:txBody>
      </p:sp>
      <p:sp>
        <p:nvSpPr>
          <p:cNvPr id="4" name="Rectangle 3"/>
          <p:cNvSpPr/>
          <p:nvPr/>
        </p:nvSpPr>
        <p:spPr>
          <a:xfrm>
            <a:off x="3200400" y="1571625"/>
            <a:ext cx="1828800" cy="914400"/>
          </a:xfrm>
          <a:prstGeom prst="rect">
            <a:avLst/>
          </a:prstGeom>
          <a:solidFill>
            <a:srgbClr val="26C6D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0" y="2668905"/>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Inter"/>
              </a:defRPr>
            </a:pPr>
            <a:r>
              <a:t>Ocean Blue</a:t>
            </a:r>
          </a:p>
          <a:p>
            <a:pPr algn="ctr">
              <a:spcAft>
                <a:spcPts val="300"/>
              </a:spcAft>
              <a:defRPr sz="1000" b="0">
                <a:solidFill>
                  <a:srgbClr val="000000"/>
                </a:solidFill>
                <a:latin typeface="Inter"/>
              </a:defRPr>
            </a:pPr>
            <a:r>
              <a:t>#26C6DA</a:t>
            </a:r>
          </a:p>
          <a:p>
            <a:pPr algn="ctr">
              <a:spcAft>
                <a:spcPts val="300"/>
              </a:spcAft>
              <a:defRPr sz="1000" b="0">
                <a:solidFill>
                  <a:srgbClr val="000000"/>
                </a:solidFill>
                <a:latin typeface="Inter"/>
              </a:defRPr>
            </a:pPr>
            <a:r>
              <a:t>Use Dark Text</a:t>
            </a:r>
          </a:p>
        </p:txBody>
      </p:sp>
      <p:sp>
        <p:nvSpPr>
          <p:cNvPr id="6" name="Rectangle 5"/>
          <p:cNvSpPr/>
          <p:nvPr/>
        </p:nvSpPr>
        <p:spPr>
          <a:xfrm>
            <a:off x="5257800" y="1571625"/>
            <a:ext cx="1828800" cy="914400"/>
          </a:xfrm>
          <a:prstGeom prst="rect">
            <a:avLst/>
          </a:prstGeom>
          <a:solidFill>
            <a:srgbClr val="FFEB3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2668905"/>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Inter"/>
              </a:defRPr>
            </a:pPr>
            <a:r>
              <a:t>Lemonade</a:t>
            </a:r>
          </a:p>
          <a:p>
            <a:pPr algn="ctr">
              <a:spcAft>
                <a:spcPts val="300"/>
              </a:spcAft>
              <a:defRPr sz="1000" b="0">
                <a:solidFill>
                  <a:srgbClr val="000000"/>
                </a:solidFill>
                <a:latin typeface="Inter"/>
              </a:defRPr>
            </a:pPr>
            <a:r>
              <a:t>#FFEB3B</a:t>
            </a:r>
          </a:p>
          <a:p>
            <a:pPr algn="ctr">
              <a:spcAft>
                <a:spcPts val="300"/>
              </a:spcAft>
              <a:defRPr sz="1000" b="0">
                <a:solidFill>
                  <a:srgbClr val="000000"/>
                </a:solidFill>
                <a:latin typeface="Inter"/>
              </a:defRPr>
            </a:pPr>
            <a:r>
              <a:t>Use Dark Text</a:t>
            </a:r>
          </a:p>
        </p:txBody>
      </p:sp>
      <p:sp>
        <p:nvSpPr>
          <p:cNvPr id="8" name="Rectangle 7"/>
          <p:cNvSpPr/>
          <p:nvPr/>
        </p:nvSpPr>
        <p:spPr>
          <a:xfrm>
            <a:off x="2171700" y="3429000"/>
            <a:ext cx="1828800" cy="914400"/>
          </a:xfrm>
          <a:prstGeom prst="rect">
            <a:avLst/>
          </a:prstGeom>
          <a:solidFill>
            <a:srgbClr val="8BC34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71700" y="4526280"/>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Inter"/>
              </a:defRPr>
            </a:pPr>
            <a:r>
              <a:t>Sage Green</a:t>
            </a:r>
          </a:p>
          <a:p>
            <a:pPr algn="ctr">
              <a:spcAft>
                <a:spcPts val="300"/>
              </a:spcAft>
              <a:defRPr sz="1000" b="0">
                <a:solidFill>
                  <a:srgbClr val="000000"/>
                </a:solidFill>
                <a:latin typeface="Inter"/>
              </a:defRPr>
            </a:pPr>
            <a:r>
              <a:t>#8BC34A</a:t>
            </a:r>
          </a:p>
          <a:p>
            <a:pPr algn="ctr">
              <a:spcAft>
                <a:spcPts val="300"/>
              </a:spcAft>
              <a:defRPr sz="1000" b="0">
                <a:solidFill>
                  <a:srgbClr val="000000"/>
                </a:solidFill>
                <a:latin typeface="Inter"/>
              </a:defRPr>
            </a:pPr>
            <a:r>
              <a:t>Use Dark Text</a:t>
            </a:r>
          </a:p>
        </p:txBody>
      </p:sp>
      <p:sp>
        <p:nvSpPr>
          <p:cNvPr id="10" name="Rectangle 9"/>
          <p:cNvSpPr/>
          <p:nvPr/>
        </p:nvSpPr>
        <p:spPr>
          <a:xfrm>
            <a:off x="4229100" y="3429000"/>
            <a:ext cx="1828800" cy="914400"/>
          </a:xfrm>
          <a:prstGeom prst="rect">
            <a:avLst/>
          </a:prstGeom>
          <a:solidFill>
            <a:srgbClr val="4242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29100" y="4526280"/>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Inter"/>
              </a:defRPr>
            </a:pPr>
            <a:r>
              <a:t>Charcoal</a:t>
            </a:r>
          </a:p>
          <a:p>
            <a:pPr algn="ctr">
              <a:spcAft>
                <a:spcPts val="300"/>
              </a:spcAft>
              <a:defRPr sz="1000" b="0">
                <a:solidFill>
                  <a:srgbClr val="000000"/>
                </a:solidFill>
                <a:latin typeface="Inter"/>
              </a:defRPr>
            </a:pPr>
            <a:r>
              <a:t>#424242</a:t>
            </a:r>
          </a:p>
          <a:p>
            <a:pPr algn="ctr">
              <a:spcAft>
                <a:spcPts val="300"/>
              </a:spcAft>
              <a:defRPr sz="1000" b="0">
                <a:solidFill>
                  <a:srgbClr val="000000"/>
                </a:solidFill>
                <a:latin typeface="Inter"/>
              </a:defRPr>
            </a:pPr>
            <a:r>
              <a:t>Use Light Text</a:t>
            </a:r>
          </a:p>
        </p:txBody>
      </p:sp>
      <p:cxnSp>
        <p:nvCxnSpPr>
          <p:cNvPr id="12" name="Connector 11"/>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5560695"/>
            <a:ext cx="5486400" cy="731520"/>
          </a:xfrm>
          <a:prstGeom prst="rect">
            <a:avLst/>
          </a:prstGeom>
          <a:noFill/>
        </p:spPr>
        <p:txBody>
          <a:bodyPr wrap="none">
            <a:spAutoFit/>
          </a:bodyPr>
          <a:lstStyle/>
          <a:p>
            <a:pPr algn="l">
              <a:defRPr sz="2800" b="1">
                <a:solidFill>
                  <a:srgbClr val="4CAF50"/>
                </a:solidFill>
                <a:latin typeface="Source Sans Pro"/>
              </a:defRPr>
            </a:pPr>
            <a:r>
              <a:t>Secondary Colors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000000"/>
                </a:solidFill>
                <a:latin typeface="Inter"/>
              </a:defRPr>
            </a:pPr>
            <a:r>
              <a:t>Primary Color Usage</a:t>
            </a:r>
          </a:p>
          <a:p>
            <a:pPr algn="l">
              <a:spcAft>
                <a:spcPts val="600"/>
              </a:spcAft>
              <a:defRPr sz="1400" b="0">
                <a:solidFill>
                  <a:srgbClr val="000000"/>
                </a:solidFill>
                <a:latin typeface="Inter"/>
              </a:defRPr>
            </a:pPr>
          </a:p>
          <a:p>
            <a:pPr algn="l">
              <a:spcAft>
                <a:spcPts val="600"/>
              </a:spcAft>
              <a:defRPr sz="1400" b="0">
                <a:solidFill>
                  <a:srgbClr val="000000"/>
                </a:solidFill>
                <a:latin typeface="Inter"/>
              </a:defRPr>
            </a:pPr>
            <a:r>
              <a:t>Use for brand-critical elements:</a:t>
            </a:r>
          </a:p>
          <a:p>
            <a:pPr algn="l">
              <a:spcAft>
                <a:spcPts val="600"/>
              </a:spcAft>
              <a:defRPr sz="1400" b="0">
                <a:solidFill>
                  <a:srgbClr val="000000"/>
                </a:solidFill>
                <a:latin typeface="Inter"/>
              </a:defRPr>
            </a:pPr>
            <a:r>
              <a:t>• Logos and main brand marks</a:t>
            </a:r>
          </a:p>
          <a:p>
            <a:pPr algn="l">
              <a:spcAft>
                <a:spcPts val="600"/>
              </a:spcAft>
              <a:defRPr sz="1400" b="0">
                <a:solidFill>
                  <a:srgbClr val="000000"/>
                </a:solidFill>
                <a:latin typeface="Inter"/>
              </a:defRPr>
            </a:pPr>
            <a:r>
              <a:t>• Headlines and key text</a:t>
            </a:r>
          </a:p>
          <a:p>
            <a:pPr algn="l">
              <a:spcAft>
                <a:spcPts val="600"/>
              </a:spcAft>
              <a:defRPr sz="1400" b="0">
                <a:solidFill>
                  <a:srgbClr val="000000"/>
                </a:solidFill>
                <a:latin typeface="Inter"/>
              </a:defRPr>
            </a:pPr>
            <a:r>
              <a:t>• CTA buttons and navigation</a:t>
            </a:r>
          </a:p>
          <a:p>
            <a:pPr algn="l">
              <a:spcAft>
                <a:spcPts val="600"/>
              </a:spcAft>
              <a:defRPr sz="1400" b="0">
                <a:solidFill>
                  <a:srgbClr val="000000"/>
                </a:solidFill>
                <a:latin typeface="Inter"/>
              </a:defRPr>
            </a:pPr>
            <a:r>
              <a:t>• Hero sections</a:t>
            </a:r>
          </a:p>
          <a:p>
            <a:pPr algn="l">
              <a:spcAft>
                <a:spcPts val="600"/>
              </a:spcAft>
              <a:defRPr sz="1400" b="0">
                <a:solidFill>
                  <a:srgbClr val="000000"/>
                </a:solidFill>
                <a:latin typeface="Inter"/>
              </a:defRPr>
            </a:pPr>
          </a:p>
          <a:p>
            <a:pPr algn="l">
              <a:spcAft>
                <a:spcPts val="600"/>
              </a:spcAft>
              <a:defRPr sz="1400" b="0">
                <a:solidFill>
                  <a:srgbClr val="000000"/>
                </a:solidFill>
                <a:latin typeface="Inter"/>
              </a:defRPr>
            </a:pPr>
            <a:r>
              <a:t>Colors: Innovation Green, Integrity Gray, Global Gold, Entrepreneurship Teal</a:t>
            </a:r>
          </a:p>
          <a:p>
            <a:pPr algn="l">
              <a:spcAft>
                <a:spcPts val="600"/>
              </a:spcAft>
              <a:defRPr sz="1400" b="0">
                <a:solidFill>
                  <a:srgbClr val="000000"/>
                </a:solidFill>
                <a:latin typeface="Inter"/>
              </a:defRPr>
            </a:pPr>
          </a:p>
          <a:p>
            <a:pPr algn="l">
              <a:spcAft>
                <a:spcPts val="600"/>
              </a:spcAft>
              <a:defRPr sz="1400" b="0">
                <a:solidFill>
                  <a:srgbClr val="000000"/>
                </a:solidFill>
                <a:latin typeface="Inter"/>
              </a:defRPr>
            </a:pPr>
            <a:r>
              <a:t>Best Practices:</a:t>
            </a:r>
          </a:p>
          <a:p>
            <a:pPr algn="l">
              <a:spcAft>
                <a:spcPts val="600"/>
              </a:spcAft>
              <a:defRPr sz="1400" b="0">
                <a:solidFill>
                  <a:srgbClr val="000000"/>
                </a:solidFill>
                <a:latin typeface="Inter"/>
              </a:defRPr>
            </a:pPr>
            <a:r>
              <a:t>- Maximum brand recognition</a:t>
            </a:r>
          </a:p>
          <a:p>
            <a:pPr algn="l">
              <a:spcAft>
                <a:spcPts val="600"/>
              </a:spcAft>
              <a:defRPr sz="1400" b="0">
                <a:solidFill>
                  <a:srgbClr val="000000"/>
                </a:solidFill>
                <a:latin typeface="Inter"/>
              </a:defRPr>
            </a:pPr>
            <a:r>
              <a:t>- Consistent application</a:t>
            </a:r>
          </a:p>
          <a:p>
            <a:pPr algn="l">
              <a:spcAft>
                <a:spcPts val="600"/>
              </a:spcAft>
              <a:defRPr sz="1400" b="0">
                <a:solidFill>
                  <a:srgbClr val="000000"/>
                </a:solidFill>
                <a:latin typeface="Inter"/>
              </a:defRPr>
            </a:pPr>
            <a:r>
              <a:t>- Sufficient contrast</a:t>
            </a:r>
          </a:p>
          <a:p>
            <a:pPr algn="l">
              <a:spcAft>
                <a:spcPts val="600"/>
              </a:spcAft>
              <a:defRPr sz="1400" b="0">
                <a:solidFill>
                  <a:srgbClr val="000000"/>
                </a:solidFill>
                <a:latin typeface="Inter"/>
              </a:defRPr>
            </a:pPr>
            <a:r>
              <a:t>- Accessibility compliance</a:t>
            </a:r>
          </a:p>
        </p:txBody>
      </p:sp>
      <p:cxnSp>
        <p:nvCxnSpPr>
          <p:cNvPr id="3" name="Connector 2"/>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5560695"/>
            <a:ext cx="5486400" cy="731520"/>
          </a:xfrm>
          <a:prstGeom prst="rect">
            <a:avLst/>
          </a:prstGeom>
          <a:noFill/>
        </p:spPr>
        <p:txBody>
          <a:bodyPr wrap="none">
            <a:spAutoFit/>
          </a:bodyPr>
          <a:lstStyle/>
          <a:p>
            <a:pPr algn="l">
              <a:defRPr sz="2800" b="1">
                <a:solidFill>
                  <a:srgbClr val="4CAF50"/>
                </a:solidFill>
                <a:latin typeface="Source Sans Pro"/>
              </a:defRPr>
            </a:pPr>
            <a:r>
              <a:t>Color Usage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000000"/>
                </a:solidFill>
                <a:latin typeface="Inter"/>
              </a:defRPr>
            </a:pPr>
            <a:r>
              <a:t>Secondary Color Usage</a:t>
            </a:r>
          </a:p>
          <a:p>
            <a:pPr algn="l">
              <a:spcAft>
                <a:spcPts val="600"/>
              </a:spcAft>
              <a:defRPr sz="1400" b="0">
                <a:solidFill>
                  <a:srgbClr val="000000"/>
                </a:solidFill>
                <a:latin typeface="Inter"/>
              </a:defRPr>
            </a:pPr>
          </a:p>
          <a:p>
            <a:pPr algn="l">
              <a:spcAft>
                <a:spcPts val="600"/>
              </a:spcAft>
              <a:defRPr sz="1400" b="0">
                <a:solidFill>
                  <a:srgbClr val="000000"/>
                </a:solidFill>
                <a:latin typeface="Inter"/>
              </a:defRPr>
            </a:pPr>
            <a:r>
              <a:t>Use for supporting elements:</a:t>
            </a:r>
          </a:p>
          <a:p>
            <a:pPr algn="l">
              <a:spcAft>
                <a:spcPts val="600"/>
              </a:spcAft>
              <a:defRPr sz="1400" b="0">
                <a:solidFill>
                  <a:srgbClr val="000000"/>
                </a:solidFill>
                <a:latin typeface="Inter"/>
              </a:defRPr>
            </a:pPr>
            <a:r>
              <a:t>• Backgrounds and subtle accents</a:t>
            </a:r>
          </a:p>
          <a:p>
            <a:pPr algn="l">
              <a:spcAft>
                <a:spcPts val="600"/>
              </a:spcAft>
              <a:defRPr sz="1400" b="0">
                <a:solidFill>
                  <a:srgbClr val="000000"/>
                </a:solidFill>
                <a:latin typeface="Inter"/>
              </a:defRPr>
            </a:pPr>
            <a:r>
              <a:t>• Secondary text</a:t>
            </a:r>
          </a:p>
          <a:p>
            <a:pPr algn="l">
              <a:spcAft>
                <a:spcPts val="600"/>
              </a:spcAft>
              <a:defRPr sz="1400" b="0">
                <a:solidFill>
                  <a:srgbClr val="000000"/>
                </a:solidFill>
                <a:latin typeface="Inter"/>
              </a:defRPr>
            </a:pPr>
            <a:r>
              <a:t>• Borders and dividers</a:t>
            </a:r>
          </a:p>
          <a:p>
            <a:pPr algn="l">
              <a:spcAft>
                <a:spcPts val="600"/>
              </a:spcAft>
              <a:defRPr sz="1400" b="0">
                <a:solidFill>
                  <a:srgbClr val="000000"/>
                </a:solidFill>
                <a:latin typeface="Inter"/>
              </a:defRPr>
            </a:pPr>
            <a:r>
              <a:t>• Hover states and icons</a:t>
            </a:r>
          </a:p>
          <a:p>
            <a:pPr algn="l">
              <a:spcAft>
                <a:spcPts val="600"/>
              </a:spcAft>
              <a:defRPr sz="1400" b="0">
                <a:solidFill>
                  <a:srgbClr val="000000"/>
                </a:solidFill>
                <a:latin typeface="Inter"/>
              </a:defRPr>
            </a:pPr>
          </a:p>
          <a:p>
            <a:pPr algn="l">
              <a:spcAft>
                <a:spcPts val="600"/>
              </a:spcAft>
              <a:defRPr sz="1400" b="0">
                <a:solidFill>
                  <a:srgbClr val="000000"/>
                </a:solidFill>
                <a:latin typeface="Inter"/>
              </a:defRPr>
            </a:pPr>
            <a:r>
              <a:t>Colors: Light Gray, Ocean Blue, Lemonade, Sage Green, Charcoal</a:t>
            </a:r>
          </a:p>
          <a:p>
            <a:pPr algn="l">
              <a:spcAft>
                <a:spcPts val="600"/>
              </a:spcAft>
              <a:defRPr sz="1400" b="0">
                <a:solidFill>
                  <a:srgbClr val="000000"/>
                </a:solidFill>
                <a:latin typeface="Inter"/>
              </a:defRPr>
            </a:pPr>
          </a:p>
          <a:p>
            <a:pPr algn="l">
              <a:spcAft>
                <a:spcPts val="600"/>
              </a:spcAft>
              <a:defRPr sz="1400" b="0">
                <a:solidFill>
                  <a:srgbClr val="000000"/>
                </a:solidFill>
                <a:latin typeface="Inter"/>
              </a:defRPr>
            </a:pPr>
            <a:r>
              <a:t>Best Practices:</a:t>
            </a:r>
          </a:p>
          <a:p>
            <a:pPr algn="l">
              <a:spcAft>
                <a:spcPts val="600"/>
              </a:spcAft>
              <a:defRPr sz="1400" b="0">
                <a:solidFill>
                  <a:srgbClr val="000000"/>
                </a:solidFill>
                <a:latin typeface="Inter"/>
              </a:defRPr>
            </a:pPr>
            <a:r>
              <a:t>- Create visual hierarchy</a:t>
            </a:r>
          </a:p>
          <a:p>
            <a:pPr algn="l">
              <a:spcAft>
                <a:spcPts val="600"/>
              </a:spcAft>
              <a:defRPr sz="1400" b="0">
                <a:solidFill>
                  <a:srgbClr val="000000"/>
                </a:solidFill>
                <a:latin typeface="Inter"/>
              </a:defRPr>
            </a:pPr>
            <a:r>
              <a:t>- Support, don't compete</a:t>
            </a:r>
          </a:p>
          <a:p>
            <a:pPr algn="l">
              <a:spcAft>
                <a:spcPts val="600"/>
              </a:spcAft>
              <a:defRPr sz="1400" b="0">
                <a:solidFill>
                  <a:srgbClr val="000000"/>
                </a:solidFill>
                <a:latin typeface="Inter"/>
              </a:defRPr>
            </a:pPr>
            <a:r>
              <a:t>- Maintain readability</a:t>
            </a:r>
          </a:p>
          <a:p>
            <a:pPr algn="l">
              <a:spcAft>
                <a:spcPts val="600"/>
              </a:spcAft>
              <a:defRPr sz="1400" b="0">
                <a:solidFill>
                  <a:srgbClr val="000000"/>
                </a:solidFill>
                <a:latin typeface="Inter"/>
              </a:defRPr>
            </a:pPr>
            <a:r>
              <a:t>- Use sparingly</a:t>
            </a:r>
          </a:p>
        </p:txBody>
      </p:sp>
      <p:cxnSp>
        <p:nvCxnSpPr>
          <p:cNvPr id="3" name="Connector 2"/>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5560695"/>
            <a:ext cx="5486400" cy="731520"/>
          </a:xfrm>
          <a:prstGeom prst="rect">
            <a:avLst/>
          </a:prstGeom>
          <a:noFill/>
        </p:spPr>
        <p:txBody>
          <a:bodyPr wrap="none">
            <a:spAutoFit/>
          </a:bodyPr>
          <a:lstStyle/>
          <a:p>
            <a:pPr algn="l">
              <a:defRPr sz="2800" b="1">
                <a:solidFill>
                  <a:srgbClr val="4CAF50"/>
                </a:solidFill>
                <a:latin typeface="Source Sans Pro"/>
              </a:defRPr>
            </a:pPr>
            <a:r>
              <a:t>Color Usage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Primary Font: Source Sans Pro</a:t>
            </a:r>
          </a:p>
          <a:p>
            <a:pPr algn="l">
              <a:spcAft>
                <a:spcPts val="800"/>
              </a:spcAft>
              <a:defRPr sz="2000" b="0">
                <a:solidFill>
                  <a:srgbClr val="000000"/>
                </a:solidFill>
                <a:latin typeface="Inter"/>
              </a:defRPr>
            </a:pPr>
          </a:p>
          <a:p>
            <a:pPr algn="l">
              <a:spcAft>
                <a:spcPts val="800"/>
              </a:spcAft>
              <a:defRPr sz="2000" b="0">
                <a:solidFill>
                  <a:srgbClr val="000000"/>
                </a:solidFill>
                <a:latin typeface="Inter"/>
              </a:defRPr>
            </a:pPr>
            <a:r>
              <a:t>Secondary Font: Inter</a:t>
            </a:r>
          </a:p>
          <a:p>
            <a:pPr algn="l">
              <a:spcAft>
                <a:spcPts val="800"/>
              </a:spcAft>
              <a:defRPr sz="2000" b="0">
                <a:solidFill>
                  <a:srgbClr val="000000"/>
                </a:solidFill>
                <a:latin typeface="Inter"/>
              </a:defRPr>
            </a:pPr>
          </a:p>
          <a:p>
            <a:pPr algn="l">
              <a:spcAft>
                <a:spcPts val="800"/>
              </a:spcAft>
              <a:defRPr sz="2000" b="0">
                <a:solidFill>
                  <a:srgbClr val="000000"/>
                </a:solidFill>
                <a:latin typeface="Inter"/>
              </a:defRPr>
            </a:pPr>
            <a:r>
              <a:t>Font Hierarchy:</a:t>
            </a:r>
          </a:p>
          <a:p>
            <a:pPr algn="l">
              <a:spcAft>
                <a:spcPts val="800"/>
              </a:spcAft>
              <a:defRPr sz="2000" b="0">
                <a:solidFill>
                  <a:srgbClr val="000000"/>
                </a:solidFill>
                <a:latin typeface="Inter"/>
              </a:defRPr>
            </a:pPr>
            <a:r>
              <a:t>• Headlines: Source Sans Pro - Bold, 28-32pt</a:t>
            </a:r>
          </a:p>
          <a:p>
            <a:pPr algn="l">
              <a:spcAft>
                <a:spcPts val="800"/>
              </a:spcAft>
              <a:defRPr sz="2000" b="0">
                <a:solidFill>
                  <a:srgbClr val="000000"/>
                </a:solidFill>
                <a:latin typeface="Inter"/>
              </a:defRPr>
            </a:pPr>
            <a:r>
              <a:t>• Subheadlines: Source Sans Pro - Bold, 20-24pt</a:t>
            </a:r>
          </a:p>
          <a:p>
            <a:pPr algn="l">
              <a:spcAft>
                <a:spcPts val="800"/>
              </a:spcAft>
              <a:defRPr sz="2000" b="0">
                <a:solidFill>
                  <a:srgbClr val="000000"/>
                </a:solidFill>
                <a:latin typeface="Inter"/>
              </a:defRPr>
            </a:pPr>
            <a:r>
              <a:t>• Body Text: Inter - Regular, 16-18pt</a:t>
            </a:r>
          </a:p>
          <a:p>
            <a:pPr algn="l">
              <a:spcAft>
                <a:spcPts val="800"/>
              </a:spcAft>
              <a:defRPr sz="2000" b="0">
                <a:solidFill>
                  <a:srgbClr val="000000"/>
                </a:solidFill>
                <a:latin typeface="Inter"/>
              </a:defRPr>
            </a:pPr>
            <a:r>
              <a:t>• Caption Text: Inter - Regular, 12-14pt</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4CAF50"/>
                </a:solidFill>
                <a:latin typeface="Source Sans Pro"/>
              </a:defRPr>
            </a:pPr>
            <a:r>
              <a:t>TYPOGRAPHY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74295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Forbes Media - Core Functional Icons Icons</a:t>
            </a:r>
          </a:p>
        </p:txBody>
      </p:sp>
      <p:pic>
        <p:nvPicPr>
          <p:cNvPr id="3" name="Picture 2" descr="forbes_media_icon_home icon_20250902_103241_48fd0868_transparent.png"/>
          <p:cNvPicPr>
            <a:picLocks noChangeAspect="1"/>
          </p:cNvPicPr>
          <p:nvPr/>
        </p:nvPicPr>
        <p:blipFill>
          <a:blip r:embed="rId2"/>
          <a:stretch>
            <a:fillRect/>
          </a:stretch>
        </p:blipFill>
        <p:spPr>
          <a:xfrm>
            <a:off x="2743200" y="2286000"/>
            <a:ext cx="914400" cy="914400"/>
          </a:xfrm>
          <a:prstGeom prst="rect">
            <a:avLst/>
          </a:prstGeom>
        </p:spPr>
      </p:pic>
      <p:sp>
        <p:nvSpPr>
          <p:cNvPr id="4" name="TextBox 3"/>
          <p:cNvSpPr txBox="1"/>
          <p:nvPr/>
        </p:nvSpPr>
        <p:spPr>
          <a:xfrm>
            <a:off x="2743200" y="3291840"/>
            <a:ext cx="914400" cy="365760"/>
          </a:xfrm>
          <a:prstGeom prst="rect">
            <a:avLst/>
          </a:prstGeom>
          <a:noFill/>
        </p:spPr>
        <p:txBody>
          <a:bodyPr wrap="none" lIns="0" rIns="0" tIns="0" bIns="0">
            <a:spAutoFit/>
          </a:bodyPr>
          <a:lstStyle/>
          <a:p>
            <a:pPr algn="ctr">
              <a:defRPr sz="1200" b="0">
                <a:solidFill>
                  <a:srgbClr val="000000"/>
                </a:solidFill>
                <a:latin typeface="Inter"/>
              </a:defRPr>
            </a:pPr>
            <a:r>
              <a:t>Home Icon</a:t>
            </a:r>
          </a:p>
        </p:txBody>
      </p:sp>
      <p:pic>
        <p:nvPicPr>
          <p:cNvPr id="5" name="Picture 4" descr="forbes_media_icon_search magnifying glass icon_20250902_103257_9ca6e60f_transparent.png"/>
          <p:cNvPicPr>
            <a:picLocks noChangeAspect="1"/>
          </p:cNvPicPr>
          <p:nvPr/>
        </p:nvPicPr>
        <p:blipFill>
          <a:blip r:embed="rId3"/>
          <a:stretch>
            <a:fillRect/>
          </a:stretch>
        </p:blipFill>
        <p:spPr>
          <a:xfrm>
            <a:off x="4572000" y="2286000"/>
            <a:ext cx="914400" cy="914400"/>
          </a:xfrm>
          <a:prstGeom prst="rect">
            <a:avLst/>
          </a:prstGeom>
        </p:spPr>
      </p:pic>
      <p:sp>
        <p:nvSpPr>
          <p:cNvPr id="6" name="TextBox 5"/>
          <p:cNvSpPr txBox="1"/>
          <p:nvPr/>
        </p:nvSpPr>
        <p:spPr>
          <a:xfrm>
            <a:off x="4572000" y="3291840"/>
            <a:ext cx="914400" cy="365760"/>
          </a:xfrm>
          <a:prstGeom prst="rect">
            <a:avLst/>
          </a:prstGeom>
          <a:noFill/>
        </p:spPr>
        <p:txBody>
          <a:bodyPr wrap="none" lIns="0" rIns="0" tIns="0" bIns="0">
            <a:spAutoFit/>
          </a:bodyPr>
          <a:lstStyle/>
          <a:p>
            <a:pPr algn="ctr">
              <a:defRPr sz="1200" b="0">
                <a:solidFill>
                  <a:srgbClr val="000000"/>
                </a:solidFill>
                <a:latin typeface="Inter"/>
              </a:defRPr>
            </a:pPr>
            <a:r>
              <a:t>Search Magnifying Glass Icon</a:t>
            </a:r>
          </a:p>
        </p:txBody>
      </p:sp>
      <p:pic>
        <p:nvPicPr>
          <p:cNvPr id="7" name="Picture 6" descr="forbes_media_icon_menu hamburger lines icon_20250902_103313_b67612bd_transparent.png"/>
          <p:cNvPicPr>
            <a:picLocks noChangeAspect="1"/>
          </p:cNvPicPr>
          <p:nvPr/>
        </p:nvPicPr>
        <p:blipFill>
          <a:blip r:embed="rId4"/>
          <a:stretch>
            <a:fillRect/>
          </a:stretch>
        </p:blipFill>
        <p:spPr>
          <a:xfrm>
            <a:off x="6400800" y="2286000"/>
            <a:ext cx="914400" cy="914400"/>
          </a:xfrm>
          <a:prstGeom prst="rect">
            <a:avLst/>
          </a:prstGeom>
        </p:spPr>
      </p:pic>
      <p:sp>
        <p:nvSpPr>
          <p:cNvPr id="8" name="TextBox 7"/>
          <p:cNvSpPr txBox="1"/>
          <p:nvPr/>
        </p:nvSpPr>
        <p:spPr>
          <a:xfrm>
            <a:off x="6400800" y="3291840"/>
            <a:ext cx="914400" cy="365760"/>
          </a:xfrm>
          <a:prstGeom prst="rect">
            <a:avLst/>
          </a:prstGeom>
          <a:noFill/>
        </p:spPr>
        <p:txBody>
          <a:bodyPr wrap="none" lIns="0" rIns="0" tIns="0" bIns="0">
            <a:spAutoFit/>
          </a:bodyPr>
          <a:lstStyle/>
          <a:p>
            <a:pPr algn="ctr">
              <a:defRPr sz="1200" b="0">
                <a:solidFill>
                  <a:srgbClr val="000000"/>
                </a:solidFill>
                <a:latin typeface="Inter"/>
              </a:defRPr>
            </a:pPr>
            <a:r>
              <a:t>Menu Hamburger Lines Icon</a:t>
            </a:r>
          </a:p>
        </p:txBody>
      </p:sp>
      <p:pic>
        <p:nvPicPr>
          <p:cNvPr id="9" name="Picture 8" descr="forbes_media_icon_settings gear icon_20250902_103327_e805c7fb_transparent.png"/>
          <p:cNvPicPr>
            <a:picLocks noChangeAspect="1"/>
          </p:cNvPicPr>
          <p:nvPr/>
        </p:nvPicPr>
        <p:blipFill>
          <a:blip r:embed="rId5"/>
          <a:stretch>
            <a:fillRect/>
          </a:stretch>
        </p:blipFill>
        <p:spPr>
          <a:xfrm>
            <a:off x="2743200" y="3657600"/>
            <a:ext cx="914400" cy="914400"/>
          </a:xfrm>
          <a:prstGeom prst="rect">
            <a:avLst/>
          </a:prstGeom>
        </p:spPr>
      </p:pic>
      <p:sp>
        <p:nvSpPr>
          <p:cNvPr id="10" name="TextBox 9"/>
          <p:cNvSpPr txBox="1"/>
          <p:nvPr/>
        </p:nvSpPr>
        <p:spPr>
          <a:xfrm>
            <a:off x="2743200" y="4663440"/>
            <a:ext cx="914400" cy="365760"/>
          </a:xfrm>
          <a:prstGeom prst="rect">
            <a:avLst/>
          </a:prstGeom>
          <a:noFill/>
        </p:spPr>
        <p:txBody>
          <a:bodyPr wrap="none" lIns="0" rIns="0" tIns="0" bIns="0">
            <a:spAutoFit/>
          </a:bodyPr>
          <a:lstStyle/>
          <a:p>
            <a:pPr algn="ctr">
              <a:defRPr sz="1200" b="0">
                <a:solidFill>
                  <a:srgbClr val="000000"/>
                </a:solidFill>
                <a:latin typeface="Inter"/>
              </a:defRPr>
            </a:pPr>
            <a:r>
              <a:t>Settings Gear Icon</a:t>
            </a:r>
          </a:p>
        </p:txBody>
      </p:sp>
      <p:pic>
        <p:nvPicPr>
          <p:cNvPr id="11" name="Picture 10" descr="forbes_media_icon_user profile person icon_20250902_103342_3d036b3a_transparent.png"/>
          <p:cNvPicPr>
            <a:picLocks noChangeAspect="1"/>
          </p:cNvPicPr>
          <p:nvPr/>
        </p:nvPicPr>
        <p:blipFill>
          <a:blip r:embed="rId6"/>
          <a:stretch>
            <a:fillRect/>
          </a:stretch>
        </p:blipFill>
        <p:spPr>
          <a:xfrm>
            <a:off x="4572000" y="3657600"/>
            <a:ext cx="914400" cy="914400"/>
          </a:xfrm>
          <a:prstGeom prst="rect">
            <a:avLst/>
          </a:prstGeom>
        </p:spPr>
      </p:pic>
      <p:sp>
        <p:nvSpPr>
          <p:cNvPr id="12" name="TextBox 11"/>
          <p:cNvSpPr txBox="1"/>
          <p:nvPr/>
        </p:nvSpPr>
        <p:spPr>
          <a:xfrm>
            <a:off x="4572000" y="4663440"/>
            <a:ext cx="914400" cy="365760"/>
          </a:xfrm>
          <a:prstGeom prst="rect">
            <a:avLst/>
          </a:prstGeom>
          <a:noFill/>
        </p:spPr>
        <p:txBody>
          <a:bodyPr wrap="none" lIns="0" rIns="0" tIns="0" bIns="0">
            <a:spAutoFit/>
          </a:bodyPr>
          <a:lstStyle/>
          <a:p>
            <a:pPr algn="ctr">
              <a:defRPr sz="1200" b="0">
                <a:solidFill>
                  <a:srgbClr val="000000"/>
                </a:solidFill>
                <a:latin typeface="Inter"/>
              </a:defRPr>
            </a:pPr>
            <a:r>
              <a:t>User Profile Person Icon</a:t>
            </a:r>
          </a:p>
        </p:txBody>
      </p:sp>
      <p:pic>
        <p:nvPicPr>
          <p:cNvPr id="13" name="Picture 12" descr="forbes_media_icon_notification bell icon_20250902_103357_36030a2e_transparent.png"/>
          <p:cNvPicPr>
            <a:picLocks noChangeAspect="1"/>
          </p:cNvPicPr>
          <p:nvPr/>
        </p:nvPicPr>
        <p:blipFill>
          <a:blip r:embed="rId7"/>
          <a:stretch>
            <a:fillRect/>
          </a:stretch>
        </p:blipFill>
        <p:spPr>
          <a:xfrm>
            <a:off x="6400800" y="3657600"/>
            <a:ext cx="914400" cy="914400"/>
          </a:xfrm>
          <a:prstGeom prst="rect">
            <a:avLst/>
          </a:prstGeom>
        </p:spPr>
      </p:pic>
      <p:sp>
        <p:nvSpPr>
          <p:cNvPr id="14" name="TextBox 13"/>
          <p:cNvSpPr txBox="1"/>
          <p:nvPr/>
        </p:nvSpPr>
        <p:spPr>
          <a:xfrm>
            <a:off x="6400800" y="4663440"/>
            <a:ext cx="914400" cy="365760"/>
          </a:xfrm>
          <a:prstGeom prst="rect">
            <a:avLst/>
          </a:prstGeom>
          <a:noFill/>
        </p:spPr>
        <p:txBody>
          <a:bodyPr wrap="none" lIns="0" rIns="0" tIns="0" bIns="0">
            <a:spAutoFit/>
          </a:bodyPr>
          <a:lstStyle/>
          <a:p>
            <a:pPr algn="ctr">
              <a:defRPr sz="1200" b="0">
                <a:solidFill>
                  <a:srgbClr val="000000"/>
                </a:solidFill>
                <a:latin typeface="Inter"/>
              </a:defRPr>
            </a:pPr>
            <a:r>
              <a:t>Notification Bell Icon</a:t>
            </a:r>
          </a:p>
        </p:txBody>
      </p:sp>
      <p:cxnSp>
        <p:nvCxnSpPr>
          <p:cNvPr id="15" name="Connector 14"/>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00100" y="5560695"/>
            <a:ext cx="3657600" cy="731520"/>
          </a:xfrm>
          <a:prstGeom prst="rect">
            <a:avLst/>
          </a:prstGeom>
          <a:noFill/>
        </p:spPr>
        <p:txBody>
          <a:bodyPr wrap="none">
            <a:spAutoFit/>
          </a:bodyPr>
          <a:lstStyle/>
          <a:p>
            <a:pPr algn="l">
              <a:defRPr sz="2800" b="1">
                <a:solidFill>
                  <a:srgbClr val="4CAF50"/>
                </a:solidFill>
                <a:latin typeface="Source Sans Pro"/>
              </a:defRPr>
            </a:pPr>
            <a:r>
              <a:t>ICONOGRAPHY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74295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Forbes Media - Media &amp; Publishing (Business Journalism &amp; Digital Media). Industry Icons Icons</a:t>
            </a:r>
          </a:p>
        </p:txBody>
      </p:sp>
      <p:pic>
        <p:nvPicPr>
          <p:cNvPr id="3" name="Picture 2" descr="forbes_media_icon_cloud computing icon_20250902_103451_fa0c9230_transparent.png"/>
          <p:cNvPicPr>
            <a:picLocks noChangeAspect="1"/>
          </p:cNvPicPr>
          <p:nvPr/>
        </p:nvPicPr>
        <p:blipFill>
          <a:blip r:embed="rId2"/>
          <a:stretch>
            <a:fillRect/>
          </a:stretch>
        </p:blipFill>
        <p:spPr>
          <a:xfrm>
            <a:off x="2743200" y="2286000"/>
            <a:ext cx="914400" cy="914400"/>
          </a:xfrm>
          <a:prstGeom prst="rect">
            <a:avLst/>
          </a:prstGeom>
        </p:spPr>
      </p:pic>
      <p:sp>
        <p:nvSpPr>
          <p:cNvPr id="4" name="TextBox 3"/>
          <p:cNvSpPr txBox="1"/>
          <p:nvPr/>
        </p:nvSpPr>
        <p:spPr>
          <a:xfrm>
            <a:off x="2743200" y="3291840"/>
            <a:ext cx="914400" cy="365760"/>
          </a:xfrm>
          <a:prstGeom prst="rect">
            <a:avLst/>
          </a:prstGeom>
          <a:noFill/>
        </p:spPr>
        <p:txBody>
          <a:bodyPr wrap="none" lIns="0" rIns="0" tIns="0" bIns="0">
            <a:spAutoFit/>
          </a:bodyPr>
          <a:lstStyle/>
          <a:p>
            <a:pPr algn="ctr">
              <a:defRPr sz="1200" b="0">
                <a:solidFill>
                  <a:srgbClr val="000000"/>
                </a:solidFill>
                <a:latin typeface="Inter"/>
              </a:defRPr>
            </a:pPr>
            <a:r>
              <a:t>Cloud Computing Icon</a:t>
            </a:r>
          </a:p>
        </p:txBody>
      </p:sp>
      <p:pic>
        <p:nvPicPr>
          <p:cNvPr id="5" name="Picture 4" descr="forbes_media_icon_server database icon_20250902_103506_cbba2e01_transparent.png"/>
          <p:cNvPicPr>
            <a:picLocks noChangeAspect="1"/>
          </p:cNvPicPr>
          <p:nvPr/>
        </p:nvPicPr>
        <p:blipFill>
          <a:blip r:embed="rId3"/>
          <a:stretch>
            <a:fillRect/>
          </a:stretch>
        </p:blipFill>
        <p:spPr>
          <a:xfrm>
            <a:off x="4572000" y="2286000"/>
            <a:ext cx="914400" cy="914400"/>
          </a:xfrm>
          <a:prstGeom prst="rect">
            <a:avLst/>
          </a:prstGeom>
        </p:spPr>
      </p:pic>
      <p:sp>
        <p:nvSpPr>
          <p:cNvPr id="6" name="TextBox 5"/>
          <p:cNvSpPr txBox="1"/>
          <p:nvPr/>
        </p:nvSpPr>
        <p:spPr>
          <a:xfrm>
            <a:off x="4572000" y="3291840"/>
            <a:ext cx="914400" cy="365760"/>
          </a:xfrm>
          <a:prstGeom prst="rect">
            <a:avLst/>
          </a:prstGeom>
          <a:noFill/>
        </p:spPr>
        <p:txBody>
          <a:bodyPr wrap="none" lIns="0" rIns="0" tIns="0" bIns="0">
            <a:spAutoFit/>
          </a:bodyPr>
          <a:lstStyle/>
          <a:p>
            <a:pPr algn="ctr">
              <a:defRPr sz="1200" b="0">
                <a:solidFill>
                  <a:srgbClr val="000000"/>
                </a:solidFill>
                <a:latin typeface="Inter"/>
              </a:defRPr>
            </a:pPr>
            <a:r>
              <a:t>Server Database Icon</a:t>
            </a:r>
          </a:p>
        </p:txBody>
      </p:sp>
      <p:pic>
        <p:nvPicPr>
          <p:cNvPr id="7" name="Picture 6" descr="forbes_media_icon_programming code icon_20250902_103520_4d25d278_transparent.png"/>
          <p:cNvPicPr>
            <a:picLocks noChangeAspect="1"/>
          </p:cNvPicPr>
          <p:nvPr/>
        </p:nvPicPr>
        <p:blipFill>
          <a:blip r:embed="rId4"/>
          <a:stretch>
            <a:fillRect/>
          </a:stretch>
        </p:blipFill>
        <p:spPr>
          <a:xfrm>
            <a:off x="6400800" y="2286000"/>
            <a:ext cx="914400" cy="914400"/>
          </a:xfrm>
          <a:prstGeom prst="rect">
            <a:avLst/>
          </a:prstGeom>
        </p:spPr>
      </p:pic>
      <p:sp>
        <p:nvSpPr>
          <p:cNvPr id="8" name="TextBox 7"/>
          <p:cNvSpPr txBox="1"/>
          <p:nvPr/>
        </p:nvSpPr>
        <p:spPr>
          <a:xfrm>
            <a:off x="6400800" y="3291840"/>
            <a:ext cx="914400" cy="365760"/>
          </a:xfrm>
          <a:prstGeom prst="rect">
            <a:avLst/>
          </a:prstGeom>
          <a:noFill/>
        </p:spPr>
        <p:txBody>
          <a:bodyPr wrap="none" lIns="0" rIns="0" tIns="0" bIns="0">
            <a:spAutoFit/>
          </a:bodyPr>
          <a:lstStyle/>
          <a:p>
            <a:pPr algn="ctr">
              <a:defRPr sz="1200" b="0">
                <a:solidFill>
                  <a:srgbClr val="000000"/>
                </a:solidFill>
                <a:latin typeface="Inter"/>
              </a:defRPr>
            </a:pPr>
            <a:r>
              <a:t>Programming Code Icon</a:t>
            </a:r>
          </a:p>
        </p:txBody>
      </p:sp>
      <p:pic>
        <p:nvPicPr>
          <p:cNvPr id="9" name="Picture 8" descr="forbes_media_icon_network connection icon_20250902_103536_79a4c152_transparent.png"/>
          <p:cNvPicPr>
            <a:picLocks noChangeAspect="1"/>
          </p:cNvPicPr>
          <p:nvPr/>
        </p:nvPicPr>
        <p:blipFill>
          <a:blip r:embed="rId5"/>
          <a:stretch>
            <a:fillRect/>
          </a:stretch>
        </p:blipFill>
        <p:spPr>
          <a:xfrm>
            <a:off x="2743200" y="3657600"/>
            <a:ext cx="914400" cy="914400"/>
          </a:xfrm>
          <a:prstGeom prst="rect">
            <a:avLst/>
          </a:prstGeom>
        </p:spPr>
      </p:pic>
      <p:sp>
        <p:nvSpPr>
          <p:cNvPr id="10" name="TextBox 9"/>
          <p:cNvSpPr txBox="1"/>
          <p:nvPr/>
        </p:nvSpPr>
        <p:spPr>
          <a:xfrm>
            <a:off x="2743200" y="4663440"/>
            <a:ext cx="914400" cy="365760"/>
          </a:xfrm>
          <a:prstGeom prst="rect">
            <a:avLst/>
          </a:prstGeom>
          <a:noFill/>
        </p:spPr>
        <p:txBody>
          <a:bodyPr wrap="none" lIns="0" rIns="0" tIns="0" bIns="0">
            <a:spAutoFit/>
          </a:bodyPr>
          <a:lstStyle/>
          <a:p>
            <a:pPr algn="ctr">
              <a:defRPr sz="1200" b="0">
                <a:solidFill>
                  <a:srgbClr val="000000"/>
                </a:solidFill>
                <a:latin typeface="Inter"/>
              </a:defRPr>
            </a:pPr>
            <a:r>
              <a:t>Network Connection Icon</a:t>
            </a:r>
          </a:p>
        </p:txBody>
      </p:sp>
      <p:pic>
        <p:nvPicPr>
          <p:cNvPr id="11" name="Picture 10" descr="forbes_media_icon_artificial intelligence icon_20250902_103551_21b342ec_transparent.png"/>
          <p:cNvPicPr>
            <a:picLocks noChangeAspect="1"/>
          </p:cNvPicPr>
          <p:nvPr/>
        </p:nvPicPr>
        <p:blipFill>
          <a:blip r:embed="rId6"/>
          <a:stretch>
            <a:fillRect/>
          </a:stretch>
        </p:blipFill>
        <p:spPr>
          <a:xfrm>
            <a:off x="4572000" y="3657600"/>
            <a:ext cx="914400" cy="914400"/>
          </a:xfrm>
          <a:prstGeom prst="rect">
            <a:avLst/>
          </a:prstGeom>
        </p:spPr>
      </p:pic>
      <p:sp>
        <p:nvSpPr>
          <p:cNvPr id="12" name="TextBox 11"/>
          <p:cNvSpPr txBox="1"/>
          <p:nvPr/>
        </p:nvSpPr>
        <p:spPr>
          <a:xfrm>
            <a:off x="4572000" y="4663440"/>
            <a:ext cx="914400" cy="365760"/>
          </a:xfrm>
          <a:prstGeom prst="rect">
            <a:avLst/>
          </a:prstGeom>
          <a:noFill/>
        </p:spPr>
        <p:txBody>
          <a:bodyPr wrap="none" lIns="0" rIns="0" tIns="0" bIns="0">
            <a:spAutoFit/>
          </a:bodyPr>
          <a:lstStyle/>
          <a:p>
            <a:pPr algn="ctr">
              <a:defRPr sz="1200" b="0">
                <a:solidFill>
                  <a:srgbClr val="000000"/>
                </a:solidFill>
                <a:latin typeface="Inter"/>
              </a:defRPr>
            </a:pPr>
            <a:r>
              <a:t>Artificial Intelligence Icon</a:t>
            </a:r>
          </a:p>
        </p:txBody>
      </p:sp>
      <p:pic>
        <p:nvPicPr>
          <p:cNvPr id="13" name="Picture 12" descr="forbes_media_icon_security lock icon_20250902_103607_9ae515ff_transparent.png"/>
          <p:cNvPicPr>
            <a:picLocks noChangeAspect="1"/>
          </p:cNvPicPr>
          <p:nvPr/>
        </p:nvPicPr>
        <p:blipFill>
          <a:blip r:embed="rId7"/>
          <a:stretch>
            <a:fillRect/>
          </a:stretch>
        </p:blipFill>
        <p:spPr>
          <a:xfrm>
            <a:off x="6400800" y="3657600"/>
            <a:ext cx="914400" cy="914400"/>
          </a:xfrm>
          <a:prstGeom prst="rect">
            <a:avLst/>
          </a:prstGeom>
        </p:spPr>
      </p:pic>
      <p:sp>
        <p:nvSpPr>
          <p:cNvPr id="14" name="TextBox 13"/>
          <p:cNvSpPr txBox="1"/>
          <p:nvPr/>
        </p:nvSpPr>
        <p:spPr>
          <a:xfrm>
            <a:off x="6400800" y="4663440"/>
            <a:ext cx="914400" cy="365760"/>
          </a:xfrm>
          <a:prstGeom prst="rect">
            <a:avLst/>
          </a:prstGeom>
          <a:noFill/>
        </p:spPr>
        <p:txBody>
          <a:bodyPr wrap="none" lIns="0" rIns="0" tIns="0" bIns="0">
            <a:spAutoFit/>
          </a:bodyPr>
          <a:lstStyle/>
          <a:p>
            <a:pPr algn="ctr">
              <a:defRPr sz="1200" b="0">
                <a:solidFill>
                  <a:srgbClr val="000000"/>
                </a:solidFill>
                <a:latin typeface="Inter"/>
              </a:defRPr>
            </a:pPr>
            <a:r>
              <a:t>Security Lock Icon</a:t>
            </a:r>
          </a:p>
        </p:txBody>
      </p:sp>
      <p:cxnSp>
        <p:nvCxnSpPr>
          <p:cNvPr id="15" name="Connector 14"/>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00100" y="5560695"/>
            <a:ext cx="3657600" cy="731520"/>
          </a:xfrm>
          <a:prstGeom prst="rect">
            <a:avLst/>
          </a:prstGeom>
          <a:noFill/>
        </p:spPr>
        <p:txBody>
          <a:bodyPr wrap="none">
            <a:spAutoFit/>
          </a:bodyPr>
          <a:lstStyle/>
          <a:p>
            <a:pPr algn="l">
              <a:defRPr sz="2800" b="1">
                <a:solidFill>
                  <a:srgbClr val="4CAF50"/>
                </a:solidFill>
                <a:latin typeface="Source Sans Pro"/>
              </a:defRPr>
            </a:pPr>
            <a:r>
              <a:t>ICONOGRAPHY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228850"/>
          </a:xfrm>
          <a:prstGeom prst="rect">
            <a:avLst/>
          </a:prstGeom>
          <a:noFill/>
        </p:spPr>
        <p:txBody>
          <a:bodyPr wrap="square" lIns="0" rIns="0" tIns="0" bIns="0">
            <a:spAutoFit/>
          </a:bodyPr>
          <a:lstStyle/>
          <a:p>
            <a:pPr algn="l">
              <a:spcAft>
                <a:spcPts val="600"/>
              </a:spcAft>
              <a:defRPr sz="1800" b="0">
                <a:solidFill>
                  <a:srgbClr val="000000"/>
                </a:solidFill>
                <a:latin typeface="Inter"/>
              </a:defRPr>
            </a:pPr>
            <a:r>
              <a:t>Style: Minimalist Outline design</a:t>
            </a:r>
          </a:p>
          <a:p>
            <a:pPr algn="l">
              <a:spcAft>
                <a:spcPts val="600"/>
              </a:spcAft>
              <a:defRPr sz="1800" b="0">
                <a:solidFill>
                  <a:srgbClr val="000000"/>
                </a:solidFill>
                <a:latin typeface="Inter"/>
              </a:defRPr>
            </a:pPr>
            <a:r>
              <a:t>Color: #4CAF50 on black background</a:t>
            </a:r>
          </a:p>
          <a:p>
            <a:pPr algn="l">
              <a:spcAft>
                <a:spcPts val="600"/>
              </a:spcAft>
              <a:defRPr sz="1800" b="0">
                <a:solidFill>
                  <a:srgbClr val="000000"/>
                </a:solidFill>
                <a:latin typeface="Inter"/>
              </a:defRPr>
            </a:pPr>
          </a:p>
          <a:p>
            <a:pPr algn="l">
              <a:spcAft>
                <a:spcPts val="600"/>
              </a:spcAft>
              <a:defRPr sz="1800" b="0">
                <a:solidFill>
                  <a:srgbClr val="000000"/>
                </a:solidFill>
                <a:latin typeface="Inter"/>
              </a:defRPr>
            </a:pPr>
            <a:r>
              <a:t>Size Requirements:</a:t>
            </a:r>
          </a:p>
          <a:p>
            <a:pPr algn="l">
              <a:spcAft>
                <a:spcPts val="600"/>
              </a:spcAft>
              <a:defRPr sz="1800" b="0">
                <a:solidFill>
                  <a:srgbClr val="000000"/>
                </a:solidFill>
                <a:latin typeface="Inter"/>
              </a:defRPr>
            </a:pPr>
            <a:r>
              <a:t>• Minimum: 16px web, 0.5" print</a:t>
            </a:r>
          </a:p>
          <a:p>
            <a:pPr algn="l">
              <a:spcAft>
                <a:spcPts val="600"/>
              </a:spcAft>
              <a:defRPr sz="1800" b="0">
                <a:solidFill>
                  <a:srgbClr val="000000"/>
                </a:solidFill>
                <a:latin typeface="Inter"/>
              </a:defRPr>
            </a:pPr>
            <a:r>
              <a:t>• Recommended: 24px+ web, 0.75"+ print</a:t>
            </a:r>
          </a:p>
          <a:p>
            <a:pPr algn="l">
              <a:spcAft>
                <a:spcPts val="600"/>
              </a:spcAft>
              <a:defRPr sz="1800" b="0">
                <a:solidFill>
                  <a:srgbClr val="000000"/>
                </a:solidFill>
                <a:latin typeface="Inter"/>
              </a:defRPr>
            </a:pPr>
          </a:p>
          <a:p>
            <a:pPr algn="l">
              <a:spcAft>
                <a:spcPts val="600"/>
              </a:spcAft>
              <a:defRPr sz="1800" b="0">
                <a:solidFill>
                  <a:srgbClr val="000000"/>
                </a:solidFill>
                <a:latin typeface="Inter"/>
              </a:defRPr>
            </a:pPr>
            <a:r>
              <a:t>Spacing:</a:t>
            </a:r>
          </a:p>
          <a:p>
            <a:pPr algn="l">
              <a:spcAft>
                <a:spcPts val="600"/>
              </a:spcAft>
              <a:defRPr sz="1800" b="0">
                <a:solidFill>
                  <a:srgbClr val="000000"/>
                </a:solidFill>
                <a:latin typeface="Inter"/>
              </a:defRPr>
            </a:pPr>
            <a:r>
              <a:t>• Clear space: 50% of icon width</a:t>
            </a:r>
          </a:p>
          <a:p>
            <a:pPr algn="l">
              <a:spcAft>
                <a:spcPts val="600"/>
              </a:spcAft>
              <a:defRPr sz="1800" b="0">
                <a:solidFill>
                  <a:srgbClr val="000000"/>
                </a:solidFill>
                <a:latin typeface="Inter"/>
              </a:defRPr>
            </a:pPr>
            <a:r>
              <a:t>• Consistent grid alignment</a:t>
            </a:r>
          </a:p>
        </p:txBody>
      </p:sp>
      <p:cxnSp>
        <p:nvCxnSpPr>
          <p:cNvPr id="3" name="Connector 2"/>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560695"/>
            <a:ext cx="5486400" cy="731520"/>
          </a:xfrm>
          <a:prstGeom prst="rect">
            <a:avLst/>
          </a:prstGeom>
          <a:noFill/>
        </p:spPr>
        <p:txBody>
          <a:bodyPr wrap="none">
            <a:spAutoFit/>
          </a:bodyPr>
          <a:lstStyle/>
          <a:p>
            <a:pPr algn="l">
              <a:defRPr sz="2800" b="1">
                <a:solidFill>
                  <a:srgbClr val="4CAF50"/>
                </a:solidFill>
                <a:latin typeface="Source Sans Pro"/>
              </a:defRPr>
            </a:pPr>
            <a:r>
              <a:t>USAGE GUIDELINES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68680" y="320040"/>
            <a:ext cx="2468880" cy="1463040"/>
          </a:xfrm>
          <a:prstGeom prst="rect">
            <a:avLst/>
          </a:prstGeom>
          <a:solidFill>
            <a:srgbClr val="F8F8F8"/>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orbes_media_illustration_1_20250902_103626_53448327.png"/>
          <p:cNvPicPr>
            <a:picLocks noChangeAspect="1"/>
          </p:cNvPicPr>
          <p:nvPr/>
        </p:nvPicPr>
        <p:blipFill>
          <a:blip r:embed="rId2"/>
          <a:stretch>
            <a:fillRect/>
          </a:stretch>
        </p:blipFill>
        <p:spPr>
          <a:xfrm>
            <a:off x="914400" y="365760"/>
            <a:ext cx="2377440" cy="1371600"/>
          </a:xfrm>
          <a:prstGeom prst="rect">
            <a:avLst/>
          </a:prstGeom>
        </p:spPr>
      </p:pic>
      <p:sp>
        <p:nvSpPr>
          <p:cNvPr id="4" name="TextBox 3"/>
          <p:cNvSpPr txBox="1"/>
          <p:nvPr/>
        </p:nvSpPr>
        <p:spPr>
          <a:xfrm>
            <a:off x="914400" y="137160"/>
            <a:ext cx="2377440" cy="182880"/>
          </a:xfrm>
          <a:prstGeom prst="rect">
            <a:avLst/>
          </a:prstGeom>
          <a:noFill/>
        </p:spPr>
        <p:txBody>
          <a:bodyPr wrap="none" lIns="0" rIns="0" tIns="0" bIns="0">
            <a:spAutoFit/>
          </a:bodyPr>
          <a:lstStyle/>
          <a:p>
            <a:pPr algn="ctr">
              <a:defRPr sz="800" b="1">
                <a:solidFill>
                  <a:srgbClr val="4CAF50"/>
                </a:solidFill>
                <a:latin typeface="Inter"/>
              </a:defRPr>
            </a:pPr>
            <a:r>
              <a:t>External Focus</a:t>
            </a:r>
          </a:p>
        </p:txBody>
      </p:sp>
      <p:sp>
        <p:nvSpPr>
          <p:cNvPr id="5" name="TextBox 4"/>
          <p:cNvSpPr txBox="1"/>
          <p:nvPr/>
        </p:nvSpPr>
        <p:spPr>
          <a:xfrm>
            <a:off x="914400" y="1810512"/>
            <a:ext cx="2377440" cy="228600"/>
          </a:xfrm>
          <a:prstGeom prst="rect">
            <a:avLst/>
          </a:prstGeom>
          <a:noFill/>
        </p:spPr>
        <p:txBody>
          <a:bodyPr wrap="none" lIns="0" rIns="0" tIns="0" bIns="0">
            <a:spAutoFit/>
          </a:bodyPr>
          <a:lstStyle/>
          <a:p>
            <a:pPr algn="ctr">
              <a:defRPr sz="900" b="0">
                <a:solidFill>
                  <a:srgbClr val="666666"/>
                </a:solidFill>
                <a:latin typeface="Inter"/>
              </a:defRPr>
            </a:pPr>
            <a:r>
              <a:t>Digital innovation in Media &amp; Publi...</a:t>
            </a:r>
          </a:p>
        </p:txBody>
      </p:sp>
      <p:sp>
        <p:nvSpPr>
          <p:cNvPr id="6" name="Rectangle 5"/>
          <p:cNvSpPr/>
          <p:nvPr/>
        </p:nvSpPr>
        <p:spPr>
          <a:xfrm>
            <a:off x="3703320" y="320040"/>
            <a:ext cx="2468880" cy="1463040"/>
          </a:xfrm>
          <a:prstGeom prst="rect">
            <a:avLst/>
          </a:prstGeom>
          <a:solidFill>
            <a:srgbClr val="F8F8F8"/>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orbes_media_illustration_2_20250902_103642_e802d7ec.png"/>
          <p:cNvPicPr>
            <a:picLocks noChangeAspect="1"/>
          </p:cNvPicPr>
          <p:nvPr/>
        </p:nvPicPr>
        <p:blipFill>
          <a:blip r:embed="rId3"/>
          <a:stretch>
            <a:fillRect/>
          </a:stretch>
        </p:blipFill>
        <p:spPr>
          <a:xfrm>
            <a:off x="3749040" y="365760"/>
            <a:ext cx="2377440" cy="1371600"/>
          </a:xfrm>
          <a:prstGeom prst="rect">
            <a:avLst/>
          </a:prstGeom>
        </p:spPr>
      </p:pic>
      <p:sp>
        <p:nvSpPr>
          <p:cNvPr id="8" name="TextBox 7"/>
          <p:cNvSpPr txBox="1"/>
          <p:nvPr/>
        </p:nvSpPr>
        <p:spPr>
          <a:xfrm>
            <a:off x="3749040" y="137160"/>
            <a:ext cx="2377440" cy="182880"/>
          </a:xfrm>
          <a:prstGeom prst="rect">
            <a:avLst/>
          </a:prstGeom>
          <a:noFill/>
        </p:spPr>
        <p:txBody>
          <a:bodyPr wrap="none" lIns="0" rIns="0" tIns="0" bIns="0">
            <a:spAutoFit/>
          </a:bodyPr>
          <a:lstStyle/>
          <a:p>
            <a:pPr algn="ctr">
              <a:defRPr sz="800" b="1">
                <a:solidFill>
                  <a:srgbClr val="4CAF50"/>
                </a:solidFill>
                <a:latin typeface="Inter"/>
              </a:defRPr>
            </a:pPr>
            <a:r>
              <a:t>External Focus</a:t>
            </a:r>
          </a:p>
        </p:txBody>
      </p:sp>
      <p:sp>
        <p:nvSpPr>
          <p:cNvPr id="9" name="TextBox 8"/>
          <p:cNvSpPr txBox="1"/>
          <p:nvPr/>
        </p:nvSpPr>
        <p:spPr>
          <a:xfrm>
            <a:off x="3749040" y="1810512"/>
            <a:ext cx="2377440" cy="228600"/>
          </a:xfrm>
          <a:prstGeom prst="rect">
            <a:avLst/>
          </a:prstGeom>
          <a:noFill/>
        </p:spPr>
        <p:txBody>
          <a:bodyPr wrap="none" lIns="0" rIns="0" tIns="0" bIns="0">
            <a:spAutoFit/>
          </a:bodyPr>
          <a:lstStyle/>
          <a:p>
            <a:pPr algn="ctr">
              <a:defRPr sz="900" b="0">
                <a:solidFill>
                  <a:srgbClr val="666666"/>
                </a:solidFill>
                <a:latin typeface="Inter"/>
              </a:defRPr>
            </a:pPr>
            <a:r>
              <a:t>Professional excellence in Media &amp; ...</a:t>
            </a:r>
          </a:p>
        </p:txBody>
      </p:sp>
      <p:sp>
        <p:nvSpPr>
          <p:cNvPr id="10" name="Rectangle 9"/>
          <p:cNvSpPr/>
          <p:nvPr/>
        </p:nvSpPr>
        <p:spPr>
          <a:xfrm>
            <a:off x="6537960" y="320040"/>
            <a:ext cx="2468880" cy="1463040"/>
          </a:xfrm>
          <a:prstGeom prst="rect">
            <a:avLst/>
          </a:prstGeom>
          <a:solidFill>
            <a:srgbClr val="F8F8F8"/>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orbes_media_illustration_3_20250902_103658_70875160.png"/>
          <p:cNvPicPr>
            <a:picLocks noChangeAspect="1"/>
          </p:cNvPicPr>
          <p:nvPr/>
        </p:nvPicPr>
        <p:blipFill>
          <a:blip r:embed="rId4"/>
          <a:stretch>
            <a:fillRect/>
          </a:stretch>
        </p:blipFill>
        <p:spPr>
          <a:xfrm>
            <a:off x="6583680" y="365760"/>
            <a:ext cx="2377440" cy="1371600"/>
          </a:xfrm>
          <a:prstGeom prst="rect">
            <a:avLst/>
          </a:prstGeom>
        </p:spPr>
      </p:pic>
      <p:sp>
        <p:nvSpPr>
          <p:cNvPr id="12" name="TextBox 11"/>
          <p:cNvSpPr txBox="1"/>
          <p:nvPr/>
        </p:nvSpPr>
        <p:spPr>
          <a:xfrm>
            <a:off x="6583680" y="137160"/>
            <a:ext cx="2377440" cy="182880"/>
          </a:xfrm>
          <a:prstGeom prst="rect">
            <a:avLst/>
          </a:prstGeom>
          <a:noFill/>
        </p:spPr>
        <p:txBody>
          <a:bodyPr wrap="none" lIns="0" rIns="0" tIns="0" bIns="0">
            <a:spAutoFit/>
          </a:bodyPr>
          <a:lstStyle/>
          <a:p>
            <a:pPr algn="ctr">
              <a:defRPr sz="800" b="1">
                <a:solidFill>
                  <a:srgbClr val="4CAF50"/>
                </a:solidFill>
                <a:latin typeface="Inter"/>
              </a:defRPr>
            </a:pPr>
            <a:r>
              <a:t>External Focus</a:t>
            </a:r>
          </a:p>
        </p:txBody>
      </p:sp>
      <p:sp>
        <p:nvSpPr>
          <p:cNvPr id="13" name="TextBox 12"/>
          <p:cNvSpPr txBox="1"/>
          <p:nvPr/>
        </p:nvSpPr>
        <p:spPr>
          <a:xfrm>
            <a:off x="6583680" y="1810512"/>
            <a:ext cx="2377440" cy="228600"/>
          </a:xfrm>
          <a:prstGeom prst="rect">
            <a:avLst/>
          </a:prstGeom>
          <a:noFill/>
        </p:spPr>
        <p:txBody>
          <a:bodyPr wrap="none" lIns="0" rIns="0" tIns="0" bIns="0">
            <a:spAutoFit/>
          </a:bodyPr>
          <a:lstStyle/>
          <a:p>
            <a:pPr algn="ctr">
              <a:defRPr sz="900" b="0">
                <a:solidFill>
                  <a:srgbClr val="666666"/>
                </a:solidFill>
                <a:latin typeface="Inter"/>
              </a:defRPr>
            </a:pPr>
            <a:r>
              <a:t>Innovative solutions for Media &amp; Pu...</a:t>
            </a:r>
          </a:p>
        </p:txBody>
      </p:sp>
      <p:sp>
        <p:nvSpPr>
          <p:cNvPr id="14" name="Rectangle 13"/>
          <p:cNvSpPr/>
          <p:nvPr/>
        </p:nvSpPr>
        <p:spPr>
          <a:xfrm>
            <a:off x="868680" y="2331720"/>
            <a:ext cx="2468880" cy="1463040"/>
          </a:xfrm>
          <a:prstGeom prst="rect">
            <a:avLst/>
          </a:prstGeom>
          <a:solidFill>
            <a:srgbClr val="F8F8F8"/>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orbes_media_illustration_5_20250902_103734_2a7093f2.png"/>
          <p:cNvPicPr>
            <a:picLocks noChangeAspect="1"/>
          </p:cNvPicPr>
          <p:nvPr/>
        </p:nvPicPr>
        <p:blipFill>
          <a:blip r:embed="rId5"/>
          <a:stretch>
            <a:fillRect/>
          </a:stretch>
        </p:blipFill>
        <p:spPr>
          <a:xfrm>
            <a:off x="914400" y="2377440"/>
            <a:ext cx="2377440" cy="1371600"/>
          </a:xfrm>
          <a:prstGeom prst="rect">
            <a:avLst/>
          </a:prstGeom>
        </p:spPr>
      </p:pic>
      <p:sp>
        <p:nvSpPr>
          <p:cNvPr id="16" name="TextBox 15"/>
          <p:cNvSpPr txBox="1"/>
          <p:nvPr/>
        </p:nvSpPr>
        <p:spPr>
          <a:xfrm>
            <a:off x="914400" y="2148840"/>
            <a:ext cx="2377440" cy="182880"/>
          </a:xfrm>
          <a:prstGeom prst="rect">
            <a:avLst/>
          </a:prstGeom>
          <a:noFill/>
        </p:spPr>
        <p:txBody>
          <a:bodyPr wrap="none" lIns="0" rIns="0" tIns="0" bIns="0">
            <a:spAutoFit/>
          </a:bodyPr>
          <a:lstStyle/>
          <a:p>
            <a:pPr algn="ctr">
              <a:defRPr sz="800" b="1">
                <a:solidFill>
                  <a:srgbClr val="4CAF50"/>
                </a:solidFill>
                <a:latin typeface="Inter"/>
              </a:defRPr>
            </a:pPr>
            <a:r>
              <a:t>Internal Focus</a:t>
            </a:r>
          </a:p>
        </p:txBody>
      </p:sp>
      <p:sp>
        <p:nvSpPr>
          <p:cNvPr id="17" name="TextBox 16"/>
          <p:cNvSpPr txBox="1"/>
          <p:nvPr/>
        </p:nvSpPr>
        <p:spPr>
          <a:xfrm>
            <a:off x="914400" y="3822192"/>
            <a:ext cx="2377440" cy="228600"/>
          </a:xfrm>
          <a:prstGeom prst="rect">
            <a:avLst/>
          </a:prstGeom>
          <a:noFill/>
        </p:spPr>
        <p:txBody>
          <a:bodyPr wrap="none" lIns="0" rIns="0" tIns="0" bIns="0">
            <a:spAutoFit/>
          </a:bodyPr>
          <a:lstStyle/>
          <a:p>
            <a:pPr algn="ctr">
              <a:defRPr sz="900" b="0">
                <a:solidFill>
                  <a:srgbClr val="666666"/>
                </a:solidFill>
                <a:latin typeface="Inter"/>
              </a:defRPr>
            </a:pPr>
            <a:r>
              <a:t>Collaborative teamwork and company ...</a:t>
            </a:r>
          </a:p>
        </p:txBody>
      </p:sp>
      <p:sp>
        <p:nvSpPr>
          <p:cNvPr id="18" name="Rectangle 17"/>
          <p:cNvSpPr/>
          <p:nvPr/>
        </p:nvSpPr>
        <p:spPr>
          <a:xfrm>
            <a:off x="3703320" y="2331720"/>
            <a:ext cx="2468880" cy="1463040"/>
          </a:xfrm>
          <a:prstGeom prst="rect">
            <a:avLst/>
          </a:prstGeom>
          <a:solidFill>
            <a:srgbClr val="F8F8F8"/>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orbes_media_illustration_4_20250902_103718_fa812bb8.png"/>
          <p:cNvPicPr>
            <a:picLocks noChangeAspect="1"/>
          </p:cNvPicPr>
          <p:nvPr/>
        </p:nvPicPr>
        <p:blipFill>
          <a:blip r:embed="rId6"/>
          <a:stretch>
            <a:fillRect/>
          </a:stretch>
        </p:blipFill>
        <p:spPr>
          <a:xfrm>
            <a:off x="3749040" y="2377440"/>
            <a:ext cx="2377440" cy="1371600"/>
          </a:xfrm>
          <a:prstGeom prst="rect">
            <a:avLst/>
          </a:prstGeom>
        </p:spPr>
      </p:pic>
      <p:sp>
        <p:nvSpPr>
          <p:cNvPr id="20" name="TextBox 19"/>
          <p:cNvSpPr txBox="1"/>
          <p:nvPr/>
        </p:nvSpPr>
        <p:spPr>
          <a:xfrm>
            <a:off x="3749040" y="2148840"/>
            <a:ext cx="2377440" cy="182880"/>
          </a:xfrm>
          <a:prstGeom prst="rect">
            <a:avLst/>
          </a:prstGeom>
          <a:noFill/>
        </p:spPr>
        <p:txBody>
          <a:bodyPr wrap="none" lIns="0" rIns="0" tIns="0" bIns="0">
            <a:spAutoFit/>
          </a:bodyPr>
          <a:lstStyle/>
          <a:p>
            <a:pPr algn="ctr">
              <a:defRPr sz="800" b="1">
                <a:solidFill>
                  <a:srgbClr val="4CAF50"/>
                </a:solidFill>
                <a:latin typeface="Inter"/>
              </a:defRPr>
            </a:pPr>
            <a:r>
              <a:t>Internal Focus</a:t>
            </a:r>
          </a:p>
        </p:txBody>
      </p:sp>
      <p:sp>
        <p:nvSpPr>
          <p:cNvPr id="21" name="TextBox 20"/>
          <p:cNvSpPr txBox="1"/>
          <p:nvPr/>
        </p:nvSpPr>
        <p:spPr>
          <a:xfrm>
            <a:off x="3749040" y="3822192"/>
            <a:ext cx="2377440" cy="228600"/>
          </a:xfrm>
          <a:prstGeom prst="rect">
            <a:avLst/>
          </a:prstGeom>
          <a:noFill/>
        </p:spPr>
        <p:txBody>
          <a:bodyPr wrap="none" lIns="0" rIns="0" tIns="0" bIns="0">
            <a:spAutoFit/>
          </a:bodyPr>
          <a:lstStyle/>
          <a:p>
            <a:pPr algn="ctr">
              <a:defRPr sz="900" b="0">
                <a:solidFill>
                  <a:srgbClr val="666666"/>
                </a:solidFill>
                <a:latin typeface="Inter"/>
              </a:defRPr>
            </a:pPr>
            <a:r>
              <a:t>Strategic growth and development in...</a:t>
            </a:r>
          </a:p>
        </p:txBody>
      </p:sp>
      <p:sp>
        <p:nvSpPr>
          <p:cNvPr id="22" name="Rectangle 21"/>
          <p:cNvSpPr/>
          <p:nvPr/>
        </p:nvSpPr>
        <p:spPr>
          <a:xfrm>
            <a:off x="6537960" y="2331720"/>
            <a:ext cx="2468880" cy="1463040"/>
          </a:xfrm>
          <a:prstGeom prst="rect">
            <a:avLst/>
          </a:prstGeom>
          <a:solidFill>
            <a:srgbClr val="F8F8F8"/>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orbes_media_illustration_6_20250902_103749_b4f8bd2a.png"/>
          <p:cNvPicPr>
            <a:picLocks noChangeAspect="1"/>
          </p:cNvPicPr>
          <p:nvPr/>
        </p:nvPicPr>
        <p:blipFill>
          <a:blip r:embed="rId7"/>
          <a:stretch>
            <a:fillRect/>
          </a:stretch>
        </p:blipFill>
        <p:spPr>
          <a:xfrm>
            <a:off x="6583680" y="2377440"/>
            <a:ext cx="2377440" cy="1371600"/>
          </a:xfrm>
          <a:prstGeom prst="rect">
            <a:avLst/>
          </a:prstGeom>
        </p:spPr>
      </p:pic>
      <p:sp>
        <p:nvSpPr>
          <p:cNvPr id="24" name="TextBox 23"/>
          <p:cNvSpPr txBox="1"/>
          <p:nvPr/>
        </p:nvSpPr>
        <p:spPr>
          <a:xfrm>
            <a:off x="6583680" y="2148840"/>
            <a:ext cx="2377440" cy="182880"/>
          </a:xfrm>
          <a:prstGeom prst="rect">
            <a:avLst/>
          </a:prstGeom>
          <a:noFill/>
        </p:spPr>
        <p:txBody>
          <a:bodyPr wrap="none" lIns="0" rIns="0" tIns="0" bIns="0">
            <a:spAutoFit/>
          </a:bodyPr>
          <a:lstStyle/>
          <a:p>
            <a:pPr algn="ctr">
              <a:defRPr sz="800" b="1">
                <a:solidFill>
                  <a:srgbClr val="4CAF50"/>
                </a:solidFill>
                <a:latin typeface="Inter"/>
              </a:defRPr>
            </a:pPr>
            <a:r>
              <a:t>Internal Focus</a:t>
            </a:r>
          </a:p>
        </p:txBody>
      </p:sp>
      <p:sp>
        <p:nvSpPr>
          <p:cNvPr id="25" name="TextBox 24"/>
          <p:cNvSpPr txBox="1"/>
          <p:nvPr/>
        </p:nvSpPr>
        <p:spPr>
          <a:xfrm>
            <a:off x="6583680" y="3822192"/>
            <a:ext cx="2377440" cy="228600"/>
          </a:xfrm>
          <a:prstGeom prst="rect">
            <a:avLst/>
          </a:prstGeom>
          <a:noFill/>
        </p:spPr>
        <p:txBody>
          <a:bodyPr wrap="none" lIns="0" rIns="0" tIns="0" bIns="0">
            <a:spAutoFit/>
          </a:bodyPr>
          <a:lstStyle/>
          <a:p>
            <a:pPr algn="ctr">
              <a:defRPr sz="900" b="0">
                <a:solidFill>
                  <a:srgbClr val="666666"/>
                </a:solidFill>
                <a:latin typeface="Inter"/>
              </a:defRPr>
            </a:pPr>
            <a:r>
              <a:t>Technology integration and digital ...</a:t>
            </a:r>
          </a:p>
        </p:txBody>
      </p:sp>
      <p:sp>
        <p:nvSpPr>
          <p:cNvPr id="26" name="TextBox 25"/>
          <p:cNvSpPr txBox="1"/>
          <p:nvPr/>
        </p:nvSpPr>
        <p:spPr>
          <a:xfrm>
            <a:off x="914400" y="4663440"/>
            <a:ext cx="7315200" cy="731520"/>
          </a:xfrm>
          <a:prstGeom prst="rect">
            <a:avLst/>
          </a:prstGeom>
          <a:noFill/>
        </p:spPr>
        <p:txBody>
          <a:bodyPr wrap="square" lIns="0" rIns="0" tIns="0" bIns="0">
            <a:spAutoFit/>
          </a:bodyPr>
          <a:lstStyle/>
          <a:p>
            <a:pPr algn="ctr">
              <a:defRPr sz="1000" b="0">
                <a:solidFill>
                  <a:srgbClr val="000000"/>
                </a:solidFill>
                <a:latin typeface="Inter"/>
              </a:defRPr>
            </a:pPr>
            <a:r>
              <a:t>USAGE NOTES: These illustrations define the visual storytelling style of the brand. Use them consistently across presentations, reports, and marketing materials to maintain brand coherence.</a:t>
            </a:r>
          </a:p>
        </p:txBody>
      </p:sp>
      <p:cxnSp>
        <p:nvCxnSpPr>
          <p:cNvPr id="27" name="Connector 26"/>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00100" y="5189220"/>
            <a:ext cx="5486400" cy="731520"/>
          </a:xfrm>
          <a:prstGeom prst="rect">
            <a:avLst/>
          </a:prstGeom>
          <a:noFill/>
        </p:spPr>
        <p:txBody>
          <a:bodyPr wrap="none" lIns="0" rIns="0" tIns="0" bIns="0">
            <a:spAutoFit/>
          </a:bodyPr>
          <a:lstStyle/>
          <a:p>
            <a:pPr algn="l">
              <a:defRPr sz="2800" b="1">
                <a:solidFill>
                  <a:srgbClr val="4CAF50"/>
                </a:solidFill>
                <a:latin typeface="Source Sans Pro"/>
              </a:defRPr>
            </a:pPr>
            <a:r>
              <a:t>BRAND ILLUSTRATIONS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