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zeta_logo_1_20250828_235333_3e1fde11.png"/>
          <p:cNvPicPr>
            <a:picLocks noChangeAspect="1"/>
          </p:cNvPicPr>
          <p:nvPr/>
        </p:nvPicPr>
        <p:blipFill>
          <a:blip r:embed="rId2"/>
          <a:stretch>
            <a:fillRect/>
          </a:stretch>
        </p:blipFill>
        <p:spPr>
          <a:xfrm>
            <a:off x="0" y="0"/>
            <a:ext cx="9144000" cy="6858000"/>
          </a:xfrm>
          <a:prstGeom prst="rect">
            <a:avLst/>
          </a:prstGeom>
        </p:spPr>
      </p:pic>
      <p:cxnSp>
        <p:nvCxnSpPr>
          <p:cNvPr id="3" name="Connector 2"/>
          <p:cNvCxnSpPr/>
          <p:nvPr/>
        </p:nvCxnSpPr>
        <p:spPr>
          <a:xfrm>
            <a:off x="6629400.0" y="5657850.0"/>
            <a:ext cx="2057400.0" cy="0.0"/>
          </a:xfrm>
          <a:prstGeom prst="line">
            <a:avLst/>
          </a:prstGeom>
          <a:ln>
            <a:solidFill>
              <a:srgbClr val="2E86AB"/>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629400" y="5657850"/>
            <a:ext cx="2057400" cy="1485900"/>
          </a:xfrm>
          <a:prstGeom prst="rect">
            <a:avLst/>
          </a:prstGeom>
          <a:noFill/>
        </p:spPr>
        <p:txBody>
          <a:bodyPr wrap="none" anchor="ctr">
            <a:spAutoFit/>
          </a:bodyPr>
          <a:lstStyle/>
          <a:p>
            <a:pPr algn="ctr">
              <a:defRPr sz="1800" b="0">
                <a:solidFill>
                  <a:srgbClr val="2E86AB"/>
                </a:solidFill>
                <a:latin typeface="Source Sans Pro"/>
              </a:defRPr>
            </a:pPr>
            <a:r>
              <a:t>Brand Identity System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2743200" cy="731520"/>
          </a:xfrm>
          <a:prstGeom prst="rect">
            <a:avLst/>
          </a:prstGeom>
          <a:noFill/>
        </p:spPr>
        <p:txBody>
          <a:bodyPr wrap="none">
            <a:spAutoFit/>
          </a:bodyPr>
          <a:lstStyle/>
          <a:p>
            <a:pPr>
              <a:defRPr sz="2800" b="1">
                <a:solidFill>
                  <a:srgbClr val="2E86AB"/>
                </a:solidFill>
                <a:latin typeface="Inter"/>
              </a:defRPr>
            </a:pPr>
            <a:r>
              <a:t>INDEX</a:t>
            </a:r>
          </a:p>
        </p:txBody>
      </p:sp>
      <p:cxnSp>
        <p:nvCxnSpPr>
          <p:cNvPr id="3" name="Connector 2"/>
          <p:cNvCxnSpPr/>
          <p:nvPr/>
        </p:nvCxnSpPr>
        <p:spPr>
          <a:xfrm>
            <a:off x="457200" y="1097280"/>
            <a:ext cx="8229600" cy="0"/>
          </a:xfrm>
          <a:prstGeom prst="line">
            <a:avLst/>
          </a:prstGeom>
          <a:ln w="25400">
            <a:solidFill>
              <a:srgbClr val="2E86AB"/>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554480"/>
            <a:ext cx="1828800" cy="274320"/>
          </a:xfrm>
          <a:prstGeom prst="rect">
            <a:avLst/>
          </a:prstGeom>
          <a:noFill/>
        </p:spPr>
        <p:txBody>
          <a:bodyPr wrap="none" lIns="0" rIns="0" tIns="0" bIns="0">
            <a:spAutoFit/>
          </a:bodyPr>
          <a:lstStyle/>
          <a:p>
            <a:pPr>
              <a:defRPr sz="1200" b="1">
                <a:solidFill>
                  <a:srgbClr val="FFFFFF"/>
                </a:solidFill>
                <a:latin typeface="Source Sans Pro"/>
              </a:defRPr>
            </a:pPr>
            <a:r>
              <a:t>Introduction</a:t>
            </a:r>
          </a:p>
        </p:txBody>
      </p:sp>
      <p:cxnSp>
        <p:nvCxnSpPr>
          <p:cNvPr id="5" name="Connector 4"/>
          <p:cNvCxnSpPr/>
          <p:nvPr/>
        </p:nvCxnSpPr>
        <p:spPr>
          <a:xfrm>
            <a:off x="2331719" y="1664208"/>
            <a:ext cx="365760" cy="0"/>
          </a:xfrm>
          <a:prstGeom prst="line">
            <a:avLst/>
          </a:prstGeom>
          <a:ln w="19050">
            <a:solidFill>
              <a:srgbClr val="2E86A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2743200" y="1554480"/>
            <a:ext cx="274320" cy="274320"/>
          </a:xfrm>
          <a:prstGeom prst="rect">
            <a:avLst/>
          </a:prstGeom>
          <a:noFill/>
        </p:spPr>
        <p:txBody>
          <a:bodyPr wrap="none" lIns="0" tIns="0" bIns="0">
            <a:spAutoFit/>
          </a:bodyPr>
          <a:lstStyle/>
          <a:p>
            <a:pPr>
              <a:defRPr sz="1200" b="1">
                <a:solidFill>
                  <a:srgbClr val="2E86AB"/>
                </a:solidFill>
                <a:latin typeface="Source Sans Pro"/>
              </a:defRPr>
            </a:pPr>
            <a:r>
              <a:t>01</a:t>
            </a:r>
          </a:p>
        </p:txBody>
      </p:sp>
      <p:sp>
        <p:nvSpPr>
          <p:cNvPr id="7" name="TextBox 6"/>
          <p:cNvSpPr txBox="1"/>
          <p:nvPr/>
        </p:nvSpPr>
        <p:spPr>
          <a:xfrm>
            <a:off x="457200" y="2057400"/>
            <a:ext cx="1828800" cy="274320"/>
          </a:xfrm>
          <a:prstGeom prst="rect">
            <a:avLst/>
          </a:prstGeom>
          <a:noFill/>
        </p:spPr>
        <p:txBody>
          <a:bodyPr wrap="none" lIns="0" rIns="0" tIns="0" bIns="0">
            <a:spAutoFit/>
          </a:bodyPr>
          <a:lstStyle/>
          <a:p>
            <a:pPr>
              <a:defRPr sz="1200" b="1">
                <a:solidFill>
                  <a:srgbClr val="FFFFFF"/>
                </a:solidFill>
                <a:latin typeface="Source Sans Pro"/>
              </a:defRPr>
            </a:pPr>
            <a:r>
              <a:t>Brand Purpose (Vision)</a:t>
            </a:r>
          </a:p>
        </p:txBody>
      </p:sp>
      <p:cxnSp>
        <p:nvCxnSpPr>
          <p:cNvPr id="8" name="Connector 7"/>
          <p:cNvCxnSpPr/>
          <p:nvPr/>
        </p:nvCxnSpPr>
        <p:spPr>
          <a:xfrm>
            <a:off x="2331719" y="2167128"/>
            <a:ext cx="365760" cy="0"/>
          </a:xfrm>
          <a:prstGeom prst="line">
            <a:avLst/>
          </a:prstGeom>
          <a:ln w="19050">
            <a:solidFill>
              <a:srgbClr val="2E86A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43200" y="2057400"/>
            <a:ext cx="274320" cy="274320"/>
          </a:xfrm>
          <a:prstGeom prst="rect">
            <a:avLst/>
          </a:prstGeom>
          <a:noFill/>
        </p:spPr>
        <p:txBody>
          <a:bodyPr wrap="none" lIns="0" tIns="0" bIns="0">
            <a:spAutoFit/>
          </a:bodyPr>
          <a:lstStyle/>
          <a:p>
            <a:pPr>
              <a:defRPr sz="1200" b="1">
                <a:solidFill>
                  <a:srgbClr val="2E86AB"/>
                </a:solidFill>
                <a:latin typeface="Source Sans Pro"/>
              </a:defRPr>
            </a:pPr>
            <a:r>
              <a:t>02</a:t>
            </a:r>
          </a:p>
        </p:txBody>
      </p:sp>
      <p:sp>
        <p:nvSpPr>
          <p:cNvPr id="10" name="TextBox 9"/>
          <p:cNvSpPr txBox="1"/>
          <p:nvPr/>
        </p:nvSpPr>
        <p:spPr>
          <a:xfrm>
            <a:off x="457200" y="2560320"/>
            <a:ext cx="1828800" cy="274320"/>
          </a:xfrm>
          <a:prstGeom prst="rect">
            <a:avLst/>
          </a:prstGeom>
          <a:noFill/>
        </p:spPr>
        <p:txBody>
          <a:bodyPr wrap="none" lIns="0" rIns="0" tIns="0" bIns="0">
            <a:spAutoFit/>
          </a:bodyPr>
          <a:lstStyle/>
          <a:p>
            <a:pPr>
              <a:defRPr sz="1200" b="1">
                <a:solidFill>
                  <a:srgbClr val="FFFFFF"/>
                </a:solidFill>
                <a:latin typeface="Source Sans Pro"/>
              </a:defRPr>
            </a:pPr>
            <a:r>
              <a:t>Brand Purpose (Mission)</a:t>
            </a:r>
          </a:p>
        </p:txBody>
      </p:sp>
      <p:cxnSp>
        <p:nvCxnSpPr>
          <p:cNvPr id="11" name="Connector 10"/>
          <p:cNvCxnSpPr/>
          <p:nvPr/>
        </p:nvCxnSpPr>
        <p:spPr>
          <a:xfrm>
            <a:off x="2331719" y="2670048"/>
            <a:ext cx="365760" cy="0"/>
          </a:xfrm>
          <a:prstGeom prst="line">
            <a:avLst/>
          </a:prstGeom>
          <a:ln w="19050">
            <a:solidFill>
              <a:srgbClr val="2E86A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743200" y="2560320"/>
            <a:ext cx="274320" cy="274320"/>
          </a:xfrm>
          <a:prstGeom prst="rect">
            <a:avLst/>
          </a:prstGeom>
          <a:noFill/>
        </p:spPr>
        <p:txBody>
          <a:bodyPr wrap="none" lIns="0" tIns="0" bIns="0">
            <a:spAutoFit/>
          </a:bodyPr>
          <a:lstStyle/>
          <a:p>
            <a:pPr>
              <a:defRPr sz="1200" b="1">
                <a:solidFill>
                  <a:srgbClr val="2E86AB"/>
                </a:solidFill>
                <a:latin typeface="Source Sans Pro"/>
              </a:defRPr>
            </a:pPr>
            <a:r>
              <a:t>03</a:t>
            </a:r>
          </a:p>
        </p:txBody>
      </p:sp>
      <p:sp>
        <p:nvSpPr>
          <p:cNvPr id="13" name="TextBox 12"/>
          <p:cNvSpPr txBox="1"/>
          <p:nvPr/>
        </p:nvSpPr>
        <p:spPr>
          <a:xfrm>
            <a:off x="3474720" y="1554480"/>
            <a:ext cx="1828800" cy="274320"/>
          </a:xfrm>
          <a:prstGeom prst="rect">
            <a:avLst/>
          </a:prstGeom>
          <a:noFill/>
        </p:spPr>
        <p:txBody>
          <a:bodyPr wrap="none" lIns="0" rIns="0" tIns="0" bIns="0">
            <a:spAutoFit/>
          </a:bodyPr>
          <a:lstStyle/>
          <a:p>
            <a:pPr>
              <a:defRPr sz="1200" b="1">
                <a:solidFill>
                  <a:srgbClr val="FFFFFF"/>
                </a:solidFill>
                <a:latin typeface="Source Sans Pro"/>
              </a:defRPr>
            </a:pPr>
            <a:r>
              <a:t>Brand Purpose (Values)</a:t>
            </a:r>
          </a:p>
        </p:txBody>
      </p:sp>
      <p:cxnSp>
        <p:nvCxnSpPr>
          <p:cNvPr id="14" name="Connector 13"/>
          <p:cNvCxnSpPr/>
          <p:nvPr/>
        </p:nvCxnSpPr>
        <p:spPr>
          <a:xfrm>
            <a:off x="5349239" y="1664208"/>
            <a:ext cx="365760" cy="0"/>
          </a:xfrm>
          <a:prstGeom prst="line">
            <a:avLst/>
          </a:prstGeom>
          <a:ln w="19050">
            <a:solidFill>
              <a:srgbClr val="2E86AB"/>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760720" y="1554480"/>
            <a:ext cx="274320" cy="274320"/>
          </a:xfrm>
          <a:prstGeom prst="rect">
            <a:avLst/>
          </a:prstGeom>
          <a:noFill/>
        </p:spPr>
        <p:txBody>
          <a:bodyPr wrap="none" lIns="0" tIns="0" bIns="0">
            <a:spAutoFit/>
          </a:bodyPr>
          <a:lstStyle/>
          <a:p>
            <a:pPr>
              <a:defRPr sz="1200" b="1">
                <a:solidFill>
                  <a:srgbClr val="2E86AB"/>
                </a:solidFill>
                <a:latin typeface="Source Sans Pro"/>
              </a:defRPr>
            </a:pPr>
            <a:r>
              <a:t>04</a:t>
            </a:r>
          </a:p>
        </p:txBody>
      </p:sp>
      <p:sp>
        <p:nvSpPr>
          <p:cNvPr id="16" name="TextBox 15"/>
          <p:cNvSpPr txBox="1"/>
          <p:nvPr/>
        </p:nvSpPr>
        <p:spPr>
          <a:xfrm>
            <a:off x="3474720" y="2057400"/>
            <a:ext cx="1828800" cy="274320"/>
          </a:xfrm>
          <a:prstGeom prst="rect">
            <a:avLst/>
          </a:prstGeom>
          <a:noFill/>
        </p:spPr>
        <p:txBody>
          <a:bodyPr wrap="none" lIns="0" rIns="0" tIns="0" bIns="0">
            <a:spAutoFit/>
          </a:bodyPr>
          <a:lstStyle/>
          <a:p>
            <a:pPr>
              <a:defRPr sz="1200" b="1">
                <a:solidFill>
                  <a:srgbClr val="FFFFFF"/>
                </a:solidFill>
                <a:latin typeface="Source Sans Pro"/>
              </a:defRPr>
            </a:pPr>
            <a:r>
              <a:t>Brand Story</a:t>
            </a:r>
          </a:p>
        </p:txBody>
      </p:sp>
      <p:cxnSp>
        <p:nvCxnSpPr>
          <p:cNvPr id="17" name="Connector 16"/>
          <p:cNvCxnSpPr/>
          <p:nvPr/>
        </p:nvCxnSpPr>
        <p:spPr>
          <a:xfrm>
            <a:off x="5349239" y="2167128"/>
            <a:ext cx="365760" cy="0"/>
          </a:xfrm>
          <a:prstGeom prst="line">
            <a:avLst/>
          </a:prstGeom>
          <a:ln w="19050">
            <a:solidFill>
              <a:srgbClr val="2E86AB"/>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760720" y="2057400"/>
            <a:ext cx="274320" cy="274320"/>
          </a:xfrm>
          <a:prstGeom prst="rect">
            <a:avLst/>
          </a:prstGeom>
          <a:noFill/>
        </p:spPr>
        <p:txBody>
          <a:bodyPr wrap="none" lIns="0" tIns="0" bIns="0">
            <a:spAutoFit/>
          </a:bodyPr>
          <a:lstStyle/>
          <a:p>
            <a:pPr>
              <a:defRPr sz="1200" b="1">
                <a:solidFill>
                  <a:srgbClr val="2E86AB"/>
                </a:solidFill>
                <a:latin typeface="Source Sans Pro"/>
              </a:defRPr>
            </a:pPr>
            <a:r>
              <a:t>05</a:t>
            </a:r>
          </a:p>
        </p:txBody>
      </p:sp>
      <p:sp>
        <p:nvSpPr>
          <p:cNvPr id="19" name="TextBox 18"/>
          <p:cNvSpPr txBox="1"/>
          <p:nvPr/>
        </p:nvSpPr>
        <p:spPr>
          <a:xfrm>
            <a:off x="3474720" y="2560320"/>
            <a:ext cx="1828800" cy="274320"/>
          </a:xfrm>
          <a:prstGeom prst="rect">
            <a:avLst/>
          </a:prstGeom>
          <a:noFill/>
        </p:spPr>
        <p:txBody>
          <a:bodyPr wrap="none" lIns="0" rIns="0" tIns="0" bIns="0">
            <a:spAutoFit/>
          </a:bodyPr>
          <a:lstStyle/>
          <a:p>
            <a:pPr>
              <a:defRPr sz="1200" b="1">
                <a:solidFill>
                  <a:srgbClr val="FFFFFF"/>
                </a:solidFill>
                <a:latin typeface="Source Sans Pro"/>
              </a:defRPr>
            </a:pPr>
            <a:r>
              <a:t>Logo Variations</a:t>
            </a:r>
          </a:p>
        </p:txBody>
      </p:sp>
      <p:cxnSp>
        <p:nvCxnSpPr>
          <p:cNvPr id="20" name="Connector 19"/>
          <p:cNvCxnSpPr/>
          <p:nvPr/>
        </p:nvCxnSpPr>
        <p:spPr>
          <a:xfrm>
            <a:off x="5349239" y="2670048"/>
            <a:ext cx="365760" cy="0"/>
          </a:xfrm>
          <a:prstGeom prst="line">
            <a:avLst/>
          </a:prstGeom>
          <a:ln w="19050">
            <a:solidFill>
              <a:srgbClr val="2E86AB"/>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760720" y="2560320"/>
            <a:ext cx="274320" cy="274320"/>
          </a:xfrm>
          <a:prstGeom prst="rect">
            <a:avLst/>
          </a:prstGeom>
          <a:noFill/>
        </p:spPr>
        <p:txBody>
          <a:bodyPr wrap="none" lIns="0" tIns="0" bIns="0">
            <a:spAutoFit/>
          </a:bodyPr>
          <a:lstStyle/>
          <a:p>
            <a:pPr>
              <a:defRPr sz="1200" b="1">
                <a:solidFill>
                  <a:srgbClr val="2E86AB"/>
                </a:solidFill>
                <a:latin typeface="Source Sans Pro"/>
              </a:defRPr>
            </a:pPr>
            <a:r>
              <a:t>06</a:t>
            </a:r>
          </a:p>
        </p:txBody>
      </p:sp>
      <p:sp>
        <p:nvSpPr>
          <p:cNvPr id="22" name="TextBox 21"/>
          <p:cNvSpPr txBox="1"/>
          <p:nvPr/>
        </p:nvSpPr>
        <p:spPr>
          <a:xfrm>
            <a:off x="3657600" y="2926079"/>
            <a:ext cx="1828800" cy="228600"/>
          </a:xfrm>
          <a:prstGeom prst="rect">
            <a:avLst/>
          </a:prstGeom>
          <a:noFill/>
        </p:spPr>
        <p:txBody>
          <a:bodyPr wrap="none" lIns="0" tIns="0" bIns="0">
            <a:spAutoFit/>
          </a:bodyPr>
          <a:lstStyle/>
          <a:p>
            <a:pPr>
              <a:defRPr sz="900" b="0">
                <a:solidFill>
                  <a:srgbClr val="CCCCCC"/>
                </a:solidFill>
                <a:latin typeface="Source Sans Pro"/>
              </a:defRPr>
            </a:pPr>
            <a:r>
              <a:t>Variation 1</a:t>
            </a:r>
          </a:p>
        </p:txBody>
      </p:sp>
      <p:sp>
        <p:nvSpPr>
          <p:cNvPr id="23" name="TextBox 22"/>
          <p:cNvSpPr txBox="1"/>
          <p:nvPr/>
        </p:nvSpPr>
        <p:spPr>
          <a:xfrm>
            <a:off x="3657600" y="3154679"/>
            <a:ext cx="1828800" cy="228600"/>
          </a:xfrm>
          <a:prstGeom prst="rect">
            <a:avLst/>
          </a:prstGeom>
          <a:noFill/>
        </p:spPr>
        <p:txBody>
          <a:bodyPr wrap="none" lIns="0" tIns="0" bIns="0">
            <a:spAutoFit/>
          </a:bodyPr>
          <a:lstStyle/>
          <a:p>
            <a:pPr>
              <a:defRPr sz="900" b="0">
                <a:solidFill>
                  <a:srgbClr val="CCCCCC"/>
                </a:solidFill>
                <a:latin typeface="Source Sans Pro"/>
              </a:defRPr>
            </a:pPr>
            <a:r>
              <a:t>Variation 2</a:t>
            </a:r>
          </a:p>
        </p:txBody>
      </p:sp>
      <p:sp>
        <p:nvSpPr>
          <p:cNvPr id="24" name="TextBox 23"/>
          <p:cNvSpPr txBox="1"/>
          <p:nvPr/>
        </p:nvSpPr>
        <p:spPr>
          <a:xfrm>
            <a:off x="3657600" y="3383279"/>
            <a:ext cx="1828800" cy="228600"/>
          </a:xfrm>
          <a:prstGeom prst="rect">
            <a:avLst/>
          </a:prstGeom>
          <a:noFill/>
        </p:spPr>
        <p:txBody>
          <a:bodyPr wrap="none" lIns="0" tIns="0" bIns="0">
            <a:spAutoFit/>
          </a:bodyPr>
          <a:lstStyle/>
          <a:p>
            <a:pPr>
              <a:defRPr sz="900" b="0">
                <a:solidFill>
                  <a:srgbClr val="CCCCCC"/>
                </a:solidFill>
                <a:latin typeface="Source Sans Pro"/>
              </a:defRPr>
            </a:pPr>
            <a:r>
              <a:t>Variation 3</a:t>
            </a:r>
          </a:p>
        </p:txBody>
      </p:sp>
      <p:sp>
        <p:nvSpPr>
          <p:cNvPr id="25" name="TextBox 24"/>
          <p:cNvSpPr txBox="1"/>
          <p:nvPr/>
        </p:nvSpPr>
        <p:spPr>
          <a:xfrm>
            <a:off x="6492240" y="1554480"/>
            <a:ext cx="1828800" cy="274320"/>
          </a:xfrm>
          <a:prstGeom prst="rect">
            <a:avLst/>
          </a:prstGeom>
          <a:noFill/>
        </p:spPr>
        <p:txBody>
          <a:bodyPr wrap="none" lIns="0" rIns="0" tIns="0" bIns="0">
            <a:spAutoFit/>
          </a:bodyPr>
          <a:lstStyle/>
          <a:p>
            <a:pPr>
              <a:defRPr sz="1200" b="1">
                <a:solidFill>
                  <a:srgbClr val="FFFFFF"/>
                </a:solidFill>
                <a:latin typeface="Source Sans Pro"/>
              </a:defRPr>
            </a:pPr>
            <a:r>
              <a:t>Brand Colors</a:t>
            </a:r>
          </a:p>
        </p:txBody>
      </p:sp>
      <p:cxnSp>
        <p:nvCxnSpPr>
          <p:cNvPr id="26" name="Connector 25"/>
          <p:cNvCxnSpPr/>
          <p:nvPr/>
        </p:nvCxnSpPr>
        <p:spPr>
          <a:xfrm>
            <a:off x="8366759" y="1664208"/>
            <a:ext cx="365760" cy="0"/>
          </a:xfrm>
          <a:prstGeom prst="line">
            <a:avLst/>
          </a:prstGeom>
          <a:ln w="19050">
            <a:solidFill>
              <a:srgbClr val="2E86AB"/>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778240" y="1554480"/>
            <a:ext cx="274320" cy="274320"/>
          </a:xfrm>
          <a:prstGeom prst="rect">
            <a:avLst/>
          </a:prstGeom>
          <a:noFill/>
        </p:spPr>
        <p:txBody>
          <a:bodyPr wrap="none" lIns="0" tIns="0" bIns="0">
            <a:spAutoFit/>
          </a:bodyPr>
          <a:lstStyle/>
          <a:p>
            <a:pPr>
              <a:defRPr sz="1200" b="1">
                <a:solidFill>
                  <a:srgbClr val="2E86AB"/>
                </a:solidFill>
                <a:latin typeface="Source Sans Pro"/>
              </a:defRPr>
            </a:pPr>
            <a:r>
              <a:t>07</a:t>
            </a:r>
          </a:p>
        </p:txBody>
      </p:sp>
      <p:sp>
        <p:nvSpPr>
          <p:cNvPr id="28" name="TextBox 27"/>
          <p:cNvSpPr txBox="1"/>
          <p:nvPr/>
        </p:nvSpPr>
        <p:spPr>
          <a:xfrm>
            <a:off x="6675120" y="1920240"/>
            <a:ext cx="1828800" cy="228600"/>
          </a:xfrm>
          <a:prstGeom prst="rect">
            <a:avLst/>
          </a:prstGeom>
          <a:noFill/>
        </p:spPr>
        <p:txBody>
          <a:bodyPr wrap="none" lIns="0" tIns="0" bIns="0">
            <a:spAutoFit/>
          </a:bodyPr>
          <a:lstStyle/>
          <a:p>
            <a:pPr>
              <a:defRPr sz="900" b="0">
                <a:solidFill>
                  <a:srgbClr val="CCCCCC"/>
                </a:solidFill>
                <a:latin typeface="Source Sans Pro"/>
              </a:defRPr>
            </a:pPr>
            <a:r>
              <a:t>Primary Colors</a:t>
            </a:r>
          </a:p>
        </p:txBody>
      </p:sp>
      <p:sp>
        <p:nvSpPr>
          <p:cNvPr id="29" name="TextBox 28"/>
          <p:cNvSpPr txBox="1"/>
          <p:nvPr/>
        </p:nvSpPr>
        <p:spPr>
          <a:xfrm>
            <a:off x="6675120" y="2148840"/>
            <a:ext cx="1828800" cy="228600"/>
          </a:xfrm>
          <a:prstGeom prst="rect">
            <a:avLst/>
          </a:prstGeom>
          <a:noFill/>
        </p:spPr>
        <p:txBody>
          <a:bodyPr wrap="none" lIns="0" tIns="0" bIns="0">
            <a:spAutoFit/>
          </a:bodyPr>
          <a:lstStyle/>
          <a:p>
            <a:pPr>
              <a:defRPr sz="900" b="0">
                <a:solidFill>
                  <a:srgbClr val="CCCCCC"/>
                </a:solidFill>
                <a:latin typeface="Source Sans Pro"/>
              </a:defRPr>
            </a:pPr>
            <a:r>
              <a:t>Secondary Colors</a:t>
            </a:r>
          </a:p>
        </p:txBody>
      </p:sp>
      <p:sp>
        <p:nvSpPr>
          <p:cNvPr id="30" name="TextBox 29"/>
          <p:cNvSpPr txBox="1"/>
          <p:nvPr/>
        </p:nvSpPr>
        <p:spPr>
          <a:xfrm>
            <a:off x="6675120" y="2377440"/>
            <a:ext cx="1828800" cy="228600"/>
          </a:xfrm>
          <a:prstGeom prst="rect">
            <a:avLst/>
          </a:prstGeom>
          <a:noFill/>
        </p:spPr>
        <p:txBody>
          <a:bodyPr wrap="none" lIns="0" tIns="0" bIns="0">
            <a:spAutoFit/>
          </a:bodyPr>
          <a:lstStyle/>
          <a:p>
            <a:pPr>
              <a:defRPr sz="900" b="0">
                <a:solidFill>
                  <a:srgbClr val="CCCCCC"/>
                </a:solidFill>
                <a:latin typeface="Source Sans Pro"/>
              </a:defRPr>
            </a:pPr>
            <a:r>
              <a:t>Color Usage 1/2</a:t>
            </a:r>
          </a:p>
        </p:txBody>
      </p:sp>
      <p:sp>
        <p:nvSpPr>
          <p:cNvPr id="31" name="TextBox 30"/>
          <p:cNvSpPr txBox="1"/>
          <p:nvPr/>
        </p:nvSpPr>
        <p:spPr>
          <a:xfrm>
            <a:off x="6675120" y="2606040"/>
            <a:ext cx="1828800" cy="228600"/>
          </a:xfrm>
          <a:prstGeom prst="rect">
            <a:avLst/>
          </a:prstGeom>
          <a:noFill/>
        </p:spPr>
        <p:txBody>
          <a:bodyPr wrap="none" lIns="0" tIns="0" bIns="0">
            <a:spAutoFit/>
          </a:bodyPr>
          <a:lstStyle/>
          <a:p>
            <a:pPr>
              <a:defRPr sz="900" b="0">
                <a:solidFill>
                  <a:srgbClr val="CCCCCC"/>
                </a:solidFill>
                <a:latin typeface="Source Sans Pro"/>
              </a:defRPr>
            </a:pPr>
            <a:r>
              <a:t>Color Usage 2/2</a:t>
            </a:r>
          </a:p>
        </p:txBody>
      </p:sp>
      <p:sp>
        <p:nvSpPr>
          <p:cNvPr id="32" name="TextBox 31"/>
          <p:cNvSpPr txBox="1"/>
          <p:nvPr/>
        </p:nvSpPr>
        <p:spPr>
          <a:xfrm>
            <a:off x="6492240" y="2971800"/>
            <a:ext cx="1828800" cy="274320"/>
          </a:xfrm>
          <a:prstGeom prst="rect">
            <a:avLst/>
          </a:prstGeom>
          <a:noFill/>
        </p:spPr>
        <p:txBody>
          <a:bodyPr wrap="none" lIns="0" rIns="0" tIns="0" bIns="0">
            <a:spAutoFit/>
          </a:bodyPr>
          <a:lstStyle/>
          <a:p>
            <a:pPr>
              <a:defRPr sz="1200" b="1">
                <a:solidFill>
                  <a:srgbClr val="FFFFFF"/>
                </a:solidFill>
                <a:latin typeface="Source Sans Pro"/>
              </a:defRPr>
            </a:pPr>
            <a:r>
              <a:t>Typography</a:t>
            </a:r>
          </a:p>
        </p:txBody>
      </p:sp>
      <p:cxnSp>
        <p:nvCxnSpPr>
          <p:cNvPr id="33" name="Connector 32"/>
          <p:cNvCxnSpPr/>
          <p:nvPr/>
        </p:nvCxnSpPr>
        <p:spPr>
          <a:xfrm>
            <a:off x="8366759" y="3081528"/>
            <a:ext cx="365760" cy="0"/>
          </a:xfrm>
          <a:prstGeom prst="line">
            <a:avLst/>
          </a:prstGeom>
          <a:ln w="19050">
            <a:solidFill>
              <a:srgbClr val="2E86AB"/>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8778240" y="2971800"/>
            <a:ext cx="274320" cy="274320"/>
          </a:xfrm>
          <a:prstGeom prst="rect">
            <a:avLst/>
          </a:prstGeom>
          <a:noFill/>
        </p:spPr>
        <p:txBody>
          <a:bodyPr wrap="none" lIns="0" tIns="0" bIns="0">
            <a:spAutoFit/>
          </a:bodyPr>
          <a:lstStyle/>
          <a:p>
            <a:pPr>
              <a:defRPr sz="1200" b="1">
                <a:solidFill>
                  <a:srgbClr val="2E86AB"/>
                </a:solidFill>
                <a:latin typeface="Source Sans Pro"/>
              </a:defRPr>
            </a:pPr>
            <a:r>
              <a:t>08</a:t>
            </a:r>
          </a:p>
        </p:txBody>
      </p:sp>
      <p:sp>
        <p:nvSpPr>
          <p:cNvPr id="35" name="TextBox 34"/>
          <p:cNvSpPr txBox="1"/>
          <p:nvPr/>
        </p:nvSpPr>
        <p:spPr>
          <a:xfrm>
            <a:off x="6675120" y="3337560"/>
            <a:ext cx="1828800" cy="228600"/>
          </a:xfrm>
          <a:prstGeom prst="rect">
            <a:avLst/>
          </a:prstGeom>
          <a:noFill/>
        </p:spPr>
        <p:txBody>
          <a:bodyPr wrap="none" lIns="0" tIns="0" bIns="0">
            <a:spAutoFit/>
          </a:bodyPr>
          <a:lstStyle/>
          <a:p>
            <a:pPr>
              <a:defRPr sz="900" b="0">
                <a:solidFill>
                  <a:srgbClr val="CCCCCC"/>
                </a:solidFill>
                <a:latin typeface="Source Sans Pro"/>
              </a:defRPr>
            </a:pPr>
            <a:r>
              <a:t>Brand Font</a:t>
            </a:r>
          </a:p>
        </p:txBody>
      </p:sp>
      <p:sp>
        <p:nvSpPr>
          <p:cNvPr id="36" name="TextBox 35"/>
          <p:cNvSpPr txBox="1"/>
          <p:nvPr/>
        </p:nvSpPr>
        <p:spPr>
          <a:xfrm>
            <a:off x="6675120" y="3566160"/>
            <a:ext cx="1828800" cy="228600"/>
          </a:xfrm>
          <a:prstGeom prst="rect">
            <a:avLst/>
          </a:prstGeom>
          <a:noFill/>
        </p:spPr>
        <p:txBody>
          <a:bodyPr wrap="none" lIns="0" tIns="0" bIns="0">
            <a:spAutoFit/>
          </a:bodyPr>
          <a:lstStyle/>
          <a:p>
            <a:pPr>
              <a:defRPr sz="900" b="0">
                <a:solidFill>
                  <a:srgbClr val="CCCCCC"/>
                </a:solidFill>
                <a:latin typeface="Source Sans Pro"/>
              </a:defRPr>
            </a:pPr>
            <a:r>
              <a:t>Font Usage</a:t>
            </a:r>
          </a:p>
        </p:txBody>
      </p:sp>
      <p:sp>
        <p:nvSpPr>
          <p:cNvPr id="37" name="TextBox 36"/>
          <p:cNvSpPr txBox="1"/>
          <p:nvPr/>
        </p:nvSpPr>
        <p:spPr>
          <a:xfrm>
            <a:off x="6675120" y="3794760"/>
            <a:ext cx="1828800" cy="228600"/>
          </a:xfrm>
          <a:prstGeom prst="rect">
            <a:avLst/>
          </a:prstGeom>
          <a:noFill/>
        </p:spPr>
        <p:txBody>
          <a:bodyPr wrap="none" lIns="0" tIns="0" bIns="0">
            <a:spAutoFit/>
          </a:bodyPr>
          <a:lstStyle/>
          <a:p>
            <a:pPr>
              <a:defRPr sz="900" b="0">
                <a:solidFill>
                  <a:srgbClr val="CCCCCC"/>
                </a:solidFill>
                <a:latin typeface="Source Sans Pro"/>
              </a:defRPr>
            </a:pPr>
            <a:r>
              <a:t>Text Hierarchy</a:t>
            </a:r>
          </a:p>
        </p:txBody>
      </p:sp>
      <p:sp>
        <p:nvSpPr>
          <p:cNvPr id="38" name="TextBox 37"/>
          <p:cNvSpPr txBox="1"/>
          <p:nvPr/>
        </p:nvSpPr>
        <p:spPr>
          <a:xfrm>
            <a:off x="6492240" y="4160520"/>
            <a:ext cx="1828800" cy="274320"/>
          </a:xfrm>
          <a:prstGeom prst="rect">
            <a:avLst/>
          </a:prstGeom>
          <a:noFill/>
        </p:spPr>
        <p:txBody>
          <a:bodyPr wrap="none" lIns="0" rIns="0" tIns="0" bIns="0">
            <a:spAutoFit/>
          </a:bodyPr>
          <a:lstStyle/>
          <a:p>
            <a:pPr>
              <a:defRPr sz="1200" b="1">
                <a:solidFill>
                  <a:srgbClr val="FFFFFF"/>
                </a:solidFill>
                <a:latin typeface="Source Sans Pro"/>
              </a:defRPr>
            </a:pPr>
            <a:r>
              <a:t>Visual Guidelines</a:t>
            </a:r>
          </a:p>
        </p:txBody>
      </p:sp>
      <p:cxnSp>
        <p:nvCxnSpPr>
          <p:cNvPr id="39" name="Connector 38"/>
          <p:cNvCxnSpPr/>
          <p:nvPr/>
        </p:nvCxnSpPr>
        <p:spPr>
          <a:xfrm>
            <a:off x="8366759" y="4270248"/>
            <a:ext cx="365760" cy="0"/>
          </a:xfrm>
          <a:prstGeom prst="line">
            <a:avLst/>
          </a:prstGeom>
          <a:ln w="19050">
            <a:solidFill>
              <a:srgbClr val="2E86AB"/>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8778240" y="4160520"/>
            <a:ext cx="274320" cy="274320"/>
          </a:xfrm>
          <a:prstGeom prst="rect">
            <a:avLst/>
          </a:prstGeom>
          <a:noFill/>
        </p:spPr>
        <p:txBody>
          <a:bodyPr wrap="none" lIns="0" tIns="0" bIns="0">
            <a:spAutoFit/>
          </a:bodyPr>
          <a:lstStyle/>
          <a:p>
            <a:pPr>
              <a:defRPr sz="1200" b="1">
                <a:solidFill>
                  <a:srgbClr val="2E86AB"/>
                </a:solidFill>
                <a:latin typeface="Source Sans Pro"/>
              </a:defRPr>
            </a:pPr>
            <a:r>
              <a:t>09</a:t>
            </a:r>
          </a:p>
        </p:txBody>
      </p:sp>
      <p:sp>
        <p:nvSpPr>
          <p:cNvPr id="41" name="TextBox 40"/>
          <p:cNvSpPr txBox="1"/>
          <p:nvPr/>
        </p:nvSpPr>
        <p:spPr>
          <a:xfrm>
            <a:off x="6675120" y="4526280"/>
            <a:ext cx="1828800" cy="228600"/>
          </a:xfrm>
          <a:prstGeom prst="rect">
            <a:avLst/>
          </a:prstGeom>
          <a:noFill/>
        </p:spPr>
        <p:txBody>
          <a:bodyPr wrap="none" lIns="0" tIns="0" bIns="0">
            <a:spAutoFit/>
          </a:bodyPr>
          <a:lstStyle/>
          <a:p>
            <a:pPr>
              <a:defRPr sz="900" b="0">
                <a:solidFill>
                  <a:srgbClr val="CCCCCC"/>
                </a:solidFill>
                <a:latin typeface="Source Sans Pro"/>
              </a:defRPr>
            </a:pPr>
            <a:r>
              <a:t>Visual Style</a:t>
            </a:r>
          </a:p>
        </p:txBody>
      </p:sp>
      <p:sp>
        <p:nvSpPr>
          <p:cNvPr id="42" name="TextBox 41"/>
          <p:cNvSpPr txBox="1"/>
          <p:nvPr/>
        </p:nvSpPr>
        <p:spPr>
          <a:xfrm>
            <a:off x="6675120" y="4754880"/>
            <a:ext cx="1828800" cy="228600"/>
          </a:xfrm>
          <a:prstGeom prst="rect">
            <a:avLst/>
          </a:prstGeom>
          <a:noFill/>
        </p:spPr>
        <p:txBody>
          <a:bodyPr wrap="none" lIns="0" tIns="0" bIns="0">
            <a:spAutoFit/>
          </a:bodyPr>
          <a:lstStyle/>
          <a:p>
            <a:pPr>
              <a:defRPr sz="900" b="0">
                <a:solidFill>
                  <a:srgbClr val="CCCCCC"/>
                </a:solidFill>
                <a:latin typeface="Source Sans Pro"/>
              </a:defRPr>
            </a:pPr>
            <a:r>
              <a:t>Photography</a:t>
            </a:r>
          </a:p>
        </p:txBody>
      </p:sp>
      <p:sp>
        <p:nvSpPr>
          <p:cNvPr id="43" name="TextBox 42"/>
          <p:cNvSpPr txBox="1"/>
          <p:nvPr/>
        </p:nvSpPr>
        <p:spPr>
          <a:xfrm>
            <a:off x="6675120" y="4983480"/>
            <a:ext cx="1828800" cy="228600"/>
          </a:xfrm>
          <a:prstGeom prst="rect">
            <a:avLst/>
          </a:prstGeom>
          <a:noFill/>
        </p:spPr>
        <p:txBody>
          <a:bodyPr wrap="none" lIns="0" tIns="0" bIns="0">
            <a:spAutoFit/>
          </a:bodyPr>
          <a:lstStyle/>
          <a:p>
            <a:pPr>
              <a:defRPr sz="900" b="0">
                <a:solidFill>
                  <a:srgbClr val="CCCCCC"/>
                </a:solidFill>
                <a:latin typeface="Source Sans Pro"/>
              </a:defRPr>
            </a:pPr>
            <a:r>
              <a:t>Imagery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800100" y="1051560"/>
            <a:ext cx="6858000" cy="2971800"/>
          </a:xfrm>
          <a:prstGeom prst="rect">
            <a:avLst/>
          </a:prstGeom>
          <a:noFill/>
        </p:spPr>
        <p:txBody>
          <a:bodyPr wrap="square" lIns="0" rIns="0" tIns="0" bIns="0">
            <a:spAutoFit/>
          </a:bodyPr>
          <a:lstStyle/>
          <a:p>
            <a:pPr algn="l">
              <a:spcAft>
                <a:spcPts val="800"/>
              </a:spcAft>
              <a:defRPr sz="2000" b="0">
                <a:solidFill>
                  <a:srgbClr val="FFFFFF"/>
                </a:solidFill>
                <a:latin typeface="Source Sans Pro"/>
              </a:defRPr>
            </a:pPr>
            <a:r>
              <a:t>Welcome to TechForward Live's brand identity system presentation, where we unveil a strategic framework designed to ensure an international, engaging, consistent, recognizable, and proprietary brand presentation. Rooted in our core values of innovation, simplicity, and human-centered design, this system embodies our unique approach in bridging the gap between complex technology and intuitive user experiences. Join us as we showcase how our brand principles of excellence, trust, and reliability come to life in every aspect of our brand presentation.</a:t>
            </a:r>
          </a:p>
        </p:txBody>
      </p:sp>
      <p:cxnSp>
        <p:nvCxnSpPr>
          <p:cNvPr id="3" name="Connector 2"/>
          <p:cNvCxnSpPr/>
          <p:nvPr/>
        </p:nvCxnSpPr>
        <p:spPr>
          <a:xfrm>
            <a:off x="457200" y="4914900.0"/>
            <a:ext cx="8229600" cy="0.0"/>
          </a:xfrm>
          <a:prstGeom prst="line">
            <a:avLst/>
          </a:prstGeom>
          <a:ln w="25400">
            <a:solidFill>
              <a:srgbClr val="2E86AB"/>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00100" y="5189220"/>
            <a:ext cx="3657600" cy="731520"/>
          </a:xfrm>
          <a:prstGeom prst="rect">
            <a:avLst/>
          </a:prstGeom>
          <a:noFill/>
        </p:spPr>
        <p:txBody>
          <a:bodyPr wrap="none">
            <a:spAutoFit/>
          </a:bodyPr>
          <a:lstStyle/>
          <a:p>
            <a:pPr algn="l">
              <a:defRPr sz="2800" b="1">
                <a:solidFill>
                  <a:srgbClr val="2E86AB"/>
                </a:solidFill>
                <a:latin typeface="Inter"/>
              </a:defRPr>
            </a:pPr>
            <a:r>
              <a:t>INTRODUCTION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800100" y="1051560"/>
            <a:ext cx="6858000" cy="2971800"/>
          </a:xfrm>
          <a:prstGeom prst="rect">
            <a:avLst/>
          </a:prstGeom>
          <a:noFill/>
        </p:spPr>
        <p:txBody>
          <a:bodyPr wrap="square" lIns="0" rIns="0" tIns="0" bIns="0">
            <a:spAutoFit/>
          </a:bodyPr>
          <a:lstStyle/>
          <a:p>
            <a:pPr algn="l">
              <a:spcAft>
                <a:spcPts val="800"/>
              </a:spcAft>
              <a:defRPr sz="2000" b="0">
                <a:solidFill>
                  <a:srgbClr val="FFFFFF"/>
                </a:solidFill>
                <a:latin typeface="Source Sans Pro"/>
              </a:defRPr>
            </a:pPr>
            <a:r>
              <a:t>Our vision at TechForward Live is to empower Progressive businesses with transformative digital solutions that unlock their full potential, driving innovation and sustainable growth in a rapidly evolving technological landscape. We aspire to be the catalyst for digital transformation, inspiring businesses to embrace change and seize opportunities for a brighter, more connected future.</a:t>
            </a:r>
          </a:p>
        </p:txBody>
      </p:sp>
      <p:cxnSp>
        <p:nvCxnSpPr>
          <p:cNvPr id="3" name="Connector 2"/>
          <p:cNvCxnSpPr/>
          <p:nvPr/>
        </p:nvCxnSpPr>
        <p:spPr>
          <a:xfrm>
            <a:off x="457200" y="4914900.0"/>
            <a:ext cx="8229600" cy="0.0"/>
          </a:xfrm>
          <a:prstGeom prst="line">
            <a:avLst/>
          </a:prstGeom>
          <a:ln w="25400">
            <a:solidFill>
              <a:srgbClr val="2E86AB"/>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00100" y="5189220"/>
            <a:ext cx="5486400" cy="731520"/>
          </a:xfrm>
          <a:prstGeom prst="rect">
            <a:avLst/>
          </a:prstGeom>
          <a:noFill/>
        </p:spPr>
        <p:txBody>
          <a:bodyPr wrap="none">
            <a:spAutoFit/>
          </a:bodyPr>
          <a:lstStyle/>
          <a:p>
            <a:pPr algn="l">
              <a:defRPr sz="2800" b="1">
                <a:solidFill>
                  <a:srgbClr val="2E86AB"/>
                </a:solidFill>
                <a:latin typeface="Inter"/>
              </a:defRPr>
            </a:pPr>
            <a:r>
              <a:t>BRAND PURPOSE (VISION)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800100" y="1051560"/>
            <a:ext cx="6858000" cy="2971800"/>
          </a:xfrm>
          <a:prstGeom prst="rect">
            <a:avLst/>
          </a:prstGeom>
          <a:noFill/>
        </p:spPr>
        <p:txBody>
          <a:bodyPr wrap="square" lIns="0" rIns="0" tIns="0" bIns="0">
            <a:spAutoFit/>
          </a:bodyPr>
          <a:lstStyle/>
          <a:p>
            <a:pPr algn="l">
              <a:spcAft>
                <a:spcPts val="800"/>
              </a:spcAft>
              <a:defRPr sz="2000" b="0">
                <a:solidFill>
                  <a:srgbClr val="FFFFFF"/>
                </a:solidFill>
                <a:latin typeface="Source Sans Pro"/>
              </a:defRPr>
            </a:pPr>
            <a:r>
              <a:t>At TechForward Live, we are dedicated to bridging the gap between cutting-edge technology and intuitive user experiences. We strive to provide Progressive businesses with innovative digital solutions that enhance efficiency, productivity, and user satisfaction. Our mission is to simplify complex technology, placing human-centered design at the core of everything we do, to drive tangible results and empower businesses to thrive in the digital age.</a:t>
            </a:r>
          </a:p>
        </p:txBody>
      </p:sp>
      <p:cxnSp>
        <p:nvCxnSpPr>
          <p:cNvPr id="3" name="Connector 2"/>
          <p:cNvCxnSpPr/>
          <p:nvPr/>
        </p:nvCxnSpPr>
        <p:spPr>
          <a:xfrm>
            <a:off x="457200" y="4914900.0"/>
            <a:ext cx="8229600" cy="0.0"/>
          </a:xfrm>
          <a:prstGeom prst="line">
            <a:avLst/>
          </a:prstGeom>
          <a:ln w="25400">
            <a:solidFill>
              <a:srgbClr val="2E86AB"/>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00100" y="5189220"/>
            <a:ext cx="5486400" cy="731520"/>
          </a:xfrm>
          <a:prstGeom prst="rect">
            <a:avLst/>
          </a:prstGeom>
          <a:noFill/>
        </p:spPr>
        <p:txBody>
          <a:bodyPr wrap="none">
            <a:spAutoFit/>
          </a:bodyPr>
          <a:lstStyle/>
          <a:p>
            <a:pPr algn="l">
              <a:defRPr sz="2800" b="1">
                <a:solidFill>
                  <a:srgbClr val="2E86AB"/>
                </a:solidFill>
                <a:latin typeface="Inter"/>
              </a:defRPr>
            </a:pPr>
            <a:r>
              <a:t>BRAND PURPOSE (MISSION)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800100" y="1051560"/>
            <a:ext cx="6858000" cy="2971800"/>
          </a:xfrm>
          <a:prstGeom prst="rect">
            <a:avLst/>
          </a:prstGeom>
          <a:noFill/>
        </p:spPr>
        <p:txBody>
          <a:bodyPr wrap="square" lIns="0" rIns="0" tIns="0" bIns="0">
            <a:spAutoFit/>
          </a:bodyPr>
          <a:lstStyle/>
          <a:p>
            <a:pPr algn="l">
              <a:spcAft>
                <a:spcPts val="800"/>
              </a:spcAft>
              <a:defRPr sz="2000" b="0">
                <a:solidFill>
                  <a:srgbClr val="FFFFFF"/>
                </a:solidFill>
                <a:latin typeface="Source Sans Pro"/>
              </a:defRPr>
            </a:pPr>
            <a:r>
              <a:t>At TechForward Live, we live and breathe our core values of Innovation, Simplicity, Human-Centered design, Excellence, Trust, and Reliability. Innovation fuels our drive to push boundaries and pioneer new solutions in the Technology &amp; Digital Solutions industry. Simplicity is the cornerstone of our approach, ensuring that our solutions are intuitive and easy to adopt for Progressive businesses seeking digital transformation. We prioritize Human-Centered design to create meaningful experiences that resonate with users on a personal level. Excellence is our commitment to delivering top-tier solutions that exceed expectations. Trust is the foundation of our relationships with clients and partners, built on transparency and reliability in every interaction. Reliability underscores our dedication to delivering consistent, high-quality results that our clients can depend on to propel their businesses forward.</a:t>
            </a:r>
          </a:p>
        </p:txBody>
      </p:sp>
      <p:cxnSp>
        <p:nvCxnSpPr>
          <p:cNvPr id="3" name="Connector 2"/>
          <p:cNvCxnSpPr/>
          <p:nvPr/>
        </p:nvCxnSpPr>
        <p:spPr>
          <a:xfrm>
            <a:off x="457200" y="4914900.0"/>
            <a:ext cx="8229600" cy="0.0"/>
          </a:xfrm>
          <a:prstGeom prst="line">
            <a:avLst/>
          </a:prstGeom>
          <a:ln w="25400">
            <a:solidFill>
              <a:srgbClr val="2E86AB"/>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00100" y="5189220"/>
            <a:ext cx="5486400" cy="731520"/>
          </a:xfrm>
          <a:prstGeom prst="rect">
            <a:avLst/>
          </a:prstGeom>
          <a:noFill/>
        </p:spPr>
        <p:txBody>
          <a:bodyPr wrap="none">
            <a:spAutoFit/>
          </a:bodyPr>
          <a:lstStyle/>
          <a:p>
            <a:pPr algn="l">
              <a:defRPr sz="2800" b="1">
                <a:solidFill>
                  <a:srgbClr val="2E86AB"/>
                </a:solidFill>
                <a:latin typeface="Inter"/>
              </a:defRPr>
            </a:pPr>
            <a:r>
              <a:t>BRAND PURPOSE (VALUES)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800100" y="1051560"/>
            <a:ext cx="6858000" cy="2971800"/>
          </a:xfrm>
          <a:prstGeom prst="rect">
            <a:avLst/>
          </a:prstGeom>
          <a:noFill/>
        </p:spPr>
        <p:txBody>
          <a:bodyPr wrap="square" lIns="0" rIns="0" tIns="0" bIns="0">
            <a:spAutoFit/>
          </a:bodyPr>
          <a:lstStyle/>
          <a:p>
            <a:pPr algn="l">
              <a:spcAft>
                <a:spcPts val="800"/>
              </a:spcAft>
              <a:defRPr sz="2000" b="0">
                <a:solidFill>
                  <a:srgbClr val="FFFFFF"/>
                </a:solidFill>
                <a:latin typeface="Source Sans Pro"/>
              </a:defRPr>
            </a:pPr>
            <a:r>
              <a:t>We revolutionize technology through innovative design and human-centered solutions that empower businesses to achieve their digital transformation goals.</a:t>
            </a:r>
          </a:p>
        </p:txBody>
      </p:sp>
      <p:cxnSp>
        <p:nvCxnSpPr>
          <p:cNvPr id="3" name="Connector 2"/>
          <p:cNvCxnSpPr/>
          <p:nvPr/>
        </p:nvCxnSpPr>
        <p:spPr>
          <a:xfrm>
            <a:off x="457200" y="4914900.0"/>
            <a:ext cx="8229600" cy="0.0"/>
          </a:xfrm>
          <a:prstGeom prst="line">
            <a:avLst/>
          </a:prstGeom>
          <a:ln w="25400">
            <a:solidFill>
              <a:srgbClr val="2E86AB"/>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00100" y="5189220"/>
            <a:ext cx="5486400" cy="731520"/>
          </a:xfrm>
          <a:prstGeom prst="rect">
            <a:avLst/>
          </a:prstGeom>
          <a:noFill/>
        </p:spPr>
        <p:txBody>
          <a:bodyPr wrap="none">
            <a:spAutoFit/>
          </a:bodyPr>
          <a:lstStyle/>
          <a:p>
            <a:pPr algn="l">
              <a:defRPr sz="2800" b="1">
                <a:solidFill>
                  <a:srgbClr val="2E86AB"/>
                </a:solidFill>
                <a:latin typeface="Inter"/>
              </a:defRPr>
            </a:pPr>
            <a:r>
              <a:t>BRAND STORY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zeta_logo_1_20250828_235333_3e1fde11.png"/>
          <p:cNvPicPr>
            <a:picLocks noChangeAspect="1"/>
          </p:cNvPicPr>
          <p:nvPr/>
        </p:nvPicPr>
        <p:blipFill>
          <a:blip r:embed="rId2"/>
          <a:stretch>
            <a:fillRect/>
          </a:stretch>
        </p:blipFill>
        <p:spPr>
          <a:xfrm>
            <a:off x="1143000" y="1943100"/>
            <a:ext cx="3429000" cy="2971800"/>
          </a:xfrm>
          <a:prstGeom prst="rect">
            <a:avLst/>
          </a:prstGeom>
        </p:spPr>
      </p:pic>
      <p:sp>
        <p:nvSpPr>
          <p:cNvPr id="3" name="TextBox 2"/>
          <p:cNvSpPr txBox="1"/>
          <p:nvPr/>
        </p:nvSpPr>
        <p:spPr>
          <a:xfrm>
            <a:off x="5257800" y="1200150"/>
            <a:ext cx="3429000" cy="4457700"/>
          </a:xfrm>
          <a:prstGeom prst="rect">
            <a:avLst/>
          </a:prstGeom>
          <a:noFill/>
        </p:spPr>
        <p:txBody>
          <a:bodyPr wrap="square" lIns="0" rIns="0" tIns="0" bIns="0">
            <a:spAutoFit/>
          </a:bodyPr>
          <a:lstStyle/>
          <a:p>
            <a:pPr algn="l">
              <a:spcAft>
                <a:spcPts val="800"/>
              </a:spcAft>
              <a:defRPr sz="1600" b="0">
                <a:solidFill>
                  <a:srgbClr val="FFFFFF"/>
                </a:solidFill>
                <a:latin typeface="Source Sans Pro"/>
              </a:defRPr>
            </a:pPr>
            <a:r>
              <a:t>Choose for maximum impact and brand recognition in primary applications.</a:t>
            </a:r>
          </a:p>
        </p:txBody>
      </p:sp>
      <p:cxnSp>
        <p:nvCxnSpPr>
          <p:cNvPr id="4" name="Connector 3"/>
          <p:cNvCxnSpPr/>
          <p:nvPr/>
        </p:nvCxnSpPr>
        <p:spPr>
          <a:xfrm>
            <a:off x="457200" y="5286375.0"/>
            <a:ext cx="8229600" cy="0.0"/>
          </a:xfrm>
          <a:prstGeom prst="line">
            <a:avLst/>
          </a:prstGeom>
          <a:ln w="25400">
            <a:solidFill>
              <a:srgbClr val="2E86A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00100" y="5560695"/>
            <a:ext cx="5486400" cy="731520"/>
          </a:xfrm>
          <a:prstGeom prst="rect">
            <a:avLst/>
          </a:prstGeom>
          <a:noFill/>
        </p:spPr>
        <p:txBody>
          <a:bodyPr wrap="none">
            <a:spAutoFit/>
          </a:bodyPr>
          <a:lstStyle/>
          <a:p>
            <a:pPr algn="l">
              <a:defRPr sz="2800" b="1">
                <a:solidFill>
                  <a:srgbClr val="2E86AB"/>
                </a:solidFill>
                <a:latin typeface="Inter"/>
              </a:defRPr>
            </a:pPr>
            <a:r>
              <a:t>Logo Variation 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zeta_logo_2_20250828_235352_a3259202.png"/>
          <p:cNvPicPr>
            <a:picLocks noChangeAspect="1"/>
          </p:cNvPicPr>
          <p:nvPr/>
        </p:nvPicPr>
        <p:blipFill>
          <a:blip r:embed="rId2"/>
          <a:stretch>
            <a:fillRect/>
          </a:stretch>
        </p:blipFill>
        <p:spPr>
          <a:xfrm>
            <a:off x="1143000" y="1943100"/>
            <a:ext cx="3429000" cy="2971800"/>
          </a:xfrm>
          <a:prstGeom prst="rect">
            <a:avLst/>
          </a:prstGeom>
        </p:spPr>
      </p:pic>
      <p:sp>
        <p:nvSpPr>
          <p:cNvPr id="3" name="TextBox 2"/>
          <p:cNvSpPr txBox="1"/>
          <p:nvPr/>
        </p:nvSpPr>
        <p:spPr>
          <a:xfrm>
            <a:off x="5257800" y="1200150"/>
            <a:ext cx="3429000" cy="4457700"/>
          </a:xfrm>
          <a:prstGeom prst="rect">
            <a:avLst/>
          </a:prstGeom>
          <a:noFill/>
        </p:spPr>
        <p:txBody>
          <a:bodyPr wrap="square" lIns="0" rIns="0" tIns="0" bIns="0">
            <a:spAutoFit/>
          </a:bodyPr>
          <a:lstStyle/>
          <a:p>
            <a:pPr algn="l">
              <a:spcAft>
                <a:spcPts val="800"/>
              </a:spcAft>
              <a:defRPr sz="1600" b="0">
                <a:solidFill>
                  <a:srgbClr val="FFFFFF"/>
                </a:solidFill>
                <a:latin typeface="Source Sans Pro"/>
              </a:defRPr>
            </a:pPr>
            <a:r>
              <a:t>Perfect for constrained spaces while maintaining professional brand presence and clarity.</a:t>
            </a:r>
          </a:p>
        </p:txBody>
      </p:sp>
      <p:cxnSp>
        <p:nvCxnSpPr>
          <p:cNvPr id="4" name="Connector 3"/>
          <p:cNvCxnSpPr/>
          <p:nvPr/>
        </p:nvCxnSpPr>
        <p:spPr>
          <a:xfrm>
            <a:off x="457200" y="5286375.0"/>
            <a:ext cx="8229600" cy="0.0"/>
          </a:xfrm>
          <a:prstGeom prst="line">
            <a:avLst/>
          </a:prstGeom>
          <a:ln w="25400">
            <a:solidFill>
              <a:srgbClr val="2E86A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00100" y="5560695"/>
            <a:ext cx="5486400" cy="731520"/>
          </a:xfrm>
          <a:prstGeom prst="rect">
            <a:avLst/>
          </a:prstGeom>
          <a:noFill/>
        </p:spPr>
        <p:txBody>
          <a:bodyPr wrap="none">
            <a:spAutoFit/>
          </a:bodyPr>
          <a:lstStyle/>
          <a:p>
            <a:pPr algn="l">
              <a:defRPr sz="2800" b="1">
                <a:solidFill>
                  <a:srgbClr val="2E86AB"/>
                </a:solidFill>
                <a:latin typeface="Inter"/>
              </a:defRPr>
            </a:pPr>
            <a:r>
              <a:t>Logo Variation 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zeta_logo_3_20250828_235415_054bae29.png"/>
          <p:cNvPicPr>
            <a:picLocks noChangeAspect="1"/>
          </p:cNvPicPr>
          <p:nvPr/>
        </p:nvPicPr>
        <p:blipFill>
          <a:blip r:embed="rId2"/>
          <a:stretch>
            <a:fillRect/>
          </a:stretch>
        </p:blipFill>
        <p:spPr>
          <a:xfrm>
            <a:off x="1143000" y="1943100"/>
            <a:ext cx="3429000" cy="2971800"/>
          </a:xfrm>
          <a:prstGeom prst="rect">
            <a:avLst/>
          </a:prstGeom>
        </p:spPr>
      </p:pic>
      <p:sp>
        <p:nvSpPr>
          <p:cNvPr id="3" name="TextBox 2"/>
          <p:cNvSpPr txBox="1"/>
          <p:nvPr/>
        </p:nvSpPr>
        <p:spPr>
          <a:xfrm>
            <a:off x="5257800" y="1200150"/>
            <a:ext cx="3429000" cy="4457700"/>
          </a:xfrm>
          <a:prstGeom prst="rect">
            <a:avLst/>
          </a:prstGeom>
          <a:noFill/>
        </p:spPr>
        <p:txBody>
          <a:bodyPr wrap="square" lIns="0" rIns="0" tIns="0" bIns="0">
            <a:spAutoFit/>
          </a:bodyPr>
          <a:lstStyle/>
          <a:p>
            <a:pPr algn="l">
              <a:spcAft>
                <a:spcPts val="800"/>
              </a:spcAft>
              <a:defRPr sz="1600" b="0">
                <a:solidFill>
                  <a:srgbClr val="FFFFFF"/>
                </a:solidFill>
                <a:latin typeface="Source Sans Pro"/>
              </a:defRPr>
            </a:pPr>
            <a:r>
              <a:t>Ideal for small sizes, watermarks, and applications requiring simplified brand representation.</a:t>
            </a:r>
          </a:p>
        </p:txBody>
      </p:sp>
      <p:cxnSp>
        <p:nvCxnSpPr>
          <p:cNvPr id="4" name="Connector 3"/>
          <p:cNvCxnSpPr/>
          <p:nvPr/>
        </p:nvCxnSpPr>
        <p:spPr>
          <a:xfrm>
            <a:off x="457200" y="5286375.0"/>
            <a:ext cx="8229600" cy="0.0"/>
          </a:xfrm>
          <a:prstGeom prst="line">
            <a:avLst/>
          </a:prstGeom>
          <a:ln w="25400">
            <a:solidFill>
              <a:srgbClr val="2E86A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00100" y="5560695"/>
            <a:ext cx="5486400" cy="731520"/>
          </a:xfrm>
          <a:prstGeom prst="rect">
            <a:avLst/>
          </a:prstGeom>
          <a:noFill/>
        </p:spPr>
        <p:txBody>
          <a:bodyPr wrap="none">
            <a:spAutoFit/>
          </a:bodyPr>
          <a:lstStyle/>
          <a:p>
            <a:pPr algn="l">
              <a:defRPr sz="2800" b="1">
                <a:solidFill>
                  <a:srgbClr val="2E86AB"/>
                </a:solidFill>
                <a:latin typeface="Inter"/>
              </a:defRPr>
            </a:pPr>
            <a:r>
              <a:t>Logo Variation 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1143000" y="1645920"/>
            <a:ext cx="1828800" cy="1371600"/>
          </a:xfrm>
          <a:prstGeom prst="rect">
            <a:avLst/>
          </a:prstGeom>
          <a:solidFill>
            <a:srgbClr val="FF5252"/>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54680" y="1645920"/>
            <a:ext cx="3017520" cy="1371600"/>
          </a:xfrm>
          <a:prstGeom prst="rect">
            <a:avLst/>
          </a:prstGeom>
          <a:noFill/>
        </p:spPr>
        <p:txBody>
          <a:bodyPr wrap="square" lIns="0" rIns="0" tIns="0" bIns="0">
            <a:spAutoFit/>
          </a:bodyPr>
          <a:lstStyle/>
          <a:p>
            <a:pPr algn="l">
              <a:spcAft>
                <a:spcPts val="300"/>
              </a:spcAft>
              <a:defRPr sz="1000" b="0">
                <a:solidFill>
                  <a:srgbClr val="FFFFFF"/>
                </a:solidFill>
                <a:latin typeface="Source Sans Pro"/>
              </a:defRPr>
            </a:pPr>
            <a:r>
              <a:t>Innovation Red</a:t>
            </a:r>
          </a:p>
          <a:p>
            <a:pPr algn="l">
              <a:spcAft>
                <a:spcPts val="300"/>
              </a:spcAft>
              <a:defRPr sz="1000" b="0">
                <a:solidFill>
                  <a:srgbClr val="FFFFFF"/>
                </a:solidFill>
                <a:latin typeface="Source Sans Pro"/>
              </a:defRPr>
            </a:pPr>
            <a:r>
              <a:t>#FF5252</a:t>
            </a:r>
          </a:p>
          <a:p>
            <a:pPr algn="l">
              <a:spcAft>
                <a:spcPts val="300"/>
              </a:spcAft>
              <a:defRPr sz="1000" b="0">
                <a:solidFill>
                  <a:srgbClr val="FFFFFF"/>
                </a:solidFill>
                <a:latin typeface="Source Sans Pro"/>
              </a:defRPr>
            </a:pPr>
            <a:r>
              <a:t>RGB(255, 82, 82)</a:t>
            </a:r>
          </a:p>
          <a:p>
            <a:pPr algn="l">
              <a:spcAft>
                <a:spcPts val="300"/>
              </a:spcAft>
              <a:defRPr sz="1000" b="0">
                <a:solidFill>
                  <a:srgbClr val="FFFFFF"/>
                </a:solidFill>
                <a:latin typeface="Source Sans Pro"/>
              </a:defRPr>
            </a:pPr>
            <a:r>
              <a:t>CMYK(0, 67, 67, 0)</a:t>
            </a:r>
          </a:p>
          <a:p>
            <a:pPr algn="l">
              <a:spcAft>
                <a:spcPts val="300"/>
              </a:spcAft>
              <a:defRPr sz="1000" b="0">
                <a:solidFill>
                  <a:srgbClr val="FFFFFF"/>
                </a:solidFill>
                <a:latin typeface="Source Sans Pro"/>
              </a:defRPr>
            </a:pPr>
            <a:r>
              <a:t>Use Dark Text</a:t>
            </a:r>
          </a:p>
        </p:txBody>
      </p:sp>
      <p:sp>
        <p:nvSpPr>
          <p:cNvPr id="4" name="Rectangle 3"/>
          <p:cNvSpPr/>
          <p:nvPr/>
        </p:nvSpPr>
        <p:spPr>
          <a:xfrm>
            <a:off x="4572000" y="1645920"/>
            <a:ext cx="1828800" cy="1371600"/>
          </a:xfrm>
          <a:prstGeom prst="rect">
            <a:avLst/>
          </a:prstGeom>
          <a:solidFill>
            <a:srgbClr val="2E86AB"/>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0" y="1645920"/>
            <a:ext cx="3017520" cy="1371600"/>
          </a:xfrm>
          <a:prstGeom prst="rect">
            <a:avLst/>
          </a:prstGeom>
          <a:noFill/>
        </p:spPr>
        <p:txBody>
          <a:bodyPr wrap="square" lIns="0" rIns="0" tIns="0" bIns="0">
            <a:spAutoFit/>
          </a:bodyPr>
          <a:lstStyle/>
          <a:p>
            <a:pPr algn="l">
              <a:spcAft>
                <a:spcPts val="300"/>
              </a:spcAft>
              <a:defRPr sz="1000" b="0">
                <a:solidFill>
                  <a:srgbClr val="FFFFFF"/>
                </a:solidFill>
                <a:latin typeface="Source Sans Pro"/>
              </a:defRPr>
            </a:pPr>
            <a:r>
              <a:t>TechForward Blue</a:t>
            </a:r>
          </a:p>
          <a:p>
            <a:pPr algn="l">
              <a:spcAft>
                <a:spcPts val="300"/>
              </a:spcAft>
              <a:defRPr sz="1000" b="0">
                <a:solidFill>
                  <a:srgbClr val="FFFFFF"/>
                </a:solidFill>
                <a:latin typeface="Source Sans Pro"/>
              </a:defRPr>
            </a:pPr>
            <a:r>
              <a:t>#2E86AB</a:t>
            </a:r>
          </a:p>
          <a:p>
            <a:pPr algn="l">
              <a:spcAft>
                <a:spcPts val="300"/>
              </a:spcAft>
              <a:defRPr sz="1000" b="0">
                <a:solidFill>
                  <a:srgbClr val="FFFFFF"/>
                </a:solidFill>
                <a:latin typeface="Source Sans Pro"/>
              </a:defRPr>
            </a:pPr>
            <a:r>
              <a:t>RGB(46, 134, 171)</a:t>
            </a:r>
          </a:p>
          <a:p>
            <a:pPr algn="l">
              <a:spcAft>
                <a:spcPts val="300"/>
              </a:spcAft>
              <a:defRPr sz="1000" b="0">
                <a:solidFill>
                  <a:srgbClr val="FFFFFF"/>
                </a:solidFill>
                <a:latin typeface="Source Sans Pro"/>
              </a:defRPr>
            </a:pPr>
            <a:r>
              <a:t>CMYK(73, 21, 0, 32)</a:t>
            </a:r>
          </a:p>
          <a:p>
            <a:pPr algn="l">
              <a:spcAft>
                <a:spcPts val="300"/>
              </a:spcAft>
              <a:defRPr sz="1000" b="0">
                <a:solidFill>
                  <a:srgbClr val="FFFFFF"/>
                </a:solidFill>
                <a:latin typeface="Source Sans Pro"/>
              </a:defRPr>
            </a:pPr>
            <a:r>
              <a:t>Use Dark Text</a:t>
            </a:r>
          </a:p>
        </p:txBody>
      </p:sp>
      <p:sp>
        <p:nvSpPr>
          <p:cNvPr id="6" name="Rectangle 5"/>
          <p:cNvSpPr/>
          <p:nvPr/>
        </p:nvSpPr>
        <p:spPr>
          <a:xfrm>
            <a:off x="1143000" y="3726180"/>
            <a:ext cx="1828800" cy="1371600"/>
          </a:xfrm>
          <a:prstGeom prst="rect">
            <a:avLst/>
          </a:prstGeom>
          <a:solidFill>
            <a:srgbClr val="39FF14"/>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154680" y="3726180"/>
            <a:ext cx="3017520" cy="1371600"/>
          </a:xfrm>
          <a:prstGeom prst="rect">
            <a:avLst/>
          </a:prstGeom>
          <a:noFill/>
        </p:spPr>
        <p:txBody>
          <a:bodyPr wrap="square" lIns="0" rIns="0" tIns="0" bIns="0">
            <a:spAutoFit/>
          </a:bodyPr>
          <a:lstStyle/>
          <a:p>
            <a:pPr algn="l">
              <a:spcAft>
                <a:spcPts val="300"/>
              </a:spcAft>
              <a:defRPr sz="1000" b="0">
                <a:solidFill>
                  <a:srgbClr val="FFFFFF"/>
                </a:solidFill>
                <a:latin typeface="Source Sans Pro"/>
              </a:defRPr>
            </a:pPr>
            <a:r>
              <a:t>Dynamic Neon Green</a:t>
            </a:r>
          </a:p>
          <a:p>
            <a:pPr algn="l">
              <a:spcAft>
                <a:spcPts val="300"/>
              </a:spcAft>
              <a:defRPr sz="1000" b="0">
                <a:solidFill>
                  <a:srgbClr val="FFFFFF"/>
                </a:solidFill>
                <a:latin typeface="Source Sans Pro"/>
              </a:defRPr>
            </a:pPr>
            <a:r>
              <a:t>#39FF14</a:t>
            </a:r>
          </a:p>
          <a:p>
            <a:pPr algn="l">
              <a:spcAft>
                <a:spcPts val="300"/>
              </a:spcAft>
              <a:defRPr sz="1000" b="0">
                <a:solidFill>
                  <a:srgbClr val="FFFFFF"/>
                </a:solidFill>
                <a:latin typeface="Source Sans Pro"/>
              </a:defRPr>
            </a:pPr>
            <a:r>
              <a:t>RGB(57, 255, 20)</a:t>
            </a:r>
          </a:p>
          <a:p>
            <a:pPr algn="l">
              <a:spcAft>
                <a:spcPts val="300"/>
              </a:spcAft>
              <a:defRPr sz="1000" b="0">
                <a:solidFill>
                  <a:srgbClr val="FFFFFF"/>
                </a:solidFill>
                <a:latin typeface="Source Sans Pro"/>
              </a:defRPr>
            </a:pPr>
            <a:r>
              <a:t>CMYK(77, 0, 92, 0)</a:t>
            </a:r>
          </a:p>
          <a:p>
            <a:pPr algn="l">
              <a:spcAft>
                <a:spcPts val="300"/>
              </a:spcAft>
              <a:defRPr sz="1000" b="0">
                <a:solidFill>
                  <a:srgbClr val="FFFFFF"/>
                </a:solidFill>
                <a:latin typeface="Source Sans Pro"/>
              </a:defRPr>
            </a:pPr>
            <a:r>
              <a:t>Use Dark Text</a:t>
            </a:r>
          </a:p>
        </p:txBody>
      </p:sp>
      <p:sp>
        <p:nvSpPr>
          <p:cNvPr id="8" name="Rectangle 7"/>
          <p:cNvSpPr/>
          <p:nvPr/>
        </p:nvSpPr>
        <p:spPr>
          <a:xfrm>
            <a:off x="4572000" y="3726180"/>
            <a:ext cx="1828800" cy="1371600"/>
          </a:xfrm>
          <a:prstGeom prst="rect">
            <a:avLst/>
          </a:prstGeom>
          <a:solidFill>
            <a:srgbClr val="C0C0C0"/>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3726180"/>
            <a:ext cx="3017520" cy="1371600"/>
          </a:xfrm>
          <a:prstGeom prst="rect">
            <a:avLst/>
          </a:prstGeom>
          <a:noFill/>
        </p:spPr>
        <p:txBody>
          <a:bodyPr wrap="square" lIns="0" rIns="0" tIns="0" bIns="0">
            <a:spAutoFit/>
          </a:bodyPr>
          <a:lstStyle/>
          <a:p>
            <a:pPr algn="l">
              <a:spcAft>
                <a:spcPts val="300"/>
              </a:spcAft>
              <a:defRPr sz="1000" b="0">
                <a:solidFill>
                  <a:srgbClr val="FFFFFF"/>
                </a:solidFill>
                <a:latin typeface="Source Sans Pro"/>
              </a:defRPr>
            </a:pPr>
            <a:r>
              <a:t>Futuristic Silver</a:t>
            </a:r>
          </a:p>
          <a:p>
            <a:pPr algn="l">
              <a:spcAft>
                <a:spcPts val="300"/>
              </a:spcAft>
              <a:defRPr sz="1000" b="0">
                <a:solidFill>
                  <a:srgbClr val="FFFFFF"/>
                </a:solidFill>
                <a:latin typeface="Source Sans Pro"/>
              </a:defRPr>
            </a:pPr>
            <a:r>
              <a:t>#C0C0C0</a:t>
            </a:r>
          </a:p>
          <a:p>
            <a:pPr algn="l">
              <a:spcAft>
                <a:spcPts val="300"/>
              </a:spcAft>
              <a:defRPr sz="1000" b="0">
                <a:solidFill>
                  <a:srgbClr val="FFFFFF"/>
                </a:solidFill>
                <a:latin typeface="Source Sans Pro"/>
              </a:defRPr>
            </a:pPr>
            <a:r>
              <a:t>RGB(192, 192, 192)</a:t>
            </a:r>
          </a:p>
          <a:p>
            <a:pPr algn="l">
              <a:spcAft>
                <a:spcPts val="300"/>
              </a:spcAft>
              <a:defRPr sz="1000" b="0">
                <a:solidFill>
                  <a:srgbClr val="FFFFFF"/>
                </a:solidFill>
                <a:latin typeface="Source Sans Pro"/>
              </a:defRPr>
            </a:pPr>
            <a:r>
              <a:t>CMYK(0, 0, 0, 24)</a:t>
            </a:r>
          </a:p>
          <a:p>
            <a:pPr algn="l">
              <a:spcAft>
                <a:spcPts val="300"/>
              </a:spcAft>
              <a:defRPr sz="1000" b="0">
                <a:solidFill>
                  <a:srgbClr val="FFFFFF"/>
                </a:solidFill>
                <a:latin typeface="Source Sans Pro"/>
              </a:defRPr>
            </a:pPr>
            <a:r>
              <a:t>Use Dark Text</a:t>
            </a:r>
          </a:p>
        </p:txBody>
      </p:sp>
      <p:cxnSp>
        <p:nvCxnSpPr>
          <p:cNvPr id="10" name="Connector 9"/>
          <p:cNvCxnSpPr/>
          <p:nvPr/>
        </p:nvCxnSpPr>
        <p:spPr>
          <a:xfrm>
            <a:off x="457200" y="5286375.0"/>
            <a:ext cx="8229600" cy="0.0"/>
          </a:xfrm>
          <a:prstGeom prst="line">
            <a:avLst/>
          </a:prstGeom>
          <a:ln w="25400">
            <a:solidFill>
              <a:srgbClr val="2E86AB"/>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57200" y="5560695"/>
            <a:ext cx="5486400" cy="731520"/>
          </a:xfrm>
          <a:prstGeom prst="rect">
            <a:avLst/>
          </a:prstGeom>
          <a:noFill/>
        </p:spPr>
        <p:txBody>
          <a:bodyPr wrap="none">
            <a:spAutoFit/>
          </a:bodyPr>
          <a:lstStyle/>
          <a:p>
            <a:pPr algn="l">
              <a:defRPr sz="2800" b="1">
                <a:solidFill>
                  <a:srgbClr val="2E86AB"/>
                </a:solidFill>
                <a:latin typeface="Inter"/>
              </a:defRPr>
            </a:pPr>
            <a:r>
              <a:t>Primary Colors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1143000" y="1571625"/>
            <a:ext cx="1828800" cy="914400"/>
          </a:xfrm>
          <a:prstGeom prst="rect">
            <a:avLst/>
          </a:prstGeom>
          <a:solidFill>
            <a:srgbClr val="F8F9FA"/>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2668905"/>
            <a:ext cx="1828800" cy="914400"/>
          </a:xfrm>
          <a:prstGeom prst="rect">
            <a:avLst/>
          </a:prstGeom>
          <a:noFill/>
        </p:spPr>
        <p:txBody>
          <a:bodyPr wrap="square" lIns="0" rIns="0" tIns="0" bIns="0">
            <a:spAutoFit/>
          </a:bodyPr>
          <a:lstStyle/>
          <a:p>
            <a:pPr algn="ctr">
              <a:spcAft>
                <a:spcPts val="300"/>
              </a:spcAft>
              <a:defRPr sz="1000" b="0">
                <a:solidFill>
                  <a:srgbClr val="FFFFFF"/>
                </a:solidFill>
                <a:latin typeface="Source Sans Pro"/>
              </a:defRPr>
            </a:pPr>
            <a:r>
              <a:t>Light Gray</a:t>
            </a:r>
          </a:p>
          <a:p>
            <a:pPr algn="ctr">
              <a:spcAft>
                <a:spcPts val="300"/>
              </a:spcAft>
              <a:defRPr sz="1000" b="0">
                <a:solidFill>
                  <a:srgbClr val="FFFFFF"/>
                </a:solidFill>
                <a:latin typeface="Source Sans Pro"/>
              </a:defRPr>
            </a:pPr>
            <a:r>
              <a:t>#F8F9FA</a:t>
            </a:r>
          </a:p>
          <a:p>
            <a:pPr algn="ctr">
              <a:spcAft>
                <a:spcPts val="300"/>
              </a:spcAft>
              <a:defRPr sz="1000" b="0">
                <a:solidFill>
                  <a:srgbClr val="FFFFFF"/>
                </a:solidFill>
                <a:latin typeface="Source Sans Pro"/>
              </a:defRPr>
            </a:pPr>
            <a:r>
              <a:t>Use Dark Text</a:t>
            </a:r>
          </a:p>
        </p:txBody>
      </p:sp>
      <p:sp>
        <p:nvSpPr>
          <p:cNvPr id="4" name="Rectangle 3"/>
          <p:cNvSpPr/>
          <p:nvPr/>
        </p:nvSpPr>
        <p:spPr>
          <a:xfrm>
            <a:off x="3200400" y="1571625"/>
            <a:ext cx="1828800" cy="914400"/>
          </a:xfrm>
          <a:prstGeom prst="rect">
            <a:avLst/>
          </a:prstGeom>
          <a:solidFill>
            <a:srgbClr val="8EE4AF"/>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0" y="2668905"/>
            <a:ext cx="1828800" cy="914400"/>
          </a:xfrm>
          <a:prstGeom prst="rect">
            <a:avLst/>
          </a:prstGeom>
          <a:noFill/>
        </p:spPr>
        <p:txBody>
          <a:bodyPr wrap="square" lIns="0" rIns="0" tIns="0" bIns="0">
            <a:spAutoFit/>
          </a:bodyPr>
          <a:lstStyle/>
          <a:p>
            <a:pPr algn="ctr">
              <a:spcAft>
                <a:spcPts val="300"/>
              </a:spcAft>
              <a:defRPr sz="1000" b="0">
                <a:solidFill>
                  <a:srgbClr val="FFFFFF"/>
                </a:solidFill>
                <a:latin typeface="Source Sans Pro"/>
              </a:defRPr>
            </a:pPr>
            <a:r>
              <a:t>Mint Green</a:t>
            </a:r>
          </a:p>
          <a:p>
            <a:pPr algn="ctr">
              <a:spcAft>
                <a:spcPts val="300"/>
              </a:spcAft>
              <a:defRPr sz="1000" b="0">
                <a:solidFill>
                  <a:srgbClr val="FFFFFF"/>
                </a:solidFill>
                <a:latin typeface="Source Sans Pro"/>
              </a:defRPr>
            </a:pPr>
            <a:r>
              <a:t>#8EE4AF</a:t>
            </a:r>
          </a:p>
          <a:p>
            <a:pPr algn="ctr">
              <a:spcAft>
                <a:spcPts val="300"/>
              </a:spcAft>
              <a:defRPr sz="1000" b="0">
                <a:solidFill>
                  <a:srgbClr val="FFFFFF"/>
                </a:solidFill>
                <a:latin typeface="Source Sans Pro"/>
              </a:defRPr>
            </a:pPr>
            <a:r>
              <a:t>Use Dark Text</a:t>
            </a:r>
          </a:p>
        </p:txBody>
      </p:sp>
      <p:sp>
        <p:nvSpPr>
          <p:cNvPr id="6" name="Rectangle 5"/>
          <p:cNvSpPr/>
          <p:nvPr/>
        </p:nvSpPr>
        <p:spPr>
          <a:xfrm>
            <a:off x="5257800" y="1571625"/>
            <a:ext cx="1828800" cy="914400"/>
          </a:xfrm>
          <a:prstGeom prst="rect">
            <a:avLst/>
          </a:prstGeom>
          <a:solidFill>
            <a:srgbClr val="FFC2D7"/>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57800" y="2668905"/>
            <a:ext cx="1828800" cy="914400"/>
          </a:xfrm>
          <a:prstGeom prst="rect">
            <a:avLst/>
          </a:prstGeom>
          <a:noFill/>
        </p:spPr>
        <p:txBody>
          <a:bodyPr wrap="square" lIns="0" rIns="0" tIns="0" bIns="0">
            <a:spAutoFit/>
          </a:bodyPr>
          <a:lstStyle/>
          <a:p>
            <a:pPr algn="ctr">
              <a:spcAft>
                <a:spcPts val="300"/>
              </a:spcAft>
              <a:defRPr sz="1000" b="0">
                <a:solidFill>
                  <a:srgbClr val="FFFFFF"/>
                </a:solidFill>
                <a:latin typeface="Source Sans Pro"/>
              </a:defRPr>
            </a:pPr>
            <a:r>
              <a:t>Soft Pink</a:t>
            </a:r>
          </a:p>
          <a:p>
            <a:pPr algn="ctr">
              <a:spcAft>
                <a:spcPts val="300"/>
              </a:spcAft>
              <a:defRPr sz="1000" b="0">
                <a:solidFill>
                  <a:srgbClr val="FFFFFF"/>
                </a:solidFill>
                <a:latin typeface="Source Sans Pro"/>
              </a:defRPr>
            </a:pPr>
            <a:r>
              <a:t>#FFC2D7</a:t>
            </a:r>
          </a:p>
          <a:p>
            <a:pPr algn="ctr">
              <a:spcAft>
                <a:spcPts val="300"/>
              </a:spcAft>
              <a:defRPr sz="1000" b="0">
                <a:solidFill>
                  <a:srgbClr val="FFFFFF"/>
                </a:solidFill>
                <a:latin typeface="Source Sans Pro"/>
              </a:defRPr>
            </a:pPr>
            <a:r>
              <a:t>Use Dark Text</a:t>
            </a:r>
          </a:p>
        </p:txBody>
      </p:sp>
      <p:sp>
        <p:nvSpPr>
          <p:cNvPr id="8" name="Rectangle 7"/>
          <p:cNvSpPr/>
          <p:nvPr/>
        </p:nvSpPr>
        <p:spPr>
          <a:xfrm>
            <a:off x="2171700" y="3429000"/>
            <a:ext cx="1828800" cy="914400"/>
          </a:xfrm>
          <a:prstGeom prst="rect">
            <a:avLst/>
          </a:prstGeom>
          <a:solidFill>
            <a:srgbClr val="5C6BC0"/>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71700" y="4526280"/>
            <a:ext cx="1828800" cy="914400"/>
          </a:xfrm>
          <a:prstGeom prst="rect">
            <a:avLst/>
          </a:prstGeom>
          <a:noFill/>
        </p:spPr>
        <p:txBody>
          <a:bodyPr wrap="square" lIns="0" rIns="0" tIns="0" bIns="0">
            <a:spAutoFit/>
          </a:bodyPr>
          <a:lstStyle/>
          <a:p>
            <a:pPr algn="ctr">
              <a:spcAft>
                <a:spcPts val="300"/>
              </a:spcAft>
              <a:defRPr sz="1000" b="0">
                <a:solidFill>
                  <a:srgbClr val="FFFFFF"/>
                </a:solidFill>
                <a:latin typeface="Source Sans Pro"/>
              </a:defRPr>
            </a:pPr>
            <a:r>
              <a:t>Slate Blue</a:t>
            </a:r>
          </a:p>
          <a:p>
            <a:pPr algn="ctr">
              <a:spcAft>
                <a:spcPts val="300"/>
              </a:spcAft>
              <a:defRPr sz="1000" b="0">
                <a:solidFill>
                  <a:srgbClr val="FFFFFF"/>
                </a:solidFill>
                <a:latin typeface="Source Sans Pro"/>
              </a:defRPr>
            </a:pPr>
            <a:r>
              <a:t>#5C6BC0</a:t>
            </a:r>
          </a:p>
          <a:p>
            <a:pPr algn="ctr">
              <a:spcAft>
                <a:spcPts val="300"/>
              </a:spcAft>
              <a:defRPr sz="1000" b="0">
                <a:solidFill>
                  <a:srgbClr val="FFFFFF"/>
                </a:solidFill>
                <a:latin typeface="Source Sans Pro"/>
              </a:defRPr>
            </a:pPr>
            <a:r>
              <a:t>Use Light Text</a:t>
            </a:r>
          </a:p>
        </p:txBody>
      </p:sp>
      <p:sp>
        <p:nvSpPr>
          <p:cNvPr id="10" name="Rectangle 9"/>
          <p:cNvSpPr/>
          <p:nvPr/>
        </p:nvSpPr>
        <p:spPr>
          <a:xfrm>
            <a:off x="4229100" y="3429000"/>
            <a:ext cx="1828800" cy="914400"/>
          </a:xfrm>
          <a:prstGeom prst="rect">
            <a:avLst/>
          </a:prstGeom>
          <a:solidFill>
            <a:srgbClr val="005F5F"/>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29100" y="4526280"/>
            <a:ext cx="1828800" cy="914400"/>
          </a:xfrm>
          <a:prstGeom prst="rect">
            <a:avLst/>
          </a:prstGeom>
          <a:noFill/>
        </p:spPr>
        <p:txBody>
          <a:bodyPr wrap="square" lIns="0" rIns="0" tIns="0" bIns="0">
            <a:spAutoFit/>
          </a:bodyPr>
          <a:lstStyle/>
          <a:p>
            <a:pPr algn="ctr">
              <a:spcAft>
                <a:spcPts val="300"/>
              </a:spcAft>
              <a:defRPr sz="1000" b="0">
                <a:solidFill>
                  <a:srgbClr val="FFFFFF"/>
                </a:solidFill>
                <a:latin typeface="Source Sans Pro"/>
              </a:defRPr>
            </a:pPr>
            <a:r>
              <a:t>Dark Teal</a:t>
            </a:r>
          </a:p>
          <a:p>
            <a:pPr algn="ctr">
              <a:spcAft>
                <a:spcPts val="300"/>
              </a:spcAft>
              <a:defRPr sz="1000" b="0">
                <a:solidFill>
                  <a:srgbClr val="FFFFFF"/>
                </a:solidFill>
                <a:latin typeface="Source Sans Pro"/>
              </a:defRPr>
            </a:pPr>
            <a:r>
              <a:t>#005F5F</a:t>
            </a:r>
          </a:p>
          <a:p>
            <a:pPr algn="ctr">
              <a:spcAft>
                <a:spcPts val="300"/>
              </a:spcAft>
              <a:defRPr sz="1000" b="0">
                <a:solidFill>
                  <a:srgbClr val="FFFFFF"/>
                </a:solidFill>
                <a:latin typeface="Source Sans Pro"/>
              </a:defRPr>
            </a:pPr>
            <a:r>
              <a:t>Use Light Text</a:t>
            </a:r>
          </a:p>
        </p:txBody>
      </p:sp>
      <p:cxnSp>
        <p:nvCxnSpPr>
          <p:cNvPr id="12" name="Connector 11"/>
          <p:cNvCxnSpPr/>
          <p:nvPr/>
        </p:nvCxnSpPr>
        <p:spPr>
          <a:xfrm>
            <a:off x="457200" y="5286375.0"/>
            <a:ext cx="8229600" cy="0.0"/>
          </a:xfrm>
          <a:prstGeom prst="line">
            <a:avLst/>
          </a:prstGeom>
          <a:ln w="25400">
            <a:solidFill>
              <a:srgbClr val="2E86AB"/>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57200" y="5560695"/>
            <a:ext cx="5486400" cy="731520"/>
          </a:xfrm>
          <a:prstGeom prst="rect">
            <a:avLst/>
          </a:prstGeom>
          <a:noFill/>
        </p:spPr>
        <p:txBody>
          <a:bodyPr wrap="none">
            <a:spAutoFit/>
          </a:bodyPr>
          <a:lstStyle/>
          <a:p>
            <a:pPr algn="l">
              <a:defRPr sz="2800" b="1">
                <a:solidFill>
                  <a:srgbClr val="2E86AB"/>
                </a:solidFill>
                <a:latin typeface="Inter"/>
              </a:defRPr>
            </a:pPr>
            <a:r>
              <a:t>Secondary Colors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800100" y="1051560"/>
            <a:ext cx="6858000" cy="3714750"/>
          </a:xfrm>
          <a:prstGeom prst="rect">
            <a:avLst/>
          </a:prstGeom>
          <a:noFill/>
        </p:spPr>
        <p:txBody>
          <a:bodyPr wrap="square" lIns="0" rIns="0" tIns="0" bIns="0">
            <a:spAutoFit/>
          </a:bodyPr>
          <a:lstStyle/>
          <a:p>
            <a:pPr algn="l">
              <a:spcAft>
                <a:spcPts val="600"/>
              </a:spcAft>
              <a:defRPr sz="1400" b="0">
                <a:solidFill>
                  <a:srgbClr val="FFFFFF"/>
                </a:solidFill>
                <a:latin typeface="Source Sans Pro"/>
              </a:defRPr>
            </a:pPr>
            <a:r>
              <a:t>Primary Color Usage</a:t>
            </a:r>
          </a:p>
          <a:p>
            <a:pPr algn="l">
              <a:spcAft>
                <a:spcPts val="600"/>
              </a:spcAft>
              <a:defRPr sz="1400" b="0">
                <a:solidFill>
                  <a:srgbClr val="FFFFFF"/>
                </a:solidFill>
                <a:latin typeface="Source Sans Pro"/>
              </a:defRPr>
            </a:pPr>
          </a:p>
          <a:p>
            <a:pPr algn="l">
              <a:spcAft>
                <a:spcPts val="600"/>
              </a:spcAft>
              <a:defRPr sz="1400" b="0">
                <a:solidFill>
                  <a:srgbClr val="FFFFFF"/>
                </a:solidFill>
                <a:latin typeface="Source Sans Pro"/>
              </a:defRPr>
            </a:pPr>
            <a:r>
              <a:t>Use for brand-critical elements:</a:t>
            </a:r>
          </a:p>
          <a:p>
            <a:pPr algn="l">
              <a:spcAft>
                <a:spcPts val="600"/>
              </a:spcAft>
              <a:defRPr sz="1400" b="0">
                <a:solidFill>
                  <a:srgbClr val="FFFFFF"/>
                </a:solidFill>
                <a:latin typeface="Source Sans Pro"/>
              </a:defRPr>
            </a:pPr>
            <a:r>
              <a:t>• Logos and main brand marks</a:t>
            </a:r>
          </a:p>
          <a:p>
            <a:pPr algn="l">
              <a:spcAft>
                <a:spcPts val="600"/>
              </a:spcAft>
              <a:defRPr sz="1400" b="0">
                <a:solidFill>
                  <a:srgbClr val="FFFFFF"/>
                </a:solidFill>
                <a:latin typeface="Source Sans Pro"/>
              </a:defRPr>
            </a:pPr>
            <a:r>
              <a:t>• Headlines and key text</a:t>
            </a:r>
          </a:p>
          <a:p>
            <a:pPr algn="l">
              <a:spcAft>
                <a:spcPts val="600"/>
              </a:spcAft>
              <a:defRPr sz="1400" b="0">
                <a:solidFill>
                  <a:srgbClr val="FFFFFF"/>
                </a:solidFill>
                <a:latin typeface="Source Sans Pro"/>
              </a:defRPr>
            </a:pPr>
            <a:r>
              <a:t>• CTA buttons and navigation</a:t>
            </a:r>
          </a:p>
          <a:p>
            <a:pPr algn="l">
              <a:spcAft>
                <a:spcPts val="600"/>
              </a:spcAft>
              <a:defRPr sz="1400" b="0">
                <a:solidFill>
                  <a:srgbClr val="FFFFFF"/>
                </a:solidFill>
                <a:latin typeface="Source Sans Pro"/>
              </a:defRPr>
            </a:pPr>
            <a:r>
              <a:t>• Hero sections</a:t>
            </a:r>
          </a:p>
          <a:p>
            <a:pPr algn="l">
              <a:spcAft>
                <a:spcPts val="600"/>
              </a:spcAft>
              <a:defRPr sz="1400" b="0">
                <a:solidFill>
                  <a:srgbClr val="FFFFFF"/>
                </a:solidFill>
                <a:latin typeface="Source Sans Pro"/>
              </a:defRPr>
            </a:pPr>
          </a:p>
          <a:p>
            <a:pPr algn="l">
              <a:spcAft>
                <a:spcPts val="600"/>
              </a:spcAft>
              <a:defRPr sz="1400" b="0">
                <a:solidFill>
                  <a:srgbClr val="FFFFFF"/>
                </a:solidFill>
                <a:latin typeface="Source Sans Pro"/>
              </a:defRPr>
            </a:pPr>
            <a:r>
              <a:t>Colors: Innovation Red, TechForward Blue, Dynamic Neon Green, Futuristic Silver</a:t>
            </a:r>
          </a:p>
          <a:p>
            <a:pPr algn="l">
              <a:spcAft>
                <a:spcPts val="600"/>
              </a:spcAft>
              <a:defRPr sz="1400" b="0">
                <a:solidFill>
                  <a:srgbClr val="FFFFFF"/>
                </a:solidFill>
                <a:latin typeface="Source Sans Pro"/>
              </a:defRPr>
            </a:pPr>
          </a:p>
          <a:p>
            <a:pPr algn="l">
              <a:spcAft>
                <a:spcPts val="600"/>
              </a:spcAft>
              <a:defRPr sz="1400" b="0">
                <a:solidFill>
                  <a:srgbClr val="FFFFFF"/>
                </a:solidFill>
                <a:latin typeface="Source Sans Pro"/>
              </a:defRPr>
            </a:pPr>
            <a:r>
              <a:t>Best Practices:</a:t>
            </a:r>
          </a:p>
          <a:p>
            <a:pPr algn="l">
              <a:spcAft>
                <a:spcPts val="600"/>
              </a:spcAft>
              <a:defRPr sz="1400" b="0">
                <a:solidFill>
                  <a:srgbClr val="FFFFFF"/>
                </a:solidFill>
                <a:latin typeface="Source Sans Pro"/>
              </a:defRPr>
            </a:pPr>
            <a:r>
              <a:t>- Maximum brand recognition</a:t>
            </a:r>
          </a:p>
          <a:p>
            <a:pPr algn="l">
              <a:spcAft>
                <a:spcPts val="600"/>
              </a:spcAft>
              <a:defRPr sz="1400" b="0">
                <a:solidFill>
                  <a:srgbClr val="FFFFFF"/>
                </a:solidFill>
                <a:latin typeface="Source Sans Pro"/>
              </a:defRPr>
            </a:pPr>
            <a:r>
              <a:t>- Consistent application</a:t>
            </a:r>
          </a:p>
          <a:p>
            <a:pPr algn="l">
              <a:spcAft>
                <a:spcPts val="600"/>
              </a:spcAft>
              <a:defRPr sz="1400" b="0">
                <a:solidFill>
                  <a:srgbClr val="FFFFFF"/>
                </a:solidFill>
                <a:latin typeface="Source Sans Pro"/>
              </a:defRPr>
            </a:pPr>
            <a:r>
              <a:t>- Sufficient contrast</a:t>
            </a:r>
          </a:p>
          <a:p>
            <a:pPr algn="l">
              <a:spcAft>
                <a:spcPts val="600"/>
              </a:spcAft>
              <a:defRPr sz="1400" b="0">
                <a:solidFill>
                  <a:srgbClr val="FFFFFF"/>
                </a:solidFill>
                <a:latin typeface="Source Sans Pro"/>
              </a:defRPr>
            </a:pPr>
            <a:r>
              <a:t>- Accessibility compliance</a:t>
            </a:r>
          </a:p>
        </p:txBody>
      </p:sp>
      <p:cxnSp>
        <p:nvCxnSpPr>
          <p:cNvPr id="3" name="Connector 2"/>
          <p:cNvCxnSpPr/>
          <p:nvPr/>
        </p:nvCxnSpPr>
        <p:spPr>
          <a:xfrm>
            <a:off x="457200" y="5286375.0"/>
            <a:ext cx="8229600" cy="0.0"/>
          </a:xfrm>
          <a:prstGeom prst="line">
            <a:avLst/>
          </a:prstGeom>
          <a:ln w="25400">
            <a:solidFill>
              <a:srgbClr val="FF525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5560695"/>
            <a:ext cx="5486400" cy="731520"/>
          </a:xfrm>
          <a:prstGeom prst="rect">
            <a:avLst/>
          </a:prstGeom>
          <a:noFill/>
        </p:spPr>
        <p:txBody>
          <a:bodyPr wrap="none">
            <a:spAutoFit/>
          </a:bodyPr>
          <a:lstStyle/>
          <a:p>
            <a:pPr algn="l">
              <a:defRPr sz="2800" b="1">
                <a:solidFill>
                  <a:srgbClr val="FF5252"/>
                </a:solidFill>
                <a:latin typeface="Inter"/>
              </a:defRPr>
            </a:pPr>
            <a:r>
              <a:t>Color Usage 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800100" y="1051560"/>
            <a:ext cx="6858000" cy="3714750"/>
          </a:xfrm>
          <a:prstGeom prst="rect">
            <a:avLst/>
          </a:prstGeom>
          <a:noFill/>
        </p:spPr>
        <p:txBody>
          <a:bodyPr wrap="square" lIns="0" rIns="0" tIns="0" bIns="0">
            <a:spAutoFit/>
          </a:bodyPr>
          <a:lstStyle/>
          <a:p>
            <a:pPr algn="l">
              <a:spcAft>
                <a:spcPts val="600"/>
              </a:spcAft>
              <a:defRPr sz="1400" b="0">
                <a:solidFill>
                  <a:srgbClr val="FFFFFF"/>
                </a:solidFill>
                <a:latin typeface="Source Sans Pro"/>
              </a:defRPr>
            </a:pPr>
            <a:r>
              <a:t>Secondary Color Usage</a:t>
            </a:r>
          </a:p>
          <a:p>
            <a:pPr algn="l">
              <a:spcAft>
                <a:spcPts val="600"/>
              </a:spcAft>
              <a:defRPr sz="1400" b="0">
                <a:solidFill>
                  <a:srgbClr val="FFFFFF"/>
                </a:solidFill>
                <a:latin typeface="Source Sans Pro"/>
              </a:defRPr>
            </a:pPr>
          </a:p>
          <a:p>
            <a:pPr algn="l">
              <a:spcAft>
                <a:spcPts val="600"/>
              </a:spcAft>
              <a:defRPr sz="1400" b="0">
                <a:solidFill>
                  <a:srgbClr val="FFFFFF"/>
                </a:solidFill>
                <a:latin typeface="Source Sans Pro"/>
              </a:defRPr>
            </a:pPr>
            <a:r>
              <a:t>Use for supporting elements:</a:t>
            </a:r>
          </a:p>
          <a:p>
            <a:pPr algn="l">
              <a:spcAft>
                <a:spcPts val="600"/>
              </a:spcAft>
              <a:defRPr sz="1400" b="0">
                <a:solidFill>
                  <a:srgbClr val="FFFFFF"/>
                </a:solidFill>
                <a:latin typeface="Source Sans Pro"/>
              </a:defRPr>
            </a:pPr>
            <a:r>
              <a:t>• Backgrounds and subtle accents</a:t>
            </a:r>
          </a:p>
          <a:p>
            <a:pPr algn="l">
              <a:spcAft>
                <a:spcPts val="600"/>
              </a:spcAft>
              <a:defRPr sz="1400" b="0">
                <a:solidFill>
                  <a:srgbClr val="FFFFFF"/>
                </a:solidFill>
                <a:latin typeface="Source Sans Pro"/>
              </a:defRPr>
            </a:pPr>
            <a:r>
              <a:t>• Secondary text</a:t>
            </a:r>
          </a:p>
          <a:p>
            <a:pPr algn="l">
              <a:spcAft>
                <a:spcPts val="600"/>
              </a:spcAft>
              <a:defRPr sz="1400" b="0">
                <a:solidFill>
                  <a:srgbClr val="FFFFFF"/>
                </a:solidFill>
                <a:latin typeface="Source Sans Pro"/>
              </a:defRPr>
            </a:pPr>
            <a:r>
              <a:t>• Borders and dividers</a:t>
            </a:r>
          </a:p>
          <a:p>
            <a:pPr algn="l">
              <a:spcAft>
                <a:spcPts val="600"/>
              </a:spcAft>
              <a:defRPr sz="1400" b="0">
                <a:solidFill>
                  <a:srgbClr val="FFFFFF"/>
                </a:solidFill>
                <a:latin typeface="Source Sans Pro"/>
              </a:defRPr>
            </a:pPr>
            <a:r>
              <a:t>• Hover states and icons</a:t>
            </a:r>
          </a:p>
          <a:p>
            <a:pPr algn="l">
              <a:spcAft>
                <a:spcPts val="600"/>
              </a:spcAft>
              <a:defRPr sz="1400" b="0">
                <a:solidFill>
                  <a:srgbClr val="FFFFFF"/>
                </a:solidFill>
                <a:latin typeface="Source Sans Pro"/>
              </a:defRPr>
            </a:pPr>
          </a:p>
          <a:p>
            <a:pPr algn="l">
              <a:spcAft>
                <a:spcPts val="600"/>
              </a:spcAft>
              <a:defRPr sz="1400" b="0">
                <a:solidFill>
                  <a:srgbClr val="FFFFFF"/>
                </a:solidFill>
                <a:latin typeface="Source Sans Pro"/>
              </a:defRPr>
            </a:pPr>
            <a:r>
              <a:t>Colors: Light Gray, Mint Green, Soft Pink, Slate Blue, Dark Teal</a:t>
            </a:r>
          </a:p>
          <a:p>
            <a:pPr algn="l">
              <a:spcAft>
                <a:spcPts val="600"/>
              </a:spcAft>
              <a:defRPr sz="1400" b="0">
                <a:solidFill>
                  <a:srgbClr val="FFFFFF"/>
                </a:solidFill>
                <a:latin typeface="Source Sans Pro"/>
              </a:defRPr>
            </a:pPr>
          </a:p>
          <a:p>
            <a:pPr algn="l">
              <a:spcAft>
                <a:spcPts val="600"/>
              </a:spcAft>
              <a:defRPr sz="1400" b="0">
                <a:solidFill>
                  <a:srgbClr val="FFFFFF"/>
                </a:solidFill>
                <a:latin typeface="Source Sans Pro"/>
              </a:defRPr>
            </a:pPr>
            <a:r>
              <a:t>Best Practices:</a:t>
            </a:r>
          </a:p>
          <a:p>
            <a:pPr algn="l">
              <a:spcAft>
                <a:spcPts val="600"/>
              </a:spcAft>
              <a:defRPr sz="1400" b="0">
                <a:solidFill>
                  <a:srgbClr val="FFFFFF"/>
                </a:solidFill>
                <a:latin typeface="Source Sans Pro"/>
              </a:defRPr>
            </a:pPr>
            <a:r>
              <a:t>- Create visual hierarchy</a:t>
            </a:r>
          </a:p>
          <a:p>
            <a:pPr algn="l">
              <a:spcAft>
                <a:spcPts val="600"/>
              </a:spcAft>
              <a:defRPr sz="1400" b="0">
                <a:solidFill>
                  <a:srgbClr val="FFFFFF"/>
                </a:solidFill>
                <a:latin typeface="Source Sans Pro"/>
              </a:defRPr>
            </a:pPr>
            <a:r>
              <a:t>- Support, don't compete</a:t>
            </a:r>
          </a:p>
          <a:p>
            <a:pPr algn="l">
              <a:spcAft>
                <a:spcPts val="600"/>
              </a:spcAft>
              <a:defRPr sz="1400" b="0">
                <a:solidFill>
                  <a:srgbClr val="FFFFFF"/>
                </a:solidFill>
                <a:latin typeface="Source Sans Pro"/>
              </a:defRPr>
            </a:pPr>
            <a:r>
              <a:t>- Maintain readability</a:t>
            </a:r>
          </a:p>
          <a:p>
            <a:pPr algn="l">
              <a:spcAft>
                <a:spcPts val="600"/>
              </a:spcAft>
              <a:defRPr sz="1400" b="0">
                <a:solidFill>
                  <a:srgbClr val="FFFFFF"/>
                </a:solidFill>
                <a:latin typeface="Source Sans Pro"/>
              </a:defRPr>
            </a:pPr>
            <a:r>
              <a:t>- Use sparingly</a:t>
            </a:r>
          </a:p>
        </p:txBody>
      </p:sp>
      <p:cxnSp>
        <p:nvCxnSpPr>
          <p:cNvPr id="3" name="Connector 2"/>
          <p:cNvCxnSpPr/>
          <p:nvPr/>
        </p:nvCxnSpPr>
        <p:spPr>
          <a:xfrm>
            <a:off x="457200" y="5286375.0"/>
            <a:ext cx="8229600" cy="0.0"/>
          </a:xfrm>
          <a:prstGeom prst="line">
            <a:avLst/>
          </a:prstGeom>
          <a:ln w="25400">
            <a:solidFill>
              <a:srgbClr val="FF525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5560695"/>
            <a:ext cx="5486400" cy="731520"/>
          </a:xfrm>
          <a:prstGeom prst="rect">
            <a:avLst/>
          </a:prstGeom>
          <a:noFill/>
        </p:spPr>
        <p:txBody>
          <a:bodyPr wrap="none">
            <a:spAutoFit/>
          </a:bodyPr>
          <a:lstStyle/>
          <a:p>
            <a:pPr algn="l">
              <a:defRPr sz="2800" b="1">
                <a:solidFill>
                  <a:srgbClr val="FF5252"/>
                </a:solidFill>
                <a:latin typeface="Inter"/>
              </a:defRPr>
            </a:pPr>
            <a:r>
              <a:t>Color Usage 2/2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1143000" y="457200"/>
            <a:ext cx="6858000" cy="742950"/>
          </a:xfrm>
          <a:prstGeom prst="rect">
            <a:avLst/>
          </a:prstGeom>
          <a:noFill/>
        </p:spPr>
        <p:txBody>
          <a:bodyPr wrap="none">
            <a:spAutoFit/>
          </a:bodyPr>
          <a:lstStyle/>
          <a:p>
            <a:pPr>
              <a:defRPr sz="3200" b="1">
                <a:solidFill>
                  <a:srgbClr val="FFFFFF"/>
                </a:solidFill>
                <a:latin typeface="Inter"/>
              </a:defRPr>
            </a:pPr>
            <a:r>
              <a:t>Typography</a:t>
            </a:r>
          </a:p>
        </p:txBody>
      </p:sp>
      <p:sp>
        <p:nvSpPr>
          <p:cNvPr id="4" name="TextBox 3"/>
          <p:cNvSpPr txBox="1"/>
          <p:nvPr/>
        </p:nvSpPr>
        <p:spPr>
          <a:xfrm>
            <a:off x="1143000" y="1943100"/>
            <a:ext cx="3429000" cy="742950"/>
          </a:xfrm>
          <a:prstGeom prst="rect">
            <a:avLst/>
          </a:prstGeom>
          <a:noFill/>
        </p:spPr>
        <p:txBody>
          <a:bodyPr wrap="none">
            <a:spAutoFit/>
          </a:bodyPr>
          <a:lstStyle/>
          <a:p>
            <a:pPr>
              <a:defRPr sz="2000" b="0">
                <a:solidFill>
                  <a:srgbClr val="FFFFFF"/>
                </a:solidFill>
                <a:latin typeface="Source Sans Pro"/>
              </a:defRPr>
            </a:pPr>
            <a:r>
              <a:t>Primary Font: Inter</a:t>
            </a:r>
          </a:p>
        </p:txBody>
      </p:sp>
      <p:sp>
        <p:nvSpPr>
          <p:cNvPr id="5" name="TextBox 4"/>
          <p:cNvSpPr txBox="1"/>
          <p:nvPr/>
        </p:nvSpPr>
        <p:spPr>
          <a:xfrm>
            <a:off x="1143000" y="2686050"/>
            <a:ext cx="3429000" cy="742950"/>
          </a:xfrm>
          <a:prstGeom prst="rect">
            <a:avLst/>
          </a:prstGeom>
          <a:noFill/>
        </p:spPr>
        <p:txBody>
          <a:bodyPr wrap="none">
            <a:spAutoFit/>
          </a:bodyPr>
          <a:lstStyle/>
          <a:p>
            <a:pPr>
              <a:defRPr sz="3200" b="1">
                <a:solidFill>
                  <a:srgbClr val="FFFFFF"/>
                </a:solidFill>
                <a:latin typeface="Inter"/>
              </a:defRPr>
            </a:pPr>
            <a:r>
              <a:t>H1 Heading</a:t>
            </a:r>
          </a:p>
        </p:txBody>
      </p:sp>
      <p:sp>
        <p:nvSpPr>
          <p:cNvPr id="6" name="TextBox 5"/>
          <p:cNvSpPr txBox="1"/>
          <p:nvPr/>
        </p:nvSpPr>
        <p:spPr>
          <a:xfrm>
            <a:off x="1143000" y="3429000"/>
            <a:ext cx="3429000" cy="742950"/>
          </a:xfrm>
          <a:prstGeom prst="rect">
            <a:avLst/>
          </a:prstGeom>
          <a:noFill/>
        </p:spPr>
        <p:txBody>
          <a:bodyPr wrap="none">
            <a:spAutoFit/>
          </a:bodyPr>
          <a:lstStyle/>
          <a:p>
            <a:pPr>
              <a:defRPr sz="2400" b="1">
                <a:solidFill>
                  <a:srgbClr val="FFFFFF"/>
                </a:solidFill>
                <a:latin typeface="Inter"/>
              </a:defRPr>
            </a:pPr>
            <a:r>
              <a:t>H2 Heading</a:t>
            </a:r>
          </a:p>
        </p:txBody>
      </p:sp>
      <p:sp>
        <p:nvSpPr>
          <p:cNvPr id="7" name="TextBox 6"/>
          <p:cNvSpPr txBox="1"/>
          <p:nvPr/>
        </p:nvSpPr>
        <p:spPr>
          <a:xfrm>
            <a:off x="1143000" y="4171950"/>
            <a:ext cx="3429000" cy="742950"/>
          </a:xfrm>
          <a:prstGeom prst="rect">
            <a:avLst/>
          </a:prstGeom>
          <a:noFill/>
        </p:spPr>
        <p:txBody>
          <a:bodyPr wrap="none">
            <a:spAutoFit/>
          </a:bodyPr>
          <a:lstStyle/>
          <a:p>
            <a:pPr>
              <a:defRPr sz="2000" b="0">
                <a:solidFill>
                  <a:srgbClr val="FFFFFF"/>
                </a:solidFill>
                <a:latin typeface="Inter"/>
              </a:defRPr>
            </a:pPr>
            <a:r>
              <a:t>H3 Heading</a:t>
            </a:r>
          </a:p>
        </p:txBody>
      </p:sp>
      <p:sp>
        <p:nvSpPr>
          <p:cNvPr id="8" name="TextBox 7"/>
          <p:cNvSpPr txBox="1"/>
          <p:nvPr/>
        </p:nvSpPr>
        <p:spPr>
          <a:xfrm>
            <a:off x="5257800" y="1943100"/>
            <a:ext cx="3429000" cy="742950"/>
          </a:xfrm>
          <a:prstGeom prst="rect">
            <a:avLst/>
          </a:prstGeom>
          <a:noFill/>
        </p:spPr>
        <p:txBody>
          <a:bodyPr wrap="none">
            <a:spAutoFit/>
          </a:bodyPr>
          <a:lstStyle/>
          <a:p>
            <a:pPr>
              <a:defRPr sz="2000" b="0">
                <a:solidFill>
                  <a:srgbClr val="FFFFFF"/>
                </a:solidFill>
                <a:latin typeface="Source Sans Pro"/>
              </a:defRPr>
            </a:pPr>
            <a:r>
              <a:t>Secondary Font: Source Sans Pro</a:t>
            </a:r>
          </a:p>
        </p:txBody>
      </p:sp>
      <p:sp>
        <p:nvSpPr>
          <p:cNvPr id="9" name="TextBox 8"/>
          <p:cNvSpPr txBox="1"/>
          <p:nvPr/>
        </p:nvSpPr>
        <p:spPr>
          <a:xfrm>
            <a:off x="5257800" y="2686050"/>
            <a:ext cx="3429000" cy="742950"/>
          </a:xfrm>
          <a:prstGeom prst="rect">
            <a:avLst/>
          </a:prstGeom>
          <a:noFill/>
        </p:spPr>
        <p:txBody>
          <a:bodyPr wrap="none">
            <a:spAutoFit/>
          </a:bodyPr>
          <a:lstStyle/>
          <a:p>
            <a:pPr>
              <a:defRPr sz="1600" b="0">
                <a:solidFill>
                  <a:srgbClr val="FFFFFF"/>
                </a:solidFill>
                <a:latin typeface="Source Sans Pro"/>
              </a:defRPr>
            </a:pPr>
            <a:r>
              <a:t>Body Text</a:t>
            </a:r>
          </a:p>
        </p:txBody>
      </p:sp>
      <p:sp>
        <p:nvSpPr>
          <p:cNvPr id="10" name="TextBox 9"/>
          <p:cNvSpPr txBox="1"/>
          <p:nvPr/>
        </p:nvSpPr>
        <p:spPr>
          <a:xfrm>
            <a:off x="5257800" y="3429000"/>
            <a:ext cx="3429000" cy="742950"/>
          </a:xfrm>
          <a:prstGeom prst="rect">
            <a:avLst/>
          </a:prstGeom>
          <a:noFill/>
        </p:spPr>
        <p:txBody>
          <a:bodyPr wrap="none">
            <a:spAutoFit/>
          </a:bodyPr>
          <a:lstStyle/>
          <a:p>
            <a:pPr>
              <a:defRPr sz="1600" b="1">
                <a:solidFill>
                  <a:srgbClr val="FFFFFF"/>
                </a:solidFill>
                <a:latin typeface="Source Sans Pro"/>
              </a:defRPr>
            </a:pPr>
            <a:r>
              <a:t>Body Bold</a:t>
            </a:r>
          </a:p>
        </p:txBody>
      </p:sp>
      <p:sp>
        <p:nvSpPr>
          <p:cNvPr id="11" name="TextBox 10"/>
          <p:cNvSpPr txBox="1"/>
          <p:nvPr/>
        </p:nvSpPr>
        <p:spPr>
          <a:xfrm>
            <a:off x="5257800" y="4171950"/>
            <a:ext cx="3429000" cy="742950"/>
          </a:xfrm>
          <a:prstGeom prst="rect">
            <a:avLst/>
          </a:prstGeom>
          <a:noFill/>
        </p:spPr>
        <p:txBody>
          <a:bodyPr wrap="none">
            <a:spAutoFit/>
          </a:bodyPr>
          <a:lstStyle/>
          <a:p>
            <a:pPr>
              <a:defRPr sz="1200" b="0">
                <a:solidFill>
                  <a:srgbClr val="FFFFFF"/>
                </a:solidFill>
                <a:latin typeface="Source Sans Pro"/>
              </a:defRPr>
            </a:pPr>
            <a:r>
              <a:t>Caption Text</a:t>
            </a:r>
          </a:p>
        </p:txBody>
      </p:sp>
      <p:sp>
        <p:nvSpPr>
          <p:cNvPr id="12" name="TextBox 11"/>
          <p:cNvSpPr txBox="1"/>
          <p:nvPr/>
        </p:nvSpPr>
        <p:spPr>
          <a:xfrm>
            <a:off x="457200" y="5657850"/>
            <a:ext cx="4114800" cy="742950"/>
          </a:xfrm>
          <a:prstGeom prst="rect">
            <a:avLst/>
          </a:prstGeom>
          <a:noFill/>
        </p:spPr>
        <p:txBody>
          <a:bodyPr wrap="none">
            <a:spAutoFit/>
          </a:bodyPr>
          <a:lstStyle/>
          <a:p>
            <a:pPr algn="l">
              <a:defRPr sz="1000" b="0">
                <a:solidFill>
                  <a:srgbClr val="FFFFFF"/>
                </a:solidFill>
                <a:latin typeface="Source Sans Pro"/>
              </a:defRPr>
            </a:pPr>
            <a:r>
              <a:t>TechForward Live</a:t>
            </a:r>
          </a:p>
        </p:txBody>
      </p:sp>
      <p:sp>
        <p:nvSpPr>
          <p:cNvPr id="13" name="TextBox 12"/>
          <p:cNvSpPr txBox="1"/>
          <p:nvPr/>
        </p:nvSpPr>
        <p:spPr>
          <a:xfrm>
            <a:off x="4572000" y="5657850"/>
            <a:ext cx="4114800" cy="742950"/>
          </a:xfrm>
          <a:prstGeom prst="rect">
            <a:avLst/>
          </a:prstGeom>
          <a:noFill/>
        </p:spPr>
        <p:txBody>
          <a:bodyPr wrap="none">
            <a:spAutoFit/>
          </a:bodyPr>
          <a:lstStyle/>
          <a:p>
            <a:pPr algn="r">
              <a:defRPr sz="1000" b="0">
                <a:solidFill>
                  <a:srgbClr val="FFFFFF"/>
                </a:solidFill>
                <a:latin typeface="Source Sans Pro"/>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1143000" y="457200"/>
            <a:ext cx="6858000" cy="742950"/>
          </a:xfrm>
          <a:prstGeom prst="rect">
            <a:avLst/>
          </a:prstGeom>
          <a:noFill/>
        </p:spPr>
        <p:txBody>
          <a:bodyPr wrap="none">
            <a:spAutoFit/>
          </a:bodyPr>
          <a:lstStyle/>
          <a:p>
            <a:pPr>
              <a:defRPr sz="3200" b="1">
                <a:solidFill>
                  <a:srgbClr val="FFFFFF"/>
                </a:solidFill>
                <a:latin typeface="Inter"/>
              </a:defRPr>
            </a:pPr>
            <a:r>
              <a:t>Visual &amp; Photography Guidelines</a:t>
            </a:r>
          </a:p>
        </p:txBody>
      </p:sp>
      <p:sp>
        <p:nvSpPr>
          <p:cNvPr id="4" name="TextBox 3"/>
          <p:cNvSpPr txBox="1"/>
          <p:nvPr/>
        </p:nvSpPr>
        <p:spPr>
          <a:xfrm>
            <a:off x="1143000" y="1943100"/>
            <a:ext cx="3429000" cy="2971800"/>
          </a:xfrm>
          <a:prstGeom prst="rect">
            <a:avLst/>
          </a:prstGeom>
          <a:noFill/>
        </p:spPr>
        <p:txBody>
          <a:bodyPr wrap="square">
            <a:spAutoFit/>
          </a:bodyPr>
          <a:lstStyle/>
          <a:p>
            <a:pPr>
              <a:defRPr sz="1800" b="0">
                <a:solidFill>
                  <a:srgbClr val="FFFFFF"/>
                </a:solidFill>
                <a:latin typeface="Source Sans Pro"/>
              </a:defRPr>
            </a:pPr>
            <a:r>
              <a:t>Visual Style Guidelines:</a:t>
            </a:r>
          </a:p>
          <a:p>
            <a:pPr>
              <a:defRPr sz="1400" b="0">
                <a:solidFill>
                  <a:srgbClr val="FFFFFF"/>
                </a:solidFill>
                <a:latin typeface="Source Sans Pro"/>
              </a:defRPr>
            </a:pPr>
            <a:r>
              <a:t>• Modern</a:t>
            </a:r>
          </a:p>
          <a:p>
            <a:pPr>
              <a:defRPr sz="1400" b="0">
                <a:solidFill>
                  <a:srgbClr val="FFFFFF"/>
                </a:solidFill>
                <a:latin typeface="Source Sans Pro"/>
              </a:defRPr>
            </a:pPr>
            <a:r>
              <a:t>• clean</a:t>
            </a:r>
          </a:p>
          <a:p>
            <a:pPr>
              <a:defRPr sz="1400" b="0">
                <a:solidFill>
                  <a:srgbClr val="FFFFFF"/>
                </a:solidFill>
                <a:latin typeface="Source Sans Pro"/>
              </a:defRPr>
            </a:pPr>
            <a:r>
              <a:t>• professional</a:t>
            </a:r>
          </a:p>
          <a:p>
            <a:pPr>
              <a:defRPr sz="1400" b="0">
                <a:solidFill>
                  <a:srgbClr val="FFFFFF"/>
                </a:solidFill>
                <a:latin typeface="Source Sans Pro"/>
              </a:defRPr>
            </a:pPr>
            <a:r>
              <a:t>• minimalist</a:t>
            </a:r>
          </a:p>
          <a:p>
            <a:pPr>
              <a:defRPr sz="1400" b="0">
                <a:solidFill>
                  <a:srgbClr val="FFFFFF"/>
                </a:solidFill>
                <a:latin typeface="Source Sans Pro"/>
              </a:defRPr>
            </a:pPr>
            <a:r>
              <a:t>• bold typography</a:t>
            </a:r>
          </a:p>
        </p:txBody>
      </p:sp>
      <p:sp>
        <p:nvSpPr>
          <p:cNvPr id="5" name="TextBox 4"/>
          <p:cNvSpPr txBox="1"/>
          <p:nvPr/>
        </p:nvSpPr>
        <p:spPr>
          <a:xfrm>
            <a:off x="5257800" y="1943100"/>
            <a:ext cx="3429000" cy="2971800"/>
          </a:xfrm>
          <a:prstGeom prst="rect">
            <a:avLst/>
          </a:prstGeom>
          <a:noFill/>
        </p:spPr>
        <p:txBody>
          <a:bodyPr wrap="square">
            <a:spAutoFit/>
          </a:bodyPr>
          <a:lstStyle/>
          <a:p>
            <a:pPr>
              <a:defRPr sz="1800" b="0">
                <a:solidFill>
                  <a:srgbClr val="FFFFFF"/>
                </a:solidFill>
                <a:latin typeface="Source Sans Pro"/>
              </a:defRPr>
            </a:pPr>
            <a:r>
              <a:t>Photography Guidelines:</a:t>
            </a:r>
          </a:p>
          <a:p>
            <a:pPr>
              <a:defRPr sz="1400" b="0">
                <a:solidFill>
                  <a:srgbClr val="FFFFFF"/>
                </a:solidFill>
                <a:latin typeface="Source Sans Pro"/>
              </a:defRPr>
            </a:pPr>
            <a:r>
              <a:t>• High contrast</a:t>
            </a:r>
          </a:p>
          <a:p>
            <a:pPr>
              <a:defRPr sz="1400" b="0">
                <a:solidFill>
                  <a:srgbClr val="FFFFFF"/>
                </a:solidFill>
                <a:latin typeface="Source Sans Pro"/>
              </a:defRPr>
            </a:pPr>
            <a:r>
              <a:t>• authentic moments</a:t>
            </a:r>
          </a:p>
          <a:p>
            <a:pPr>
              <a:defRPr sz="1400" b="0">
                <a:solidFill>
                  <a:srgbClr val="FFFFFF"/>
                </a:solidFill>
                <a:latin typeface="Source Sans Pro"/>
              </a:defRPr>
            </a:pPr>
            <a:r>
              <a:t>• natural lighting</a:t>
            </a:r>
          </a:p>
        </p:txBody>
      </p:sp>
      <p:sp>
        <p:nvSpPr>
          <p:cNvPr id="6" name="Rectangle 5"/>
          <p:cNvSpPr/>
          <p:nvPr/>
        </p:nvSpPr>
        <p:spPr>
          <a:xfrm>
            <a:off x="5257800" y="4914900"/>
            <a:ext cx="685800" cy="742950"/>
          </a:xfrm>
          <a:prstGeom prst="rect">
            <a:avLst/>
          </a:prstGeom>
          <a:solidFill>
            <a:srgbClr val="404040"/>
          </a:solidFill>
          <a:ln w="12700">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57800" y="5162550"/>
            <a:ext cx="685800" cy="247650"/>
          </a:xfrm>
          <a:prstGeom prst="rect">
            <a:avLst/>
          </a:prstGeom>
          <a:noFill/>
        </p:spPr>
        <p:txBody>
          <a:bodyPr wrap="none">
            <a:spAutoFit/>
          </a:bodyPr>
          <a:lstStyle/>
          <a:p>
            <a:pPr algn="ctr">
              <a:defRPr sz="800" b="0">
                <a:solidFill>
                  <a:srgbClr val="FFFFFF"/>
                </a:solidFill>
                <a:latin typeface="Source Sans Pro"/>
              </a:defRPr>
            </a:pPr>
            <a:r>
              <a:t>Example</a:t>
            </a:r>
          </a:p>
        </p:txBody>
      </p:sp>
      <p:sp>
        <p:nvSpPr>
          <p:cNvPr id="8" name="Rectangle 7"/>
          <p:cNvSpPr/>
          <p:nvPr/>
        </p:nvSpPr>
        <p:spPr>
          <a:xfrm>
            <a:off x="6629400" y="4914900"/>
            <a:ext cx="685800" cy="742950"/>
          </a:xfrm>
          <a:prstGeom prst="rect">
            <a:avLst/>
          </a:prstGeom>
          <a:solidFill>
            <a:srgbClr val="404040"/>
          </a:solidFill>
          <a:ln w="12700">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29400" y="5162550"/>
            <a:ext cx="685800" cy="247650"/>
          </a:xfrm>
          <a:prstGeom prst="rect">
            <a:avLst/>
          </a:prstGeom>
          <a:noFill/>
        </p:spPr>
        <p:txBody>
          <a:bodyPr wrap="none">
            <a:spAutoFit/>
          </a:bodyPr>
          <a:lstStyle/>
          <a:p>
            <a:pPr algn="ctr">
              <a:defRPr sz="800" b="0">
                <a:solidFill>
                  <a:srgbClr val="FFFFFF"/>
                </a:solidFill>
                <a:latin typeface="Source Sans Pro"/>
              </a:defRPr>
            </a:pPr>
            <a:r>
              <a:t>Example</a:t>
            </a:r>
          </a:p>
        </p:txBody>
      </p:sp>
      <p:sp>
        <p:nvSpPr>
          <p:cNvPr id="10" name="Rectangle 9"/>
          <p:cNvSpPr/>
          <p:nvPr/>
        </p:nvSpPr>
        <p:spPr>
          <a:xfrm>
            <a:off x="8001000" y="4914900"/>
            <a:ext cx="685800" cy="742950"/>
          </a:xfrm>
          <a:prstGeom prst="rect">
            <a:avLst/>
          </a:prstGeom>
          <a:solidFill>
            <a:srgbClr val="404040"/>
          </a:solidFill>
          <a:ln w="12700">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01000" y="5162550"/>
            <a:ext cx="685800" cy="247650"/>
          </a:xfrm>
          <a:prstGeom prst="rect">
            <a:avLst/>
          </a:prstGeom>
          <a:noFill/>
        </p:spPr>
        <p:txBody>
          <a:bodyPr wrap="none">
            <a:spAutoFit/>
          </a:bodyPr>
          <a:lstStyle/>
          <a:p>
            <a:pPr algn="ctr">
              <a:defRPr sz="800" b="0">
                <a:solidFill>
                  <a:srgbClr val="FFFFFF"/>
                </a:solidFill>
                <a:latin typeface="Source Sans Pro"/>
              </a:defRPr>
            </a:pPr>
            <a:r>
              <a:t>Example</a:t>
            </a:r>
          </a:p>
        </p:txBody>
      </p:sp>
      <p:sp>
        <p:nvSpPr>
          <p:cNvPr id="12" name="TextBox 11"/>
          <p:cNvSpPr txBox="1"/>
          <p:nvPr/>
        </p:nvSpPr>
        <p:spPr>
          <a:xfrm>
            <a:off x="457200" y="5657850"/>
            <a:ext cx="4114800" cy="742950"/>
          </a:xfrm>
          <a:prstGeom prst="rect">
            <a:avLst/>
          </a:prstGeom>
          <a:noFill/>
        </p:spPr>
        <p:txBody>
          <a:bodyPr wrap="none">
            <a:spAutoFit/>
          </a:bodyPr>
          <a:lstStyle/>
          <a:p>
            <a:pPr algn="l">
              <a:defRPr sz="1000" b="0">
                <a:solidFill>
                  <a:srgbClr val="FFFFFF"/>
                </a:solidFill>
                <a:latin typeface="Source Sans Pro"/>
              </a:defRPr>
            </a:pPr>
            <a:r>
              <a:t>TechForward Live</a:t>
            </a:r>
          </a:p>
        </p:txBody>
      </p:sp>
      <p:sp>
        <p:nvSpPr>
          <p:cNvPr id="13" name="TextBox 12"/>
          <p:cNvSpPr txBox="1"/>
          <p:nvPr/>
        </p:nvSpPr>
        <p:spPr>
          <a:xfrm>
            <a:off x="4572000" y="5657850"/>
            <a:ext cx="4114800" cy="742950"/>
          </a:xfrm>
          <a:prstGeom prst="rect">
            <a:avLst/>
          </a:prstGeom>
          <a:noFill/>
        </p:spPr>
        <p:txBody>
          <a:bodyPr wrap="none">
            <a:spAutoFit/>
          </a:bodyPr>
          <a:lstStyle/>
          <a:p>
            <a:pPr algn="r">
              <a:defRPr sz="1000" b="0">
                <a:solidFill>
                  <a:srgbClr val="FFFFFF"/>
                </a:solidFill>
                <a:latin typeface="Source Sans Pro"/>
              </a:defRPr>
            </a:pPr>
            <a: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