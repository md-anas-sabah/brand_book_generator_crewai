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2E86AB"/>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2E86AB"/>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2E86AB"/>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2E86AB"/>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2E86AB"/>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2E86AB"/>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2E86AB"/>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2E86AB"/>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2E86AB"/>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2E86AB"/>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Source Sans Pro"/>
              </a:defRPr>
            </a:pPr>
            <a:r>
              <a:t>Visual Guidelines</a:t>
            </a:r>
          </a:p>
        </p:txBody>
      </p:sp>
      <p:cxnSp>
        <p:nvCxnSpPr>
          <p:cNvPr id="39" name="Connector 38"/>
          <p:cNvCxnSpPr/>
          <p:nvPr/>
        </p:nvCxnSpPr>
        <p:spPr>
          <a:xfrm>
            <a:off x="8366759" y="4270248"/>
            <a:ext cx="36576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2E86AB"/>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Visual Style</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Photography</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Source Sans Pro"/>
              </a:defRPr>
            </a:pPr>
            <a:r>
              <a:t>Imagery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the unveiling of TechForward Live's comprehensive brand identity system. Designed to ensure a globally engaging, consistent, and recognizable brand presentation, this system embodies our unique approach of bridging complex technology with intuitive user experiences. Rooted in our fundamental principles of innovation, simplicity, and human-centered design, it is poised to elevate TechForward Live in the dynamic landscape of Technology &amp; Digital Solutions.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2E86AB"/>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TechForward Live, we envision a future where digital transformation empowers businesses to unlock their full potential through innovative and human-centered technology solutions. Our ultimate goal is to revolutionize the digital landscape by simplifying complexity and driving progress for forward-thinking organizations seeking innovation.</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TechForward Live is dedicated to delivering cutting-edge technology and digital solutions that blend simplicity with excellence. We exist to bridge the gap between traditional tech offerings and intuitive user experiences, providing progressive businesses with the tools they need to thrive in the ever-evolving digital world.</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Grounded in our core values of innovation, simplicity, and human-centered design, we strive for excellence in all that we do. Our commitment to trust and reliability ensures that our solutions not only meet but exceed the expectations of our clients, fostering lasting partnerships built on mutual growth and success in the dynamic realm of technology and digital innovation.</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 revolutionize technology through innovative design and human-centered solutions that empower businesses to achieve their digital transformation goals.</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2E86AB"/>
                </a:solidFill>
                <a:latin typeface="Inter"/>
              </a:defRPr>
            </a:pPr>
            <a:r>
              <a:t>BRAND 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2_20250828_235352_a325920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3_20250828_235415_054bae29.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2E86AB"/>
                </a:solidFill>
                <a:latin typeface="Inter"/>
              </a:defRPr>
            </a:pPr>
            <a:r>
              <a:t>Logo Variation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2E86A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Primary Blue</a:t>
            </a:r>
          </a:p>
          <a:p>
            <a:pPr algn="l">
              <a:spcAft>
                <a:spcPts val="300"/>
              </a:spcAft>
              <a:defRPr sz="1000" b="0">
                <a:solidFill>
                  <a:srgbClr val="FFFFFF"/>
                </a:solidFill>
                <a:latin typeface="Source Sans Pro"/>
              </a:defRPr>
            </a:pPr>
            <a:r>
              <a:t>#2E86AB</a:t>
            </a:r>
          </a:p>
          <a:p>
            <a:pPr algn="l">
              <a:spcAft>
                <a:spcPts val="300"/>
              </a:spcAft>
              <a:defRPr sz="1000" b="0">
                <a:solidFill>
                  <a:srgbClr val="FFFFFF"/>
                </a:solidFill>
                <a:latin typeface="Source Sans Pro"/>
              </a:defRPr>
            </a:pPr>
            <a:r>
              <a:t>RGB(46, 134, 171)</a:t>
            </a:r>
          </a:p>
          <a:p>
            <a:pPr algn="l">
              <a:spcAft>
                <a:spcPts val="300"/>
              </a:spcAft>
              <a:defRPr sz="1000" b="0">
                <a:solidFill>
                  <a:srgbClr val="FFFFFF"/>
                </a:solidFill>
                <a:latin typeface="Source Sans Pro"/>
              </a:defRPr>
            </a:pPr>
            <a:r>
              <a:t>CMYK(73, 21, 0, 32)</a:t>
            </a:r>
          </a:p>
          <a:p>
            <a:pPr algn="l">
              <a:spcAft>
                <a:spcPts val="300"/>
              </a:spcAft>
              <a:defRPr sz="1000" b="0">
                <a:solidFill>
                  <a:srgbClr val="FFFFFF"/>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24A19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Accent Teal</a:t>
            </a:r>
          </a:p>
          <a:p>
            <a:pPr algn="l">
              <a:spcAft>
                <a:spcPts val="300"/>
              </a:spcAft>
              <a:defRPr sz="1000" b="0">
                <a:solidFill>
                  <a:srgbClr val="FFFFFF"/>
                </a:solidFill>
                <a:latin typeface="Source Sans Pro"/>
              </a:defRPr>
            </a:pPr>
            <a:r>
              <a:t>#24A19C</a:t>
            </a:r>
          </a:p>
          <a:p>
            <a:pPr algn="l">
              <a:spcAft>
                <a:spcPts val="300"/>
              </a:spcAft>
              <a:defRPr sz="1000" b="0">
                <a:solidFill>
                  <a:srgbClr val="FFFFFF"/>
                </a:solidFill>
                <a:latin typeface="Source Sans Pro"/>
              </a:defRPr>
            </a:pPr>
            <a:r>
              <a:t>RGB(36, 161, 156)</a:t>
            </a:r>
          </a:p>
          <a:p>
            <a:pPr algn="l">
              <a:spcAft>
                <a:spcPts val="300"/>
              </a:spcAft>
              <a:defRPr sz="1000" b="0">
                <a:solidFill>
                  <a:srgbClr val="FFFFFF"/>
                </a:solidFill>
                <a:latin typeface="Source Sans Pro"/>
              </a:defRPr>
            </a:pPr>
            <a:r>
              <a:t>CMYK(77, 0, 3, 36)</a:t>
            </a:r>
          </a:p>
          <a:p>
            <a:pPr algn="l">
              <a:spcAft>
                <a:spcPts val="300"/>
              </a:spcAft>
              <a:defRPr sz="1000" b="0">
                <a:solidFill>
                  <a:srgbClr val="FFFFFF"/>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1B365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Deep Navy</a:t>
            </a:r>
          </a:p>
          <a:p>
            <a:pPr algn="l">
              <a:spcAft>
                <a:spcPts val="300"/>
              </a:spcAft>
              <a:defRPr sz="1000" b="0">
                <a:solidFill>
                  <a:srgbClr val="FFFFFF"/>
                </a:solidFill>
                <a:latin typeface="Source Sans Pro"/>
              </a:defRPr>
            </a:pPr>
            <a:r>
              <a:t>#1B365D</a:t>
            </a:r>
          </a:p>
          <a:p>
            <a:pPr algn="l">
              <a:spcAft>
                <a:spcPts val="300"/>
              </a:spcAft>
              <a:defRPr sz="1000" b="0">
                <a:solidFill>
                  <a:srgbClr val="FFFFFF"/>
                </a:solidFill>
                <a:latin typeface="Source Sans Pro"/>
              </a:defRPr>
            </a:pPr>
            <a:r>
              <a:t>RGB(27, 54, 93)</a:t>
            </a:r>
          </a:p>
          <a:p>
            <a:pPr algn="l">
              <a:spcAft>
                <a:spcPts val="300"/>
              </a:spcAft>
              <a:defRPr sz="1000" b="0">
                <a:solidFill>
                  <a:srgbClr val="FFFFFF"/>
                </a:solidFill>
                <a:latin typeface="Source Sans Pro"/>
              </a:defRPr>
            </a:pPr>
            <a:r>
              <a:t>CMYK(70, 41, 0, 63)</a:t>
            </a:r>
          </a:p>
          <a:p>
            <a:pPr algn="l">
              <a:spcAft>
                <a:spcPts val="300"/>
              </a:spcAft>
              <a:defRPr sz="1000" b="0">
                <a:solidFill>
                  <a:srgbClr val="FFFFFF"/>
                </a:solidFill>
                <a:latin typeface="Source Sans Pro"/>
              </a:defRPr>
            </a:pPr>
            <a:r>
              <a:t>Use Light Text</a:t>
            </a:r>
          </a:p>
        </p:txBody>
      </p:sp>
      <p:cxnSp>
        <p:nvCxnSpPr>
          <p:cNvPr id="8" name="Connector 7"/>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Primary Colors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Gray</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6CD4A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Mint Green</a:t>
            </a:r>
          </a:p>
          <a:p>
            <a:pPr algn="ctr">
              <a:spcAft>
                <a:spcPts val="300"/>
              </a:spcAft>
              <a:defRPr sz="1000" b="0">
                <a:solidFill>
                  <a:srgbClr val="FFFFFF"/>
                </a:solidFill>
                <a:latin typeface="Source Sans Pro"/>
              </a:defRPr>
            </a:pPr>
            <a:r>
              <a:t>#6CD4A2</a:t>
            </a:r>
          </a:p>
          <a:p>
            <a:pPr algn="ctr">
              <a:spcAft>
                <a:spcPts val="300"/>
              </a:spcAft>
              <a:defRPr sz="1000" b="0">
                <a:solidFill>
                  <a:srgbClr val="FFFFFF"/>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0E294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Deep Blue</a:t>
            </a:r>
          </a:p>
          <a:p>
            <a:pPr algn="ctr">
              <a:spcAft>
                <a:spcPts val="300"/>
              </a:spcAft>
              <a:defRPr sz="1000" b="0">
                <a:solidFill>
                  <a:srgbClr val="FFFFFF"/>
                </a:solidFill>
                <a:latin typeface="Source Sans Pro"/>
              </a:defRPr>
            </a:pPr>
            <a:r>
              <a:t>#0E2941</a:t>
            </a:r>
          </a:p>
          <a:p>
            <a:pPr algn="ctr">
              <a:spcAft>
                <a:spcPts val="300"/>
              </a:spcAft>
              <a:defRPr sz="1000" b="0">
                <a:solidFill>
                  <a:srgbClr val="FFFFFF"/>
                </a:solidFill>
                <a:latin typeface="Source Sans Pro"/>
              </a:defRPr>
            </a:pPr>
            <a:r>
              <a:t>Use Light Text</a:t>
            </a:r>
          </a:p>
        </p:txBody>
      </p:sp>
      <p:sp>
        <p:nvSpPr>
          <p:cNvPr id="8" name="Rectangle 7"/>
          <p:cNvSpPr/>
          <p:nvPr/>
        </p:nvSpPr>
        <p:spPr>
          <a:xfrm>
            <a:off x="2171700" y="3429000"/>
            <a:ext cx="1828800" cy="914400"/>
          </a:xfrm>
          <a:prstGeom prst="rect">
            <a:avLst/>
          </a:prstGeom>
          <a:solidFill>
            <a:srgbClr val="F4A46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Peach</a:t>
            </a:r>
          </a:p>
          <a:p>
            <a:pPr algn="ctr">
              <a:spcAft>
                <a:spcPts val="300"/>
              </a:spcAft>
              <a:defRPr sz="1000" b="0">
                <a:solidFill>
                  <a:srgbClr val="FFFFFF"/>
                </a:solidFill>
                <a:latin typeface="Source Sans Pro"/>
              </a:defRPr>
            </a:pPr>
            <a:r>
              <a:t>#F4A460</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C0C0C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Silver</a:t>
            </a:r>
          </a:p>
          <a:p>
            <a:pPr algn="ctr">
              <a:spcAft>
                <a:spcPts val="300"/>
              </a:spcAft>
              <a:defRPr sz="1000" b="0">
                <a:solidFill>
                  <a:srgbClr val="FFFFFF"/>
                </a:solidFill>
                <a:latin typeface="Source Sans Pro"/>
              </a:defRPr>
            </a:pPr>
            <a:r>
              <a:t>#C0C0C0</a:t>
            </a:r>
          </a:p>
          <a:p>
            <a:pPr algn="ctr">
              <a:spcAft>
                <a:spcPts val="300"/>
              </a:spcAft>
              <a:defRPr sz="1000" b="0">
                <a:solidFill>
                  <a:srgbClr val="FFFFFF"/>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Secondary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Primary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brand-critical elements:</a:t>
            </a:r>
          </a:p>
          <a:p>
            <a:pPr algn="l">
              <a:spcAft>
                <a:spcPts val="600"/>
              </a:spcAft>
              <a:defRPr sz="1400" b="0">
                <a:solidFill>
                  <a:srgbClr val="FFFFFF"/>
                </a:solidFill>
                <a:latin typeface="Source Sans Pro"/>
              </a:defRPr>
            </a:pPr>
            <a:r>
              <a:t>• Logos and main brand marks</a:t>
            </a:r>
          </a:p>
          <a:p>
            <a:pPr algn="l">
              <a:spcAft>
                <a:spcPts val="600"/>
              </a:spcAft>
              <a:defRPr sz="1400" b="0">
                <a:solidFill>
                  <a:srgbClr val="FFFFFF"/>
                </a:solidFill>
                <a:latin typeface="Source Sans Pro"/>
              </a:defRPr>
            </a:pPr>
            <a:r>
              <a:t>• Headlines and key text</a:t>
            </a:r>
          </a:p>
          <a:p>
            <a:pPr algn="l">
              <a:spcAft>
                <a:spcPts val="600"/>
              </a:spcAft>
              <a:defRPr sz="1400" b="0">
                <a:solidFill>
                  <a:srgbClr val="FFFFFF"/>
                </a:solidFill>
                <a:latin typeface="Source Sans Pro"/>
              </a:defRPr>
            </a:pPr>
            <a:r>
              <a:t>• CTA buttons and navigation</a:t>
            </a:r>
          </a:p>
          <a:p>
            <a:pPr algn="l">
              <a:spcAft>
                <a:spcPts val="600"/>
              </a:spcAft>
              <a:defRPr sz="1400" b="0">
                <a:solidFill>
                  <a:srgbClr val="FFFFFF"/>
                </a:solidFill>
                <a:latin typeface="Source Sans Pro"/>
              </a:defRPr>
            </a:pPr>
            <a:r>
              <a:t>• Hero sections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Primary Blue, Accent Teal, Deep Navy</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Maximum brand recognition</a:t>
            </a:r>
          </a:p>
          <a:p>
            <a:pPr algn="l">
              <a:spcAft>
                <a:spcPts val="600"/>
              </a:spcAft>
              <a:defRPr sz="1400" b="0">
                <a:solidFill>
                  <a:srgbClr val="FFFFFF"/>
                </a:solidFill>
                <a:latin typeface="Source Sans Pro"/>
              </a:defRPr>
            </a:pPr>
            <a:r>
              <a:t>- Consistent application</a:t>
            </a:r>
          </a:p>
          <a:p>
            <a:pPr algn="l">
              <a:spcAft>
                <a:spcPts val="600"/>
              </a:spcAft>
              <a:defRPr sz="1400" b="0">
                <a:solidFill>
                  <a:srgbClr val="FFFFFF"/>
                </a:solidFill>
                <a:latin typeface="Source Sans Pro"/>
              </a:defRPr>
            </a:pPr>
            <a:r>
              <a:t>- Sufficient contrast</a:t>
            </a:r>
          </a:p>
          <a:p>
            <a:pPr algn="l">
              <a:spcAft>
                <a:spcPts val="600"/>
              </a:spcAft>
              <a:defRPr sz="1400" b="0">
                <a:solidFill>
                  <a:srgbClr val="FFFFFF"/>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Secondary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supporting elements:</a:t>
            </a:r>
          </a:p>
          <a:p>
            <a:pPr algn="l">
              <a:spcAft>
                <a:spcPts val="600"/>
              </a:spcAft>
              <a:defRPr sz="1400" b="0">
                <a:solidFill>
                  <a:srgbClr val="FFFFFF"/>
                </a:solidFill>
                <a:latin typeface="Source Sans Pro"/>
              </a:defRPr>
            </a:pPr>
            <a:r>
              <a:t>• Backgrounds and subtle accents</a:t>
            </a:r>
          </a:p>
          <a:p>
            <a:pPr algn="l">
              <a:spcAft>
                <a:spcPts val="600"/>
              </a:spcAft>
              <a:defRPr sz="1400" b="0">
                <a:solidFill>
                  <a:srgbClr val="FFFFFF"/>
                </a:solidFill>
                <a:latin typeface="Source Sans Pro"/>
              </a:defRPr>
            </a:pPr>
            <a:r>
              <a:t>• Secondary text</a:t>
            </a:r>
          </a:p>
          <a:p>
            <a:pPr algn="l">
              <a:spcAft>
                <a:spcPts val="600"/>
              </a:spcAft>
              <a:defRPr sz="1400" b="0">
                <a:solidFill>
                  <a:srgbClr val="FFFFFF"/>
                </a:solidFill>
                <a:latin typeface="Source Sans Pro"/>
              </a:defRPr>
            </a:pPr>
            <a:r>
              <a:t>• Borders and dividers</a:t>
            </a:r>
          </a:p>
          <a:p>
            <a:pPr algn="l">
              <a:spcAft>
                <a:spcPts val="600"/>
              </a:spcAft>
              <a:defRPr sz="1400" b="0">
                <a:solidFill>
                  <a:srgbClr val="FFFFFF"/>
                </a:solidFill>
                <a:latin typeface="Source Sans Pro"/>
              </a:defRPr>
            </a:pPr>
            <a:r>
              <a:t>• Hover states and icons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Light Gray, Mint Green, Deep Blue, Peach, Silver</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Create visual hierarchy</a:t>
            </a:r>
          </a:p>
          <a:p>
            <a:pPr algn="l">
              <a:spcAft>
                <a:spcPts val="600"/>
              </a:spcAft>
              <a:defRPr sz="1400" b="0">
                <a:solidFill>
                  <a:srgbClr val="FFFFFF"/>
                </a:solidFill>
                <a:latin typeface="Source Sans Pro"/>
              </a:defRPr>
            </a:pPr>
            <a:r>
              <a:t>- Support, don't compete</a:t>
            </a:r>
          </a:p>
          <a:p>
            <a:pPr algn="l">
              <a:spcAft>
                <a:spcPts val="600"/>
              </a:spcAft>
              <a:defRPr sz="1400" b="0">
                <a:solidFill>
                  <a:srgbClr val="FFFFFF"/>
                </a:solidFill>
                <a:latin typeface="Source Sans Pro"/>
              </a:defRPr>
            </a:pPr>
            <a:r>
              <a:t>- Maintain readability</a:t>
            </a:r>
          </a:p>
          <a:p>
            <a:pPr algn="l">
              <a:spcAft>
                <a:spcPts val="600"/>
              </a:spcAft>
              <a:defRPr sz="1400" b="0">
                <a:solidFill>
                  <a:srgbClr val="FFFFFF"/>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2E86AB"/>
                </a:solidFill>
                <a:latin typeface="Inter"/>
              </a:defRPr>
            </a:pPr>
            <a:r>
              <a:t>Color Usage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Primary Font: Inter</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Secondary Font: Source Sans Pro</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Font Hierarchy:</a:t>
            </a:r>
          </a:p>
          <a:p>
            <a:pPr algn="l">
              <a:spcAft>
                <a:spcPts val="800"/>
              </a:spcAft>
              <a:defRPr sz="2000" b="0">
                <a:solidFill>
                  <a:srgbClr val="FFFFFF"/>
                </a:solidFill>
                <a:latin typeface="Source Sans Pro"/>
              </a:defRPr>
            </a:pPr>
            <a:r>
              <a:t>• Headlines: Inter - Bold, 28-32pt</a:t>
            </a:r>
          </a:p>
          <a:p>
            <a:pPr algn="l">
              <a:spcAft>
                <a:spcPts val="800"/>
              </a:spcAft>
              <a:defRPr sz="2000" b="0">
                <a:solidFill>
                  <a:srgbClr val="FFFFFF"/>
                </a:solidFill>
                <a:latin typeface="Source Sans Pro"/>
              </a:defRPr>
            </a:pPr>
            <a:r>
              <a:t>• Subheadlines: Inter - Bold, 20-24pt</a:t>
            </a:r>
          </a:p>
          <a:p>
            <a:pPr algn="l">
              <a:spcAft>
                <a:spcPts val="800"/>
              </a:spcAft>
              <a:defRPr sz="2000" b="0">
                <a:solidFill>
                  <a:srgbClr val="FFFFFF"/>
                </a:solidFill>
                <a:latin typeface="Source Sans Pro"/>
              </a:defRPr>
            </a:pPr>
            <a:r>
              <a:t>• Body Text: Source Sans Pro - Regular, 16-18pt</a:t>
            </a:r>
          </a:p>
          <a:p>
            <a:pPr algn="l">
              <a:spcAft>
                <a:spcPts val="800"/>
              </a:spcAft>
              <a:defRPr sz="2000" b="0">
                <a:solidFill>
                  <a:srgbClr val="FFFFFF"/>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2E86AB"/>
                </a:solidFill>
                <a:latin typeface="Inter"/>
              </a:defRPr>
            </a:pPr>
            <a:r>
              <a:t>TYPOGRAPHY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TextBox 2"/>
          <p:cNvSpPr txBox="1"/>
          <p:nvPr/>
        </p:nvSpPr>
        <p:spPr>
          <a:xfrm>
            <a:off x="1143000" y="457200"/>
            <a:ext cx="6858000" cy="742950"/>
          </a:xfrm>
          <a:prstGeom prst="rect">
            <a:avLst/>
          </a:prstGeom>
          <a:noFill/>
        </p:spPr>
        <p:txBody>
          <a:bodyPr wrap="none">
            <a:spAutoFit/>
          </a:bodyPr>
          <a:lstStyle/>
          <a:p>
            <a:pPr>
              <a:defRPr sz="3200" b="1">
                <a:solidFill>
                  <a:srgbClr val="FFFFFF"/>
                </a:solidFill>
                <a:latin typeface="Inter"/>
              </a:defRPr>
            </a:pPr>
            <a:r>
              <a:t>Visual &amp; Photography Guidelines</a:t>
            </a:r>
          </a:p>
        </p:txBody>
      </p:sp>
      <p:sp>
        <p:nvSpPr>
          <p:cNvPr id="4" name="TextBox 3"/>
          <p:cNvSpPr txBox="1"/>
          <p:nvPr/>
        </p:nvSpPr>
        <p:spPr>
          <a:xfrm>
            <a:off x="1143000" y="1943100"/>
            <a:ext cx="3429000" cy="2971800"/>
          </a:xfrm>
          <a:prstGeom prst="rect">
            <a:avLst/>
          </a:prstGeom>
          <a:noFill/>
        </p:spPr>
        <p:txBody>
          <a:bodyPr wrap="square">
            <a:spAutoFit/>
          </a:bodyPr>
          <a:lstStyle/>
          <a:p>
            <a:pPr>
              <a:defRPr sz="1800" b="0">
                <a:solidFill>
                  <a:srgbClr val="FFFFFF"/>
                </a:solidFill>
                <a:latin typeface="Source Sans Pro"/>
              </a:defRPr>
            </a:pPr>
            <a:r>
              <a:t>Visual Style Guidelines:</a:t>
            </a:r>
          </a:p>
          <a:p>
            <a:pPr>
              <a:defRPr sz="1400" b="0">
                <a:solidFill>
                  <a:srgbClr val="FFFFFF"/>
                </a:solidFill>
                <a:latin typeface="Source Sans Pro"/>
              </a:defRPr>
            </a:pPr>
            <a:r>
              <a:t>• Modern</a:t>
            </a:r>
          </a:p>
          <a:p>
            <a:pPr>
              <a:defRPr sz="1400" b="0">
                <a:solidFill>
                  <a:srgbClr val="FFFFFF"/>
                </a:solidFill>
                <a:latin typeface="Source Sans Pro"/>
              </a:defRPr>
            </a:pPr>
            <a:r>
              <a:t>• clean</a:t>
            </a:r>
          </a:p>
          <a:p>
            <a:pPr>
              <a:defRPr sz="1400" b="0">
                <a:solidFill>
                  <a:srgbClr val="FFFFFF"/>
                </a:solidFill>
                <a:latin typeface="Source Sans Pro"/>
              </a:defRPr>
            </a:pPr>
            <a:r>
              <a:t>• professional</a:t>
            </a:r>
          </a:p>
          <a:p>
            <a:pPr>
              <a:defRPr sz="1400" b="0">
                <a:solidFill>
                  <a:srgbClr val="FFFFFF"/>
                </a:solidFill>
                <a:latin typeface="Source Sans Pro"/>
              </a:defRPr>
            </a:pPr>
            <a:r>
              <a:t>• minimalist</a:t>
            </a:r>
          </a:p>
          <a:p>
            <a:pPr>
              <a:defRPr sz="1400" b="0">
                <a:solidFill>
                  <a:srgbClr val="FFFFFF"/>
                </a:solidFill>
                <a:latin typeface="Source Sans Pro"/>
              </a:defRPr>
            </a:pPr>
            <a:r>
              <a:t>• bold typography</a:t>
            </a:r>
          </a:p>
        </p:txBody>
      </p:sp>
      <p:sp>
        <p:nvSpPr>
          <p:cNvPr id="5" name="TextBox 4"/>
          <p:cNvSpPr txBox="1"/>
          <p:nvPr/>
        </p:nvSpPr>
        <p:spPr>
          <a:xfrm>
            <a:off x="5257800" y="1943100"/>
            <a:ext cx="3429000" cy="2971800"/>
          </a:xfrm>
          <a:prstGeom prst="rect">
            <a:avLst/>
          </a:prstGeom>
          <a:noFill/>
        </p:spPr>
        <p:txBody>
          <a:bodyPr wrap="square">
            <a:spAutoFit/>
          </a:bodyPr>
          <a:lstStyle/>
          <a:p>
            <a:pPr>
              <a:defRPr sz="1800" b="0">
                <a:solidFill>
                  <a:srgbClr val="FFFFFF"/>
                </a:solidFill>
                <a:latin typeface="Source Sans Pro"/>
              </a:defRPr>
            </a:pPr>
            <a:r>
              <a:t>Photography Guidelines:</a:t>
            </a:r>
          </a:p>
          <a:p>
            <a:pPr>
              <a:defRPr sz="1400" b="0">
                <a:solidFill>
                  <a:srgbClr val="FFFFFF"/>
                </a:solidFill>
                <a:latin typeface="Source Sans Pro"/>
              </a:defRPr>
            </a:pPr>
            <a:r>
              <a:t>• High contrast</a:t>
            </a:r>
          </a:p>
          <a:p>
            <a:pPr>
              <a:defRPr sz="1400" b="0">
                <a:solidFill>
                  <a:srgbClr val="FFFFFF"/>
                </a:solidFill>
                <a:latin typeface="Source Sans Pro"/>
              </a:defRPr>
            </a:pPr>
            <a:r>
              <a:t>• authentic moments</a:t>
            </a:r>
          </a:p>
          <a:p>
            <a:pPr>
              <a:defRPr sz="1400" b="0">
                <a:solidFill>
                  <a:srgbClr val="FFFFFF"/>
                </a:solidFill>
                <a:latin typeface="Source Sans Pro"/>
              </a:defRPr>
            </a:pPr>
            <a:r>
              <a:t>• natural lighting</a:t>
            </a:r>
          </a:p>
        </p:txBody>
      </p:sp>
      <p:sp>
        <p:nvSpPr>
          <p:cNvPr id="6" name="Rectangle 5"/>
          <p:cNvSpPr/>
          <p:nvPr/>
        </p:nvSpPr>
        <p:spPr>
          <a:xfrm>
            <a:off x="52578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8" name="Rectangle 7"/>
          <p:cNvSpPr/>
          <p:nvPr/>
        </p:nvSpPr>
        <p:spPr>
          <a:xfrm>
            <a:off x="66294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0" name="Rectangle 9"/>
          <p:cNvSpPr/>
          <p:nvPr/>
        </p:nvSpPr>
        <p:spPr>
          <a:xfrm>
            <a:off x="8001000" y="4914900"/>
            <a:ext cx="685800" cy="742950"/>
          </a:xfrm>
          <a:prstGeom prst="rect">
            <a:avLst/>
          </a:prstGeom>
          <a:solidFill>
            <a:srgbClr val="404040"/>
          </a:solidFill>
          <a:ln w="12700">
            <a:solidFill>
              <a:srgbClr val="8080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5162550"/>
            <a:ext cx="685800" cy="247650"/>
          </a:xfrm>
          <a:prstGeom prst="rect">
            <a:avLst/>
          </a:prstGeom>
          <a:noFill/>
        </p:spPr>
        <p:txBody>
          <a:bodyPr wrap="none">
            <a:spAutoFit/>
          </a:bodyPr>
          <a:lstStyle/>
          <a:p>
            <a:pPr algn="ctr">
              <a:defRPr sz="800" b="0">
                <a:solidFill>
                  <a:srgbClr val="FFFFFF"/>
                </a:solidFill>
                <a:latin typeface="Source Sans Pro"/>
              </a:defRPr>
            </a:pPr>
            <a:r>
              <a:t>Example</a:t>
            </a:r>
          </a:p>
        </p:txBody>
      </p:sp>
      <p:sp>
        <p:nvSpPr>
          <p:cNvPr id="12" name="TextBox 11"/>
          <p:cNvSpPr txBox="1"/>
          <p:nvPr/>
        </p:nvSpPr>
        <p:spPr>
          <a:xfrm>
            <a:off x="457200" y="5657850"/>
            <a:ext cx="4114800" cy="742950"/>
          </a:xfrm>
          <a:prstGeom prst="rect">
            <a:avLst/>
          </a:prstGeom>
          <a:noFill/>
        </p:spPr>
        <p:txBody>
          <a:bodyPr wrap="none">
            <a:spAutoFit/>
          </a:bodyPr>
          <a:lstStyle/>
          <a:p>
            <a:pPr algn="l">
              <a:defRPr sz="1000" b="0">
                <a:solidFill>
                  <a:srgbClr val="FFFFFF"/>
                </a:solidFill>
                <a:latin typeface="Source Sans Pro"/>
              </a:defRPr>
            </a:pPr>
            <a:r>
              <a:t>TechForward Live</a:t>
            </a:r>
          </a:p>
        </p:txBody>
      </p:sp>
      <p:sp>
        <p:nvSpPr>
          <p:cNvPr id="13" name="TextBox 12"/>
          <p:cNvSpPr txBox="1"/>
          <p:nvPr/>
        </p:nvSpPr>
        <p:spPr>
          <a:xfrm>
            <a:off x="4572000" y="5657850"/>
            <a:ext cx="4114800" cy="742950"/>
          </a:xfrm>
          <a:prstGeom prst="rect">
            <a:avLst/>
          </a:prstGeom>
          <a:noFill/>
        </p:spPr>
        <p:txBody>
          <a:bodyPr wrap="none">
            <a:spAutoFit/>
          </a:bodyPr>
          <a:lstStyle/>
          <a:p>
            <a:pPr algn="r">
              <a:defRPr sz="1000" b="0">
                <a:solidFill>
                  <a:srgbClr val="FFFFFF"/>
                </a:solidFill>
                <a:latin typeface="Source Sans Pro"/>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