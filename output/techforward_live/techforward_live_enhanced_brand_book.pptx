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1_20250828_235333_3e1fde11.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2E86A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2E86AB"/>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FF4D4D"/>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FF4D4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FF4D4D"/>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FF4D4D"/>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FF4D4D"/>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FF4D4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FF4D4D"/>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FF4D4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FF4D4D"/>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FF4D4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FF4D4D"/>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FF4D4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FF4D4D"/>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FF4D4D"/>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FF4D4D"/>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FFFFFF"/>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FF4D4D"/>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FF4D4D"/>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CCCCCC"/>
                </a:solidFill>
                <a:latin typeface="Source Sans Pro"/>
              </a:defRPr>
            </a:pPr>
            <a:r>
              <a:t>Text Hierarchy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Welcome to the unveiling of TechForward Live's brand identity system. Designed to ensure an international, engaging, and consistent brand presentation, this system embodies our commitment to innovation, simplicity, and human-centered values. Embodying our unique approach and fundamental principles, it sets the stage for a progressive and trustworthy brand experience in the dynamic landscape of Technology &amp; Digital Solutions.</a:t>
            </a:r>
          </a:p>
        </p:txBody>
      </p:sp>
      <p:cxnSp>
        <p:nvCxnSpPr>
          <p:cNvPr id="3" name="Connector 2"/>
          <p:cNvCxnSpPr/>
          <p:nvPr/>
        </p:nvCxnSpPr>
        <p:spPr>
          <a:xfrm>
            <a:off x="457200" y="4914900.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FF4D4D"/>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TechForward Live, we envision a future where technology seamlessly enhances human potential, empowering progressive businesses to achieve unparalleled digital transformation and innovation. Our ultimate goal is to revolutionize the tech industry by delivering solutions that inspire, simplify, and drive impactful change.</a:t>
            </a:r>
          </a:p>
        </p:txBody>
      </p:sp>
      <p:cxnSp>
        <p:nvCxnSpPr>
          <p:cNvPr id="3" name="Connector 2"/>
          <p:cNvCxnSpPr/>
          <p:nvPr/>
        </p:nvCxnSpPr>
        <p:spPr>
          <a:xfrm>
            <a:off x="457200" y="4914900.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FF4D4D"/>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Our mission at TechForward Live is to bridge the gap between complex technology and intuitive user experiences through human-centered design. We are dedicated to providing cutting-edge technology solutions that not only meet but exceed the evolving needs of businesses in the digital age, driving growth and success through innovation and reliability.</a:t>
            </a:r>
          </a:p>
        </p:txBody>
      </p:sp>
      <p:cxnSp>
        <p:nvCxnSpPr>
          <p:cNvPr id="3" name="Connector 2"/>
          <p:cNvCxnSpPr/>
          <p:nvPr/>
        </p:nvCxnSpPr>
        <p:spPr>
          <a:xfrm>
            <a:off x="457200" y="4914900.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FF4D4D"/>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the core of TechForward Live, we embrace a culture defined by innovation, simplicity, and human-centered design. We are committed to excellence in all we do, building trust with our clients through reliable solutions that pave the way for transformative digital experiences. Our values guide us in creating technology that not only meets expectations but sets new standards in the industry, ensuring that businesses can thrive in an ever-evolving digital landscape.</a:t>
            </a:r>
          </a:p>
        </p:txBody>
      </p:sp>
      <p:cxnSp>
        <p:nvCxnSpPr>
          <p:cNvPr id="3" name="Connector 2"/>
          <p:cNvCxnSpPr/>
          <p:nvPr/>
        </p:nvCxnSpPr>
        <p:spPr>
          <a:xfrm>
            <a:off x="457200" y="4914900.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FF4D4D"/>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 revolutionize technology through innovative design and human-centered solutions that empower businesses to achieve their digital transformation goals.</a:t>
            </a:r>
          </a:p>
        </p:txBody>
      </p:sp>
      <p:cxnSp>
        <p:nvCxnSpPr>
          <p:cNvPr id="3" name="Connector 2"/>
          <p:cNvCxnSpPr/>
          <p:nvPr/>
        </p:nvCxnSpPr>
        <p:spPr>
          <a:xfrm>
            <a:off x="457200" y="4914900.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FF4D4D"/>
                </a:solidFill>
                <a:latin typeface="Inter"/>
              </a:defRPr>
            </a:pPr>
            <a:r>
              <a:t>BRAND STORY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1_20250828_235333_3e1fde11.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FF4D4D"/>
                </a:solidFill>
                <a:latin typeface="Inter"/>
              </a:defRPr>
            </a:pPr>
            <a:r>
              <a:t>Logo Variation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2_20250828_235352_a3259202.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FF4D4D"/>
                </a:solidFill>
                <a:latin typeface="Inter"/>
              </a:defRPr>
            </a:pPr>
            <a:r>
              <a:t>Logo Variation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zeta_logo_3_20250828_235415_054bae29.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FF4D4D"/>
                </a:solidFill>
                <a:latin typeface="Inter"/>
              </a:defRPr>
            </a:pPr>
            <a:r>
              <a:t>Logo Variation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FF4D4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Innovation Red</a:t>
            </a:r>
          </a:p>
          <a:p>
            <a:pPr algn="l">
              <a:spcAft>
                <a:spcPts val="300"/>
              </a:spcAft>
              <a:defRPr sz="1000" b="0">
                <a:solidFill>
                  <a:srgbClr val="FFFFFF"/>
                </a:solidFill>
                <a:latin typeface="Source Sans Pro"/>
              </a:defRPr>
            </a:pPr>
            <a:r>
              <a:t>#FF4D4D</a:t>
            </a:r>
          </a:p>
          <a:p>
            <a:pPr algn="l">
              <a:spcAft>
                <a:spcPts val="300"/>
              </a:spcAft>
              <a:defRPr sz="1000" b="0">
                <a:solidFill>
                  <a:srgbClr val="FFFFFF"/>
                </a:solidFill>
                <a:latin typeface="Source Sans Pro"/>
              </a:defRPr>
            </a:pPr>
            <a:r>
              <a:t>RGB(255, 77, 77)</a:t>
            </a:r>
          </a:p>
          <a:p>
            <a:pPr algn="l">
              <a:spcAft>
                <a:spcPts val="300"/>
              </a:spcAft>
              <a:defRPr sz="1000" b="0">
                <a:solidFill>
                  <a:srgbClr val="FFFFFF"/>
                </a:solidFill>
                <a:latin typeface="Source Sans Pro"/>
              </a:defRPr>
            </a:pPr>
            <a:r>
              <a:t>CMYK(0, 69, 69, 0)</a:t>
            </a:r>
          </a:p>
          <a:p>
            <a:pPr algn="l">
              <a:spcAft>
                <a:spcPts val="300"/>
              </a:spcAft>
              <a:defRPr sz="1000" b="0">
                <a:solidFill>
                  <a:srgbClr val="FFFFFF"/>
                </a:solidFill>
                <a:latin typeface="Source Sans Pro"/>
              </a:defRPr>
            </a:pPr>
            <a:r>
              <a:t>Use Dark Text</a:t>
            </a:r>
          </a:p>
        </p:txBody>
      </p:sp>
      <p:sp>
        <p:nvSpPr>
          <p:cNvPr id="4" name="Rectangle 3"/>
          <p:cNvSpPr/>
          <p:nvPr/>
        </p:nvSpPr>
        <p:spPr>
          <a:xfrm>
            <a:off x="4572000" y="1645920"/>
            <a:ext cx="1828800" cy="1371600"/>
          </a:xfrm>
          <a:prstGeom prst="rect">
            <a:avLst/>
          </a:prstGeom>
          <a:solidFill>
            <a:srgbClr val="0077B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Tech Blue</a:t>
            </a:r>
          </a:p>
          <a:p>
            <a:pPr algn="l">
              <a:spcAft>
                <a:spcPts val="300"/>
              </a:spcAft>
              <a:defRPr sz="1000" b="0">
                <a:solidFill>
                  <a:srgbClr val="FFFFFF"/>
                </a:solidFill>
                <a:latin typeface="Source Sans Pro"/>
              </a:defRPr>
            </a:pPr>
            <a:r>
              <a:t>#0077B6</a:t>
            </a:r>
          </a:p>
          <a:p>
            <a:pPr algn="l">
              <a:spcAft>
                <a:spcPts val="300"/>
              </a:spcAft>
              <a:defRPr sz="1000" b="0">
                <a:solidFill>
                  <a:srgbClr val="FFFFFF"/>
                </a:solidFill>
                <a:latin typeface="Source Sans Pro"/>
              </a:defRPr>
            </a:pPr>
            <a:r>
              <a:t>RGB(0, 119, 182)</a:t>
            </a:r>
          </a:p>
          <a:p>
            <a:pPr algn="l">
              <a:spcAft>
                <a:spcPts val="300"/>
              </a:spcAft>
              <a:defRPr sz="1000" b="0">
                <a:solidFill>
                  <a:srgbClr val="FFFFFF"/>
                </a:solidFill>
                <a:latin typeface="Source Sans Pro"/>
              </a:defRPr>
            </a:pPr>
            <a:r>
              <a:t>CMYK(100, 34, 0, 28)</a:t>
            </a:r>
          </a:p>
          <a:p>
            <a:pPr algn="l">
              <a:spcAft>
                <a:spcPts val="300"/>
              </a:spcAft>
              <a:defRPr sz="1000" b="0">
                <a:solidFill>
                  <a:srgbClr val="FFFFFF"/>
                </a:solidFill>
                <a:latin typeface="Source Sans Pro"/>
              </a:defRPr>
            </a:pPr>
            <a:r>
              <a:t>Use Light Text</a:t>
            </a:r>
          </a:p>
        </p:txBody>
      </p:sp>
      <p:sp>
        <p:nvSpPr>
          <p:cNvPr id="6" name="Rectangle 5"/>
          <p:cNvSpPr/>
          <p:nvPr/>
        </p:nvSpPr>
        <p:spPr>
          <a:xfrm>
            <a:off x="1143000" y="3726180"/>
            <a:ext cx="1828800" cy="1371600"/>
          </a:xfrm>
          <a:prstGeom prst="rect">
            <a:avLst/>
          </a:prstGeom>
          <a:solidFill>
            <a:srgbClr val="00A86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Digital Green</a:t>
            </a:r>
          </a:p>
          <a:p>
            <a:pPr algn="l">
              <a:spcAft>
                <a:spcPts val="300"/>
              </a:spcAft>
              <a:defRPr sz="1000" b="0">
                <a:solidFill>
                  <a:srgbClr val="FFFFFF"/>
                </a:solidFill>
                <a:latin typeface="Source Sans Pro"/>
              </a:defRPr>
            </a:pPr>
            <a:r>
              <a:t>#00A86B</a:t>
            </a:r>
          </a:p>
          <a:p>
            <a:pPr algn="l">
              <a:spcAft>
                <a:spcPts val="300"/>
              </a:spcAft>
              <a:defRPr sz="1000" b="0">
                <a:solidFill>
                  <a:srgbClr val="FFFFFF"/>
                </a:solidFill>
                <a:latin typeface="Source Sans Pro"/>
              </a:defRPr>
            </a:pPr>
            <a:r>
              <a:t>RGB(0, 168, 107)</a:t>
            </a:r>
          </a:p>
          <a:p>
            <a:pPr algn="l">
              <a:spcAft>
                <a:spcPts val="300"/>
              </a:spcAft>
              <a:defRPr sz="1000" b="0">
                <a:solidFill>
                  <a:srgbClr val="FFFFFF"/>
                </a:solidFill>
                <a:latin typeface="Source Sans Pro"/>
              </a:defRPr>
            </a:pPr>
            <a:r>
              <a:t>CMYK(100, 0, 36, 34)</a:t>
            </a:r>
          </a:p>
          <a:p>
            <a:pPr algn="l">
              <a:spcAft>
                <a:spcPts val="300"/>
              </a:spcAft>
              <a:defRPr sz="1000" b="0">
                <a:solidFill>
                  <a:srgbClr val="FFFFFF"/>
                </a:solidFill>
                <a:latin typeface="Source Sans Pro"/>
              </a:defRPr>
            </a:pPr>
            <a:r>
              <a:t>Use Dark Text</a:t>
            </a:r>
          </a:p>
        </p:txBody>
      </p:sp>
      <p:sp>
        <p:nvSpPr>
          <p:cNvPr id="8" name="Rectangle 7"/>
          <p:cNvSpPr/>
          <p:nvPr/>
        </p:nvSpPr>
        <p:spPr>
          <a:xfrm>
            <a:off x="4572000" y="3726180"/>
            <a:ext cx="1828800" cy="1371600"/>
          </a:xfrm>
          <a:prstGeom prst="rect">
            <a:avLst/>
          </a:prstGeom>
          <a:solidFill>
            <a:srgbClr val="A6A6A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Simplicity Gray</a:t>
            </a:r>
          </a:p>
          <a:p>
            <a:pPr algn="l">
              <a:spcAft>
                <a:spcPts val="300"/>
              </a:spcAft>
              <a:defRPr sz="1000" b="0">
                <a:solidFill>
                  <a:srgbClr val="FFFFFF"/>
                </a:solidFill>
                <a:latin typeface="Source Sans Pro"/>
              </a:defRPr>
            </a:pPr>
            <a:r>
              <a:t>#A6A6A6</a:t>
            </a:r>
          </a:p>
          <a:p>
            <a:pPr algn="l">
              <a:spcAft>
                <a:spcPts val="300"/>
              </a:spcAft>
              <a:defRPr sz="1000" b="0">
                <a:solidFill>
                  <a:srgbClr val="FFFFFF"/>
                </a:solidFill>
                <a:latin typeface="Source Sans Pro"/>
              </a:defRPr>
            </a:pPr>
            <a:r>
              <a:t>RGB(166, 166, 166)</a:t>
            </a:r>
          </a:p>
          <a:p>
            <a:pPr algn="l">
              <a:spcAft>
                <a:spcPts val="300"/>
              </a:spcAft>
              <a:defRPr sz="1000" b="0">
                <a:solidFill>
                  <a:srgbClr val="FFFFFF"/>
                </a:solidFill>
                <a:latin typeface="Source Sans Pro"/>
              </a:defRPr>
            </a:pPr>
            <a:r>
              <a:t>CMYK(0, 0, 0, 34)</a:t>
            </a:r>
          </a:p>
          <a:p>
            <a:pPr algn="l">
              <a:spcAft>
                <a:spcPts val="300"/>
              </a:spcAft>
              <a:defRPr sz="1000" b="0">
                <a:solidFill>
                  <a:srgbClr val="FFFFFF"/>
                </a:solidFill>
                <a:latin typeface="Source Sans Pro"/>
              </a:defRPr>
            </a:pPr>
            <a:r>
              <a:t>Use Dark Text</a:t>
            </a:r>
          </a:p>
        </p:txBody>
      </p:sp>
      <p:cxnSp>
        <p:nvCxnSpPr>
          <p:cNvPr id="10" name="Connector 9"/>
          <p:cNvCxnSpPr/>
          <p:nvPr/>
        </p:nvCxnSpPr>
        <p:spPr>
          <a:xfrm>
            <a:off x="457200" y="5286375.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5560695"/>
            <a:ext cx="5486400" cy="731520"/>
          </a:xfrm>
          <a:prstGeom prst="rect">
            <a:avLst/>
          </a:prstGeom>
          <a:noFill/>
        </p:spPr>
        <p:txBody>
          <a:bodyPr wrap="none">
            <a:spAutoFit/>
          </a:bodyPr>
          <a:lstStyle/>
          <a:p>
            <a:pPr algn="l">
              <a:defRPr sz="2800" b="1">
                <a:solidFill>
                  <a:srgbClr val="FF4D4D"/>
                </a:solidFill>
                <a:latin typeface="Inter"/>
              </a:defRPr>
            </a:pPr>
            <a:r>
              <a:t>Primary Colors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8F9F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Light Gray</a:t>
            </a:r>
          </a:p>
          <a:p>
            <a:pPr algn="ctr">
              <a:spcAft>
                <a:spcPts val="300"/>
              </a:spcAft>
              <a:defRPr sz="1000" b="0">
                <a:solidFill>
                  <a:srgbClr val="FFFFFF"/>
                </a:solidFill>
                <a:latin typeface="Source Sans Pro"/>
              </a:defRPr>
            </a:pPr>
            <a:r>
              <a:t>#F8F9FA</a:t>
            </a:r>
          </a:p>
          <a:p>
            <a:pPr algn="ctr">
              <a:spcAft>
                <a:spcPts val="300"/>
              </a:spcAft>
              <a:defRPr sz="1000" b="0">
                <a:solidFill>
                  <a:srgbClr val="FFFFFF"/>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5CE6A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Mint Green</a:t>
            </a:r>
          </a:p>
          <a:p>
            <a:pPr algn="ctr">
              <a:spcAft>
                <a:spcPts val="300"/>
              </a:spcAft>
              <a:defRPr sz="1000" b="0">
                <a:solidFill>
                  <a:srgbClr val="FFFFFF"/>
                </a:solidFill>
                <a:latin typeface="Source Sans Pro"/>
              </a:defRPr>
            </a:pPr>
            <a:r>
              <a:t>#5CE6A1</a:t>
            </a:r>
          </a:p>
          <a:p>
            <a:pPr algn="ctr">
              <a:spcAft>
                <a:spcPts val="300"/>
              </a:spcAft>
              <a:defRPr sz="1000" b="0">
                <a:solidFill>
                  <a:srgbClr val="FFFFFF"/>
                </a:solidFill>
                <a:latin typeface="Source Sans Pro"/>
              </a:defRPr>
            </a:pPr>
            <a:r>
              <a:t>Use Dark Text</a:t>
            </a:r>
          </a:p>
        </p:txBody>
      </p:sp>
      <p:sp>
        <p:nvSpPr>
          <p:cNvPr id="6" name="Rectangle 5"/>
          <p:cNvSpPr/>
          <p:nvPr/>
        </p:nvSpPr>
        <p:spPr>
          <a:xfrm>
            <a:off x="5257800" y="1571625"/>
            <a:ext cx="1828800" cy="914400"/>
          </a:xfrm>
          <a:prstGeom prst="rect">
            <a:avLst/>
          </a:prstGeom>
          <a:solidFill>
            <a:srgbClr val="4A6FA5"/>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Slate Blue</a:t>
            </a:r>
          </a:p>
          <a:p>
            <a:pPr algn="ctr">
              <a:spcAft>
                <a:spcPts val="300"/>
              </a:spcAft>
              <a:defRPr sz="1000" b="0">
                <a:solidFill>
                  <a:srgbClr val="FFFFFF"/>
                </a:solidFill>
                <a:latin typeface="Source Sans Pro"/>
              </a:defRPr>
            </a:pPr>
            <a:r>
              <a:t>#4A6FA5</a:t>
            </a:r>
          </a:p>
          <a:p>
            <a:pPr algn="ctr">
              <a:spcAft>
                <a:spcPts val="300"/>
              </a:spcAft>
              <a:defRPr sz="1000" b="0">
                <a:solidFill>
                  <a:srgbClr val="FFFFFF"/>
                </a:solidFill>
                <a:latin typeface="Source Sans Pro"/>
              </a:defRPr>
            </a:pPr>
            <a:r>
              <a:t>Use Light Text</a:t>
            </a:r>
          </a:p>
        </p:txBody>
      </p:sp>
      <p:sp>
        <p:nvSpPr>
          <p:cNvPr id="8" name="Rectangle 7"/>
          <p:cNvSpPr/>
          <p:nvPr/>
        </p:nvSpPr>
        <p:spPr>
          <a:xfrm>
            <a:off x="2171700" y="3429000"/>
            <a:ext cx="1828800" cy="914400"/>
          </a:xfrm>
          <a:prstGeom prst="rect">
            <a:avLst/>
          </a:prstGeom>
          <a:solidFill>
            <a:srgbClr val="A284B5"/>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Lavender</a:t>
            </a:r>
          </a:p>
          <a:p>
            <a:pPr algn="ctr">
              <a:spcAft>
                <a:spcPts val="300"/>
              </a:spcAft>
              <a:defRPr sz="1000" b="0">
                <a:solidFill>
                  <a:srgbClr val="FFFFFF"/>
                </a:solidFill>
                <a:latin typeface="Source Sans Pro"/>
              </a:defRPr>
            </a:pPr>
            <a:r>
              <a:t>#A284B5</a:t>
            </a:r>
          </a:p>
          <a:p>
            <a:pPr algn="ctr">
              <a:spcAft>
                <a:spcPts val="300"/>
              </a:spcAft>
              <a:defRPr sz="1000" b="0">
                <a:solidFill>
                  <a:srgbClr val="FFFFFF"/>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D6585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Dark Coral</a:t>
            </a:r>
          </a:p>
          <a:p>
            <a:pPr algn="ctr">
              <a:spcAft>
                <a:spcPts val="300"/>
              </a:spcAft>
              <a:defRPr sz="1000" b="0">
                <a:solidFill>
                  <a:srgbClr val="FFFFFF"/>
                </a:solidFill>
                <a:latin typeface="Source Sans Pro"/>
              </a:defRPr>
            </a:pPr>
            <a:r>
              <a:t>#D65858</a:t>
            </a:r>
          </a:p>
          <a:p>
            <a:pPr algn="ctr">
              <a:spcAft>
                <a:spcPts val="300"/>
              </a:spcAft>
              <a:defRPr sz="1000" b="0">
                <a:solidFill>
                  <a:srgbClr val="FFFFFF"/>
                </a:solidFill>
                <a:latin typeface="Source Sans Pro"/>
              </a:defRPr>
            </a:pPr>
            <a:r>
              <a:t>Use Dark Text</a:t>
            </a:r>
          </a:p>
        </p:txBody>
      </p:sp>
      <p:cxnSp>
        <p:nvCxnSpPr>
          <p:cNvPr id="12" name="Connector 11"/>
          <p:cNvCxnSpPr/>
          <p:nvPr/>
        </p:nvCxnSpPr>
        <p:spPr>
          <a:xfrm>
            <a:off x="457200" y="5286375.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FF4D4D"/>
                </a:solidFill>
                <a:latin typeface="Inter"/>
              </a:defRPr>
            </a:pPr>
            <a:r>
              <a:t>Secondary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Primary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brand-critical elements:</a:t>
            </a:r>
          </a:p>
          <a:p>
            <a:pPr algn="l">
              <a:spcAft>
                <a:spcPts val="600"/>
              </a:spcAft>
              <a:defRPr sz="1400" b="0">
                <a:solidFill>
                  <a:srgbClr val="FFFFFF"/>
                </a:solidFill>
                <a:latin typeface="Source Sans Pro"/>
              </a:defRPr>
            </a:pPr>
            <a:r>
              <a:t>• Logos and main brand marks</a:t>
            </a:r>
          </a:p>
          <a:p>
            <a:pPr algn="l">
              <a:spcAft>
                <a:spcPts val="600"/>
              </a:spcAft>
              <a:defRPr sz="1400" b="0">
                <a:solidFill>
                  <a:srgbClr val="FFFFFF"/>
                </a:solidFill>
                <a:latin typeface="Source Sans Pro"/>
              </a:defRPr>
            </a:pPr>
            <a:r>
              <a:t>• Headlines and key text</a:t>
            </a:r>
          </a:p>
          <a:p>
            <a:pPr algn="l">
              <a:spcAft>
                <a:spcPts val="600"/>
              </a:spcAft>
              <a:defRPr sz="1400" b="0">
                <a:solidFill>
                  <a:srgbClr val="FFFFFF"/>
                </a:solidFill>
                <a:latin typeface="Source Sans Pro"/>
              </a:defRPr>
            </a:pPr>
            <a:r>
              <a:t>• CTA buttons and navigation</a:t>
            </a:r>
          </a:p>
          <a:p>
            <a:pPr algn="l">
              <a:spcAft>
                <a:spcPts val="600"/>
              </a:spcAft>
              <a:defRPr sz="1400" b="0">
                <a:solidFill>
                  <a:srgbClr val="FFFFFF"/>
                </a:solidFill>
                <a:latin typeface="Source Sans Pro"/>
              </a:defRPr>
            </a:pPr>
            <a:r>
              <a:t>• Hero sections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Innovation Red, Tech Blue, Digital Green, Simplicity Gray</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Maximum brand recognition</a:t>
            </a:r>
          </a:p>
          <a:p>
            <a:pPr algn="l">
              <a:spcAft>
                <a:spcPts val="600"/>
              </a:spcAft>
              <a:defRPr sz="1400" b="0">
                <a:solidFill>
                  <a:srgbClr val="FFFFFF"/>
                </a:solidFill>
                <a:latin typeface="Source Sans Pro"/>
              </a:defRPr>
            </a:pPr>
            <a:r>
              <a:t>- Consistent application</a:t>
            </a:r>
          </a:p>
          <a:p>
            <a:pPr algn="l">
              <a:spcAft>
                <a:spcPts val="600"/>
              </a:spcAft>
              <a:defRPr sz="1400" b="0">
                <a:solidFill>
                  <a:srgbClr val="FFFFFF"/>
                </a:solidFill>
                <a:latin typeface="Source Sans Pro"/>
              </a:defRPr>
            </a:pPr>
            <a:r>
              <a:t>- Sufficient contrast</a:t>
            </a:r>
          </a:p>
          <a:p>
            <a:pPr algn="l">
              <a:spcAft>
                <a:spcPts val="600"/>
              </a:spcAft>
              <a:defRPr sz="1400" b="0">
                <a:solidFill>
                  <a:srgbClr val="FFFFFF"/>
                </a:solidFill>
                <a:latin typeface="Source Sans Pro"/>
              </a:defRPr>
            </a:pPr>
            <a:r>
              <a:t>- Accessibility compliance</a:t>
            </a:r>
          </a:p>
        </p:txBody>
      </p:sp>
      <p:cxnSp>
        <p:nvCxnSpPr>
          <p:cNvPr id="3" name="Connector 2"/>
          <p:cNvCxnSpPr/>
          <p:nvPr/>
        </p:nvCxnSpPr>
        <p:spPr>
          <a:xfrm>
            <a:off x="457200" y="5286375.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FF4D4D"/>
                </a:solidFill>
                <a:latin typeface="Inter"/>
              </a:defRPr>
            </a:pPr>
            <a:r>
              <a:t>Color Usage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Secondary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supporting elements:</a:t>
            </a:r>
          </a:p>
          <a:p>
            <a:pPr algn="l">
              <a:spcAft>
                <a:spcPts val="600"/>
              </a:spcAft>
              <a:defRPr sz="1400" b="0">
                <a:solidFill>
                  <a:srgbClr val="FFFFFF"/>
                </a:solidFill>
                <a:latin typeface="Source Sans Pro"/>
              </a:defRPr>
            </a:pPr>
            <a:r>
              <a:t>• Backgrounds and subtle accents</a:t>
            </a:r>
          </a:p>
          <a:p>
            <a:pPr algn="l">
              <a:spcAft>
                <a:spcPts val="600"/>
              </a:spcAft>
              <a:defRPr sz="1400" b="0">
                <a:solidFill>
                  <a:srgbClr val="FFFFFF"/>
                </a:solidFill>
                <a:latin typeface="Source Sans Pro"/>
              </a:defRPr>
            </a:pPr>
            <a:r>
              <a:t>• Secondary text</a:t>
            </a:r>
          </a:p>
          <a:p>
            <a:pPr algn="l">
              <a:spcAft>
                <a:spcPts val="600"/>
              </a:spcAft>
              <a:defRPr sz="1400" b="0">
                <a:solidFill>
                  <a:srgbClr val="FFFFFF"/>
                </a:solidFill>
                <a:latin typeface="Source Sans Pro"/>
              </a:defRPr>
            </a:pPr>
            <a:r>
              <a:t>• Borders and dividers</a:t>
            </a:r>
          </a:p>
          <a:p>
            <a:pPr algn="l">
              <a:spcAft>
                <a:spcPts val="600"/>
              </a:spcAft>
              <a:defRPr sz="1400" b="0">
                <a:solidFill>
                  <a:srgbClr val="FFFFFF"/>
                </a:solidFill>
                <a:latin typeface="Source Sans Pro"/>
              </a:defRPr>
            </a:pPr>
            <a:r>
              <a:t>• Hover states and icons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Light Gray, Mint Green, Slate Blue, Lavender, Dark Coral</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Create visual hierarchy</a:t>
            </a:r>
          </a:p>
          <a:p>
            <a:pPr algn="l">
              <a:spcAft>
                <a:spcPts val="600"/>
              </a:spcAft>
              <a:defRPr sz="1400" b="0">
                <a:solidFill>
                  <a:srgbClr val="FFFFFF"/>
                </a:solidFill>
                <a:latin typeface="Source Sans Pro"/>
              </a:defRPr>
            </a:pPr>
            <a:r>
              <a:t>- Support, don't compete</a:t>
            </a:r>
          </a:p>
          <a:p>
            <a:pPr algn="l">
              <a:spcAft>
                <a:spcPts val="600"/>
              </a:spcAft>
              <a:defRPr sz="1400" b="0">
                <a:solidFill>
                  <a:srgbClr val="FFFFFF"/>
                </a:solidFill>
                <a:latin typeface="Source Sans Pro"/>
              </a:defRPr>
            </a:pPr>
            <a:r>
              <a:t>- Maintain readability</a:t>
            </a:r>
          </a:p>
          <a:p>
            <a:pPr algn="l">
              <a:spcAft>
                <a:spcPts val="600"/>
              </a:spcAft>
              <a:defRPr sz="1400" b="0">
                <a:solidFill>
                  <a:srgbClr val="FFFFFF"/>
                </a:solidFill>
                <a:latin typeface="Source Sans Pro"/>
              </a:defRPr>
            </a:pPr>
            <a:r>
              <a:t>- Use sparingly</a:t>
            </a:r>
          </a:p>
        </p:txBody>
      </p:sp>
      <p:cxnSp>
        <p:nvCxnSpPr>
          <p:cNvPr id="3" name="Connector 2"/>
          <p:cNvCxnSpPr/>
          <p:nvPr/>
        </p:nvCxnSpPr>
        <p:spPr>
          <a:xfrm>
            <a:off x="457200" y="5286375.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FF4D4D"/>
                </a:solidFill>
                <a:latin typeface="Inter"/>
              </a:defRPr>
            </a:pPr>
            <a:r>
              <a:t>Color Usage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Primary Font: Inter</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Secondary Font: Source Sans Pro</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Font Hierarchy:</a:t>
            </a:r>
          </a:p>
          <a:p>
            <a:pPr algn="l">
              <a:spcAft>
                <a:spcPts val="800"/>
              </a:spcAft>
              <a:defRPr sz="2000" b="0">
                <a:solidFill>
                  <a:srgbClr val="FFFFFF"/>
                </a:solidFill>
                <a:latin typeface="Source Sans Pro"/>
              </a:defRPr>
            </a:pPr>
            <a:r>
              <a:t>• Headlines: Inter - Bold, 28-32pt</a:t>
            </a:r>
          </a:p>
          <a:p>
            <a:pPr algn="l">
              <a:spcAft>
                <a:spcPts val="800"/>
              </a:spcAft>
              <a:defRPr sz="2000" b="0">
                <a:solidFill>
                  <a:srgbClr val="FFFFFF"/>
                </a:solidFill>
                <a:latin typeface="Source Sans Pro"/>
              </a:defRPr>
            </a:pPr>
            <a:r>
              <a:t>• Subheadlines: Inter - Bold, 20-24pt</a:t>
            </a:r>
          </a:p>
          <a:p>
            <a:pPr algn="l">
              <a:spcAft>
                <a:spcPts val="800"/>
              </a:spcAft>
              <a:defRPr sz="2000" b="0">
                <a:solidFill>
                  <a:srgbClr val="FFFFFF"/>
                </a:solidFill>
                <a:latin typeface="Source Sans Pro"/>
              </a:defRPr>
            </a:pPr>
            <a:r>
              <a:t>• Body Text: Source Sans Pro - Regular, 16-18pt</a:t>
            </a:r>
          </a:p>
          <a:p>
            <a:pPr algn="l">
              <a:spcAft>
                <a:spcPts val="800"/>
              </a:spcAft>
              <a:defRPr sz="2000" b="0">
                <a:solidFill>
                  <a:srgbClr val="FFFFFF"/>
                </a:solidFill>
                <a:latin typeface="Source Sans Pro"/>
              </a:defRPr>
            </a:pPr>
            <a:r>
              <a:t>• Caption Text: Source Sans Pro - Regular, 12-14pt</a:t>
            </a:r>
          </a:p>
        </p:txBody>
      </p:sp>
      <p:cxnSp>
        <p:nvCxnSpPr>
          <p:cNvPr id="3" name="Connector 2"/>
          <p:cNvCxnSpPr/>
          <p:nvPr/>
        </p:nvCxnSpPr>
        <p:spPr>
          <a:xfrm>
            <a:off x="457200" y="4914900.0"/>
            <a:ext cx="8229600" cy="0.0"/>
          </a:xfrm>
          <a:prstGeom prst="line">
            <a:avLst/>
          </a:prstGeom>
          <a:ln w="25400">
            <a:solidFill>
              <a:srgbClr val="FF4D4D"/>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FF4D4D"/>
                </a:solidFill>
                <a:latin typeface="Inter"/>
              </a:defRPr>
            </a:pPr>
            <a:r>
              <a:t>TYPOGRAPHY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