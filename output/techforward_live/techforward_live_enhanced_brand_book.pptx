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1_20250828_235333_3e1fde11.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2E86AB"/>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2E86AB"/>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2E86AB"/>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(Vision)</a:t>
            </a:r>
          </a:p>
        </p:txBody>
      </p:sp>
      <p:cxnSp>
        <p:nvCxnSpPr>
          <p:cNvPr id="8" name="Connector 7"/>
          <p:cNvCxnSpPr/>
          <p:nvPr/>
        </p:nvCxnSpPr>
        <p:spPr>
          <a:xfrm>
            <a:off x="2331719" y="216712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2E86AB"/>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(Mission)</a:t>
            </a:r>
          </a:p>
        </p:txBody>
      </p:sp>
      <p:cxnSp>
        <p:nvCxnSpPr>
          <p:cNvPr id="11" name="Connector 10"/>
          <p:cNvCxnSpPr/>
          <p:nvPr/>
        </p:nvCxnSpPr>
        <p:spPr>
          <a:xfrm>
            <a:off x="2331719" y="267004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2E86AB"/>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(Values)</a:t>
            </a:r>
          </a:p>
        </p:txBody>
      </p:sp>
      <p:cxnSp>
        <p:nvCxnSpPr>
          <p:cNvPr id="14" name="Connector 13"/>
          <p:cNvCxnSpPr/>
          <p:nvPr/>
        </p:nvCxnSpPr>
        <p:spPr>
          <a:xfrm>
            <a:off x="5349239" y="166420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2E86AB"/>
                </a:solidFill>
                <a:latin typeface="Source Sans Pro"/>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Story</a:t>
            </a:r>
          </a:p>
        </p:txBody>
      </p:sp>
      <p:cxnSp>
        <p:nvCxnSpPr>
          <p:cNvPr id="17" name="Connector 16"/>
          <p:cNvCxnSpPr/>
          <p:nvPr/>
        </p:nvCxnSpPr>
        <p:spPr>
          <a:xfrm>
            <a:off x="5349239" y="216712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2E86AB"/>
                </a:solidFill>
                <a:latin typeface="Source Sans Pro"/>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Logo Variations</a:t>
            </a:r>
          </a:p>
        </p:txBody>
      </p:sp>
      <p:cxnSp>
        <p:nvCxnSpPr>
          <p:cNvPr id="20" name="Connector 19"/>
          <p:cNvCxnSpPr/>
          <p:nvPr/>
        </p:nvCxnSpPr>
        <p:spPr>
          <a:xfrm>
            <a:off x="5349239" y="267004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2E86AB"/>
                </a:solidFill>
                <a:latin typeface="Source Sans Pro"/>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Colors</a:t>
            </a:r>
          </a:p>
        </p:txBody>
      </p:sp>
      <p:cxnSp>
        <p:nvCxnSpPr>
          <p:cNvPr id="26" name="Connector 25"/>
          <p:cNvCxnSpPr/>
          <p:nvPr/>
        </p:nvCxnSpPr>
        <p:spPr>
          <a:xfrm>
            <a:off x="8366759" y="166420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2E86AB"/>
                </a:solidFill>
                <a:latin typeface="Source Sans Pro"/>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CCCCCC"/>
                </a:solidFill>
                <a:latin typeface="Source Sans Pro"/>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CCCCCC"/>
                </a:solidFill>
                <a:latin typeface="Source Sans Pro"/>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FFFFFF"/>
                </a:solidFill>
                <a:latin typeface="Source Sans Pro"/>
              </a:defRPr>
            </a:pPr>
            <a:r>
              <a:t>Typography</a:t>
            </a:r>
          </a:p>
        </p:txBody>
      </p:sp>
      <p:cxnSp>
        <p:nvCxnSpPr>
          <p:cNvPr id="33" name="Connector 32"/>
          <p:cNvCxnSpPr/>
          <p:nvPr/>
        </p:nvCxnSpPr>
        <p:spPr>
          <a:xfrm>
            <a:off x="8366759" y="308152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2E86AB"/>
                </a:solidFill>
                <a:latin typeface="Source Sans Pro"/>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CCCCCC"/>
                </a:solidFill>
                <a:latin typeface="Source Sans Pro"/>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CCCCCC"/>
                </a:solidFill>
                <a:latin typeface="Source Sans Pro"/>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CCCCCC"/>
                </a:solidFill>
                <a:latin typeface="Source Sans Pro"/>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FFFFFF"/>
                </a:solidFill>
                <a:latin typeface="Source Sans Pro"/>
              </a:defRPr>
            </a:pPr>
            <a:r>
              <a:t>Visual Guidelines</a:t>
            </a:r>
          </a:p>
        </p:txBody>
      </p:sp>
      <p:cxnSp>
        <p:nvCxnSpPr>
          <p:cNvPr id="39" name="Connector 38"/>
          <p:cNvCxnSpPr/>
          <p:nvPr/>
        </p:nvCxnSpPr>
        <p:spPr>
          <a:xfrm>
            <a:off x="8366759" y="427024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2E86AB"/>
                </a:solidFill>
                <a:latin typeface="Source Sans Pro"/>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CCCCCC"/>
                </a:solidFill>
                <a:latin typeface="Source Sans Pro"/>
              </a:defRPr>
            </a:pPr>
            <a:r>
              <a:t>Visual Style</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CCCCCC"/>
                </a:solidFill>
                <a:latin typeface="Source Sans Pro"/>
              </a:defRPr>
            </a:pPr>
            <a:r>
              <a:t>Photography</a:t>
            </a:r>
          </a:p>
        </p:txBody>
      </p:sp>
      <p:sp>
        <p:nvSpPr>
          <p:cNvPr id="43" name="TextBox 42"/>
          <p:cNvSpPr txBox="1"/>
          <p:nvPr/>
        </p:nvSpPr>
        <p:spPr>
          <a:xfrm>
            <a:off x="6675120" y="4983480"/>
            <a:ext cx="1828800" cy="228600"/>
          </a:xfrm>
          <a:prstGeom prst="rect">
            <a:avLst/>
          </a:prstGeom>
          <a:noFill/>
        </p:spPr>
        <p:txBody>
          <a:bodyPr wrap="none" lIns="0" tIns="0" bIns="0">
            <a:spAutoFit/>
          </a:bodyPr>
          <a:lstStyle/>
          <a:p>
            <a:pPr>
              <a:defRPr sz="900" b="0">
                <a:solidFill>
                  <a:srgbClr val="CCCCCC"/>
                </a:solidFill>
                <a:latin typeface="Source Sans Pro"/>
              </a:defRPr>
            </a:pPr>
            <a:r>
              <a:t>Imagery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Welcome to TechForward Live's brand identity system presentation, where we unveil a transformative approach to showcasing our commitment to innovation and human-centered design. This system ensures an internationally engaging, consistent, and proprietary brand presentation, reflecting our core values of simplicity, excellence, and trust in the dynamic landscape of technology and digital solutions.</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2E86AB"/>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Our vision at TechForward Live is to empower a future where technology seamlessly enhances human potential, driving unparalleled innovation and digital transformation for progressive businesses. We aspire to be the catalyst for unlocking new possibilities and shaping a world where simplicity and excellence define the digital landscape.</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At TechForward Live, we are dedicated to bridging the gap between complex technology and intuitive user experiences. Our mission is to provide cutting-edge technology solutions that drive digital transformation and innovation for businesses, ensuring that our human-centered approach leads the way in creating impactful, user-friendly digital solutions.</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At the core of TechForward Live, our values of innovation, simplicity, human-centered design, excellence, trust, and reliability guide every aspect of our work. We believe in pushing boundaries through innovation, simplifying complexities to create seamless experiences, and always putting humans at the center of our solutions. Our commitment to excellence, trustworthiness, and reliability ensures that we deliver technology solutions that truly transform businesses and drive progress in the digital world.</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 revolutionize technology through innovative design and human-centered solutions that empower businesses to achieve their digital transformation goals.</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STORY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1_20250828_235333_3e1fde11.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Choose for maximum impact and brand recognition in primary applications.</a:t>
            </a:r>
          </a:p>
        </p:txBody>
      </p:sp>
      <p:cxnSp>
        <p:nvCxnSpPr>
          <p:cNvPr id="4" name="Connector 3"/>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2E86AB"/>
                </a:solidFill>
                <a:latin typeface="Inter"/>
              </a:defRPr>
            </a:pPr>
            <a:r>
              <a:t>Logo Variation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2_20250828_235352_a3259202.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Perfect for constrained spaces while maintaining professional brand presence and clarity.</a:t>
            </a:r>
          </a:p>
        </p:txBody>
      </p:sp>
      <p:cxnSp>
        <p:nvCxnSpPr>
          <p:cNvPr id="4" name="Connector 3"/>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2E86AB"/>
                </a:solidFill>
                <a:latin typeface="Inter"/>
              </a:defRPr>
            </a:pPr>
            <a:r>
              <a:t>Logo Variation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3_20250828_235415_054bae29.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Ideal for small sizes, watermarks, and applications requiring simplified brand representation.</a:t>
            </a:r>
          </a:p>
        </p:txBody>
      </p:sp>
      <p:cxnSp>
        <p:nvCxnSpPr>
          <p:cNvPr id="4" name="Connector 3"/>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2E86AB"/>
                </a:solidFill>
                <a:latin typeface="Inter"/>
              </a:defRPr>
            </a:pPr>
            <a:r>
              <a:t>Logo Variation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2E86A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400"/>
              </a:spcAft>
              <a:defRPr sz="1200" b="0">
                <a:solidFill>
                  <a:srgbClr val="FFFFFF"/>
                </a:solidFill>
                <a:latin typeface="Source Sans Pro"/>
              </a:defRPr>
            </a:pPr>
            <a:r>
              <a:t>Primary Blue</a:t>
            </a:r>
          </a:p>
          <a:p>
            <a:pPr algn="l">
              <a:spcAft>
                <a:spcPts val="400"/>
              </a:spcAft>
              <a:defRPr sz="1200" b="0">
                <a:solidFill>
                  <a:srgbClr val="FFFFFF"/>
                </a:solidFill>
                <a:latin typeface="Source Sans Pro"/>
              </a:defRPr>
            </a:pPr>
            <a:r>
              <a:t>#2E86AB</a:t>
            </a:r>
          </a:p>
          <a:p>
            <a:pPr algn="l">
              <a:spcAft>
                <a:spcPts val="400"/>
              </a:spcAft>
              <a:defRPr sz="1200" b="0">
                <a:solidFill>
                  <a:srgbClr val="FFFFFF"/>
                </a:solidFill>
                <a:latin typeface="Source Sans Pro"/>
              </a:defRPr>
            </a:pPr>
            <a:r>
              <a:t>RGB(46, 134, 171)</a:t>
            </a:r>
          </a:p>
          <a:p>
            <a:pPr algn="l">
              <a:spcAft>
                <a:spcPts val="400"/>
              </a:spcAft>
              <a:defRPr sz="1200" b="0">
                <a:solidFill>
                  <a:srgbClr val="FFFFFF"/>
                </a:solidFill>
                <a:latin typeface="Source Sans Pro"/>
              </a:defRPr>
            </a:pPr>
            <a:r>
              <a:t>CMYK(73, 21, 0, 32)</a:t>
            </a:r>
          </a:p>
          <a:p>
            <a:pPr algn="l">
              <a:spcAft>
                <a:spcPts val="400"/>
              </a:spcAft>
              <a:defRPr sz="1200" b="0">
                <a:solidFill>
                  <a:srgbClr val="FFFFFF"/>
                </a:solidFill>
                <a:latin typeface="Source Sans Pro"/>
              </a:defRPr>
            </a:pPr>
            <a:r>
              <a:t>Use Dark Text</a:t>
            </a:r>
          </a:p>
        </p:txBody>
      </p:sp>
      <p:sp>
        <p:nvSpPr>
          <p:cNvPr id="4" name="Rectangle 3"/>
          <p:cNvSpPr/>
          <p:nvPr/>
        </p:nvSpPr>
        <p:spPr>
          <a:xfrm>
            <a:off x="4572000" y="1645920"/>
            <a:ext cx="1828800" cy="1371600"/>
          </a:xfrm>
          <a:prstGeom prst="rect">
            <a:avLst/>
          </a:prstGeom>
          <a:solidFill>
            <a:srgbClr val="24A19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400"/>
              </a:spcAft>
              <a:defRPr sz="1200" b="0">
                <a:solidFill>
                  <a:srgbClr val="FFFFFF"/>
                </a:solidFill>
                <a:latin typeface="Source Sans Pro"/>
              </a:defRPr>
            </a:pPr>
            <a:r>
              <a:t>Accent Teal</a:t>
            </a:r>
          </a:p>
          <a:p>
            <a:pPr algn="l">
              <a:spcAft>
                <a:spcPts val="400"/>
              </a:spcAft>
              <a:defRPr sz="1200" b="0">
                <a:solidFill>
                  <a:srgbClr val="FFFFFF"/>
                </a:solidFill>
                <a:latin typeface="Source Sans Pro"/>
              </a:defRPr>
            </a:pPr>
            <a:r>
              <a:t>#24A19C</a:t>
            </a:r>
          </a:p>
          <a:p>
            <a:pPr algn="l">
              <a:spcAft>
                <a:spcPts val="400"/>
              </a:spcAft>
              <a:defRPr sz="1200" b="0">
                <a:solidFill>
                  <a:srgbClr val="FFFFFF"/>
                </a:solidFill>
                <a:latin typeface="Source Sans Pro"/>
              </a:defRPr>
            </a:pPr>
            <a:r>
              <a:t>RGB(36, 161, 156)</a:t>
            </a:r>
          </a:p>
          <a:p>
            <a:pPr algn="l">
              <a:spcAft>
                <a:spcPts val="400"/>
              </a:spcAft>
              <a:defRPr sz="1200" b="0">
                <a:solidFill>
                  <a:srgbClr val="FFFFFF"/>
                </a:solidFill>
                <a:latin typeface="Source Sans Pro"/>
              </a:defRPr>
            </a:pPr>
            <a:r>
              <a:t>CMYK(77, 0, 3, 36)</a:t>
            </a:r>
          </a:p>
          <a:p>
            <a:pPr algn="l">
              <a:spcAft>
                <a:spcPts val="400"/>
              </a:spcAft>
              <a:defRPr sz="1200" b="0">
                <a:solidFill>
                  <a:srgbClr val="FFFFFF"/>
                </a:solidFill>
                <a:latin typeface="Source Sans Pro"/>
              </a:defRPr>
            </a:pPr>
            <a:r>
              <a:t>Use Dark Text</a:t>
            </a:r>
          </a:p>
        </p:txBody>
      </p:sp>
      <p:sp>
        <p:nvSpPr>
          <p:cNvPr id="6" name="Rectangle 5"/>
          <p:cNvSpPr/>
          <p:nvPr/>
        </p:nvSpPr>
        <p:spPr>
          <a:xfrm>
            <a:off x="1143000" y="3726180"/>
            <a:ext cx="1828800" cy="1371600"/>
          </a:xfrm>
          <a:prstGeom prst="rect">
            <a:avLst/>
          </a:prstGeom>
          <a:solidFill>
            <a:srgbClr val="1B365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400"/>
              </a:spcAft>
              <a:defRPr sz="1200" b="0">
                <a:solidFill>
                  <a:srgbClr val="FFFFFF"/>
                </a:solidFill>
                <a:latin typeface="Source Sans Pro"/>
              </a:defRPr>
            </a:pPr>
            <a:r>
              <a:t>Deep Navy</a:t>
            </a:r>
          </a:p>
          <a:p>
            <a:pPr algn="l">
              <a:spcAft>
                <a:spcPts val="400"/>
              </a:spcAft>
              <a:defRPr sz="1200" b="0">
                <a:solidFill>
                  <a:srgbClr val="FFFFFF"/>
                </a:solidFill>
                <a:latin typeface="Source Sans Pro"/>
              </a:defRPr>
            </a:pPr>
            <a:r>
              <a:t>#1B365D</a:t>
            </a:r>
          </a:p>
          <a:p>
            <a:pPr algn="l">
              <a:spcAft>
                <a:spcPts val="400"/>
              </a:spcAft>
              <a:defRPr sz="1200" b="0">
                <a:solidFill>
                  <a:srgbClr val="FFFFFF"/>
                </a:solidFill>
                <a:latin typeface="Source Sans Pro"/>
              </a:defRPr>
            </a:pPr>
            <a:r>
              <a:t>RGB(27, 54, 93)</a:t>
            </a:r>
          </a:p>
          <a:p>
            <a:pPr algn="l">
              <a:spcAft>
                <a:spcPts val="400"/>
              </a:spcAft>
              <a:defRPr sz="1200" b="0">
                <a:solidFill>
                  <a:srgbClr val="FFFFFF"/>
                </a:solidFill>
                <a:latin typeface="Source Sans Pro"/>
              </a:defRPr>
            </a:pPr>
            <a:r>
              <a:t>CMYK(70, 41, 0, 63)</a:t>
            </a:r>
          </a:p>
          <a:p>
            <a:pPr algn="l">
              <a:spcAft>
                <a:spcPts val="400"/>
              </a:spcAft>
              <a:defRPr sz="1200" b="0">
                <a:solidFill>
                  <a:srgbClr val="FFFFFF"/>
                </a:solidFill>
                <a:latin typeface="Source Sans Pro"/>
              </a:defRPr>
            </a:pPr>
            <a:r>
              <a:t>Use Light Text</a:t>
            </a:r>
          </a:p>
        </p:txBody>
      </p:sp>
      <p:cxnSp>
        <p:nvCxnSpPr>
          <p:cNvPr id="8" name="Connector 7"/>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Primary Colors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F8F9F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Light Gray</a:t>
            </a:r>
          </a:p>
          <a:p>
            <a:pPr algn="ctr">
              <a:spcAft>
                <a:spcPts val="300"/>
              </a:spcAft>
              <a:defRPr sz="1000" b="0">
                <a:solidFill>
                  <a:srgbClr val="FFFFFF"/>
                </a:solidFill>
                <a:latin typeface="Source Sans Pro"/>
              </a:defRPr>
            </a:pPr>
            <a:r>
              <a:t>#F8F9FA</a:t>
            </a:r>
          </a:p>
          <a:p>
            <a:pPr algn="ctr">
              <a:spcAft>
                <a:spcPts val="300"/>
              </a:spcAft>
              <a:defRPr sz="1000" b="0">
                <a:solidFill>
                  <a:srgbClr val="FFFFFF"/>
                </a:solidFill>
                <a:latin typeface="Source Sans Pro"/>
              </a:defRPr>
            </a:pPr>
            <a:r>
              <a:t>Use Dark Text</a:t>
            </a:r>
          </a:p>
        </p:txBody>
      </p:sp>
      <p:sp>
        <p:nvSpPr>
          <p:cNvPr id="4" name="Rectangle 3"/>
          <p:cNvSpPr/>
          <p:nvPr/>
        </p:nvSpPr>
        <p:spPr>
          <a:xfrm>
            <a:off x="3200400" y="1571625"/>
            <a:ext cx="1828800" cy="914400"/>
          </a:xfrm>
          <a:prstGeom prst="rect">
            <a:avLst/>
          </a:prstGeom>
          <a:solidFill>
            <a:srgbClr val="9AD1D4"/>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Pale Aqua</a:t>
            </a:r>
          </a:p>
          <a:p>
            <a:pPr algn="ctr">
              <a:spcAft>
                <a:spcPts val="300"/>
              </a:spcAft>
              <a:defRPr sz="1000" b="0">
                <a:solidFill>
                  <a:srgbClr val="FFFFFF"/>
                </a:solidFill>
                <a:latin typeface="Source Sans Pro"/>
              </a:defRPr>
            </a:pPr>
            <a:r>
              <a:t>#9AD1D4</a:t>
            </a:r>
          </a:p>
          <a:p>
            <a:pPr algn="ctr">
              <a:spcAft>
                <a:spcPts val="300"/>
              </a:spcAft>
              <a:defRPr sz="1000" b="0">
                <a:solidFill>
                  <a:srgbClr val="FFFFFF"/>
                </a:solidFill>
                <a:latin typeface="Source Sans Pro"/>
              </a:defRPr>
            </a:pPr>
            <a:r>
              <a:t>Use Dark Text</a:t>
            </a:r>
          </a:p>
        </p:txBody>
      </p:sp>
      <p:sp>
        <p:nvSpPr>
          <p:cNvPr id="6" name="Rectangle 5"/>
          <p:cNvSpPr/>
          <p:nvPr/>
        </p:nvSpPr>
        <p:spPr>
          <a:xfrm>
            <a:off x="5257800" y="1571625"/>
            <a:ext cx="1828800" cy="914400"/>
          </a:xfrm>
          <a:prstGeom prst="rect">
            <a:avLst/>
          </a:prstGeom>
          <a:solidFill>
            <a:srgbClr val="145C6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Deep Teal</a:t>
            </a:r>
          </a:p>
          <a:p>
            <a:pPr algn="ctr">
              <a:spcAft>
                <a:spcPts val="300"/>
              </a:spcAft>
              <a:defRPr sz="1000" b="0">
                <a:solidFill>
                  <a:srgbClr val="FFFFFF"/>
                </a:solidFill>
                <a:latin typeface="Source Sans Pro"/>
              </a:defRPr>
            </a:pPr>
            <a:r>
              <a:t>#145C61</a:t>
            </a:r>
          </a:p>
          <a:p>
            <a:pPr algn="ctr">
              <a:spcAft>
                <a:spcPts val="300"/>
              </a:spcAft>
              <a:defRPr sz="1000" b="0">
                <a:solidFill>
                  <a:srgbClr val="FFFFFF"/>
                </a:solidFill>
                <a:latin typeface="Source Sans Pro"/>
              </a:defRPr>
            </a:pPr>
            <a:r>
              <a:t>Use Light Text</a:t>
            </a:r>
          </a:p>
        </p:txBody>
      </p:sp>
      <p:sp>
        <p:nvSpPr>
          <p:cNvPr id="8" name="Rectangle 7"/>
          <p:cNvSpPr/>
          <p:nvPr/>
        </p:nvSpPr>
        <p:spPr>
          <a:xfrm>
            <a:off x="2171700" y="3429000"/>
            <a:ext cx="1828800" cy="914400"/>
          </a:xfrm>
          <a:prstGeom prst="rect">
            <a:avLst/>
          </a:prstGeom>
          <a:solidFill>
            <a:srgbClr val="5CA4B7"/>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Soft Blue</a:t>
            </a:r>
          </a:p>
          <a:p>
            <a:pPr algn="ctr">
              <a:spcAft>
                <a:spcPts val="300"/>
              </a:spcAft>
              <a:defRPr sz="1000" b="0">
                <a:solidFill>
                  <a:srgbClr val="FFFFFF"/>
                </a:solidFill>
                <a:latin typeface="Source Sans Pro"/>
              </a:defRPr>
            </a:pPr>
            <a:r>
              <a:t>#5CA4B7</a:t>
            </a:r>
          </a:p>
          <a:p>
            <a:pPr algn="ctr">
              <a:spcAft>
                <a:spcPts val="300"/>
              </a:spcAft>
              <a:defRPr sz="1000" b="0">
                <a:solidFill>
                  <a:srgbClr val="FFFFFF"/>
                </a:solidFill>
                <a:latin typeface="Source Sans Pro"/>
              </a:defRPr>
            </a:pPr>
            <a:r>
              <a:t>Use Dark Text</a:t>
            </a:r>
          </a:p>
        </p:txBody>
      </p:sp>
      <p:sp>
        <p:nvSpPr>
          <p:cNvPr id="10" name="Rectangle 9"/>
          <p:cNvSpPr/>
          <p:nvPr/>
        </p:nvSpPr>
        <p:spPr>
          <a:xfrm>
            <a:off x="4229100" y="3429000"/>
            <a:ext cx="1828800" cy="914400"/>
          </a:xfrm>
          <a:prstGeom prst="rect">
            <a:avLst/>
          </a:prstGeom>
          <a:solidFill>
            <a:srgbClr val="708090"/>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Slate Gray</a:t>
            </a:r>
          </a:p>
          <a:p>
            <a:pPr algn="ctr">
              <a:spcAft>
                <a:spcPts val="300"/>
              </a:spcAft>
              <a:defRPr sz="1000" b="0">
                <a:solidFill>
                  <a:srgbClr val="FFFFFF"/>
                </a:solidFill>
                <a:latin typeface="Source Sans Pro"/>
              </a:defRPr>
            </a:pPr>
            <a:r>
              <a:t>#708090</a:t>
            </a:r>
          </a:p>
          <a:p>
            <a:pPr algn="ctr">
              <a:spcAft>
                <a:spcPts val="300"/>
              </a:spcAft>
              <a:defRPr sz="1000" b="0">
                <a:solidFill>
                  <a:srgbClr val="FFFFFF"/>
                </a:solidFill>
                <a:latin typeface="Source Sans Pro"/>
              </a:defRPr>
            </a:pPr>
            <a:r>
              <a:t>Use Dark Text</a:t>
            </a:r>
          </a:p>
        </p:txBody>
      </p:sp>
      <p:cxnSp>
        <p:nvCxnSpPr>
          <p:cNvPr id="12" name="Connector 11"/>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Secondary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Primary Color Usage Guidelines</a:t>
            </a:r>
          </a:p>
          <a:p>
            <a:pPr algn="l">
              <a:spcAft>
                <a:spcPts val="800"/>
              </a:spcAft>
              <a:defRPr sz="1600" b="0">
                <a:solidFill>
                  <a:srgbClr val="FFFFFF"/>
                </a:solidFill>
                <a:latin typeface="Source Sans Pro"/>
              </a:defRPr>
            </a:pPr>
          </a:p>
          <a:p>
            <a:pPr algn="l">
              <a:spcAft>
                <a:spcPts val="800"/>
              </a:spcAft>
              <a:defRPr sz="1600" b="0">
                <a:solidFill>
                  <a:srgbClr val="FFFFFF"/>
                </a:solidFill>
                <a:latin typeface="Source Sans Pro"/>
              </a:defRPr>
            </a:pPr>
            <a:r>
              <a:t>Your primary colors are the foundation of your brand identity. Use them prominently in:</a:t>
            </a:r>
          </a:p>
          <a:p>
            <a:pPr algn="l">
              <a:spcAft>
                <a:spcPts val="800"/>
              </a:spcAft>
              <a:defRPr sz="1600" b="0">
                <a:solidFill>
                  <a:srgbClr val="FFFFFF"/>
                </a:solidFill>
                <a:latin typeface="Source Sans Pro"/>
              </a:defRPr>
            </a:pPr>
          </a:p>
          <a:p>
            <a:pPr algn="l">
              <a:spcAft>
                <a:spcPts val="800"/>
              </a:spcAft>
              <a:defRPr sz="1600" b="0">
                <a:solidFill>
                  <a:srgbClr val="FFFFFF"/>
                </a:solidFill>
                <a:latin typeface="Source Sans Pro"/>
              </a:defRPr>
            </a:pPr>
            <a:r>
              <a:t>• Brand logos and primary brand marks</a:t>
            </a:r>
          </a:p>
          <a:p>
            <a:pPr algn="l">
              <a:spcAft>
                <a:spcPts val="800"/>
              </a:spcAft>
              <a:defRPr sz="1600" b="0">
                <a:solidFill>
                  <a:srgbClr val="FFFFFF"/>
                </a:solidFill>
                <a:latin typeface="Source Sans Pro"/>
              </a:defRPr>
            </a:pPr>
            <a:r>
              <a:t>• Headlines and primary text elements</a:t>
            </a:r>
          </a:p>
          <a:p>
            <a:pPr algn="l">
              <a:spcAft>
                <a:spcPts val="800"/>
              </a:spcAft>
              <a:defRPr sz="1600" b="0">
                <a:solidFill>
                  <a:srgbClr val="FFFFFF"/>
                </a:solidFill>
                <a:latin typeface="Source Sans Pro"/>
              </a:defRPr>
            </a:pPr>
            <a:r>
              <a:t>• Call-to-action buttons and key interactive elements</a:t>
            </a:r>
          </a:p>
          <a:p>
            <a:pPr algn="l">
              <a:spcAft>
                <a:spcPts val="800"/>
              </a:spcAft>
              <a:defRPr sz="1600" b="0">
                <a:solidFill>
                  <a:srgbClr val="FFFFFF"/>
                </a:solidFill>
                <a:latin typeface="Source Sans Pro"/>
              </a:defRPr>
            </a:pPr>
            <a:r>
              <a:t>• Primary navigation and menu items</a:t>
            </a:r>
          </a:p>
          <a:p>
            <a:pPr algn="l">
              <a:spcAft>
                <a:spcPts val="800"/>
              </a:spcAft>
              <a:defRPr sz="1600" b="0">
                <a:solidFill>
                  <a:srgbClr val="FFFFFF"/>
                </a:solidFill>
                <a:latin typeface="Source Sans Pro"/>
              </a:defRPr>
            </a:pPr>
            <a:r>
              <a:t>• Hero sections and main content areas</a:t>
            </a:r>
          </a:p>
          <a:p>
            <a:pPr algn="l">
              <a:spcAft>
                <a:spcPts val="800"/>
              </a:spcAft>
              <a:defRPr sz="1600" b="0">
                <a:solidFill>
                  <a:srgbClr val="FFFFFF"/>
                </a:solidFill>
                <a:latin typeface="Source Sans Pro"/>
              </a:defRPr>
            </a:pPr>
          </a:p>
          <a:p>
            <a:pPr algn="l">
              <a:spcAft>
                <a:spcPts val="800"/>
              </a:spcAft>
              <a:defRPr sz="1600" b="0">
                <a:solidFill>
                  <a:srgbClr val="FFFFFF"/>
                </a:solidFill>
                <a:latin typeface="Source Sans Pro"/>
              </a:defRPr>
            </a:pPr>
            <a:r>
              <a:t>Primary Colors: Primary Blue, Accent Teal, Deep Navy</a:t>
            </a:r>
          </a:p>
          <a:p>
            <a:pPr algn="l">
              <a:spcAft>
                <a:spcPts val="800"/>
              </a:spcAft>
              <a:defRPr sz="1600" b="0">
                <a:solidFill>
                  <a:srgbClr val="FFFFFF"/>
                </a:solidFill>
                <a:latin typeface="Source Sans Pro"/>
              </a:defRPr>
            </a:pPr>
          </a:p>
          <a:p>
            <a:pPr algn="l">
              <a:spcAft>
                <a:spcPts val="800"/>
              </a:spcAft>
              <a:defRPr sz="1600" b="0">
                <a:solidFill>
                  <a:srgbClr val="FFFFFF"/>
                </a:solidFill>
                <a:latin typeface="Source Sans Pro"/>
              </a:defRPr>
            </a:pPr>
            <a:r>
              <a:t>Best Practices:</a:t>
            </a:r>
          </a:p>
          <a:p>
            <a:pPr algn="l">
              <a:spcAft>
                <a:spcPts val="800"/>
              </a:spcAft>
              <a:defRPr sz="1600" b="0">
                <a:solidFill>
                  <a:srgbClr val="FFFFFF"/>
                </a:solidFill>
                <a:latin typeface="Source Sans Pro"/>
              </a:defRPr>
            </a:pPr>
            <a:r>
              <a:t>- Use primary colors for maximum brand recognition</a:t>
            </a:r>
          </a:p>
          <a:p>
            <a:pPr algn="l">
              <a:spcAft>
                <a:spcPts val="800"/>
              </a:spcAft>
              <a:defRPr sz="1600" b="0">
                <a:solidFill>
                  <a:srgbClr val="FFFFFF"/>
                </a:solidFill>
                <a:latin typeface="Source Sans Pro"/>
              </a:defRPr>
            </a:pPr>
            <a:r>
              <a:t>- Maintain sufficient contrast with background elements</a:t>
            </a:r>
          </a:p>
          <a:p>
            <a:pPr algn="l">
              <a:spcAft>
                <a:spcPts val="800"/>
              </a:spcAft>
              <a:defRPr sz="1600" b="0">
                <a:solidFill>
                  <a:srgbClr val="FFFFFF"/>
                </a:solidFill>
                <a:latin typeface="Source Sans Pro"/>
              </a:defRPr>
            </a:pPr>
            <a:r>
              <a:t>- Apply consistently across all brand touchpoints</a:t>
            </a:r>
          </a:p>
          <a:p>
            <a:pPr algn="l">
              <a:spcAft>
                <a:spcPts val="800"/>
              </a:spcAft>
              <a:defRPr sz="1600" b="0">
                <a:solidFill>
                  <a:srgbClr val="FFFFFF"/>
                </a:solidFill>
                <a:latin typeface="Source Sans Pro"/>
              </a:defRPr>
            </a:pPr>
            <a:r>
              <a:t>- Reserve for the most important visual elements</a:t>
            </a:r>
          </a:p>
          <a:p>
            <a:pPr algn="l">
              <a:spcAft>
                <a:spcPts val="800"/>
              </a:spcAft>
              <a:defRPr sz="1600" b="0">
                <a:solidFill>
                  <a:srgbClr val="FFFFFF"/>
                </a:solidFill>
                <a:latin typeface="Source Sans Pro"/>
              </a:defRPr>
            </a:pPr>
            <a:r>
              <a:t>- Ensure accessibility compliance in all applications</a:t>
            </a:r>
          </a:p>
        </p:txBody>
      </p:sp>
      <p:cxnSp>
        <p:nvCxnSpPr>
          <p:cNvPr id="3" name="Connector 2"/>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Color Usage 1/2</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TechForward Live</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Secondary Color Usage Guidelines</a:t>
            </a:r>
          </a:p>
          <a:p>
            <a:pPr algn="l">
              <a:spcAft>
                <a:spcPts val="800"/>
              </a:spcAft>
              <a:defRPr sz="1600" b="0">
                <a:solidFill>
                  <a:srgbClr val="FFFFFF"/>
                </a:solidFill>
                <a:latin typeface="Source Sans Pro"/>
              </a:defRPr>
            </a:pPr>
          </a:p>
          <a:p>
            <a:pPr algn="l">
              <a:spcAft>
                <a:spcPts val="800"/>
              </a:spcAft>
              <a:defRPr sz="1600" b="0">
                <a:solidFill>
                  <a:srgbClr val="FFFFFF"/>
                </a:solidFill>
                <a:latin typeface="Source Sans Pro"/>
              </a:defRPr>
            </a:pPr>
            <a:r>
              <a:t>Secondary colors support and enhance your primary palette. Use them for:</a:t>
            </a:r>
          </a:p>
          <a:p>
            <a:pPr algn="l">
              <a:spcAft>
                <a:spcPts val="800"/>
              </a:spcAft>
              <a:defRPr sz="1600" b="0">
                <a:solidFill>
                  <a:srgbClr val="FFFFFF"/>
                </a:solidFill>
                <a:latin typeface="Source Sans Pro"/>
              </a:defRPr>
            </a:pPr>
          </a:p>
          <a:p>
            <a:pPr algn="l">
              <a:spcAft>
                <a:spcPts val="800"/>
              </a:spcAft>
              <a:defRPr sz="1600" b="0">
                <a:solidFill>
                  <a:srgbClr val="FFFFFF"/>
                </a:solidFill>
                <a:latin typeface="Source Sans Pro"/>
              </a:defRPr>
            </a:pPr>
            <a:r>
              <a:t>• Background elements and subtle accents</a:t>
            </a:r>
          </a:p>
          <a:p>
            <a:pPr algn="l">
              <a:spcAft>
                <a:spcPts val="800"/>
              </a:spcAft>
              <a:defRPr sz="1600" b="0">
                <a:solidFill>
                  <a:srgbClr val="FFFFFF"/>
                </a:solidFill>
                <a:latin typeface="Source Sans Pro"/>
              </a:defRPr>
            </a:pPr>
            <a:r>
              <a:t>• Secondary text and supporting information</a:t>
            </a:r>
          </a:p>
          <a:p>
            <a:pPr algn="l">
              <a:spcAft>
                <a:spcPts val="800"/>
              </a:spcAft>
              <a:defRPr sz="1600" b="0">
                <a:solidFill>
                  <a:srgbClr val="FFFFFF"/>
                </a:solidFill>
                <a:latin typeface="Source Sans Pro"/>
              </a:defRPr>
            </a:pPr>
            <a:r>
              <a:t>• Borders, dividers, and structural elements</a:t>
            </a:r>
          </a:p>
          <a:p>
            <a:pPr algn="l">
              <a:spcAft>
                <a:spcPts val="800"/>
              </a:spcAft>
              <a:defRPr sz="1600" b="0">
                <a:solidFill>
                  <a:srgbClr val="FFFFFF"/>
                </a:solidFill>
                <a:latin typeface="Source Sans Pro"/>
              </a:defRPr>
            </a:pPr>
            <a:r>
              <a:t>• Hover states and interactive feedback</a:t>
            </a:r>
          </a:p>
          <a:p>
            <a:pPr algn="l">
              <a:spcAft>
                <a:spcPts val="800"/>
              </a:spcAft>
              <a:defRPr sz="1600" b="0">
                <a:solidFill>
                  <a:srgbClr val="FFFFFF"/>
                </a:solidFill>
                <a:latin typeface="Source Sans Pro"/>
              </a:defRPr>
            </a:pPr>
            <a:r>
              <a:t>• Icons and decorative elements</a:t>
            </a:r>
          </a:p>
          <a:p>
            <a:pPr algn="l">
              <a:spcAft>
                <a:spcPts val="800"/>
              </a:spcAft>
              <a:defRPr sz="1600" b="0">
                <a:solidFill>
                  <a:srgbClr val="FFFFFF"/>
                </a:solidFill>
                <a:latin typeface="Source Sans Pro"/>
              </a:defRPr>
            </a:pPr>
          </a:p>
          <a:p>
            <a:pPr algn="l">
              <a:spcAft>
                <a:spcPts val="800"/>
              </a:spcAft>
              <a:defRPr sz="1600" b="0">
                <a:solidFill>
                  <a:srgbClr val="FFFFFF"/>
                </a:solidFill>
                <a:latin typeface="Source Sans Pro"/>
              </a:defRPr>
            </a:pPr>
            <a:r>
              <a:t>Secondary Colors: Light Gray, Pale Aqua, Deep Teal, Soft Blue, Slate Gray</a:t>
            </a:r>
          </a:p>
          <a:p>
            <a:pPr algn="l">
              <a:spcAft>
                <a:spcPts val="800"/>
              </a:spcAft>
              <a:defRPr sz="1600" b="0">
                <a:solidFill>
                  <a:srgbClr val="FFFFFF"/>
                </a:solidFill>
                <a:latin typeface="Source Sans Pro"/>
              </a:defRPr>
            </a:pPr>
          </a:p>
          <a:p>
            <a:pPr algn="l">
              <a:spcAft>
                <a:spcPts val="800"/>
              </a:spcAft>
              <a:defRPr sz="1600" b="0">
                <a:solidFill>
                  <a:srgbClr val="FFFFFF"/>
                </a:solidFill>
                <a:latin typeface="Source Sans Pro"/>
              </a:defRPr>
            </a:pPr>
            <a:r>
              <a:t>Best Practices:</a:t>
            </a:r>
          </a:p>
          <a:p>
            <a:pPr algn="l">
              <a:spcAft>
                <a:spcPts val="800"/>
              </a:spcAft>
              <a:defRPr sz="1600" b="0">
                <a:solidFill>
                  <a:srgbClr val="FFFFFF"/>
                </a:solidFill>
                <a:latin typeface="Source Sans Pro"/>
              </a:defRPr>
            </a:pPr>
            <a:r>
              <a:t>- Use to create visual hierarchy and balance</a:t>
            </a:r>
          </a:p>
          <a:p>
            <a:pPr algn="l">
              <a:spcAft>
                <a:spcPts val="800"/>
              </a:spcAft>
              <a:defRPr sz="1600" b="0">
                <a:solidFill>
                  <a:srgbClr val="FFFFFF"/>
                </a:solidFill>
                <a:latin typeface="Source Sans Pro"/>
              </a:defRPr>
            </a:pPr>
            <a:r>
              <a:t>- Apply for backgrounds and supporting elements</a:t>
            </a:r>
          </a:p>
          <a:p>
            <a:pPr algn="l">
              <a:spcAft>
                <a:spcPts val="800"/>
              </a:spcAft>
              <a:defRPr sz="1600" b="0">
                <a:solidFill>
                  <a:srgbClr val="FFFFFF"/>
                </a:solidFill>
                <a:latin typeface="Source Sans Pro"/>
              </a:defRPr>
            </a:pPr>
            <a:r>
              <a:t>- Maintain readability with appropriate contrast</a:t>
            </a:r>
          </a:p>
          <a:p>
            <a:pPr algn="l">
              <a:spcAft>
                <a:spcPts val="800"/>
              </a:spcAft>
              <a:defRPr sz="1600" b="0">
                <a:solidFill>
                  <a:srgbClr val="FFFFFF"/>
                </a:solidFill>
                <a:latin typeface="Source Sans Pro"/>
              </a:defRPr>
            </a:pPr>
            <a:r>
              <a:t>- Use sparingly to avoid overwhelming the design</a:t>
            </a:r>
          </a:p>
          <a:p>
            <a:pPr algn="l">
              <a:spcAft>
                <a:spcPts val="800"/>
              </a:spcAft>
              <a:defRPr sz="1600" b="0">
                <a:solidFill>
                  <a:srgbClr val="FFFFFF"/>
                </a:solidFill>
                <a:latin typeface="Source Sans Pro"/>
              </a:defRPr>
            </a:pPr>
            <a:r>
              <a:t>- Complement, don't compete with primary colors</a:t>
            </a:r>
          </a:p>
        </p:txBody>
      </p:sp>
      <p:cxnSp>
        <p:nvCxnSpPr>
          <p:cNvPr id="3" name="Connector 2"/>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Color Usage 2/2</a:t>
            </a:r>
          </a:p>
        </p:txBody>
      </p:sp>
      <p:sp>
        <p:nvSpPr>
          <p:cNvPr id="5" name="TextBox 4"/>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TechForward Live</a:t>
            </a:r>
          </a:p>
        </p:txBody>
      </p:sp>
      <p:sp>
        <p:nvSpPr>
          <p:cNvPr id="6" name="TextBox 5"/>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FFFFFF"/>
                </a:solidFill>
                <a:latin typeface="Inter"/>
              </a:defRPr>
            </a:pPr>
            <a:r>
              <a:t>Typography</a:t>
            </a:r>
          </a:p>
        </p:txBody>
      </p:sp>
      <p:sp>
        <p:nvSpPr>
          <p:cNvPr id="4" name="TextBox 3"/>
          <p:cNvSpPr txBox="1"/>
          <p:nvPr/>
        </p:nvSpPr>
        <p:spPr>
          <a:xfrm>
            <a:off x="1143000" y="1943100"/>
            <a:ext cx="3429000" cy="742950"/>
          </a:xfrm>
          <a:prstGeom prst="rect">
            <a:avLst/>
          </a:prstGeom>
          <a:noFill/>
        </p:spPr>
        <p:txBody>
          <a:bodyPr wrap="none">
            <a:spAutoFit/>
          </a:bodyPr>
          <a:lstStyle/>
          <a:p>
            <a:pPr>
              <a:defRPr sz="2000" b="0">
                <a:solidFill>
                  <a:srgbClr val="FFFFFF"/>
                </a:solidFill>
                <a:latin typeface="Source Sans Pro"/>
              </a:defRPr>
            </a:pPr>
            <a:r>
              <a:t>Primary Font: Inter</a:t>
            </a:r>
          </a:p>
        </p:txBody>
      </p:sp>
      <p:sp>
        <p:nvSpPr>
          <p:cNvPr id="5" name="TextBox 4"/>
          <p:cNvSpPr txBox="1"/>
          <p:nvPr/>
        </p:nvSpPr>
        <p:spPr>
          <a:xfrm>
            <a:off x="1143000" y="2686050"/>
            <a:ext cx="3429000" cy="742950"/>
          </a:xfrm>
          <a:prstGeom prst="rect">
            <a:avLst/>
          </a:prstGeom>
          <a:noFill/>
        </p:spPr>
        <p:txBody>
          <a:bodyPr wrap="none">
            <a:spAutoFit/>
          </a:bodyPr>
          <a:lstStyle/>
          <a:p>
            <a:pPr>
              <a:defRPr sz="3200" b="1">
                <a:solidFill>
                  <a:srgbClr val="FFFFFF"/>
                </a:solidFill>
                <a:latin typeface="Inter"/>
              </a:defRPr>
            </a:pPr>
            <a:r>
              <a:t>H1 Heading</a:t>
            </a:r>
          </a:p>
        </p:txBody>
      </p:sp>
      <p:sp>
        <p:nvSpPr>
          <p:cNvPr id="6" name="TextBox 5"/>
          <p:cNvSpPr txBox="1"/>
          <p:nvPr/>
        </p:nvSpPr>
        <p:spPr>
          <a:xfrm>
            <a:off x="1143000" y="3429000"/>
            <a:ext cx="3429000" cy="742950"/>
          </a:xfrm>
          <a:prstGeom prst="rect">
            <a:avLst/>
          </a:prstGeom>
          <a:noFill/>
        </p:spPr>
        <p:txBody>
          <a:bodyPr wrap="none">
            <a:spAutoFit/>
          </a:bodyPr>
          <a:lstStyle/>
          <a:p>
            <a:pPr>
              <a:defRPr sz="2400" b="1">
                <a:solidFill>
                  <a:srgbClr val="FFFFFF"/>
                </a:solidFill>
                <a:latin typeface="Inter"/>
              </a:defRPr>
            </a:pPr>
            <a:r>
              <a:t>H2 Heading</a:t>
            </a:r>
          </a:p>
        </p:txBody>
      </p:sp>
      <p:sp>
        <p:nvSpPr>
          <p:cNvPr id="7" name="TextBox 6"/>
          <p:cNvSpPr txBox="1"/>
          <p:nvPr/>
        </p:nvSpPr>
        <p:spPr>
          <a:xfrm>
            <a:off x="1143000" y="4171950"/>
            <a:ext cx="3429000" cy="742950"/>
          </a:xfrm>
          <a:prstGeom prst="rect">
            <a:avLst/>
          </a:prstGeom>
          <a:noFill/>
        </p:spPr>
        <p:txBody>
          <a:bodyPr wrap="none">
            <a:spAutoFit/>
          </a:bodyPr>
          <a:lstStyle/>
          <a:p>
            <a:pPr>
              <a:defRPr sz="2000" b="0">
                <a:solidFill>
                  <a:srgbClr val="FFFFFF"/>
                </a:solidFill>
                <a:latin typeface="Inter"/>
              </a:defRPr>
            </a:pPr>
            <a:r>
              <a:t>H3 Heading</a:t>
            </a:r>
          </a:p>
        </p:txBody>
      </p:sp>
      <p:sp>
        <p:nvSpPr>
          <p:cNvPr id="8" name="TextBox 7"/>
          <p:cNvSpPr txBox="1"/>
          <p:nvPr/>
        </p:nvSpPr>
        <p:spPr>
          <a:xfrm>
            <a:off x="5257800" y="1943100"/>
            <a:ext cx="3429000" cy="742950"/>
          </a:xfrm>
          <a:prstGeom prst="rect">
            <a:avLst/>
          </a:prstGeom>
          <a:noFill/>
        </p:spPr>
        <p:txBody>
          <a:bodyPr wrap="none">
            <a:spAutoFit/>
          </a:bodyPr>
          <a:lstStyle/>
          <a:p>
            <a:pPr>
              <a:defRPr sz="2000" b="0">
                <a:solidFill>
                  <a:srgbClr val="FFFFFF"/>
                </a:solidFill>
                <a:latin typeface="Source Sans Pro"/>
              </a:defRPr>
            </a:pPr>
            <a:r>
              <a:t>Secondary Font: Source Sans Pro</a:t>
            </a:r>
          </a:p>
        </p:txBody>
      </p:sp>
      <p:sp>
        <p:nvSpPr>
          <p:cNvPr id="9" name="TextBox 8"/>
          <p:cNvSpPr txBox="1"/>
          <p:nvPr/>
        </p:nvSpPr>
        <p:spPr>
          <a:xfrm>
            <a:off x="5257800" y="2686050"/>
            <a:ext cx="3429000" cy="742950"/>
          </a:xfrm>
          <a:prstGeom prst="rect">
            <a:avLst/>
          </a:prstGeom>
          <a:noFill/>
        </p:spPr>
        <p:txBody>
          <a:bodyPr wrap="none">
            <a:spAutoFit/>
          </a:bodyPr>
          <a:lstStyle/>
          <a:p>
            <a:pPr>
              <a:defRPr sz="1600" b="0">
                <a:solidFill>
                  <a:srgbClr val="FFFFFF"/>
                </a:solidFill>
                <a:latin typeface="Source Sans Pro"/>
              </a:defRPr>
            </a:pPr>
            <a:r>
              <a:t>Body Text</a:t>
            </a:r>
          </a:p>
        </p:txBody>
      </p:sp>
      <p:sp>
        <p:nvSpPr>
          <p:cNvPr id="10" name="TextBox 9"/>
          <p:cNvSpPr txBox="1"/>
          <p:nvPr/>
        </p:nvSpPr>
        <p:spPr>
          <a:xfrm>
            <a:off x="5257800" y="3429000"/>
            <a:ext cx="3429000" cy="742950"/>
          </a:xfrm>
          <a:prstGeom prst="rect">
            <a:avLst/>
          </a:prstGeom>
          <a:noFill/>
        </p:spPr>
        <p:txBody>
          <a:bodyPr wrap="none">
            <a:spAutoFit/>
          </a:bodyPr>
          <a:lstStyle/>
          <a:p>
            <a:pPr>
              <a:defRPr sz="1600" b="1">
                <a:solidFill>
                  <a:srgbClr val="FFFFFF"/>
                </a:solidFill>
                <a:latin typeface="Source Sans Pro"/>
              </a:defRPr>
            </a:pPr>
            <a:r>
              <a:t>Body Bold</a:t>
            </a:r>
          </a:p>
        </p:txBody>
      </p:sp>
      <p:sp>
        <p:nvSpPr>
          <p:cNvPr id="11" name="TextBox 10"/>
          <p:cNvSpPr txBox="1"/>
          <p:nvPr/>
        </p:nvSpPr>
        <p:spPr>
          <a:xfrm>
            <a:off x="5257800" y="4171950"/>
            <a:ext cx="3429000" cy="742950"/>
          </a:xfrm>
          <a:prstGeom prst="rect">
            <a:avLst/>
          </a:prstGeom>
          <a:noFill/>
        </p:spPr>
        <p:txBody>
          <a:bodyPr wrap="none">
            <a:spAutoFit/>
          </a:bodyPr>
          <a:lstStyle/>
          <a:p>
            <a:pPr>
              <a:defRPr sz="1200" b="0">
                <a:solidFill>
                  <a:srgbClr val="FFFFFF"/>
                </a:solidFill>
                <a:latin typeface="Source Sans Pro"/>
              </a:defRPr>
            </a:pPr>
            <a:r>
              <a:t>Caption Text</a:t>
            </a:r>
          </a:p>
        </p:txBody>
      </p:sp>
      <p:sp>
        <p:nvSpPr>
          <p:cNvPr id="12" name="TextBox 11"/>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TechForward Live</a:t>
            </a:r>
          </a:p>
        </p:txBody>
      </p:sp>
      <p:sp>
        <p:nvSpPr>
          <p:cNvPr id="13" name="TextBox 12"/>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FFFFFF"/>
                </a:solidFill>
                <a:latin typeface="Inter"/>
              </a:defRPr>
            </a:pPr>
            <a:r>
              <a:t>Visual &amp; Photography Guidelines</a:t>
            </a:r>
          </a:p>
        </p:txBody>
      </p:sp>
      <p:sp>
        <p:nvSpPr>
          <p:cNvPr id="4" name="TextBox 3"/>
          <p:cNvSpPr txBox="1"/>
          <p:nvPr/>
        </p:nvSpPr>
        <p:spPr>
          <a:xfrm>
            <a:off x="1143000" y="1943100"/>
            <a:ext cx="3429000" cy="2971800"/>
          </a:xfrm>
          <a:prstGeom prst="rect">
            <a:avLst/>
          </a:prstGeom>
          <a:noFill/>
        </p:spPr>
        <p:txBody>
          <a:bodyPr wrap="square">
            <a:spAutoFit/>
          </a:bodyPr>
          <a:lstStyle/>
          <a:p>
            <a:pPr>
              <a:defRPr sz="1800" b="0">
                <a:solidFill>
                  <a:srgbClr val="FFFFFF"/>
                </a:solidFill>
                <a:latin typeface="Source Sans Pro"/>
              </a:defRPr>
            </a:pPr>
            <a:r>
              <a:t>Visual Style Guidelines:</a:t>
            </a:r>
          </a:p>
          <a:p>
            <a:pPr>
              <a:defRPr sz="1400" b="0">
                <a:solidFill>
                  <a:srgbClr val="FFFFFF"/>
                </a:solidFill>
                <a:latin typeface="Source Sans Pro"/>
              </a:defRPr>
            </a:pPr>
            <a:r>
              <a:t>• Modern</a:t>
            </a:r>
          </a:p>
          <a:p>
            <a:pPr>
              <a:defRPr sz="1400" b="0">
                <a:solidFill>
                  <a:srgbClr val="FFFFFF"/>
                </a:solidFill>
                <a:latin typeface="Source Sans Pro"/>
              </a:defRPr>
            </a:pPr>
            <a:r>
              <a:t>• clean</a:t>
            </a:r>
          </a:p>
          <a:p>
            <a:pPr>
              <a:defRPr sz="1400" b="0">
                <a:solidFill>
                  <a:srgbClr val="FFFFFF"/>
                </a:solidFill>
                <a:latin typeface="Source Sans Pro"/>
              </a:defRPr>
            </a:pPr>
            <a:r>
              <a:t>• professional</a:t>
            </a:r>
          </a:p>
          <a:p>
            <a:pPr>
              <a:defRPr sz="1400" b="0">
                <a:solidFill>
                  <a:srgbClr val="FFFFFF"/>
                </a:solidFill>
                <a:latin typeface="Source Sans Pro"/>
              </a:defRPr>
            </a:pPr>
            <a:r>
              <a:t>• minimalist</a:t>
            </a:r>
          </a:p>
          <a:p>
            <a:pPr>
              <a:defRPr sz="1400" b="0">
                <a:solidFill>
                  <a:srgbClr val="FFFFFF"/>
                </a:solidFill>
                <a:latin typeface="Source Sans Pro"/>
              </a:defRPr>
            </a:pPr>
            <a:r>
              <a:t>• bold typography</a:t>
            </a:r>
          </a:p>
        </p:txBody>
      </p:sp>
      <p:sp>
        <p:nvSpPr>
          <p:cNvPr id="5" name="TextBox 4"/>
          <p:cNvSpPr txBox="1"/>
          <p:nvPr/>
        </p:nvSpPr>
        <p:spPr>
          <a:xfrm>
            <a:off x="5257800" y="1943100"/>
            <a:ext cx="3429000" cy="2971800"/>
          </a:xfrm>
          <a:prstGeom prst="rect">
            <a:avLst/>
          </a:prstGeom>
          <a:noFill/>
        </p:spPr>
        <p:txBody>
          <a:bodyPr wrap="square">
            <a:spAutoFit/>
          </a:bodyPr>
          <a:lstStyle/>
          <a:p>
            <a:pPr>
              <a:defRPr sz="1800" b="0">
                <a:solidFill>
                  <a:srgbClr val="FFFFFF"/>
                </a:solidFill>
                <a:latin typeface="Source Sans Pro"/>
              </a:defRPr>
            </a:pPr>
            <a:r>
              <a:t>Photography Guidelines:</a:t>
            </a:r>
          </a:p>
          <a:p>
            <a:pPr>
              <a:defRPr sz="1400" b="0">
                <a:solidFill>
                  <a:srgbClr val="FFFFFF"/>
                </a:solidFill>
                <a:latin typeface="Source Sans Pro"/>
              </a:defRPr>
            </a:pPr>
            <a:r>
              <a:t>• High contrast</a:t>
            </a:r>
          </a:p>
          <a:p>
            <a:pPr>
              <a:defRPr sz="1400" b="0">
                <a:solidFill>
                  <a:srgbClr val="FFFFFF"/>
                </a:solidFill>
                <a:latin typeface="Source Sans Pro"/>
              </a:defRPr>
            </a:pPr>
            <a:r>
              <a:t>• authentic moments</a:t>
            </a:r>
          </a:p>
          <a:p>
            <a:pPr>
              <a:defRPr sz="1400" b="0">
                <a:solidFill>
                  <a:srgbClr val="FFFFFF"/>
                </a:solidFill>
                <a:latin typeface="Source Sans Pro"/>
              </a:defRPr>
            </a:pPr>
            <a:r>
              <a:t>• natural lighting</a:t>
            </a:r>
          </a:p>
        </p:txBody>
      </p:sp>
      <p:sp>
        <p:nvSpPr>
          <p:cNvPr id="6" name="Rectangle 5"/>
          <p:cNvSpPr/>
          <p:nvPr/>
        </p:nvSpPr>
        <p:spPr>
          <a:xfrm>
            <a:off x="52578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8" name="Rectangle 7"/>
          <p:cNvSpPr/>
          <p:nvPr/>
        </p:nvSpPr>
        <p:spPr>
          <a:xfrm>
            <a:off x="66294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10" name="Rectangle 9"/>
          <p:cNvSpPr/>
          <p:nvPr/>
        </p:nvSpPr>
        <p:spPr>
          <a:xfrm>
            <a:off x="80010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12" name="TextBox 11"/>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TechForward Live</a:t>
            </a:r>
          </a:p>
        </p:txBody>
      </p:sp>
      <p:sp>
        <p:nvSpPr>
          <p:cNvPr id="13" name="TextBox 12"/>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