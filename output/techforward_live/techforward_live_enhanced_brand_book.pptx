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171950"/>
            <a:ext cx="27432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Inter"/>
              </a:defRPr>
            </a:pPr>
            <a:r>
              <a:t>TechForward Live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6629400.0" y="5657850.0"/>
            <a:ext cx="2057400.0" cy="0.0"/>
          </a:xfrm>
          <a:prstGeom prst="line">
            <a:avLst/>
          </a:prstGeom>
          <a:ln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6629400" y="5657850"/>
            <a:ext cx="2057400" cy="14859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Brand Identity 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2743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2E86AB"/>
                </a:solidFill>
                <a:latin typeface="Inter"/>
              </a:defRPr>
            </a:pPr>
            <a:r>
              <a:t>INDEX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1097280"/>
            <a:ext cx="8229600" cy="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5720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Introduction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33171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74320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Purpose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331719" y="21671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20574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603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Story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31719" y="26700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2743200" y="25603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Logo Variations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4923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76072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Logo 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Clear Space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Usage Guidelines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274320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Brand Colors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349239" y="285292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760720" y="274320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31089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Primary Colors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33375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Secondary Colors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356616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Color Usage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93192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Typography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349239" y="404164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760720" y="393192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42976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Brand Font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45262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Font Usage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475488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Text Hierarchy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554480"/>
            <a:ext cx="182880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ource Sans Pro"/>
              </a:defRPr>
            </a:pPr>
            <a:r>
              <a:t>Visual Guidelines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66759" y="1664208"/>
            <a:ext cx="365760" cy="0"/>
          </a:xfrm>
          <a:prstGeom prst="line">
            <a:avLst/>
          </a:prstGeom>
          <a:ln w="1905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778240" y="1554480"/>
            <a:ext cx="274320" cy="27432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1200" b="1">
                <a:solidFill>
                  <a:srgbClr val="2E86AB"/>
                </a:solidFill>
                <a:latin typeface="Source Sans Pro"/>
              </a:defRPr>
            </a:pPr>
            <a: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19202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Visual Style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21488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Photography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2377440"/>
            <a:ext cx="1828800" cy="228600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pPr>
              <a:defRPr sz="900" b="0">
                <a:solidFill>
                  <a:srgbClr val="CCCCCC"/>
                </a:solidFill>
                <a:latin typeface="Source Sans Pro"/>
              </a:defRPr>
            </a:pPr>
            <a:r>
              <a:t>Imagery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00100" y="1051560"/>
            <a:ext cx="6858000" cy="2971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The following brand identity system for TechForward Live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is thoughtfully crafted to present our brand in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 international, engaging, consistent, recognisable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and proprietary way. Unique in form, versatile in its</a:t>
            </a:r>
          </a:p>
          <a:p>
            <a:pPr algn="l">
              <a:spcAft>
                <a:spcPts val="800"/>
              </a:spcAft>
              <a:defRPr sz="2000" b="0">
                <a:solidFill>
                  <a:srgbClr val="FFFFFF"/>
                </a:solidFill>
                <a:latin typeface="Source Sans Pro"/>
              </a:defRPr>
            </a:pPr>
            <a:r>
              <a:t>application and unified by a fundamental principle.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57200" y="4914900.0"/>
            <a:ext cx="8229600" cy="0.0"/>
          </a:xfrm>
          <a:prstGeom prst="line">
            <a:avLst/>
          </a:prstGeom>
          <a:ln w="25400">
            <a:solidFill>
              <a:srgbClr val="2E86A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00100" y="5189220"/>
            <a:ext cx="3657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800" b="1">
                <a:solidFill>
                  <a:srgbClr val="2E86AB"/>
                </a:solidFill>
                <a:latin typeface="Inter"/>
              </a:defRPr>
            </a:pPr>
            <a:r>
              <a:t>INTRODUCTION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Purpose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1943100"/>
            <a:ext cx="5486400" cy="3714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E86AB"/>
                </a:solidFill>
                <a:latin typeface="Source Sans Pro"/>
              </a:defRPr>
            </a:pPr>
            <a:r>
              <a:t>Our Purpose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Vision: We bridge the gap between complex technology and intuitive user experiences through human-centered design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Mission: Technology that enhances human potential without adding complexity to your workflow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Core Values: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Innovation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Simplicity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Human-Centered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Excellence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Trust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  <a:r>
              <a:t>• Reliability</a:t>
            </a:r>
          </a:p>
          <a:p>
            <a:pPr>
              <a:defRPr sz="1600" b="0">
                <a:solidFill>
                  <a:srgbClr val="FFFFFF"/>
                </a:solidFill>
                <a:latin typeface="Source Sans Pro"/>
              </a:defRPr>
            </a:p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Brand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6858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We revolutionize technology through innovative design and human-centered solutions that empower businesses to achieve their digital transformation goals.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Color 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1143000" y="1943100"/>
            <a:ext cx="2057400" cy="1485900"/>
          </a:xfrm>
          <a:prstGeom prst="rect">
            <a:avLst/>
          </a:prstGeom>
          <a:solidFill>
            <a:srgbClr val="2E86AB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Primary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#2E86AB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RGB(46, 134, 171)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CMYK(73, 21, 0, 32)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6" name="Rectangle 5"/>
          <p:cNvSpPr/>
          <p:nvPr/>
        </p:nvSpPr>
        <p:spPr>
          <a:xfrm>
            <a:off x="3886200" y="1943100"/>
            <a:ext cx="2057400" cy="1485900"/>
          </a:xfrm>
          <a:prstGeom prst="rect">
            <a:avLst/>
          </a:prstGeom>
          <a:solidFill>
            <a:srgbClr val="A23B72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862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Secondary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#A23B72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RGB(162, 59, 114)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63, 29, 36)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Light 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1943100"/>
            <a:ext cx="2057400" cy="1485900"/>
          </a:xfrm>
          <a:prstGeom prst="rect">
            <a:avLst/>
          </a:prstGeom>
          <a:solidFill>
            <a:srgbClr val="F18F01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3429000"/>
            <a:ext cx="2057400" cy="1485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Accent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#F18F01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RGB(241, 143, 1)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CMYK(0, 40, 99, 5)</a:t>
            </a:r>
          </a:p>
          <a:p>
            <a:pPr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Use Dark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Typography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Primary Font: Inter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H1 Heading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86AB"/>
                </a:solidFill>
                <a:latin typeface="Inter"/>
              </a:defRPr>
            </a:pPr>
            <a:r>
              <a:t>H2 Heading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Inter"/>
              </a:defRPr>
            </a:pPr>
            <a:r>
              <a:t>H3 Heading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431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0">
                <a:solidFill>
                  <a:srgbClr val="2E86AB"/>
                </a:solidFill>
                <a:latin typeface="Source Sans Pro"/>
              </a:defRPr>
            </a:pPr>
            <a:r>
              <a:t>Secondary Font: Source Sans Pro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7800" y="26860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0">
                <a:solidFill>
                  <a:srgbClr val="2E86AB"/>
                </a:solidFill>
                <a:latin typeface="Source Sans Pro"/>
              </a:defRPr>
            </a:pPr>
            <a:r>
              <a:t>Body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57800" y="342900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86AB"/>
                </a:solidFill>
                <a:latin typeface="Source Sans Pro"/>
              </a:defRPr>
            </a:pPr>
            <a:r>
              <a:t>Body Bold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4171950"/>
            <a:ext cx="3429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2E86AB"/>
                </a:solidFill>
                <a:latin typeface="Source Sans Pro"/>
              </a:defRPr>
            </a:pPr>
            <a:r>
              <a:t>Caption 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Pr/>
      <p:sp>
        <p:nvSpPr>
          <p:cNvPr id="3" name="TextBox 2"/>
          <p:cNvSpPr txBox="1"/>
          <p:nvPr/>
        </p:nvSpPr>
        <p:spPr>
          <a:xfrm>
            <a:off x="1143000" y="457200"/>
            <a:ext cx="68580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86AB"/>
                </a:solidFill>
                <a:latin typeface="Inter"/>
              </a:defRPr>
            </a:pPr>
            <a:r>
              <a:t>Visual &amp; Photography Guidelines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Visual Style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Modern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clean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professional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minimalist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bold typography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57800" y="1943100"/>
            <a:ext cx="342900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2E86AB"/>
                </a:solidFill>
                <a:latin typeface="Source Sans Pro"/>
              </a:defRPr>
            </a:pPr>
            <a:r>
              <a:t>Photography Guidelines: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High contrast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authentic moments</a:t>
            </a:r>
          </a:p>
          <a:p>
            <a:pPr>
              <a:defRPr sz="1400" b="0">
                <a:solidFill>
                  <a:srgbClr val="2E86AB"/>
                </a:solidFill>
                <a:latin typeface="Source Sans Pro"/>
              </a:defRPr>
            </a:pPr>
            <a:r>
              <a:t>• natural lighting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2578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578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6294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1000" y="4914900"/>
            <a:ext cx="685800" cy="742950"/>
          </a:xfrm>
          <a:prstGeom prst="rect">
            <a:avLst/>
          </a:prstGeom>
          <a:solidFill>
            <a:srgbClr val="404040"/>
          </a:solidFill>
          <a:ln w="1270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5162550"/>
            <a:ext cx="685800" cy="2476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2E86AB"/>
                </a:solidFill>
                <a:latin typeface="Source Sans Pro"/>
              </a:defRPr>
            </a:pPr>
            <a:r>
              <a:t>Example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TechForward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657850"/>
            <a:ext cx="4114800" cy="7429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2E86AB"/>
                </a:solidFill>
                <a:latin typeface="Source Sans Pro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