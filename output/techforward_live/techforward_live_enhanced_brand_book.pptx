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Connector 1"/>
          <p:cNvCxnSpPr/>
          <p:nvPr/>
        </p:nvCxnSpPr>
        <p:spPr>
          <a:xfrm>
            <a:off x="6629400.0" y="5657850.0"/>
            <a:ext cx="2057400.0" cy="0.0"/>
          </a:xfrm>
          <a:prstGeom prst="line">
            <a:avLst/>
          </a:prstGeom>
          <a:ln>
            <a:solidFill>
              <a:srgbClr val="2E86AB"/>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629400" y="5657850"/>
            <a:ext cx="2057400" cy="1485900"/>
          </a:xfrm>
          <a:prstGeom prst="rect">
            <a:avLst/>
          </a:prstGeom>
          <a:noFill/>
        </p:spPr>
        <p:txBody>
          <a:bodyPr wrap="none" anchor="ctr">
            <a:spAutoFit/>
          </a:bodyPr>
          <a:lstStyle/>
          <a:p>
            <a:pPr algn="ctr">
              <a:defRPr sz="1800" b="0">
                <a:solidFill>
                  <a:srgbClr val="2E86AB"/>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2E86AB"/>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2E86AB"/>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2E86AB"/>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2E86AB"/>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2E86AB"/>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2E86AB"/>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2E86AB"/>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2E86AB"/>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2E86AB"/>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FFFFFF"/>
                </a:solidFill>
                <a:latin typeface="Source Sans Pro"/>
              </a:defRPr>
            </a:pPr>
            <a:r>
              <a:t>Imagery &amp; Visuals</a:t>
            </a:r>
          </a:p>
        </p:txBody>
      </p:sp>
      <p:cxnSp>
        <p:nvCxnSpPr>
          <p:cNvPr id="39" name="Connector 38"/>
          <p:cNvCxnSpPr/>
          <p:nvPr/>
        </p:nvCxnSpPr>
        <p:spPr>
          <a:xfrm>
            <a:off x="8366759" y="42702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2E86AB"/>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Source Sans Pro"/>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Source Sans Pro"/>
              </a:defRPr>
            </a:pPr>
            <a:r>
              <a:t>Illustrations</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Source Sans Pro"/>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TechForward Live's brand identity system presentation, where we unveil our strategic framework for ensuring an international, engaging, consistent, recognizable, and proprietary brand presentation. Rooted in our core values of innovation, simplicity, and human-centered design, this system embodies our unique approach to bridging the gap between complex technology and intuitive user experiences.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2E86AB"/>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TechForward Live, our vision is to empower progressive businesses with transformative digital solutions that propel them towards a future where technology seamlessly enhances human potential. We aspire to be the catalyst for innovation and digital evolution, inspiring our clients to embrace cutting-edge technologies without the burden of complexity, ultimately shaping a more efficient and human-centric digital landscape.</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Our mission at TechForward Live is to revolutionize the Technology &amp; Digital Solutions industry by bridging the gap between intricate technology and intuitive user experiences. We are dedicated to crafting solutions that simplify complex digital processes, enabling our clients to unlock their full potential and drive meaningful innovation in their respective fields. Through our human-centered design approach, we strive to make technology accessible, reliable, and progressive for businesses seeking transformation.</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Innovation is the heartbeat of our organization, driving us to constantly push boundaries and pioneer new solutions. We believe in the power of Simplicity to streamline processes and enhance user experiences. At the core of our operations is a Human-Centered approach, ensuring that technology always serves people first. Our commitment to Excellence guarantees that every solution we deliver is of the highest standard. Trust is the foundation of our relationships, built on reliability and transparency in all our interactions. Together, these values form the ethos of TechForward Live, guiding us in our quest to redefine the digital landscape for progressive businesses seeking innovation and transformation.</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 revolutionize technology through innovative design and human-centered solutions that empower businesses to achieve their digital transformation goals.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2E86A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Primary Blue</a:t>
            </a:r>
          </a:p>
          <a:p>
            <a:pPr algn="l">
              <a:spcAft>
                <a:spcPts val="300"/>
              </a:spcAft>
              <a:defRPr sz="1000" b="0">
                <a:solidFill>
                  <a:srgbClr val="FFFFFF"/>
                </a:solidFill>
                <a:latin typeface="Source Sans Pro"/>
              </a:defRPr>
            </a:pPr>
            <a:r>
              <a:t>#2E86AB</a:t>
            </a:r>
          </a:p>
          <a:p>
            <a:pPr algn="l">
              <a:spcAft>
                <a:spcPts val="300"/>
              </a:spcAft>
              <a:defRPr sz="1000" b="0">
                <a:solidFill>
                  <a:srgbClr val="FFFFFF"/>
                </a:solidFill>
                <a:latin typeface="Source Sans Pro"/>
              </a:defRPr>
            </a:pPr>
            <a:r>
              <a:t>RGB(46, 134, 171)</a:t>
            </a:r>
          </a:p>
          <a:p>
            <a:pPr algn="l">
              <a:spcAft>
                <a:spcPts val="300"/>
              </a:spcAft>
              <a:defRPr sz="1000" b="0">
                <a:solidFill>
                  <a:srgbClr val="FFFFFF"/>
                </a:solidFill>
                <a:latin typeface="Source Sans Pro"/>
              </a:defRPr>
            </a:pPr>
            <a:r>
              <a:t>CMYK(73, 21, 0, 32)</a:t>
            </a:r>
          </a:p>
          <a:p>
            <a:pPr algn="l">
              <a:spcAft>
                <a:spcPts val="300"/>
              </a:spcAft>
              <a:defRPr sz="1000" b="0">
                <a:solidFill>
                  <a:srgbClr val="FFFFFF"/>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24A19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Accent Teal</a:t>
            </a:r>
          </a:p>
          <a:p>
            <a:pPr algn="l">
              <a:spcAft>
                <a:spcPts val="300"/>
              </a:spcAft>
              <a:defRPr sz="1000" b="0">
                <a:solidFill>
                  <a:srgbClr val="FFFFFF"/>
                </a:solidFill>
                <a:latin typeface="Source Sans Pro"/>
              </a:defRPr>
            </a:pPr>
            <a:r>
              <a:t>#24A19C</a:t>
            </a:r>
          </a:p>
          <a:p>
            <a:pPr algn="l">
              <a:spcAft>
                <a:spcPts val="300"/>
              </a:spcAft>
              <a:defRPr sz="1000" b="0">
                <a:solidFill>
                  <a:srgbClr val="FFFFFF"/>
                </a:solidFill>
                <a:latin typeface="Source Sans Pro"/>
              </a:defRPr>
            </a:pPr>
            <a:r>
              <a:t>RGB(36, 161, 156)</a:t>
            </a:r>
          </a:p>
          <a:p>
            <a:pPr algn="l">
              <a:spcAft>
                <a:spcPts val="300"/>
              </a:spcAft>
              <a:defRPr sz="1000" b="0">
                <a:solidFill>
                  <a:srgbClr val="FFFFFF"/>
                </a:solidFill>
                <a:latin typeface="Source Sans Pro"/>
              </a:defRPr>
            </a:pPr>
            <a:r>
              <a:t>CMYK(77, 0, 3, 36)</a:t>
            </a:r>
          </a:p>
          <a:p>
            <a:pPr algn="l">
              <a:spcAft>
                <a:spcPts val="300"/>
              </a:spcAft>
              <a:defRPr sz="1000" b="0">
                <a:solidFill>
                  <a:srgbClr val="FFFFFF"/>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1B365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Deep Navy</a:t>
            </a:r>
          </a:p>
          <a:p>
            <a:pPr algn="l">
              <a:spcAft>
                <a:spcPts val="300"/>
              </a:spcAft>
              <a:defRPr sz="1000" b="0">
                <a:solidFill>
                  <a:srgbClr val="FFFFFF"/>
                </a:solidFill>
                <a:latin typeface="Source Sans Pro"/>
              </a:defRPr>
            </a:pPr>
            <a:r>
              <a:t>#1B365D</a:t>
            </a:r>
          </a:p>
          <a:p>
            <a:pPr algn="l">
              <a:spcAft>
                <a:spcPts val="300"/>
              </a:spcAft>
              <a:defRPr sz="1000" b="0">
                <a:solidFill>
                  <a:srgbClr val="FFFFFF"/>
                </a:solidFill>
                <a:latin typeface="Source Sans Pro"/>
              </a:defRPr>
            </a:pPr>
            <a:r>
              <a:t>RGB(27, 54, 93)</a:t>
            </a:r>
          </a:p>
          <a:p>
            <a:pPr algn="l">
              <a:spcAft>
                <a:spcPts val="300"/>
              </a:spcAft>
              <a:defRPr sz="1000" b="0">
                <a:solidFill>
                  <a:srgbClr val="FFFFFF"/>
                </a:solidFill>
                <a:latin typeface="Source Sans Pro"/>
              </a:defRPr>
            </a:pPr>
            <a:r>
              <a:t>CMYK(70, 41, 0, 63)</a:t>
            </a:r>
          </a:p>
          <a:p>
            <a:pPr algn="l">
              <a:spcAft>
                <a:spcPts val="300"/>
              </a:spcAft>
              <a:defRPr sz="1000" b="0">
                <a:solidFill>
                  <a:srgbClr val="FFFFFF"/>
                </a:solidFill>
                <a:latin typeface="Source Sans Pro"/>
              </a:defRPr>
            </a:pPr>
            <a:r>
              <a:t>Use Light Text</a:t>
            </a:r>
          </a:p>
        </p:txBody>
      </p:sp>
      <p:cxnSp>
        <p:nvCxnSpPr>
          <p:cNvPr id="8" name="Connector 7"/>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Primary Colors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Light Gray</a:t>
            </a:r>
          </a:p>
          <a:p>
            <a:pPr algn="ctr">
              <a:spcAft>
                <a:spcPts val="300"/>
              </a:spcAft>
              <a:defRPr sz="1000" b="0">
                <a:solidFill>
                  <a:srgbClr val="FFFFFF"/>
                </a:solidFill>
                <a:latin typeface="Source Sans Pro"/>
              </a:defRPr>
            </a:pPr>
            <a:r>
              <a:t>#F8F9FA</a:t>
            </a:r>
          </a:p>
          <a:p>
            <a:pPr algn="ctr">
              <a:spcAft>
                <a:spcPts val="300"/>
              </a:spcAft>
              <a:defRPr sz="1000" b="0">
                <a:solidFill>
                  <a:srgbClr val="FFFFFF"/>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7AD0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Mint Green</a:t>
            </a:r>
          </a:p>
          <a:p>
            <a:pPr algn="ctr">
              <a:spcAft>
                <a:spcPts val="300"/>
              </a:spcAft>
              <a:defRPr sz="1000" b="0">
                <a:solidFill>
                  <a:srgbClr val="FFFFFF"/>
                </a:solidFill>
                <a:latin typeface="Source Sans Pro"/>
              </a:defRPr>
            </a:pPr>
            <a:r>
              <a:t>#7AD08D</a:t>
            </a:r>
          </a:p>
          <a:p>
            <a:pPr algn="ctr">
              <a:spcAft>
                <a:spcPts val="300"/>
              </a:spcAft>
              <a:defRPr sz="1000" b="0">
                <a:solidFill>
                  <a:srgbClr val="FFFFFF"/>
                </a:solidFill>
                <a:latin typeface="Source Sans Pro"/>
              </a:defRPr>
            </a:pPr>
            <a:r>
              <a:t>Use Dark Text</a:t>
            </a:r>
          </a:p>
        </p:txBody>
      </p:sp>
      <p:sp>
        <p:nvSpPr>
          <p:cNvPr id="6" name="Rectangle 5"/>
          <p:cNvSpPr/>
          <p:nvPr/>
        </p:nvSpPr>
        <p:spPr>
          <a:xfrm>
            <a:off x="5257800" y="1571625"/>
            <a:ext cx="1828800" cy="914400"/>
          </a:xfrm>
          <a:prstGeom prst="rect">
            <a:avLst/>
          </a:prstGeom>
          <a:solidFill>
            <a:srgbClr val="E6AF2E"/>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Goldenrod</a:t>
            </a:r>
          </a:p>
          <a:p>
            <a:pPr algn="ctr">
              <a:spcAft>
                <a:spcPts val="300"/>
              </a:spcAft>
              <a:defRPr sz="1000" b="0">
                <a:solidFill>
                  <a:srgbClr val="FFFFFF"/>
                </a:solidFill>
                <a:latin typeface="Source Sans Pro"/>
              </a:defRPr>
            </a:pPr>
            <a:r>
              <a:t>#E6AF2E</a:t>
            </a:r>
          </a:p>
          <a:p>
            <a:pPr algn="ctr">
              <a:spcAft>
                <a:spcPts val="300"/>
              </a:spcAft>
              <a:defRPr sz="1000" b="0">
                <a:solidFill>
                  <a:srgbClr val="FFFFFF"/>
                </a:solidFill>
                <a:latin typeface="Source Sans Pro"/>
              </a:defRPr>
            </a:pPr>
            <a:r>
              <a:t>Use Dark Text</a:t>
            </a:r>
          </a:p>
        </p:txBody>
      </p:sp>
      <p:sp>
        <p:nvSpPr>
          <p:cNvPr id="8" name="Rectangle 7"/>
          <p:cNvSpPr/>
          <p:nvPr/>
        </p:nvSpPr>
        <p:spPr>
          <a:xfrm>
            <a:off x="2171700" y="3429000"/>
            <a:ext cx="1828800" cy="914400"/>
          </a:xfrm>
          <a:prstGeom prst="rect">
            <a:avLst/>
          </a:prstGeom>
          <a:solidFill>
            <a:srgbClr val="5E81A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Slate Blue</a:t>
            </a:r>
          </a:p>
          <a:p>
            <a:pPr algn="ctr">
              <a:spcAft>
                <a:spcPts val="300"/>
              </a:spcAft>
              <a:defRPr sz="1000" b="0">
                <a:solidFill>
                  <a:srgbClr val="FFFFFF"/>
                </a:solidFill>
                <a:latin typeface="Source Sans Pro"/>
              </a:defRPr>
            </a:pPr>
            <a:r>
              <a:t>#5E81AC</a:t>
            </a:r>
          </a:p>
          <a:p>
            <a:pPr algn="ctr">
              <a:spcAft>
                <a:spcPts val="300"/>
              </a:spcAft>
              <a:defRPr sz="1000" b="0">
                <a:solidFill>
                  <a:srgbClr val="FFFFFF"/>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D993B3"/>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Dusty Pink</a:t>
            </a:r>
          </a:p>
          <a:p>
            <a:pPr algn="ctr">
              <a:spcAft>
                <a:spcPts val="300"/>
              </a:spcAft>
              <a:defRPr sz="1000" b="0">
                <a:solidFill>
                  <a:srgbClr val="FFFFFF"/>
                </a:solidFill>
                <a:latin typeface="Source Sans Pro"/>
              </a:defRPr>
            </a:pPr>
            <a:r>
              <a:t>#D993B3</a:t>
            </a:r>
          </a:p>
          <a:p>
            <a:pPr algn="ctr">
              <a:spcAft>
                <a:spcPts val="300"/>
              </a:spcAft>
              <a:defRPr sz="1000" b="0">
                <a:solidFill>
                  <a:srgbClr val="FFFFFF"/>
                </a:solidFill>
                <a:latin typeface="Source Sans Pro"/>
              </a:defRPr>
            </a:pPr>
            <a:r>
              <a:t>Use Dark Text</a:t>
            </a:r>
          </a:p>
        </p:txBody>
      </p:sp>
      <p:cxnSp>
        <p:nvCxnSpPr>
          <p:cNvPr id="12" name="Connector 11"/>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Secondary Colors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Primary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brand-critical elements:</a:t>
            </a:r>
          </a:p>
          <a:p>
            <a:pPr algn="l">
              <a:spcAft>
                <a:spcPts val="600"/>
              </a:spcAft>
              <a:defRPr sz="1400" b="0">
                <a:solidFill>
                  <a:srgbClr val="FFFFFF"/>
                </a:solidFill>
                <a:latin typeface="Source Sans Pro"/>
              </a:defRPr>
            </a:pPr>
            <a:r>
              <a:t>• Logos and main brand marks</a:t>
            </a:r>
          </a:p>
          <a:p>
            <a:pPr algn="l">
              <a:spcAft>
                <a:spcPts val="600"/>
              </a:spcAft>
              <a:defRPr sz="1400" b="0">
                <a:solidFill>
                  <a:srgbClr val="FFFFFF"/>
                </a:solidFill>
                <a:latin typeface="Source Sans Pro"/>
              </a:defRPr>
            </a:pPr>
            <a:r>
              <a:t>• Headlines and key text</a:t>
            </a:r>
          </a:p>
          <a:p>
            <a:pPr algn="l">
              <a:spcAft>
                <a:spcPts val="600"/>
              </a:spcAft>
              <a:defRPr sz="1400" b="0">
                <a:solidFill>
                  <a:srgbClr val="FFFFFF"/>
                </a:solidFill>
                <a:latin typeface="Source Sans Pro"/>
              </a:defRPr>
            </a:pPr>
            <a:r>
              <a:t>• CTA buttons and navigation</a:t>
            </a:r>
          </a:p>
          <a:p>
            <a:pPr algn="l">
              <a:spcAft>
                <a:spcPts val="600"/>
              </a:spcAft>
              <a:defRPr sz="1400" b="0">
                <a:solidFill>
                  <a:srgbClr val="FFFFFF"/>
                </a:solidFill>
                <a:latin typeface="Source Sans Pro"/>
              </a:defRPr>
            </a:pPr>
            <a:r>
              <a:t>• Hero sections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Primary Blue, Accent Teal, Deep Navy</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Maximum brand recognition</a:t>
            </a:r>
          </a:p>
          <a:p>
            <a:pPr algn="l">
              <a:spcAft>
                <a:spcPts val="600"/>
              </a:spcAft>
              <a:defRPr sz="1400" b="0">
                <a:solidFill>
                  <a:srgbClr val="FFFFFF"/>
                </a:solidFill>
                <a:latin typeface="Source Sans Pro"/>
              </a:defRPr>
            </a:pPr>
            <a:r>
              <a:t>- Consistent application</a:t>
            </a:r>
          </a:p>
          <a:p>
            <a:pPr algn="l">
              <a:spcAft>
                <a:spcPts val="600"/>
              </a:spcAft>
              <a:defRPr sz="1400" b="0">
                <a:solidFill>
                  <a:srgbClr val="FFFFFF"/>
                </a:solidFill>
                <a:latin typeface="Source Sans Pro"/>
              </a:defRPr>
            </a:pPr>
            <a:r>
              <a:t>- Sufficient contrast</a:t>
            </a:r>
          </a:p>
          <a:p>
            <a:pPr algn="l">
              <a:spcAft>
                <a:spcPts val="600"/>
              </a:spcAft>
              <a:defRPr sz="1400" b="0">
                <a:solidFill>
                  <a:srgbClr val="FFFFFF"/>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Color Usage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Secondary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supporting elements:</a:t>
            </a:r>
          </a:p>
          <a:p>
            <a:pPr algn="l">
              <a:spcAft>
                <a:spcPts val="600"/>
              </a:spcAft>
              <a:defRPr sz="1400" b="0">
                <a:solidFill>
                  <a:srgbClr val="FFFFFF"/>
                </a:solidFill>
                <a:latin typeface="Source Sans Pro"/>
              </a:defRPr>
            </a:pPr>
            <a:r>
              <a:t>• Backgrounds and subtle accents</a:t>
            </a:r>
          </a:p>
          <a:p>
            <a:pPr algn="l">
              <a:spcAft>
                <a:spcPts val="600"/>
              </a:spcAft>
              <a:defRPr sz="1400" b="0">
                <a:solidFill>
                  <a:srgbClr val="FFFFFF"/>
                </a:solidFill>
                <a:latin typeface="Source Sans Pro"/>
              </a:defRPr>
            </a:pPr>
            <a:r>
              <a:t>• Secondary text</a:t>
            </a:r>
          </a:p>
          <a:p>
            <a:pPr algn="l">
              <a:spcAft>
                <a:spcPts val="600"/>
              </a:spcAft>
              <a:defRPr sz="1400" b="0">
                <a:solidFill>
                  <a:srgbClr val="FFFFFF"/>
                </a:solidFill>
                <a:latin typeface="Source Sans Pro"/>
              </a:defRPr>
            </a:pPr>
            <a:r>
              <a:t>• Borders and dividers</a:t>
            </a:r>
          </a:p>
          <a:p>
            <a:pPr algn="l">
              <a:spcAft>
                <a:spcPts val="600"/>
              </a:spcAft>
              <a:defRPr sz="1400" b="0">
                <a:solidFill>
                  <a:srgbClr val="FFFFFF"/>
                </a:solidFill>
                <a:latin typeface="Source Sans Pro"/>
              </a:defRPr>
            </a:pPr>
            <a:r>
              <a:t>• Hover states and icons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Light Gray, Mint Green, Goldenrod, Slate Blue, Dusty Pink</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Create visual hierarchy</a:t>
            </a:r>
          </a:p>
          <a:p>
            <a:pPr algn="l">
              <a:spcAft>
                <a:spcPts val="600"/>
              </a:spcAft>
              <a:defRPr sz="1400" b="0">
                <a:solidFill>
                  <a:srgbClr val="FFFFFF"/>
                </a:solidFill>
                <a:latin typeface="Source Sans Pro"/>
              </a:defRPr>
            </a:pPr>
            <a:r>
              <a:t>- Support, don't compete</a:t>
            </a:r>
          </a:p>
          <a:p>
            <a:pPr algn="l">
              <a:spcAft>
                <a:spcPts val="600"/>
              </a:spcAft>
              <a:defRPr sz="1400" b="0">
                <a:solidFill>
                  <a:srgbClr val="FFFFFF"/>
                </a:solidFill>
                <a:latin typeface="Source Sans Pro"/>
              </a:defRPr>
            </a:pPr>
            <a:r>
              <a:t>- Maintain readability</a:t>
            </a:r>
          </a:p>
          <a:p>
            <a:pPr algn="l">
              <a:spcAft>
                <a:spcPts val="600"/>
              </a:spcAft>
              <a:defRPr sz="1400" b="0">
                <a:solidFill>
                  <a:srgbClr val="FFFFFF"/>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Color Usage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Primary Font: Inter</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Secondary Font: Source Sans Pro</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Font Hierarchy:</a:t>
            </a:r>
          </a:p>
          <a:p>
            <a:pPr algn="l">
              <a:spcAft>
                <a:spcPts val="800"/>
              </a:spcAft>
              <a:defRPr sz="2000" b="0">
                <a:solidFill>
                  <a:srgbClr val="FFFFFF"/>
                </a:solidFill>
                <a:latin typeface="Source Sans Pro"/>
              </a:defRPr>
            </a:pPr>
            <a:r>
              <a:t>• Headlines: Inter - Bold, 28-32pt</a:t>
            </a:r>
          </a:p>
          <a:p>
            <a:pPr algn="l">
              <a:spcAft>
                <a:spcPts val="800"/>
              </a:spcAft>
              <a:defRPr sz="2000" b="0">
                <a:solidFill>
                  <a:srgbClr val="FFFFFF"/>
                </a:solidFill>
                <a:latin typeface="Source Sans Pro"/>
              </a:defRPr>
            </a:pPr>
            <a:r>
              <a:t>• Subheadlines: Inter - Bold, 20-24pt</a:t>
            </a:r>
          </a:p>
          <a:p>
            <a:pPr algn="l">
              <a:spcAft>
                <a:spcPts val="800"/>
              </a:spcAft>
              <a:defRPr sz="2000" b="0">
                <a:solidFill>
                  <a:srgbClr val="FFFFFF"/>
                </a:solidFill>
                <a:latin typeface="Source Sans Pro"/>
              </a:defRPr>
            </a:pPr>
            <a:r>
              <a:t>• Body Text: Source Sans Pro - Regular, 16-18pt</a:t>
            </a:r>
          </a:p>
          <a:p>
            <a:pPr algn="l">
              <a:spcAft>
                <a:spcPts val="800"/>
              </a:spcAft>
              <a:defRPr sz="2000" b="0">
                <a:solidFill>
                  <a:srgbClr val="FFFFFF"/>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2E86AB"/>
                </a:solidFill>
                <a:latin typeface="Inter"/>
              </a:defRPr>
            </a:pPr>
            <a:r>
              <a:t>TYPOGRAPHY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TechForward Live Icons</a:t>
            </a:r>
          </a:p>
        </p:txBody>
      </p:sp>
      <p:pic>
        <p:nvPicPr>
          <p:cNvPr id="3" name="Picture 2" descr="techforward_live_icon_collaboration_20250901_154744_d3c3cae4.png"/>
          <p:cNvPicPr>
            <a:picLocks noChangeAspect="1"/>
          </p:cNvPicPr>
          <p:nvPr/>
        </p:nvPicPr>
        <p:blipFill>
          <a:blip r:embed="rId2"/>
          <a:stretch>
            <a:fillRect/>
          </a:stretch>
        </p:blipFill>
        <p:spPr>
          <a:xfrm>
            <a:off x="2743200" y="2286000"/>
            <a:ext cx="914400" cy="914400"/>
          </a:xfrm>
          <a:prstGeom prst="rect">
            <a:avLst/>
          </a:prstGeom>
        </p:spPr>
      </p:pic>
      <p:sp>
        <p:nvSpPr>
          <p:cNvPr id="4" name="TextBox 3"/>
          <p:cNvSpPr txBox="1"/>
          <p:nvPr/>
        </p:nvSpPr>
        <p:spPr>
          <a:xfrm>
            <a:off x="2743200" y="32918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Collaboration</a:t>
            </a:r>
          </a:p>
        </p:txBody>
      </p:sp>
      <p:pic>
        <p:nvPicPr>
          <p:cNvPr id="5" name="Picture 4" descr="techforward_live_icon_code_20250901_154802_48e36ebd.png"/>
          <p:cNvPicPr>
            <a:picLocks noChangeAspect="1"/>
          </p:cNvPicPr>
          <p:nvPr/>
        </p:nvPicPr>
        <p:blipFill>
          <a:blip r:embed="rId3"/>
          <a:stretch>
            <a:fillRect/>
          </a:stretch>
        </p:blipFill>
        <p:spPr>
          <a:xfrm>
            <a:off x="4572000" y="2286000"/>
            <a:ext cx="914400" cy="914400"/>
          </a:xfrm>
          <a:prstGeom prst="rect">
            <a:avLst/>
          </a:prstGeom>
        </p:spPr>
      </p:pic>
      <p:sp>
        <p:nvSpPr>
          <p:cNvPr id="6" name="TextBox 5"/>
          <p:cNvSpPr txBox="1"/>
          <p:nvPr/>
        </p:nvSpPr>
        <p:spPr>
          <a:xfrm>
            <a:off x="4572000" y="32918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Code</a:t>
            </a:r>
          </a:p>
        </p:txBody>
      </p:sp>
      <p:pic>
        <p:nvPicPr>
          <p:cNvPr id="7" name="Picture 6" descr="techforward_live_icon_network_20250901_154820_79973977.png"/>
          <p:cNvPicPr>
            <a:picLocks noChangeAspect="1"/>
          </p:cNvPicPr>
          <p:nvPr/>
        </p:nvPicPr>
        <p:blipFill>
          <a:blip r:embed="rId4"/>
          <a:stretch>
            <a:fillRect/>
          </a:stretch>
        </p:blipFill>
        <p:spPr>
          <a:xfrm>
            <a:off x="6400800" y="2286000"/>
            <a:ext cx="914400" cy="914400"/>
          </a:xfrm>
          <a:prstGeom prst="rect">
            <a:avLst/>
          </a:prstGeom>
        </p:spPr>
      </p:pic>
      <p:sp>
        <p:nvSpPr>
          <p:cNvPr id="8" name="TextBox 7"/>
          <p:cNvSpPr txBox="1"/>
          <p:nvPr/>
        </p:nvSpPr>
        <p:spPr>
          <a:xfrm>
            <a:off x="6400800" y="32918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Network</a:t>
            </a:r>
          </a:p>
        </p:txBody>
      </p:sp>
      <p:pic>
        <p:nvPicPr>
          <p:cNvPr id="9" name="Picture 8" descr="techforward_live_icon_quality_20250901_154839_b51672cc.png"/>
          <p:cNvPicPr>
            <a:picLocks noChangeAspect="1"/>
          </p:cNvPicPr>
          <p:nvPr/>
        </p:nvPicPr>
        <p:blipFill>
          <a:blip r:embed="rId5"/>
          <a:stretch>
            <a:fillRect/>
          </a:stretch>
        </p:blipFill>
        <p:spPr>
          <a:xfrm>
            <a:off x="2743200" y="3657600"/>
            <a:ext cx="914400" cy="914400"/>
          </a:xfrm>
          <a:prstGeom prst="rect">
            <a:avLst/>
          </a:prstGeom>
        </p:spPr>
      </p:pic>
      <p:sp>
        <p:nvSpPr>
          <p:cNvPr id="10" name="TextBox 9"/>
          <p:cNvSpPr txBox="1"/>
          <p:nvPr/>
        </p:nvSpPr>
        <p:spPr>
          <a:xfrm>
            <a:off x="2743200" y="46634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Quality</a:t>
            </a:r>
          </a:p>
        </p:txBody>
      </p:sp>
      <p:pic>
        <p:nvPicPr>
          <p:cNvPr id="11" name="Picture 10" descr="techforward_live_icon_data_20250901_154857_d8755cd7.png"/>
          <p:cNvPicPr>
            <a:picLocks noChangeAspect="1"/>
          </p:cNvPicPr>
          <p:nvPr/>
        </p:nvPicPr>
        <p:blipFill>
          <a:blip r:embed="rId6"/>
          <a:stretch>
            <a:fillRect/>
          </a:stretch>
        </p:blipFill>
        <p:spPr>
          <a:xfrm>
            <a:off x="4572000" y="3657600"/>
            <a:ext cx="914400" cy="914400"/>
          </a:xfrm>
          <a:prstGeom prst="rect">
            <a:avLst/>
          </a:prstGeom>
        </p:spPr>
      </p:pic>
      <p:sp>
        <p:nvSpPr>
          <p:cNvPr id="12" name="TextBox 11"/>
          <p:cNvSpPr txBox="1"/>
          <p:nvPr/>
        </p:nvSpPr>
        <p:spPr>
          <a:xfrm>
            <a:off x="4572000" y="46634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Data</a:t>
            </a:r>
          </a:p>
        </p:txBody>
      </p:sp>
      <p:pic>
        <p:nvPicPr>
          <p:cNvPr id="13" name="Picture 12" descr="techforward_live_icon_growth_20250901_154916_a9239d9d.png"/>
          <p:cNvPicPr>
            <a:picLocks noChangeAspect="1"/>
          </p:cNvPicPr>
          <p:nvPr/>
        </p:nvPicPr>
        <p:blipFill>
          <a:blip r:embed="rId7"/>
          <a:stretch>
            <a:fillRect/>
          </a:stretch>
        </p:blipFill>
        <p:spPr>
          <a:xfrm>
            <a:off x="6400800" y="3657600"/>
            <a:ext cx="914400" cy="914400"/>
          </a:xfrm>
          <a:prstGeom prst="rect">
            <a:avLst/>
          </a:prstGeom>
        </p:spPr>
      </p:pic>
      <p:sp>
        <p:nvSpPr>
          <p:cNvPr id="14" name="TextBox 13"/>
          <p:cNvSpPr txBox="1"/>
          <p:nvPr/>
        </p:nvSpPr>
        <p:spPr>
          <a:xfrm>
            <a:off x="6400800" y="46634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Growth</a:t>
            </a:r>
          </a:p>
        </p:txBody>
      </p:sp>
      <p:cxnSp>
        <p:nvCxnSpPr>
          <p:cNvPr id="15" name="Connector 14"/>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2E86AB"/>
                </a:solidFill>
                <a:latin typeface="Inter"/>
              </a:defRPr>
            </a:pPr>
            <a:r>
              <a:t>ICONOGRAPHY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FFFFFF"/>
                </a:solidFill>
                <a:latin typeface="Source Sans Pro"/>
              </a:defRPr>
            </a:pPr>
            <a:r>
              <a:t>Style: Minimalist Outline design</a:t>
            </a:r>
          </a:p>
          <a:p>
            <a:pPr algn="l">
              <a:spcAft>
                <a:spcPts val="600"/>
              </a:spcAft>
              <a:defRPr sz="1800" b="0">
                <a:solidFill>
                  <a:srgbClr val="FFFFFF"/>
                </a:solidFill>
                <a:latin typeface="Source Sans Pro"/>
              </a:defRPr>
            </a:pPr>
            <a:r>
              <a:t>Color: #2E86AB on black background</a:t>
            </a:r>
          </a:p>
          <a:p>
            <a:pPr algn="l">
              <a:spcAft>
                <a:spcPts val="600"/>
              </a:spcAft>
              <a:defRPr sz="1800" b="0">
                <a:solidFill>
                  <a:srgbClr val="FFFFFF"/>
                </a:solidFill>
                <a:latin typeface="Source Sans Pro"/>
              </a:defRPr>
            </a:pPr>
          </a:p>
          <a:p>
            <a:pPr algn="l">
              <a:spcAft>
                <a:spcPts val="600"/>
              </a:spcAft>
              <a:defRPr sz="1800" b="0">
                <a:solidFill>
                  <a:srgbClr val="FFFFFF"/>
                </a:solidFill>
                <a:latin typeface="Source Sans Pro"/>
              </a:defRPr>
            </a:pPr>
            <a:r>
              <a:t>Size Requirements:</a:t>
            </a:r>
          </a:p>
          <a:p>
            <a:pPr algn="l">
              <a:spcAft>
                <a:spcPts val="600"/>
              </a:spcAft>
              <a:defRPr sz="1800" b="0">
                <a:solidFill>
                  <a:srgbClr val="FFFFFF"/>
                </a:solidFill>
                <a:latin typeface="Source Sans Pro"/>
              </a:defRPr>
            </a:pPr>
            <a:r>
              <a:t>• Minimum: 16px web, 0.5" print</a:t>
            </a:r>
          </a:p>
          <a:p>
            <a:pPr algn="l">
              <a:spcAft>
                <a:spcPts val="600"/>
              </a:spcAft>
              <a:defRPr sz="1800" b="0">
                <a:solidFill>
                  <a:srgbClr val="FFFFFF"/>
                </a:solidFill>
                <a:latin typeface="Source Sans Pro"/>
              </a:defRPr>
            </a:pPr>
            <a:r>
              <a:t>• Recommended: 24px+ web, 0.75"+ print</a:t>
            </a:r>
          </a:p>
          <a:p>
            <a:pPr algn="l">
              <a:spcAft>
                <a:spcPts val="600"/>
              </a:spcAft>
              <a:defRPr sz="1800" b="0">
                <a:solidFill>
                  <a:srgbClr val="FFFFFF"/>
                </a:solidFill>
                <a:latin typeface="Source Sans Pro"/>
              </a:defRPr>
            </a:pPr>
          </a:p>
          <a:p>
            <a:pPr algn="l">
              <a:spcAft>
                <a:spcPts val="600"/>
              </a:spcAft>
              <a:defRPr sz="1800" b="0">
                <a:solidFill>
                  <a:srgbClr val="FFFFFF"/>
                </a:solidFill>
                <a:latin typeface="Source Sans Pro"/>
              </a:defRPr>
            </a:pPr>
            <a:r>
              <a:t>Spacing:</a:t>
            </a:r>
          </a:p>
          <a:p>
            <a:pPr algn="l">
              <a:spcAft>
                <a:spcPts val="600"/>
              </a:spcAft>
              <a:defRPr sz="1800" b="0">
                <a:solidFill>
                  <a:srgbClr val="FFFFFF"/>
                </a:solidFill>
                <a:latin typeface="Source Sans Pro"/>
              </a:defRPr>
            </a:pPr>
            <a:r>
              <a:t>• Clear space: 50% of icon width</a:t>
            </a:r>
          </a:p>
          <a:p>
            <a:pPr algn="l">
              <a:spcAft>
                <a:spcPts val="600"/>
              </a:spcAft>
              <a:defRPr sz="1800" b="0">
                <a:solidFill>
                  <a:srgbClr val="FFFFFF"/>
                </a:solidFill>
                <a:latin typeface="Source Sans Pro"/>
              </a:defRPr>
            </a:pPr>
            <a:r>
              <a:t>• Consistent grid alignment</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USAGE GUIDELINES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605790"/>
            <a:ext cx="5486400" cy="731520"/>
          </a:xfrm>
          <a:prstGeom prst="rect">
            <a:avLst/>
          </a:prstGeom>
          <a:noFill/>
        </p:spPr>
        <p:txBody>
          <a:bodyPr wrap="none" lIns="0" rIns="0" tIns="0" bIns="0">
            <a:spAutoFit/>
          </a:bodyPr>
          <a:lstStyle/>
          <a:p>
            <a:pPr algn="l">
              <a:defRPr sz="2800" b="1">
                <a:solidFill>
                  <a:srgbClr val="2E86AB"/>
                </a:solidFill>
                <a:latin typeface="Inter"/>
              </a:defRPr>
            </a:pPr>
            <a:r>
              <a:t>BRAND ILLUSTRATIONS</a:t>
            </a:r>
          </a:p>
        </p:txBody>
      </p:sp>
      <p:cxnSp>
        <p:nvCxnSpPr>
          <p:cNvPr id="3" name="Connector 2"/>
          <p:cNvCxnSpPr/>
          <p:nvPr/>
        </p:nvCxnSpPr>
        <p:spPr>
          <a:xfrm>
            <a:off x="457200" y="134874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623060"/>
            <a:ext cx="8229600" cy="731520"/>
          </a:xfrm>
          <a:prstGeom prst="rect">
            <a:avLst/>
          </a:prstGeom>
          <a:noFill/>
        </p:spPr>
        <p:txBody>
          <a:bodyPr wrap="none" lIns="0" rIns="0" tIns="0" bIns="0">
            <a:spAutoFit/>
          </a:bodyPr>
          <a:lstStyle/>
          <a:p>
            <a:pPr algn="l">
              <a:defRPr sz="1600" b="0">
                <a:solidFill>
                  <a:srgbClr val="FFFFFF"/>
                </a:solidFill>
                <a:latin typeface="Source Sans Pro"/>
              </a:defRPr>
            </a:pPr>
            <a:r>
              <a:t>AI-generated illustrations showcasing TechForward Live's brand essence and industry expertise</a:t>
            </a:r>
          </a:p>
        </p:txBody>
      </p:sp>
      <p:pic>
        <p:nvPicPr>
          <p:cNvPr id="5" name="Picture 4" descr="techforward_live_illustration_1_20250901_154934_6f7b7b5f.png"/>
          <p:cNvPicPr>
            <a:picLocks noChangeAspect="1"/>
          </p:cNvPicPr>
          <p:nvPr/>
        </p:nvPicPr>
        <p:blipFill>
          <a:blip r:embed="rId2"/>
          <a:stretch>
            <a:fillRect/>
          </a:stretch>
        </p:blipFill>
        <p:spPr>
          <a:xfrm>
            <a:off x="731520" y="2720340"/>
            <a:ext cx="2560320" cy="1463040"/>
          </a:xfrm>
          <a:prstGeom prst="rect">
            <a:avLst/>
          </a:prstGeom>
        </p:spPr>
      </p:pic>
      <p:sp>
        <p:nvSpPr>
          <p:cNvPr id="6" name="TextBox 5"/>
          <p:cNvSpPr txBox="1"/>
          <p:nvPr/>
        </p:nvSpPr>
        <p:spPr>
          <a:xfrm>
            <a:off x="731520" y="4229100"/>
            <a:ext cx="2560320" cy="274320"/>
          </a:xfrm>
          <a:prstGeom prst="rect">
            <a:avLst/>
          </a:prstGeom>
          <a:noFill/>
        </p:spPr>
        <p:txBody>
          <a:bodyPr wrap="none" lIns="0" rIns="0" tIns="0" bIns="0">
            <a:spAutoFit/>
          </a:bodyPr>
          <a:lstStyle/>
          <a:p>
            <a:pPr algn="ctr">
              <a:defRPr sz="900" b="0">
                <a:solidFill>
                  <a:srgbClr val="CCCCCC"/>
                </a:solidFill>
                <a:latin typeface="Source Sans Pro"/>
              </a:defRPr>
            </a:pPr>
            <a:r>
              <a:t>Digital innovation in Technology &amp; Digit...</a:t>
            </a:r>
          </a:p>
        </p:txBody>
      </p:sp>
      <p:pic>
        <p:nvPicPr>
          <p:cNvPr id="7" name="Picture 6" descr="techforward_live_illustration_2_20250901_154949_5f0ea26a.png"/>
          <p:cNvPicPr>
            <a:picLocks noChangeAspect="1"/>
          </p:cNvPicPr>
          <p:nvPr/>
        </p:nvPicPr>
        <p:blipFill>
          <a:blip r:embed="rId3"/>
          <a:stretch>
            <a:fillRect/>
          </a:stretch>
        </p:blipFill>
        <p:spPr>
          <a:xfrm>
            <a:off x="3657600" y="2720340"/>
            <a:ext cx="2560320" cy="1463040"/>
          </a:xfrm>
          <a:prstGeom prst="rect">
            <a:avLst/>
          </a:prstGeom>
        </p:spPr>
      </p:pic>
      <p:sp>
        <p:nvSpPr>
          <p:cNvPr id="8" name="TextBox 7"/>
          <p:cNvSpPr txBox="1"/>
          <p:nvPr/>
        </p:nvSpPr>
        <p:spPr>
          <a:xfrm>
            <a:off x="3657600" y="4229100"/>
            <a:ext cx="2560320" cy="274320"/>
          </a:xfrm>
          <a:prstGeom prst="rect">
            <a:avLst/>
          </a:prstGeom>
          <a:noFill/>
        </p:spPr>
        <p:txBody>
          <a:bodyPr wrap="none" lIns="0" rIns="0" tIns="0" bIns="0">
            <a:spAutoFit/>
          </a:bodyPr>
          <a:lstStyle/>
          <a:p>
            <a:pPr algn="ctr">
              <a:defRPr sz="900" b="0">
                <a:solidFill>
                  <a:srgbClr val="CCCCCC"/>
                </a:solidFill>
                <a:latin typeface="Source Sans Pro"/>
              </a:defRPr>
            </a:pPr>
            <a:r>
              <a:t>Sustainable practices in Technology &amp; Di...</a:t>
            </a:r>
          </a:p>
        </p:txBody>
      </p:sp>
      <p:pic>
        <p:nvPicPr>
          <p:cNvPr id="9" name="Picture 8" descr="techforward_live_illustration_3_20250901_155005_7c742893.png"/>
          <p:cNvPicPr>
            <a:picLocks noChangeAspect="1"/>
          </p:cNvPicPr>
          <p:nvPr/>
        </p:nvPicPr>
        <p:blipFill>
          <a:blip r:embed="rId4"/>
          <a:stretch>
            <a:fillRect/>
          </a:stretch>
        </p:blipFill>
        <p:spPr>
          <a:xfrm>
            <a:off x="6583680" y="2720340"/>
            <a:ext cx="2560320" cy="1463040"/>
          </a:xfrm>
          <a:prstGeom prst="rect">
            <a:avLst/>
          </a:prstGeom>
        </p:spPr>
      </p:pic>
      <p:sp>
        <p:nvSpPr>
          <p:cNvPr id="10" name="TextBox 9"/>
          <p:cNvSpPr txBox="1"/>
          <p:nvPr/>
        </p:nvSpPr>
        <p:spPr>
          <a:xfrm>
            <a:off x="6583680" y="4229100"/>
            <a:ext cx="2560320" cy="274320"/>
          </a:xfrm>
          <a:prstGeom prst="rect">
            <a:avLst/>
          </a:prstGeom>
          <a:noFill/>
        </p:spPr>
        <p:txBody>
          <a:bodyPr wrap="none" lIns="0" rIns="0" tIns="0" bIns="0">
            <a:spAutoFit/>
          </a:bodyPr>
          <a:lstStyle/>
          <a:p>
            <a:pPr algn="ctr">
              <a:defRPr sz="900" b="0">
                <a:solidFill>
                  <a:srgbClr val="CCCCCC"/>
                </a:solidFill>
                <a:latin typeface="Source Sans Pro"/>
              </a:defRPr>
            </a:pPr>
            <a:r>
              <a:t>Professional excellence in Technology &amp; ...</a:t>
            </a:r>
          </a:p>
        </p:txBody>
      </p:sp>
      <p:pic>
        <p:nvPicPr>
          <p:cNvPr id="11" name="Picture 10" descr="techforward_live_illustration_4_20250901_155021_8d645797.png"/>
          <p:cNvPicPr>
            <a:picLocks noChangeAspect="1"/>
          </p:cNvPicPr>
          <p:nvPr/>
        </p:nvPicPr>
        <p:blipFill>
          <a:blip r:embed="rId5"/>
          <a:stretch>
            <a:fillRect/>
          </a:stretch>
        </p:blipFill>
        <p:spPr>
          <a:xfrm>
            <a:off x="731520" y="4549140"/>
            <a:ext cx="2560320" cy="1463040"/>
          </a:xfrm>
          <a:prstGeom prst="rect">
            <a:avLst/>
          </a:prstGeom>
        </p:spPr>
      </p:pic>
      <p:sp>
        <p:nvSpPr>
          <p:cNvPr id="12" name="TextBox 11"/>
          <p:cNvSpPr txBox="1"/>
          <p:nvPr/>
        </p:nvSpPr>
        <p:spPr>
          <a:xfrm>
            <a:off x="731520" y="6057900"/>
            <a:ext cx="2560320" cy="274320"/>
          </a:xfrm>
          <a:prstGeom prst="rect">
            <a:avLst/>
          </a:prstGeom>
          <a:noFill/>
        </p:spPr>
        <p:txBody>
          <a:bodyPr wrap="none" lIns="0" rIns="0" tIns="0" bIns="0">
            <a:spAutoFit/>
          </a:bodyPr>
          <a:lstStyle/>
          <a:p>
            <a:pPr algn="ctr">
              <a:defRPr sz="900" b="0">
                <a:solidFill>
                  <a:srgbClr val="CCCCCC"/>
                </a:solidFill>
                <a:latin typeface="Source Sans Pro"/>
              </a:defRPr>
            </a:pPr>
            <a:r>
              <a:t>Innovative solutions for Technology &amp; Di...</a:t>
            </a:r>
          </a:p>
        </p:txBody>
      </p:sp>
      <p:pic>
        <p:nvPicPr>
          <p:cNvPr id="13" name="Picture 12" descr="techforward_live_illustration_5_20250901_155037_4594e79c.png"/>
          <p:cNvPicPr>
            <a:picLocks noChangeAspect="1"/>
          </p:cNvPicPr>
          <p:nvPr/>
        </p:nvPicPr>
        <p:blipFill>
          <a:blip r:embed="rId6"/>
          <a:stretch>
            <a:fillRect/>
          </a:stretch>
        </p:blipFill>
        <p:spPr>
          <a:xfrm>
            <a:off x="3657600" y="4549140"/>
            <a:ext cx="2560320" cy="1463040"/>
          </a:xfrm>
          <a:prstGeom prst="rect">
            <a:avLst/>
          </a:prstGeom>
        </p:spPr>
      </p:pic>
      <p:sp>
        <p:nvSpPr>
          <p:cNvPr id="14" name="TextBox 13"/>
          <p:cNvSpPr txBox="1"/>
          <p:nvPr/>
        </p:nvSpPr>
        <p:spPr>
          <a:xfrm>
            <a:off x="3657600" y="6057900"/>
            <a:ext cx="2560320" cy="274320"/>
          </a:xfrm>
          <a:prstGeom prst="rect">
            <a:avLst/>
          </a:prstGeom>
          <a:noFill/>
        </p:spPr>
        <p:txBody>
          <a:bodyPr wrap="none" lIns="0" rIns="0" tIns="0" bIns="0">
            <a:spAutoFit/>
          </a:bodyPr>
          <a:lstStyle/>
          <a:p>
            <a:pPr algn="ctr">
              <a:defRPr sz="900" b="0">
                <a:solidFill>
                  <a:srgbClr val="CCCCCC"/>
                </a:solidFill>
                <a:latin typeface="Source Sans Pro"/>
              </a:defRPr>
            </a:pPr>
            <a:r>
              <a:t>Strategic growth and development in Tech...</a:t>
            </a:r>
          </a:p>
        </p:txBody>
      </p:sp>
      <p:pic>
        <p:nvPicPr>
          <p:cNvPr id="15" name="Picture 14" descr="techforward_live_illustration_6_20250901_155053_275bbe83.png"/>
          <p:cNvPicPr>
            <a:picLocks noChangeAspect="1"/>
          </p:cNvPicPr>
          <p:nvPr/>
        </p:nvPicPr>
        <p:blipFill>
          <a:blip r:embed="rId7"/>
          <a:stretch>
            <a:fillRect/>
          </a:stretch>
        </p:blipFill>
        <p:spPr>
          <a:xfrm>
            <a:off x="6583680" y="4549140"/>
            <a:ext cx="2560320" cy="1463040"/>
          </a:xfrm>
          <a:prstGeom prst="rect">
            <a:avLst/>
          </a:prstGeom>
        </p:spPr>
      </p:pic>
      <p:sp>
        <p:nvSpPr>
          <p:cNvPr id="16" name="TextBox 15"/>
          <p:cNvSpPr txBox="1"/>
          <p:nvPr/>
        </p:nvSpPr>
        <p:spPr>
          <a:xfrm>
            <a:off x="6583680" y="6057900"/>
            <a:ext cx="2560320" cy="274320"/>
          </a:xfrm>
          <a:prstGeom prst="rect">
            <a:avLst/>
          </a:prstGeom>
          <a:noFill/>
        </p:spPr>
        <p:txBody>
          <a:bodyPr wrap="none" lIns="0" rIns="0" tIns="0" bIns="0">
            <a:spAutoFit/>
          </a:bodyPr>
          <a:lstStyle/>
          <a:p>
            <a:pPr algn="ctr">
              <a:defRPr sz="900" b="0">
                <a:solidFill>
                  <a:srgbClr val="CCCCCC"/>
                </a:solidFill>
                <a:latin typeface="Source Sans Pro"/>
              </a:defRPr>
            </a:pPr>
            <a:r>
              <a:t>Collaborative teamwork and company cultu...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